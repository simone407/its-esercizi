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64350"/>
  <p:notesSz cx="9144000" cy="686435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89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6"/>
            <a:ext cx="9144000" cy="3189605"/>
          </a:xfrm>
          <a:custGeom>
            <a:avLst/>
            <a:gdLst/>
            <a:ahLst/>
            <a:cxnLst/>
            <a:rect l="l" t="t" r="r" b="b"/>
            <a:pathLst>
              <a:path w="9144000" h="3189605">
                <a:moveTo>
                  <a:pt x="9144000" y="0"/>
                </a:moveTo>
                <a:lnTo>
                  <a:pt x="0" y="0"/>
                </a:lnTo>
                <a:lnTo>
                  <a:pt x="0" y="3189097"/>
                </a:lnTo>
                <a:lnTo>
                  <a:pt x="9144000" y="318909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39413" y="2483053"/>
            <a:ext cx="1265173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4036"/>
            <a:ext cx="6400800" cy="1716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8800"/>
            <a:ext cx="3977640" cy="4530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8800"/>
            <a:ext cx="3977640" cy="4530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8859" y="889965"/>
            <a:ext cx="198628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823275"/>
            <a:ext cx="8071510" cy="3636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6725" y="6330324"/>
            <a:ext cx="24892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83845"/>
            <a:ext cx="2103120" cy="34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83845"/>
            <a:ext cx="2103120" cy="34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flexboxfroggy.com/#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</a:t>
            </a:r>
            <a:r>
              <a:rPr spc="-15" dirty="0"/>
              <a:t>.</a:t>
            </a:r>
            <a:r>
              <a:rPr spc="-5" dirty="0"/>
              <a:t>S.S.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5952" y="4048135"/>
            <a:ext cx="1908264" cy="26859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5953" y="889965"/>
            <a:ext cx="17494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</a:t>
            </a:r>
            <a:r>
              <a:rPr spc="-20" dirty="0"/>
              <a:t>l</a:t>
            </a:r>
            <a:r>
              <a:rPr spc="-60" dirty="0"/>
              <a:t>e</a:t>
            </a:r>
            <a:r>
              <a:rPr spc="-5" dirty="0"/>
              <a:t>xB</a:t>
            </a:r>
            <a:r>
              <a:rPr spc="-95" dirty="0"/>
              <a:t>o</a:t>
            </a:r>
            <a:r>
              <a:rPr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84362"/>
            <a:ext cx="8077834" cy="448244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9525" algn="just">
              <a:lnSpc>
                <a:spcPct val="80000"/>
              </a:lnSpc>
              <a:spcBef>
                <a:spcPts val="745"/>
              </a:spcBef>
            </a:pPr>
            <a:r>
              <a:rPr sz="2700" spc="-20" dirty="0">
                <a:latin typeface="Calibri"/>
                <a:cs typeface="Calibri"/>
              </a:rPr>
              <a:t>Flexbox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 </a:t>
            </a:r>
            <a:r>
              <a:rPr sz="2700" spc="-20" dirty="0">
                <a:latin typeface="Calibri"/>
                <a:cs typeface="Calibri"/>
              </a:rPr>
              <a:t>sicuramente </a:t>
            </a:r>
            <a:r>
              <a:rPr sz="2700" spc="-5" dirty="0">
                <a:latin typeface="Calibri"/>
                <a:cs typeface="Calibri"/>
              </a:rPr>
              <a:t>una </a:t>
            </a:r>
            <a:r>
              <a:rPr sz="2700" spc="-30" dirty="0">
                <a:latin typeface="Calibri"/>
                <a:cs typeface="Calibri"/>
              </a:rPr>
              <a:t>tra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le </a:t>
            </a:r>
            <a:r>
              <a:rPr sz="2700" spc="-10" dirty="0">
                <a:latin typeface="Calibri"/>
                <a:cs typeface="Calibri"/>
              </a:rPr>
              <a:t>più </a:t>
            </a:r>
            <a:r>
              <a:rPr sz="2700" spc="-20" dirty="0">
                <a:latin typeface="Calibri"/>
                <a:cs typeface="Calibri"/>
              </a:rPr>
              <a:t>promettenti </a:t>
            </a:r>
            <a:r>
              <a:rPr sz="2700" dirty="0">
                <a:latin typeface="Calibri"/>
                <a:cs typeface="Calibri"/>
              </a:rPr>
              <a:t>delle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specifiche </a:t>
            </a:r>
            <a:r>
              <a:rPr sz="2700" spc="-5" dirty="0">
                <a:latin typeface="Calibri"/>
                <a:cs typeface="Calibri"/>
              </a:rPr>
              <a:t>CSS, non </a:t>
            </a:r>
            <a:r>
              <a:rPr sz="2700" spc="-10" dirty="0">
                <a:latin typeface="Calibri"/>
                <a:cs typeface="Calibri"/>
              </a:rPr>
              <a:t>fosse </a:t>
            </a:r>
            <a:r>
              <a:rPr sz="2700" spc="-20" dirty="0">
                <a:latin typeface="Calibri"/>
                <a:cs typeface="Calibri"/>
              </a:rPr>
              <a:t>altro </a:t>
            </a:r>
            <a:r>
              <a:rPr sz="2700" spc="5" dirty="0">
                <a:latin typeface="Calibri"/>
                <a:cs typeface="Calibri"/>
              </a:rPr>
              <a:t>che </a:t>
            </a:r>
            <a:r>
              <a:rPr sz="2700" spc="-15" dirty="0">
                <a:latin typeface="Calibri"/>
                <a:cs typeface="Calibri"/>
              </a:rPr>
              <a:t>il </a:t>
            </a:r>
            <a:r>
              <a:rPr sz="2700" spc="-5" dirty="0">
                <a:latin typeface="Calibri"/>
                <a:cs typeface="Calibri"/>
              </a:rPr>
              <a:t>suo </a:t>
            </a:r>
            <a:r>
              <a:rPr sz="2700" spc="-15" dirty="0">
                <a:latin typeface="Calibri"/>
                <a:cs typeface="Calibri"/>
              </a:rPr>
              <a:t>campo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10" dirty="0">
                <a:latin typeface="Calibri"/>
                <a:cs typeface="Calibri"/>
              </a:rPr>
              <a:t>azione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estende</a:t>
            </a:r>
            <a:r>
              <a:rPr sz="2700" spc="-10" dirty="0">
                <a:latin typeface="Calibri"/>
                <a:cs typeface="Calibri"/>
              </a:rPr>
              <a:t> alla</a:t>
            </a:r>
            <a:r>
              <a:rPr sz="2700" spc="-5" dirty="0">
                <a:latin typeface="Calibri"/>
                <a:cs typeface="Calibri"/>
              </a:rPr>
              <a:t> base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stessa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web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design: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la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strutturazione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layout.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 dirty="0">
              <a:latin typeface="Calibri"/>
              <a:cs typeface="Calibri"/>
            </a:endParaRPr>
          </a:p>
          <a:p>
            <a:pPr marL="12700" marR="5080" algn="just">
              <a:lnSpc>
                <a:spcPct val="80100"/>
              </a:lnSpc>
            </a:pPr>
            <a:r>
              <a:rPr sz="2700" spc="-10" dirty="0">
                <a:latin typeface="Calibri"/>
                <a:cs typeface="Calibri"/>
              </a:rPr>
              <a:t>Il</a:t>
            </a:r>
            <a:r>
              <a:rPr sz="2700" spc="1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modulo</a:t>
            </a:r>
            <a:r>
              <a:rPr sz="2700" spc="2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dei</a:t>
            </a:r>
            <a:r>
              <a:rPr sz="2700" spc="23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box</a:t>
            </a:r>
            <a:r>
              <a:rPr sz="2700" spc="2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flessibili</a:t>
            </a:r>
            <a:r>
              <a:rPr sz="2700" spc="2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ci</a:t>
            </a:r>
            <a:r>
              <a:rPr sz="2700" spc="2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consente</a:t>
            </a:r>
            <a:r>
              <a:rPr sz="2700" spc="204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1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usare</a:t>
            </a:r>
            <a:r>
              <a:rPr sz="2700" spc="2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una</a:t>
            </a:r>
            <a:r>
              <a:rPr sz="2700" spc="1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serie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proprietà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cui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possiamo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rendere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semplice</a:t>
            </a:r>
            <a:r>
              <a:rPr sz="2700" spc="-5" dirty="0">
                <a:latin typeface="Calibri"/>
                <a:cs typeface="Calibri"/>
              </a:rPr>
              <a:t> 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immediata </a:t>
            </a:r>
            <a:r>
              <a:rPr sz="2700" spc="5" dirty="0">
                <a:latin typeface="Calibri"/>
                <a:cs typeface="Calibri"/>
              </a:rPr>
              <a:t>la </a:t>
            </a:r>
            <a:r>
              <a:rPr sz="2700" spc="-10" dirty="0">
                <a:latin typeface="Calibri"/>
                <a:cs typeface="Calibri"/>
              </a:rPr>
              <a:t>gestione </a:t>
            </a:r>
            <a:r>
              <a:rPr sz="2700" spc="15" dirty="0">
                <a:latin typeface="Calibri"/>
                <a:cs typeface="Calibri"/>
              </a:rPr>
              <a:t>di </a:t>
            </a:r>
            <a:r>
              <a:rPr sz="2700" spc="-20" dirty="0">
                <a:latin typeface="Calibri"/>
                <a:cs typeface="Calibri"/>
              </a:rPr>
              <a:t>box </a:t>
            </a:r>
            <a:r>
              <a:rPr sz="2700" spc="-10" dirty="0">
                <a:latin typeface="Calibri"/>
                <a:cs typeface="Calibri"/>
              </a:rPr>
              <a:t>all’interno </a:t>
            </a:r>
            <a:r>
              <a:rPr sz="2700" spc="-5" dirty="0">
                <a:latin typeface="Calibri"/>
                <a:cs typeface="Calibri"/>
              </a:rPr>
              <a:t>di un </a:t>
            </a:r>
            <a:r>
              <a:rPr sz="2700" spc="-10" dirty="0">
                <a:latin typeface="Calibri"/>
                <a:cs typeface="Calibri"/>
              </a:rPr>
              <a:t>elemento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contenitore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per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risolvere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problematiche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come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la 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centratura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degli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elementi,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loro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disposizione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sull’asse 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orizzontale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 su </a:t>
            </a:r>
            <a:r>
              <a:rPr sz="2700" spc="-10" dirty="0">
                <a:latin typeface="Calibri"/>
                <a:cs typeface="Calibri"/>
              </a:rPr>
              <a:t>quello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verticale,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configurazione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la 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gestione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dello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spazio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0" dirty="0" err="1">
                <a:latin typeface="Calibri"/>
                <a:cs typeface="Calibri"/>
              </a:rPr>
              <a:t>disponibile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lang="it-IT" sz="2700" spc="-10" dirty="0">
              <a:latin typeface="Calibri"/>
              <a:cs typeface="Calibri"/>
            </a:endParaRPr>
          </a:p>
          <a:p>
            <a:pPr marL="12700" marR="5080" algn="just">
              <a:lnSpc>
                <a:spcPct val="80100"/>
              </a:lnSpc>
            </a:pPr>
            <a:r>
              <a:rPr lang="it-IT" sz="2700" dirty="0">
                <a:cs typeface="Calibri"/>
              </a:rPr>
              <a:t>https://angrytools.com/css-flex/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22413"/>
            <a:ext cx="8082280" cy="45110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sistema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</a:t>
            </a:r>
            <a:r>
              <a:rPr sz="3000" spc="-15" dirty="0">
                <a:latin typeface="Calibri"/>
                <a:cs typeface="Calibri"/>
              </a:rPr>
              <a:t> fondato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due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elementi</a:t>
            </a:r>
            <a:r>
              <a:rPr sz="3000" spc="-10" dirty="0">
                <a:latin typeface="Calibri"/>
                <a:cs typeface="Calibri"/>
              </a:rPr>
              <a:t> costitutivi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:</a:t>
            </a:r>
          </a:p>
          <a:p>
            <a:pPr>
              <a:lnSpc>
                <a:spcPct val="100000"/>
              </a:lnSpc>
            </a:pPr>
            <a:endParaRPr sz="3550" dirty="0">
              <a:latin typeface="Calibri"/>
              <a:cs typeface="Calibri"/>
            </a:endParaRPr>
          </a:p>
          <a:p>
            <a:pPr marL="354965" marR="6985" indent="-342900" algn="just">
              <a:lnSpc>
                <a:spcPct val="79800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spc="15" dirty="0">
                <a:latin typeface="Calibri"/>
                <a:cs typeface="Calibri"/>
              </a:rPr>
              <a:t>Un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elemento</a:t>
            </a:r>
            <a:r>
              <a:rPr sz="3000" spc="-15" dirty="0">
                <a:latin typeface="Calibri"/>
                <a:cs typeface="Calibri"/>
              </a:rPr>
              <a:t> contenitore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</a:t>
            </a:r>
            <a:r>
              <a:rPr sz="3000" b="1" spc="-10" dirty="0">
                <a:latin typeface="Calibri"/>
                <a:cs typeface="Calibri"/>
              </a:rPr>
              <a:t>flex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container</a:t>
            </a:r>
            <a:r>
              <a:rPr sz="3000" spc="-10" dirty="0">
                <a:latin typeface="Calibri"/>
                <a:cs typeface="Calibri"/>
              </a:rPr>
              <a:t>):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quello </a:t>
            </a:r>
            <a:r>
              <a:rPr sz="3000" spc="-5" dirty="0">
                <a:latin typeface="Calibri"/>
                <a:cs typeface="Calibri"/>
              </a:rPr>
              <a:t>che </a:t>
            </a:r>
            <a:r>
              <a:rPr sz="3000" spc="-10" dirty="0">
                <a:latin typeface="Calibri"/>
                <a:cs typeface="Calibri"/>
              </a:rPr>
              <a:t>contiene </a:t>
            </a:r>
            <a:r>
              <a:rPr sz="3000" dirty="0">
                <a:latin typeface="Calibri"/>
                <a:cs typeface="Calibri"/>
              </a:rPr>
              <a:t>i </a:t>
            </a:r>
            <a:r>
              <a:rPr sz="3000" spc="-15" dirty="0">
                <a:latin typeface="Calibri"/>
                <a:cs typeface="Calibri"/>
              </a:rPr>
              <a:t>box </a:t>
            </a:r>
            <a:r>
              <a:rPr sz="3000" spc="-10" dirty="0">
                <a:latin typeface="Calibri"/>
                <a:cs typeface="Calibri"/>
              </a:rPr>
              <a:t>flessibili </a:t>
            </a:r>
            <a:r>
              <a:rPr sz="3000" spc="5" dirty="0">
                <a:latin typeface="Calibri"/>
                <a:cs typeface="Calibri"/>
              </a:rPr>
              <a:t>e </a:t>
            </a:r>
            <a:r>
              <a:rPr sz="3000" spc="-5" dirty="0">
                <a:latin typeface="Calibri"/>
                <a:cs typeface="Calibri"/>
              </a:rPr>
              <a:t>viene </a:t>
            </a:r>
            <a:r>
              <a:rPr sz="3000" spc="-15" dirty="0">
                <a:latin typeface="Calibri"/>
                <a:cs typeface="Calibri"/>
              </a:rPr>
              <a:t>creato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usando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il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valore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flex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per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proprietà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display;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3500" dirty="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801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box </a:t>
            </a:r>
            <a:r>
              <a:rPr sz="3000" spc="-5" dirty="0">
                <a:latin typeface="Calibri"/>
                <a:cs typeface="Calibri"/>
              </a:rPr>
              <a:t>flessibili </a:t>
            </a:r>
            <a:r>
              <a:rPr sz="3000" spc="-10" dirty="0">
                <a:latin typeface="Calibri"/>
                <a:cs typeface="Calibri"/>
              </a:rPr>
              <a:t>(</a:t>
            </a:r>
            <a:r>
              <a:rPr sz="3000" b="1" spc="-10" dirty="0">
                <a:latin typeface="Calibri"/>
                <a:cs typeface="Calibri"/>
              </a:rPr>
              <a:t>flex items</a:t>
            </a:r>
            <a:r>
              <a:rPr sz="3000" spc="-10" dirty="0">
                <a:latin typeface="Calibri"/>
                <a:cs typeface="Calibri"/>
              </a:rPr>
              <a:t>): </a:t>
            </a:r>
            <a:r>
              <a:rPr sz="3000" spc="-5" dirty="0">
                <a:latin typeface="Calibri"/>
                <a:cs typeface="Calibri"/>
              </a:rPr>
              <a:t>sono gli elementi figli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dell’elemento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contenitore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assumono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loro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caratteristica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fondamentale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quella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della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‘flessibilità’; </a:t>
            </a:r>
            <a:r>
              <a:rPr sz="3000" b="1" spc="-15" dirty="0">
                <a:latin typeface="Calibri"/>
                <a:cs typeface="Calibri"/>
              </a:rPr>
              <a:t>su </a:t>
            </a:r>
            <a:r>
              <a:rPr sz="3000" b="1" spc="-10" dirty="0">
                <a:latin typeface="Calibri"/>
                <a:cs typeface="Calibri"/>
              </a:rPr>
              <a:t>questi </a:t>
            </a:r>
            <a:r>
              <a:rPr sz="3000" b="1" spc="-15" dirty="0">
                <a:latin typeface="Calibri"/>
                <a:cs typeface="Calibri"/>
              </a:rPr>
              <a:t>box </a:t>
            </a:r>
            <a:r>
              <a:rPr sz="3000" b="1" spc="-5" dirty="0">
                <a:latin typeface="Calibri"/>
                <a:cs typeface="Calibri"/>
              </a:rPr>
              <a:t>non </a:t>
            </a:r>
            <a:r>
              <a:rPr sz="3000" b="1" dirty="0">
                <a:latin typeface="Calibri"/>
                <a:cs typeface="Calibri"/>
              </a:rPr>
              <a:t>hanno </a:t>
            </a:r>
            <a:r>
              <a:rPr sz="3000" b="1" spc="-40" dirty="0">
                <a:latin typeface="Calibri"/>
                <a:cs typeface="Calibri"/>
              </a:rPr>
              <a:t>effetto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b="1" spc="20" dirty="0">
                <a:latin typeface="Calibri"/>
                <a:cs typeface="Calibri"/>
              </a:rPr>
              <a:t>le </a:t>
            </a:r>
            <a:r>
              <a:rPr sz="3000" b="1" spc="2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proprietà</a:t>
            </a:r>
            <a:r>
              <a:rPr sz="3000" b="1" spc="-9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float,</a:t>
            </a:r>
            <a:r>
              <a:rPr sz="3000" b="1" spc="-40" dirty="0">
                <a:latin typeface="Calibri"/>
                <a:cs typeface="Calibri"/>
              </a:rPr>
              <a:t> </a:t>
            </a:r>
            <a:r>
              <a:rPr sz="3000" b="1" spc="5" dirty="0">
                <a:latin typeface="Calibri"/>
                <a:cs typeface="Calibri"/>
              </a:rPr>
              <a:t>clear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spc="5" dirty="0">
                <a:latin typeface="Calibri"/>
                <a:cs typeface="Calibri"/>
              </a:rPr>
              <a:t>e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vertical-align</a:t>
            </a:r>
            <a:r>
              <a:rPr sz="3000" spc="-5" dirty="0">
                <a:latin typeface="Calibri"/>
                <a:cs typeface="Calibri"/>
              </a:rPr>
              <a:t>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31506"/>
            <a:ext cx="8073390" cy="3149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0"/>
              </a:spcBef>
            </a:pPr>
            <a:r>
              <a:rPr sz="3200" spc="-5" dirty="0">
                <a:latin typeface="Calibri"/>
                <a:cs typeface="Calibri"/>
              </a:rPr>
              <a:t>Le</a:t>
            </a:r>
            <a:r>
              <a:rPr sz="3200" dirty="0">
                <a:latin typeface="Calibri"/>
                <a:cs typeface="Calibri"/>
              </a:rPr>
              <a:t> 13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proprietà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compongono</a:t>
            </a:r>
            <a:r>
              <a:rPr sz="3200" dirty="0">
                <a:latin typeface="Calibri"/>
                <a:cs typeface="Calibri"/>
              </a:rPr>
              <a:t> 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modulo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possono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pertanto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essere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suddivise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7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due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gruppi: quelle </a:t>
            </a:r>
            <a:r>
              <a:rPr sz="3200" spc="-10" dirty="0">
                <a:latin typeface="Calibri"/>
                <a:cs typeface="Calibri"/>
              </a:rPr>
              <a:t>che si </a:t>
            </a:r>
            <a:r>
              <a:rPr sz="3200" spc="-5" dirty="0">
                <a:latin typeface="Calibri"/>
                <a:cs typeface="Calibri"/>
              </a:rPr>
              <a:t>applicano al 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contenitore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quelle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applicano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ai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b="1" spc="-40" dirty="0">
                <a:solidFill>
                  <a:srgbClr val="FF0000"/>
                </a:solidFill>
                <a:latin typeface="Calibri"/>
                <a:cs typeface="Calibri"/>
              </a:rPr>
              <a:t>box</a:t>
            </a:r>
            <a:r>
              <a:rPr sz="3200" b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flessibili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3200" spc="-20" dirty="0">
                <a:latin typeface="Calibri"/>
                <a:cs typeface="Calibri"/>
              </a:rPr>
              <a:t>Proprietà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che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applicano</a:t>
            </a:r>
            <a:r>
              <a:rPr sz="3200" spc="1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 </a:t>
            </a:r>
            <a:r>
              <a:rPr sz="3200" spc="-25" dirty="0">
                <a:latin typeface="Calibri"/>
                <a:cs typeface="Calibri"/>
              </a:rPr>
              <a:t>contenitore</a:t>
            </a:r>
            <a:r>
              <a:rPr sz="3200" spc="114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90766" y="1201483"/>
          <a:ext cx="8425180" cy="51751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6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925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Proprietà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Valori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Descrizione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417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b="1" spc="-15" dirty="0">
                          <a:latin typeface="Calibri"/>
                          <a:cs typeface="Calibri"/>
                        </a:rPr>
                        <a:t>display:</a:t>
                      </a:r>
                      <a:r>
                        <a:rPr sz="16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5" dirty="0">
                          <a:latin typeface="Calibri"/>
                          <a:cs typeface="Calibri"/>
                        </a:rPr>
                        <a:t>flex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914"/>
                        </a:lnSpc>
                        <a:spcBef>
                          <a:spcPts val="14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è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il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valore</a:t>
                      </a:r>
                      <a:r>
                        <a:rPr sz="16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della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proprietà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cui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si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imposta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un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2225">
                        <a:lnSpc>
                          <a:spcPts val="1914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contenitore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flessibile;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0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flex-direction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1914"/>
                        </a:lnSpc>
                        <a:spcBef>
                          <a:spcPts val="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row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row-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1590" marR="28575">
                        <a:lnSpc>
                          <a:spcPts val="1950"/>
                        </a:lnSpc>
                        <a:spcBef>
                          <a:spcPts val="35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reverse</a:t>
                      </a:r>
                      <a:r>
                        <a:rPr sz="1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column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colum </a:t>
                      </a:r>
                      <a:r>
                        <a:rPr sz="1600" spc="-3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n-reverse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914"/>
                        </a:lnSpc>
                        <a:spcBef>
                          <a:spcPts val="102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specifica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direzione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dell’asse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principale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600" i="1" spc="5" dirty="0">
                          <a:latin typeface="Calibri"/>
                          <a:cs typeface="Calibri"/>
                        </a:rPr>
                        <a:t>main</a:t>
                      </a:r>
                      <a:r>
                        <a:rPr sz="1600" i="1" spc="-10" dirty="0">
                          <a:latin typeface="Calibri"/>
                          <a:cs typeface="Calibri"/>
                        </a:rPr>
                        <a:t> axis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1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su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cui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2225">
                        <a:lnSpc>
                          <a:spcPts val="1914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dispongono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flessibili</a:t>
                      </a:r>
                      <a:r>
                        <a:rPr sz="1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nel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contenitore;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886"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flex-wrap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1920"/>
                        </a:lnSpc>
                        <a:spcBef>
                          <a:spcPts val="39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nowrap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wrap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wrap-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ct val="100000"/>
                        </a:lnSpc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reverse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920"/>
                        </a:lnSpc>
                        <a:spcBef>
                          <a:spcPts val="39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specifica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se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all’interno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del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contenitore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dispongono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su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riga</a:t>
                      </a:r>
                      <a:r>
                        <a:rPr sz="1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su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più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righe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base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allo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spazio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disponbile;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flex-flow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920"/>
                        </a:lnSpc>
                        <a:spcBef>
                          <a:spcPts val="54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è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proprietà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sintassi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abbreviata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cui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esprimere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22225">
                        <a:lnSpc>
                          <a:spcPts val="192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insieme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valori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flex-direction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flex-wrap;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31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justify-content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1920"/>
                        </a:lnSpc>
                        <a:spcBef>
                          <a:spcPts val="75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flex-start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flex-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ts val="192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center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space-</a:t>
                      </a:r>
                    </a:p>
                    <a:p>
                      <a:pPr marL="215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space-around</a:t>
                      </a:r>
                    </a:p>
                  </a:txBody>
                  <a:tcPr marL="0" marR="0" marT="952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920"/>
                        </a:lnSpc>
                        <a:spcBef>
                          <a:spcPts val="103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stabilisce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modalità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allineamento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dei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flessibili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sull’asse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principale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del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contenitore;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144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9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align-items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1920"/>
                        </a:lnSpc>
                        <a:spcBef>
                          <a:spcPts val="90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stretch</a:t>
                      </a:r>
                      <a:r>
                        <a:rPr sz="1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flex-start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flex-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ts val="192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center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baseline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920"/>
                        </a:lnSpc>
                        <a:spcBef>
                          <a:spcPts val="90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gestisce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l’allineamento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dei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flessibili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lungo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l’asse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2225">
                        <a:lnSpc>
                          <a:spcPts val="192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perpendicolare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600" i="1" dirty="0">
                          <a:latin typeface="Calibri"/>
                          <a:cs typeface="Calibri"/>
                        </a:rPr>
                        <a:t>cross</a:t>
                      </a:r>
                      <a:r>
                        <a:rPr sz="16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10" dirty="0">
                          <a:latin typeface="Calibri"/>
                          <a:cs typeface="Calibri"/>
                        </a:rPr>
                        <a:t>axis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all’asse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principale;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25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750" dirty="0">
                        <a:latin typeface="Times New Roman"/>
                        <a:cs typeface="Times New Roman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align-content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marR="85090">
                        <a:lnSpc>
                          <a:spcPct val="100699"/>
                        </a:lnSpc>
                        <a:spcBef>
                          <a:spcPts val="10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stretch</a:t>
                      </a:r>
                      <a:r>
                        <a:rPr sz="1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flex-start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flex- </a:t>
                      </a:r>
                      <a:r>
                        <a:rPr sz="1600" spc="-3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end | center |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space- 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space-around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62230">
                        <a:lnSpc>
                          <a:spcPct val="100699"/>
                        </a:lnSpc>
                        <a:spcBef>
                          <a:spcPts val="10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gestisce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l’allineamento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 una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riga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box flessibili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lungo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l’asse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perpendicolare;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effetto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solo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su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contenitori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multi- </a:t>
                      </a:r>
                      <a:r>
                        <a:rPr sz="1600" spc="-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riga;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795388"/>
            <a:ext cx="7717155" cy="485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spc="10" dirty="0"/>
              <a:t>Le</a:t>
            </a:r>
            <a:r>
              <a:rPr sz="3000" spc="-20" dirty="0"/>
              <a:t> </a:t>
            </a:r>
            <a:r>
              <a:rPr sz="3000" spc="-5" dirty="0"/>
              <a:t>proprietà</a:t>
            </a:r>
            <a:r>
              <a:rPr sz="3000" spc="-90" dirty="0"/>
              <a:t> </a:t>
            </a:r>
            <a:r>
              <a:rPr sz="3000" spc="5" dirty="0"/>
              <a:t>che</a:t>
            </a:r>
            <a:r>
              <a:rPr sz="3000" spc="-50" dirty="0"/>
              <a:t> </a:t>
            </a:r>
            <a:r>
              <a:rPr sz="3000" dirty="0"/>
              <a:t>si</a:t>
            </a:r>
            <a:r>
              <a:rPr sz="3000" spc="-25" dirty="0"/>
              <a:t> </a:t>
            </a:r>
            <a:r>
              <a:rPr sz="3000" spc="5" dirty="0"/>
              <a:t>applicano</a:t>
            </a:r>
            <a:r>
              <a:rPr sz="3000" spc="-105" dirty="0"/>
              <a:t> </a:t>
            </a:r>
            <a:r>
              <a:rPr sz="3000" spc="5" dirty="0"/>
              <a:t>ai</a:t>
            </a:r>
            <a:r>
              <a:rPr sz="3000" spc="-25" dirty="0"/>
              <a:t> </a:t>
            </a:r>
            <a:r>
              <a:rPr sz="3000" spc="-15" dirty="0"/>
              <a:t>box</a:t>
            </a:r>
            <a:r>
              <a:rPr sz="3000" spc="-30" dirty="0"/>
              <a:t> </a:t>
            </a:r>
            <a:r>
              <a:rPr sz="3000" spc="5" dirty="0"/>
              <a:t>flessibili</a:t>
            </a:r>
            <a:r>
              <a:rPr sz="3000" spc="-110" dirty="0"/>
              <a:t> </a:t>
            </a:r>
            <a:r>
              <a:rPr sz="3000" spc="5" dirty="0"/>
              <a:t>sono: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3172" y="1466532"/>
          <a:ext cx="8669020" cy="47660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564"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Proprietà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Valori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Descrizione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542"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600" b="1" spc="-15" dirty="0">
                          <a:latin typeface="Calibri"/>
                          <a:cs typeface="Calibri"/>
                        </a:rPr>
                        <a:t>order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3271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1920"/>
                        </a:lnSpc>
                        <a:spcBef>
                          <a:spcPts val="8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specifica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l’ordine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cui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viene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mostrato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rispetto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agli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altri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definiti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nel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contenitore;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1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250" dirty="0">
                        <a:latin typeface="Times New Roman"/>
                        <a:cs typeface="Times New Roman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Calibri"/>
                          <a:cs typeface="Calibri"/>
                        </a:rPr>
                        <a:t>align-self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marR="113030">
                        <a:lnSpc>
                          <a:spcPct val="100800"/>
                        </a:lnSpc>
                        <a:spcBef>
                          <a:spcPts val="69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auto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flex-start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flex-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end |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center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| baseline | </a:t>
                      </a:r>
                      <a:r>
                        <a:rPr sz="1600" spc="-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stretch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826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marR="598805">
                        <a:lnSpc>
                          <a:spcPct val="100800"/>
                        </a:lnSpc>
                        <a:spcBef>
                          <a:spcPts val="69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consente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specificare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singolo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l’allineamento </a:t>
                      </a:r>
                      <a:r>
                        <a:rPr sz="1600" spc="-3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sull’asse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perpendicolare,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superando caso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per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caso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le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impostazioni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definite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proprietà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align-items;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826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 dirty="0">
                        <a:latin typeface="Times New Roman"/>
                        <a:cs typeface="Times New Roman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5" dirty="0">
                          <a:latin typeface="Calibri"/>
                          <a:cs typeface="Calibri"/>
                        </a:rPr>
                        <a:t>flex-grow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marR="31115">
                        <a:lnSpc>
                          <a:spcPct val="100699"/>
                        </a:lnSpc>
                        <a:spcBef>
                          <a:spcPts val="13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consente di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impostare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il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fattore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ingrandimento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 un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box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rispetto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agli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altri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presenti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nel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contenitore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quando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distribuisce </a:t>
                      </a:r>
                      <a:r>
                        <a:rPr sz="1600" spc="-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lo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spazio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disponbile;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flex-shrink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1920"/>
                        </a:lnSpc>
                        <a:spcBef>
                          <a:spcPts val="82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è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proprietà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opposta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rispetto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a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flex-grow,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dal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momento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che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ts val="192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agisce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sul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fattore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restringimento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relativo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tra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box;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flex-basis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1920"/>
                        </a:lnSpc>
                        <a:spcBef>
                          <a:spcPts val="83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consente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specificare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dimensione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principale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600" i="1" spc="5" dirty="0">
                          <a:latin typeface="Calibri"/>
                          <a:cs typeface="Calibri"/>
                        </a:rPr>
                        <a:t>main</a:t>
                      </a:r>
                      <a:r>
                        <a:rPr sz="1600" i="1" spc="-15" dirty="0">
                          <a:latin typeface="Calibri"/>
                          <a:cs typeface="Calibri"/>
                        </a:rPr>
                        <a:t> size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)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iniziale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(in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valori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assoluti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percentuale)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box;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5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1600" b="1" spc="-15" dirty="0">
                          <a:latin typeface="Calibri"/>
                          <a:cs typeface="Calibri"/>
                        </a:rPr>
                        <a:t>flex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ts val="1920"/>
                        </a:lnSpc>
                        <a:spcBef>
                          <a:spcPts val="88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proprietà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sintassi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abbreviata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dichiarare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un’unica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regola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21590">
                        <a:lnSpc>
                          <a:spcPts val="1920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valori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flex-grow,</a:t>
                      </a:r>
                      <a:r>
                        <a:rPr sz="16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flex-shrink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flex-basis.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AEC2D4"/>
                      </a:solidFill>
                      <a:prstDash val="solid"/>
                    </a:lnL>
                    <a:lnR w="9525">
                      <a:solidFill>
                        <a:srgbClr val="AEC2D4"/>
                      </a:solidFill>
                      <a:prstDash val="solid"/>
                    </a:lnR>
                    <a:lnT w="9525">
                      <a:solidFill>
                        <a:srgbClr val="AEC2D4"/>
                      </a:solidFill>
                      <a:prstDash val="solid"/>
                    </a:lnT>
                    <a:lnB w="9525">
                      <a:solidFill>
                        <a:srgbClr val="AEC2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2321" y="889965"/>
            <a:ext cx="196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Es</a:t>
            </a:r>
            <a:r>
              <a:rPr dirty="0"/>
              <a:t>emp</a:t>
            </a:r>
            <a:r>
              <a:rPr spc="-20" dirty="0"/>
              <a:t>i</a:t>
            </a:r>
            <a:r>
              <a:rPr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50326"/>
            <a:ext cx="8072755" cy="40195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75"/>
              </a:spcBef>
            </a:pPr>
            <a:r>
              <a:rPr sz="3200" spc="-20" dirty="0">
                <a:latin typeface="Calibri"/>
                <a:cs typeface="Calibri"/>
              </a:rPr>
              <a:t>Creeremo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box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contenitore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centrato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orizzontalmente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verticalmente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rispetto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body, </a:t>
            </a:r>
            <a:r>
              <a:rPr sz="3200" dirty="0">
                <a:latin typeface="Calibri"/>
                <a:cs typeface="Calibri"/>
              </a:rPr>
              <a:t>con </a:t>
            </a:r>
            <a:r>
              <a:rPr sz="3200" spc="-5" dirty="0">
                <a:latin typeface="Calibri"/>
                <a:cs typeface="Calibri"/>
              </a:rPr>
              <a:t>all’interno </a:t>
            </a:r>
            <a:r>
              <a:rPr sz="3200" spc="-25" dirty="0">
                <a:latin typeface="Calibri"/>
                <a:cs typeface="Calibri"/>
              </a:rPr>
              <a:t>tre </a:t>
            </a:r>
            <a:r>
              <a:rPr sz="3200" spc="-15" dirty="0">
                <a:latin typeface="Calibri"/>
                <a:cs typeface="Calibri"/>
              </a:rPr>
              <a:t>box centrati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spc="-20" dirty="0">
                <a:latin typeface="Calibri"/>
                <a:cs typeface="Calibri"/>
              </a:rPr>
              <a:t>loro </a:t>
            </a:r>
            <a:r>
              <a:rPr sz="3200" spc="-10" dirty="0">
                <a:latin typeface="Calibri"/>
                <a:cs typeface="Calibri"/>
              </a:rPr>
              <a:t>volta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orizzontalmente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verticalmente,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disposti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in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modo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essere</a:t>
            </a:r>
            <a:r>
              <a:rPr sz="3200" spc="-10" dirty="0">
                <a:latin typeface="Calibri"/>
                <a:cs typeface="Calibri"/>
              </a:rPr>
              <a:t> equamente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distanziati</a:t>
            </a:r>
            <a:r>
              <a:rPr sz="3200" spc="-5" dirty="0">
                <a:latin typeface="Calibri"/>
                <a:cs typeface="Calibri"/>
              </a:rPr>
              <a:t> nello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spazio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disponibile.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>
              <a:latin typeface="Calibri"/>
              <a:cs typeface="Calibri"/>
            </a:endParaRPr>
          </a:p>
          <a:p>
            <a:pPr marL="12700" marR="7620" algn="just">
              <a:lnSpc>
                <a:spcPts val="3479"/>
              </a:lnSpc>
            </a:pPr>
            <a:r>
              <a:rPr sz="3200" spc="-10" dirty="0">
                <a:latin typeface="Calibri"/>
                <a:cs typeface="Calibri"/>
              </a:rPr>
              <a:t>Si </a:t>
            </a:r>
            <a:r>
              <a:rPr sz="3200" spc="-15" dirty="0">
                <a:latin typeface="Calibri"/>
                <a:cs typeface="Calibri"/>
              </a:rPr>
              <a:t>parte </a:t>
            </a:r>
            <a:r>
              <a:rPr sz="3200" spc="-10" dirty="0">
                <a:latin typeface="Calibri"/>
                <a:cs typeface="Calibri"/>
              </a:rPr>
              <a:t>inserendo nel </a:t>
            </a:r>
            <a:r>
              <a:rPr sz="3200" dirty="0">
                <a:latin typeface="Calibri"/>
                <a:cs typeface="Calibri"/>
              </a:rPr>
              <a:t>corpo </a:t>
            </a:r>
            <a:r>
              <a:rPr sz="3200" spc="-10" dirty="0">
                <a:latin typeface="Calibri"/>
                <a:cs typeface="Calibri"/>
              </a:rPr>
              <a:t>del documento </a:t>
            </a:r>
            <a:r>
              <a:rPr sz="3200" spc="-20" dirty="0">
                <a:latin typeface="Calibri"/>
                <a:cs typeface="Calibri"/>
              </a:rPr>
              <a:t>un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div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con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container: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73175"/>
            <a:ext cx="7080250" cy="49028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spc="15" dirty="0">
                <a:latin typeface="Calibri"/>
                <a:cs typeface="Calibri"/>
              </a:rPr>
              <a:t>&lt;div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id="container"&gt;</a:t>
            </a:r>
            <a:endParaRPr sz="2450" dirty="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  <a:spcBef>
                <a:spcPts val="45"/>
              </a:spcBef>
            </a:pPr>
            <a:r>
              <a:rPr sz="2450" spc="15" dirty="0">
                <a:latin typeface="Calibri"/>
                <a:cs typeface="Calibri"/>
              </a:rPr>
              <a:t>...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450" spc="15" dirty="0">
                <a:latin typeface="Calibri"/>
                <a:cs typeface="Calibri"/>
              </a:rPr>
              <a:t>&lt;/div&gt;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 dirty="0">
              <a:latin typeface="Calibri"/>
              <a:cs typeface="Calibri"/>
            </a:endParaRPr>
          </a:p>
          <a:p>
            <a:pPr marL="12700" marR="5080">
              <a:lnSpc>
                <a:spcPts val="2410"/>
              </a:lnSpc>
              <a:spcBef>
                <a:spcPts val="5"/>
              </a:spcBef>
            </a:pPr>
            <a:r>
              <a:rPr sz="2450" spc="15" dirty="0">
                <a:latin typeface="Calibri"/>
                <a:cs typeface="Calibri"/>
              </a:rPr>
              <a:t>Assegniamo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via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CSS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spc="-5" dirty="0">
                <a:latin typeface="Calibri"/>
                <a:cs typeface="Calibri"/>
              </a:rPr>
              <a:t> questo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div</a:t>
            </a:r>
            <a:r>
              <a:rPr sz="2450" spc="15" dirty="0">
                <a:latin typeface="Calibri"/>
                <a:cs typeface="Calibri"/>
              </a:rPr>
              <a:t> una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serie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di </a:t>
            </a:r>
            <a:r>
              <a:rPr sz="2450" spc="-10" dirty="0">
                <a:latin typeface="Calibri"/>
                <a:cs typeface="Calibri"/>
              </a:rPr>
              <a:t>stili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per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lo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sfondo,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bordo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 </a:t>
            </a:r>
            <a:r>
              <a:rPr sz="2450" spc="10" dirty="0">
                <a:latin typeface="Calibri"/>
                <a:cs typeface="Calibri"/>
              </a:rPr>
              <a:t>le dimensioni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 dirty="0">
              <a:latin typeface="Calibri"/>
              <a:cs typeface="Calibri"/>
            </a:endParaRPr>
          </a:p>
          <a:p>
            <a:pPr marL="84455" marR="3996690" indent="-72390">
              <a:lnSpc>
                <a:spcPct val="102200"/>
              </a:lnSpc>
            </a:pPr>
            <a:r>
              <a:rPr sz="2450" dirty="0">
                <a:latin typeface="Calibri"/>
                <a:cs typeface="Calibri"/>
              </a:rPr>
              <a:t>#container</a:t>
            </a:r>
            <a:r>
              <a:rPr sz="2450" spc="10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background: #e3e3e3;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border: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2px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solid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black;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width:740px;</a:t>
            </a:r>
          </a:p>
          <a:p>
            <a:pPr marL="84455">
              <a:lnSpc>
                <a:spcPct val="100000"/>
              </a:lnSpc>
              <a:spcBef>
                <a:spcPts val="45"/>
              </a:spcBef>
            </a:pPr>
            <a:r>
              <a:rPr sz="2450" spc="5" dirty="0">
                <a:latin typeface="Calibri"/>
                <a:cs typeface="Calibri"/>
              </a:rPr>
              <a:t>height: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300px;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450" spc="10" dirty="0">
                <a:latin typeface="Calibri"/>
                <a:cs typeface="Calibri"/>
              </a:rPr>
              <a:t>}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31506"/>
            <a:ext cx="8074659" cy="48577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80"/>
              </a:spcBef>
            </a:pPr>
            <a:r>
              <a:rPr sz="3200" spc="-25" dirty="0">
                <a:latin typeface="Calibri"/>
                <a:cs typeface="Calibri"/>
              </a:rPr>
              <a:t>Per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centrarlo</a:t>
            </a:r>
            <a:r>
              <a:rPr sz="3200" spc="-10" dirty="0">
                <a:latin typeface="Calibri"/>
                <a:cs typeface="Calibri"/>
              </a:rPr>
              <a:t> verticalmente</a:t>
            </a:r>
            <a:r>
              <a:rPr sz="3200" spc="-5" dirty="0">
                <a:latin typeface="Calibri"/>
                <a:cs typeface="Calibri"/>
              </a:rPr>
              <a:t> 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orizzontalmente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sulla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pagina, </a:t>
            </a:r>
            <a:r>
              <a:rPr sz="3200" dirty="0">
                <a:latin typeface="Calibri"/>
                <a:cs typeface="Calibri"/>
              </a:rPr>
              <a:t>dobbiamo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tenere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presente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il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suo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elemento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contenitore</a:t>
            </a:r>
            <a:r>
              <a:rPr sz="3200" spc="1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 </a:t>
            </a:r>
            <a:r>
              <a:rPr sz="3200" spc="-35" dirty="0">
                <a:latin typeface="Calibri"/>
                <a:cs typeface="Calibri"/>
              </a:rPr>
              <a:t>l’elemento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body.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 dirty="0">
              <a:latin typeface="Calibri"/>
              <a:cs typeface="Calibri"/>
            </a:endParaRPr>
          </a:p>
          <a:p>
            <a:pPr marL="12700" marR="6350" algn="just">
              <a:lnSpc>
                <a:spcPct val="100099"/>
              </a:lnSpc>
            </a:pPr>
            <a:r>
              <a:rPr sz="3200" spc="-25" dirty="0">
                <a:latin typeface="Calibri"/>
                <a:cs typeface="Calibri"/>
              </a:rPr>
              <a:t>Per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prima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cosa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dobbiamo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pertanto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fissare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l’altezza </a:t>
            </a:r>
            <a:r>
              <a:rPr sz="3200" spc="-10" dirty="0">
                <a:latin typeface="Calibri"/>
                <a:cs typeface="Calibri"/>
              </a:rPr>
              <a:t>per </a:t>
            </a:r>
            <a:r>
              <a:rPr sz="3200" spc="-5" dirty="0">
                <a:latin typeface="Calibri"/>
                <a:cs typeface="Calibri"/>
              </a:rPr>
              <a:t>i </a:t>
            </a:r>
            <a:r>
              <a:rPr sz="3200" spc="-15" dirty="0">
                <a:latin typeface="Calibri"/>
                <a:cs typeface="Calibri"/>
              </a:rPr>
              <a:t>selettori </a:t>
            </a:r>
            <a:r>
              <a:rPr sz="3200" spc="-5" dirty="0">
                <a:latin typeface="Calibri"/>
                <a:cs typeface="Calibri"/>
              </a:rPr>
              <a:t>html e </a:t>
            </a:r>
            <a:r>
              <a:rPr sz="3200" spc="-10" dirty="0">
                <a:latin typeface="Calibri"/>
                <a:cs typeface="Calibri"/>
              </a:rPr>
              <a:t>body </a:t>
            </a:r>
            <a:r>
              <a:rPr sz="3200" spc="-5" dirty="0">
                <a:latin typeface="Calibri"/>
                <a:cs typeface="Calibri"/>
              </a:rPr>
              <a:t>al </a:t>
            </a:r>
            <a:r>
              <a:rPr sz="3200" dirty="0">
                <a:latin typeface="Calibri"/>
                <a:cs typeface="Calibri"/>
              </a:rPr>
              <a:t>100%, </a:t>
            </a:r>
            <a:r>
              <a:rPr sz="3200" spc="5" dirty="0">
                <a:latin typeface="Calibri"/>
                <a:cs typeface="Calibri"/>
              </a:rPr>
              <a:t>in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modo </a:t>
            </a:r>
            <a:r>
              <a:rPr sz="3200" spc="-15" dirty="0">
                <a:latin typeface="Calibri"/>
                <a:cs typeface="Calibri"/>
              </a:rPr>
              <a:t>da </a:t>
            </a:r>
            <a:r>
              <a:rPr sz="3200" spc="-25" dirty="0">
                <a:latin typeface="Calibri"/>
                <a:cs typeface="Calibri"/>
              </a:rPr>
              <a:t>creare </a:t>
            </a:r>
            <a:r>
              <a:rPr sz="3200" spc="-5" dirty="0">
                <a:latin typeface="Calibri"/>
                <a:cs typeface="Calibri"/>
              </a:rPr>
              <a:t>una dimensione </a:t>
            </a:r>
            <a:r>
              <a:rPr sz="3200" spc="-15" dirty="0">
                <a:latin typeface="Calibri"/>
                <a:cs typeface="Calibri"/>
              </a:rPr>
              <a:t>di riferimento </a:t>
            </a:r>
            <a:r>
              <a:rPr sz="3200" spc="-10" dirty="0">
                <a:latin typeface="Calibri"/>
                <a:cs typeface="Calibri"/>
              </a:rPr>
              <a:t> per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centratura</a:t>
            </a:r>
            <a:r>
              <a:rPr sz="3200" spc="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verticale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3200" spc="-15" dirty="0">
                <a:latin typeface="Calibri"/>
                <a:cs typeface="Calibri"/>
              </a:rPr>
              <a:t>html,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body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{height: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100%;}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30566"/>
            <a:ext cx="8071484" cy="44564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6350" algn="just">
              <a:lnSpc>
                <a:spcPct val="90000"/>
              </a:lnSpc>
              <a:spcBef>
                <a:spcPts val="475"/>
              </a:spcBef>
            </a:pP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questo </a:t>
            </a:r>
            <a:r>
              <a:rPr sz="3200" spc="-15" dirty="0">
                <a:latin typeface="Calibri"/>
                <a:cs typeface="Calibri"/>
              </a:rPr>
              <a:t>punto, </a:t>
            </a:r>
            <a:r>
              <a:rPr sz="3200" spc="-5" dirty="0">
                <a:latin typeface="Calibri"/>
                <a:cs typeface="Calibri"/>
              </a:rPr>
              <a:t>ci </a:t>
            </a:r>
            <a:r>
              <a:rPr sz="3200" spc="-10" dirty="0">
                <a:latin typeface="Calibri"/>
                <a:cs typeface="Calibri"/>
              </a:rPr>
              <a:t>affidiamo </a:t>
            </a:r>
            <a:r>
              <a:rPr sz="3200" spc="-5" dirty="0">
                <a:latin typeface="Calibri"/>
                <a:cs typeface="Calibri"/>
              </a:rPr>
              <a:t>al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flexbox</a:t>
            </a:r>
            <a:r>
              <a:rPr sz="3200" spc="-20" dirty="0">
                <a:latin typeface="Calibri"/>
                <a:cs typeface="Calibri"/>
              </a:rPr>
              <a:t>. </a:t>
            </a:r>
            <a:r>
              <a:rPr sz="3200" spc="-25" dirty="0">
                <a:latin typeface="Calibri"/>
                <a:cs typeface="Calibri"/>
              </a:rPr>
              <a:t>Basterà </a:t>
            </a:r>
            <a:r>
              <a:rPr sz="3200" spc="-20" dirty="0">
                <a:latin typeface="Calibri"/>
                <a:cs typeface="Calibri"/>
              </a:rPr>
              <a:t> impostare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body</a:t>
            </a:r>
            <a:r>
              <a:rPr sz="3200" spc="-5" dirty="0">
                <a:latin typeface="Calibri"/>
                <a:cs typeface="Calibri"/>
              </a:rPr>
              <a:t> (il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nostro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contenitore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‘flessibile’) </a:t>
            </a:r>
            <a:r>
              <a:rPr sz="3200" spc="20" dirty="0">
                <a:latin typeface="Calibri"/>
                <a:cs typeface="Calibri"/>
              </a:rPr>
              <a:t>la </a:t>
            </a:r>
            <a:r>
              <a:rPr sz="3200" spc="-20" dirty="0">
                <a:latin typeface="Calibri"/>
                <a:cs typeface="Calibri"/>
              </a:rPr>
              <a:t>proprietà </a:t>
            </a:r>
            <a:r>
              <a:rPr sz="3200" spc="-15" dirty="0">
                <a:latin typeface="Calibri"/>
                <a:cs typeface="Calibri"/>
              </a:rPr>
              <a:t>display </a:t>
            </a:r>
            <a:r>
              <a:rPr sz="3200" spc="-10" dirty="0">
                <a:latin typeface="Calibri"/>
                <a:cs typeface="Calibri"/>
              </a:rPr>
              <a:t>sul </a:t>
            </a:r>
            <a:r>
              <a:rPr sz="3200" spc="-20" dirty="0">
                <a:latin typeface="Calibri"/>
                <a:cs typeface="Calibri"/>
              </a:rPr>
              <a:t>valore </a:t>
            </a:r>
            <a:r>
              <a:rPr sz="3200" spc="-15" dirty="0">
                <a:latin typeface="Calibri"/>
                <a:cs typeface="Calibri"/>
              </a:rPr>
              <a:t>flex, </a:t>
            </a:r>
            <a:r>
              <a:rPr sz="3200" spc="-5" dirty="0">
                <a:latin typeface="Calibri"/>
                <a:cs typeface="Calibri"/>
              </a:rPr>
              <a:t>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quindi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agire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sulle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proprietà</a:t>
            </a:r>
            <a:r>
              <a:rPr sz="3200" spc="-10" dirty="0">
                <a:latin typeface="Calibri"/>
                <a:cs typeface="Calibri"/>
              </a:rPr>
              <a:t> justify-content</a:t>
            </a:r>
            <a:r>
              <a:rPr sz="3200" spc="-5" dirty="0">
                <a:latin typeface="Calibri"/>
                <a:cs typeface="Calibri"/>
              </a:rPr>
              <a:t> 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align-items: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entrambe</a:t>
            </a:r>
            <a:r>
              <a:rPr sz="3200" spc="-10" dirty="0">
                <a:latin typeface="Calibri"/>
                <a:cs typeface="Calibri"/>
              </a:rPr>
              <a:t> useremo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valore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65" dirty="0">
                <a:latin typeface="Calibri"/>
                <a:cs typeface="Calibri"/>
              </a:rPr>
              <a:t>center.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50">
              <a:latin typeface="Calibri"/>
              <a:cs typeface="Calibri"/>
            </a:endParaRPr>
          </a:p>
          <a:p>
            <a:pPr marL="12700" marR="5080" algn="just">
              <a:lnSpc>
                <a:spcPct val="90100"/>
              </a:lnSpc>
            </a:pPr>
            <a:r>
              <a:rPr sz="3200" spc="-5" dirty="0">
                <a:latin typeface="Calibri"/>
                <a:cs typeface="Calibri"/>
              </a:rPr>
              <a:t>Nel </a:t>
            </a:r>
            <a:r>
              <a:rPr sz="3200" spc="-15" dirty="0">
                <a:latin typeface="Calibri"/>
                <a:cs typeface="Calibri"/>
              </a:rPr>
              <a:t>codice </a:t>
            </a:r>
            <a:r>
              <a:rPr sz="3200" spc="-10" dirty="0">
                <a:latin typeface="Calibri"/>
                <a:cs typeface="Calibri"/>
              </a:rPr>
              <a:t>si </a:t>
            </a:r>
            <a:r>
              <a:rPr sz="3200" spc="-5" dirty="0">
                <a:latin typeface="Calibri"/>
                <a:cs typeface="Calibri"/>
              </a:rPr>
              <a:t>risolve </a:t>
            </a:r>
            <a:r>
              <a:rPr sz="3200" spc="-20" dirty="0">
                <a:latin typeface="Calibri"/>
                <a:cs typeface="Calibri"/>
              </a:rPr>
              <a:t>tutto </a:t>
            </a:r>
            <a:r>
              <a:rPr sz="3200" spc="20" dirty="0">
                <a:latin typeface="Calibri"/>
                <a:cs typeface="Calibri"/>
              </a:rPr>
              <a:t>in </a:t>
            </a:r>
            <a:r>
              <a:rPr sz="3200" spc="-25" dirty="0">
                <a:latin typeface="Calibri"/>
                <a:cs typeface="Calibri"/>
              </a:rPr>
              <a:t>tre </a:t>
            </a:r>
            <a:r>
              <a:rPr sz="3200" spc="-15" dirty="0">
                <a:latin typeface="Calibri"/>
                <a:cs typeface="Calibri"/>
              </a:rPr>
              <a:t>regole, </a:t>
            </a:r>
            <a:r>
              <a:rPr sz="3200" dirty="0">
                <a:latin typeface="Calibri"/>
                <a:cs typeface="Calibri"/>
              </a:rPr>
              <a:t>la </a:t>
            </a:r>
            <a:r>
              <a:rPr sz="3200" spc="-15" dirty="0">
                <a:latin typeface="Calibri"/>
                <a:cs typeface="Calibri"/>
              </a:rPr>
              <a:t>sintassi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qui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più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verbosa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perché</a:t>
            </a:r>
            <a:r>
              <a:rPr sz="3200" spc="-10" dirty="0">
                <a:latin typeface="Calibri"/>
                <a:cs typeface="Calibri"/>
              </a:rPr>
              <a:t> per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Safari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ancora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necessario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ricorrere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prefisso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-webkit-: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94549"/>
            <a:ext cx="5749925" cy="46005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590"/>
              </a:lnSpc>
              <a:spcBef>
                <a:spcPts val="114"/>
              </a:spcBef>
            </a:pPr>
            <a:r>
              <a:rPr sz="3000" spc="10" dirty="0">
                <a:latin typeface="Calibri"/>
                <a:cs typeface="Calibri"/>
              </a:rPr>
              <a:t>body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{</a:t>
            </a:r>
            <a:endParaRPr sz="3000" dirty="0">
              <a:latin typeface="Calibri"/>
              <a:cs typeface="Calibri"/>
            </a:endParaRPr>
          </a:p>
          <a:p>
            <a:pPr marL="927100">
              <a:lnSpc>
                <a:spcPts val="3590"/>
              </a:lnSpc>
            </a:pPr>
            <a:r>
              <a:rPr sz="3000" spc="5" dirty="0">
                <a:latin typeface="Calibri"/>
                <a:cs typeface="Calibri"/>
              </a:rPr>
              <a:t>margin:0;</a:t>
            </a:r>
            <a:endParaRPr sz="3000" dirty="0">
              <a:latin typeface="Calibri"/>
              <a:cs typeface="Calibri"/>
            </a:endParaRPr>
          </a:p>
          <a:p>
            <a:pPr marL="927100" marR="2893060">
              <a:lnSpc>
                <a:spcPts val="3579"/>
              </a:lnSpc>
              <a:spcBef>
                <a:spcPts val="160"/>
              </a:spcBef>
            </a:pPr>
            <a:r>
              <a:rPr sz="3000" spc="5" dirty="0">
                <a:latin typeface="Calibri"/>
                <a:cs typeface="Calibri"/>
              </a:rPr>
              <a:t>padding:0; 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display: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flex;</a:t>
            </a:r>
            <a:endParaRPr sz="3000" dirty="0">
              <a:latin typeface="Calibri"/>
              <a:cs typeface="Calibri"/>
            </a:endParaRPr>
          </a:p>
          <a:p>
            <a:pPr marL="927100" marR="1284605">
              <a:lnSpc>
                <a:spcPts val="3579"/>
              </a:lnSpc>
              <a:spcBef>
                <a:spcPts val="40"/>
              </a:spcBef>
            </a:pPr>
            <a:r>
              <a:rPr sz="3000" spc="-5" dirty="0">
                <a:latin typeface="Calibri"/>
                <a:cs typeface="Calibri"/>
              </a:rPr>
              <a:t>display: -webkit-flex;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justify-content:</a:t>
            </a:r>
            <a:r>
              <a:rPr sz="3000" spc="-1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center;</a:t>
            </a:r>
            <a:endParaRPr sz="3000" dirty="0">
              <a:latin typeface="Calibri"/>
              <a:cs typeface="Calibri"/>
            </a:endParaRPr>
          </a:p>
          <a:p>
            <a:pPr marL="927100">
              <a:lnSpc>
                <a:spcPts val="3500"/>
              </a:lnSpc>
            </a:pPr>
            <a:r>
              <a:rPr sz="3000" dirty="0">
                <a:latin typeface="Calibri"/>
                <a:cs typeface="Calibri"/>
              </a:rPr>
              <a:t>align-items:</a:t>
            </a:r>
            <a:r>
              <a:rPr sz="3000" spc="-1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center;</a:t>
            </a:r>
            <a:endParaRPr sz="3000" dirty="0">
              <a:latin typeface="Calibri"/>
              <a:cs typeface="Calibri"/>
            </a:endParaRPr>
          </a:p>
          <a:p>
            <a:pPr marL="927100">
              <a:lnSpc>
                <a:spcPts val="3590"/>
              </a:lnSpc>
            </a:pPr>
            <a:r>
              <a:rPr sz="3000" spc="-10" dirty="0">
                <a:latin typeface="Calibri"/>
                <a:cs typeface="Calibri"/>
              </a:rPr>
              <a:t>-webkit-justify-content: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center;</a:t>
            </a:r>
            <a:endParaRPr sz="3000" dirty="0">
              <a:latin typeface="Calibri"/>
              <a:cs typeface="Calibri"/>
            </a:endParaRPr>
          </a:p>
          <a:p>
            <a:pPr marL="927100">
              <a:lnSpc>
                <a:spcPts val="3590"/>
              </a:lnSpc>
              <a:spcBef>
                <a:spcPts val="20"/>
              </a:spcBef>
            </a:pPr>
            <a:r>
              <a:rPr sz="3000" spc="-5" dirty="0">
                <a:latin typeface="Calibri"/>
                <a:cs typeface="Calibri"/>
              </a:rPr>
              <a:t>-webkit-align-items: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center;</a:t>
            </a:r>
            <a:endParaRPr sz="3000" dirty="0">
              <a:latin typeface="Calibri"/>
              <a:cs typeface="Calibri"/>
            </a:endParaRPr>
          </a:p>
          <a:p>
            <a:pPr marL="12700">
              <a:lnSpc>
                <a:spcPts val="3590"/>
              </a:lnSpc>
            </a:pPr>
            <a:r>
              <a:rPr sz="3000" spc="5" dirty="0">
                <a:latin typeface="Calibri"/>
                <a:cs typeface="Calibri"/>
              </a:rPr>
              <a:t>}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80464"/>
            <a:ext cx="8079105" cy="43891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8255">
              <a:lnSpc>
                <a:spcPct val="79900"/>
              </a:lnSpc>
              <a:spcBef>
                <a:spcPts val="745"/>
              </a:spcBef>
              <a:tabLst>
                <a:tab pos="2661920" algn="l"/>
                <a:tab pos="4721860" algn="l"/>
              </a:tabLst>
            </a:pP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spc="38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ora</a:t>
            </a:r>
            <a:r>
              <a:rPr sz="2700" spc="38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il</a:t>
            </a:r>
            <a:r>
              <a:rPr sz="2700" spc="38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momento	</a:t>
            </a:r>
            <a:r>
              <a:rPr sz="2700" spc="15" dirty="0">
                <a:latin typeface="Calibri"/>
                <a:cs typeface="Calibri"/>
              </a:rPr>
              <a:t>di</a:t>
            </a:r>
            <a:r>
              <a:rPr sz="2700" spc="3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aggiungere	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spc="36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tre</a:t>
            </a:r>
            <a:r>
              <a:rPr sz="2700" spc="38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box</a:t>
            </a:r>
            <a:r>
              <a:rPr sz="2700" spc="37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all’interno</a:t>
            </a:r>
            <a:r>
              <a:rPr sz="2700" spc="36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div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id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container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10" dirty="0">
                <a:latin typeface="Calibri"/>
                <a:cs typeface="Calibri"/>
              </a:rPr>
              <a:t>&lt;div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id="container"&gt;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29"/>
              </a:lnSpc>
            </a:pPr>
            <a:r>
              <a:rPr sz="2700" spc="-10" dirty="0">
                <a:latin typeface="Calibri"/>
                <a:cs typeface="Calibri"/>
              </a:rPr>
              <a:t>&lt;div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id="box-1"&gt;Box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1&lt;/div&gt;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spc="-10" dirty="0">
                <a:latin typeface="Calibri"/>
                <a:cs typeface="Calibri"/>
              </a:rPr>
              <a:t>&lt;div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id="box-2"&gt;Box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2&lt;/div&gt;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  <a:spcBef>
                <a:spcPts val="25"/>
              </a:spcBef>
            </a:pPr>
            <a:r>
              <a:rPr sz="2700" spc="-10" dirty="0">
                <a:latin typeface="Calibri"/>
                <a:cs typeface="Calibri"/>
              </a:rPr>
              <a:t>&lt;div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id="box-3"&gt;Box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3&lt;/div&gt;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15" dirty="0">
                <a:latin typeface="Calibri"/>
                <a:cs typeface="Calibri"/>
              </a:rPr>
              <a:t>&lt;/div&gt;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79900"/>
              </a:lnSpc>
              <a:tabLst>
                <a:tab pos="1530985" algn="l"/>
                <a:tab pos="2468245" algn="l"/>
                <a:tab pos="2851150" algn="l"/>
                <a:tab pos="3491229" algn="l"/>
                <a:tab pos="4104004" algn="l"/>
                <a:tab pos="5631815" algn="l"/>
                <a:tab pos="6308090" algn="l"/>
                <a:tab pos="7393940" algn="l"/>
                <a:tab pos="7705090" algn="l"/>
              </a:tabLst>
            </a:pPr>
            <a:r>
              <a:rPr sz="2700" spc="-5" dirty="0">
                <a:latin typeface="Calibri"/>
                <a:cs typeface="Calibri"/>
              </a:rPr>
              <a:t>Me</a:t>
            </a:r>
            <a:r>
              <a:rPr sz="2700" spc="-55" dirty="0">
                <a:latin typeface="Calibri"/>
                <a:cs typeface="Calibri"/>
              </a:rPr>
              <a:t>t</a:t>
            </a:r>
            <a:r>
              <a:rPr sz="2700" spc="-25" dirty="0">
                <a:latin typeface="Calibri"/>
                <a:cs typeface="Calibri"/>
              </a:rPr>
              <a:t>t</a:t>
            </a:r>
            <a:r>
              <a:rPr sz="2700" spc="-20" dirty="0">
                <a:latin typeface="Calibri"/>
                <a:cs typeface="Calibri"/>
              </a:rPr>
              <a:t>ia</a:t>
            </a:r>
            <a:r>
              <a:rPr sz="2700" dirty="0">
                <a:latin typeface="Calibri"/>
                <a:cs typeface="Calibri"/>
              </a:rPr>
              <a:t>m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5" dirty="0">
                <a:latin typeface="Calibri"/>
                <a:cs typeface="Calibri"/>
              </a:rPr>
              <a:t>m</a:t>
            </a:r>
            <a:r>
              <a:rPr sz="2700" spc="-20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n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15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l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10" dirty="0">
                <a:latin typeface="Calibri"/>
                <a:cs typeface="Calibri"/>
              </a:rPr>
              <a:t>C</a:t>
            </a:r>
            <a:r>
              <a:rPr sz="2700" spc="-10" dirty="0">
                <a:latin typeface="Calibri"/>
                <a:cs typeface="Calibri"/>
              </a:rPr>
              <a:t>S</a:t>
            </a:r>
            <a:r>
              <a:rPr sz="2700" spc="-5" dirty="0">
                <a:latin typeface="Calibri"/>
                <a:cs typeface="Calibri"/>
              </a:rPr>
              <a:t>S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p</a:t>
            </a:r>
            <a:r>
              <a:rPr sz="2700" dirty="0">
                <a:latin typeface="Calibri"/>
                <a:cs typeface="Calibri"/>
              </a:rPr>
              <a:t>e</a:t>
            </a:r>
            <a:r>
              <a:rPr sz="2700" spc="-5" dirty="0">
                <a:latin typeface="Calibri"/>
                <a:cs typeface="Calibri"/>
              </a:rPr>
              <a:t>r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0" dirty="0">
                <a:latin typeface="Calibri"/>
                <a:cs typeface="Calibri"/>
              </a:rPr>
              <a:t>a</a:t>
            </a:r>
            <a:r>
              <a:rPr sz="2700" spc="-30" dirty="0">
                <a:latin typeface="Calibri"/>
                <a:cs typeface="Calibri"/>
              </a:rPr>
              <a:t>ss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spc="5" dirty="0">
                <a:latin typeface="Calibri"/>
                <a:cs typeface="Calibri"/>
              </a:rPr>
              <a:t>g</a:t>
            </a:r>
            <a:r>
              <a:rPr sz="2700" spc="-10" dirty="0">
                <a:latin typeface="Calibri"/>
                <a:cs typeface="Calibri"/>
              </a:rPr>
              <a:t>na</a:t>
            </a:r>
            <a:r>
              <a:rPr sz="2700" spc="-3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40" dirty="0">
                <a:latin typeface="Calibri"/>
                <a:cs typeface="Calibri"/>
              </a:rPr>
              <a:t>u</a:t>
            </a:r>
            <a:r>
              <a:rPr sz="2700" spc="-10" dirty="0">
                <a:latin typeface="Calibri"/>
                <a:cs typeface="Calibri"/>
              </a:rPr>
              <a:t>n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30" dirty="0">
                <a:latin typeface="Calibri"/>
                <a:cs typeface="Calibri"/>
              </a:rPr>
              <a:t>s</a:t>
            </a:r>
            <a:r>
              <a:rPr sz="2700" spc="-85" dirty="0">
                <a:latin typeface="Calibri"/>
                <a:cs typeface="Calibri"/>
              </a:rPr>
              <a:t>f</a:t>
            </a:r>
            <a:r>
              <a:rPr sz="2700" spc="-10" dirty="0">
                <a:latin typeface="Calibri"/>
                <a:cs typeface="Calibri"/>
              </a:rPr>
              <a:t>ond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un  </a:t>
            </a:r>
            <a:r>
              <a:rPr sz="2700" spc="-10" dirty="0">
                <a:latin typeface="Calibri"/>
                <a:cs typeface="Calibri"/>
              </a:rPr>
              <a:t>bordo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tre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box: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993775"/>
            <a:ext cx="3088005" cy="4596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4455" marR="808990" indent="-72390">
              <a:lnSpc>
                <a:spcPct val="101400"/>
              </a:lnSpc>
              <a:spcBef>
                <a:spcPts val="90"/>
              </a:spcBef>
            </a:pPr>
            <a:r>
              <a:rPr sz="2450" spc="5" dirty="0">
                <a:latin typeface="Calibri"/>
                <a:cs typeface="Calibri"/>
              </a:rPr>
              <a:t>#box-1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background: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red;</a:t>
            </a:r>
          </a:p>
          <a:p>
            <a:pPr marL="84455">
              <a:lnSpc>
                <a:spcPct val="100000"/>
              </a:lnSpc>
              <a:spcBef>
                <a:spcPts val="75"/>
              </a:spcBef>
            </a:pPr>
            <a:r>
              <a:rPr sz="2450" dirty="0">
                <a:latin typeface="Calibri"/>
                <a:cs typeface="Calibri"/>
              </a:rPr>
              <a:t>border: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1px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solid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black;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450" spc="10" dirty="0">
                <a:latin typeface="Calibri"/>
                <a:cs typeface="Calibri"/>
              </a:rPr>
              <a:t>}</a:t>
            </a:r>
            <a:endParaRPr sz="2450" dirty="0">
              <a:latin typeface="Calibri"/>
              <a:cs typeface="Calibri"/>
            </a:endParaRPr>
          </a:p>
          <a:p>
            <a:pPr marL="84455" marR="675640" indent="-72390">
              <a:lnSpc>
                <a:spcPts val="3020"/>
              </a:lnSpc>
              <a:spcBef>
                <a:spcPts val="75"/>
              </a:spcBef>
            </a:pPr>
            <a:r>
              <a:rPr sz="2450" spc="5" dirty="0">
                <a:latin typeface="Calibri"/>
                <a:cs typeface="Calibri"/>
              </a:rPr>
              <a:t>#box-2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background: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blue;</a:t>
            </a:r>
            <a:endParaRPr sz="2450" dirty="0">
              <a:latin typeface="Calibri"/>
              <a:cs typeface="Calibri"/>
            </a:endParaRPr>
          </a:p>
          <a:p>
            <a:pPr marL="84455">
              <a:lnSpc>
                <a:spcPts val="2865"/>
              </a:lnSpc>
            </a:pPr>
            <a:r>
              <a:rPr sz="2450" spc="5" dirty="0">
                <a:latin typeface="Calibri"/>
                <a:cs typeface="Calibri"/>
              </a:rPr>
              <a:t>border: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1px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solid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black;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450" spc="10" dirty="0">
                <a:latin typeface="Calibri"/>
                <a:cs typeface="Calibri"/>
              </a:rPr>
              <a:t>}</a:t>
            </a:r>
            <a:endParaRPr sz="2450" dirty="0">
              <a:latin typeface="Calibri"/>
              <a:cs typeface="Calibri"/>
            </a:endParaRPr>
          </a:p>
          <a:p>
            <a:pPr marL="84455" marR="503555" indent="-72390">
              <a:lnSpc>
                <a:spcPts val="3020"/>
              </a:lnSpc>
              <a:spcBef>
                <a:spcPts val="75"/>
              </a:spcBef>
            </a:pPr>
            <a:r>
              <a:rPr sz="2450" spc="5" dirty="0">
                <a:latin typeface="Calibri"/>
                <a:cs typeface="Calibri"/>
              </a:rPr>
              <a:t>#box-3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{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background: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green;</a:t>
            </a:r>
            <a:endParaRPr sz="2450" dirty="0">
              <a:latin typeface="Calibri"/>
              <a:cs typeface="Calibri"/>
            </a:endParaRPr>
          </a:p>
          <a:p>
            <a:pPr marL="84455">
              <a:lnSpc>
                <a:spcPts val="2900"/>
              </a:lnSpc>
            </a:pPr>
            <a:r>
              <a:rPr sz="2450" dirty="0">
                <a:latin typeface="Calibri"/>
                <a:cs typeface="Calibri"/>
              </a:rPr>
              <a:t>border: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1px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solid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black;</a:t>
            </a:r>
            <a:endParaRPr sz="2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450" spc="10" dirty="0">
                <a:latin typeface="Calibri"/>
                <a:cs typeface="Calibri"/>
              </a:rPr>
              <a:t>}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63891"/>
            <a:ext cx="8078470" cy="50253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5"/>
              </a:spcBef>
            </a:pP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spc="-15" dirty="0">
                <a:latin typeface="Calibri"/>
                <a:cs typeface="Calibri"/>
              </a:rPr>
              <a:t>questo </a:t>
            </a:r>
            <a:r>
              <a:rPr sz="2700" spc="-20" dirty="0">
                <a:latin typeface="Calibri"/>
                <a:cs typeface="Calibri"/>
              </a:rPr>
              <a:t>punto, </a:t>
            </a:r>
            <a:r>
              <a:rPr sz="2700" spc="-10" dirty="0">
                <a:latin typeface="Calibri"/>
                <a:cs typeface="Calibri"/>
              </a:rPr>
              <a:t>volendo usare </a:t>
            </a:r>
            <a:r>
              <a:rPr sz="2700" spc="-15" dirty="0">
                <a:latin typeface="Calibri"/>
                <a:cs typeface="Calibri"/>
              </a:rPr>
              <a:t>il </a:t>
            </a:r>
            <a:r>
              <a:rPr sz="2700" spc="-20" dirty="0">
                <a:latin typeface="Calibri"/>
                <a:cs typeface="Calibri"/>
              </a:rPr>
              <a:t>flexbox </a:t>
            </a:r>
            <a:r>
              <a:rPr sz="2700" spc="-5" dirty="0">
                <a:latin typeface="Calibri"/>
                <a:cs typeface="Calibri"/>
              </a:rPr>
              <a:t>per </a:t>
            </a:r>
            <a:r>
              <a:rPr sz="2700" spc="-15" dirty="0">
                <a:latin typeface="Calibri"/>
                <a:cs typeface="Calibri"/>
              </a:rPr>
              <a:t>disporre </a:t>
            </a:r>
            <a:r>
              <a:rPr sz="2700" spc="-5" dirty="0">
                <a:latin typeface="Calibri"/>
                <a:cs typeface="Calibri"/>
              </a:rPr>
              <a:t>i </a:t>
            </a:r>
            <a:r>
              <a:rPr sz="2700" spc="-15" dirty="0">
                <a:latin typeface="Calibri"/>
                <a:cs typeface="Calibri"/>
              </a:rPr>
              <a:t>tre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box,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necessario</a:t>
            </a:r>
            <a:r>
              <a:rPr sz="2700" spc="-5" dirty="0">
                <a:latin typeface="Calibri"/>
                <a:cs typeface="Calibri"/>
              </a:rPr>
              <a:t> che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diventino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‘flessibili’.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Per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loro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elemento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parente,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div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</a:t>
            </a:r>
            <a:r>
              <a:rPr sz="2700" spc="-15" dirty="0">
                <a:latin typeface="Calibri"/>
                <a:cs typeface="Calibri"/>
              </a:rPr>
              <a:t> id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container,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dobbiamo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pertanto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dichiarare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display: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flex: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  <a:spcBef>
                <a:spcPts val="2405"/>
              </a:spcBef>
            </a:pPr>
            <a:r>
              <a:rPr sz="2700" spc="-20" dirty="0">
                <a:latin typeface="Calibri"/>
                <a:cs typeface="Calibri"/>
              </a:rPr>
              <a:t>#container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{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background: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#e3e3e3;</a:t>
            </a:r>
            <a:endParaRPr sz="2700">
              <a:latin typeface="Calibri"/>
              <a:cs typeface="Calibri"/>
            </a:endParaRPr>
          </a:p>
          <a:p>
            <a:pPr marL="927100" marR="3914140">
              <a:lnSpc>
                <a:spcPct val="100000"/>
              </a:lnSpc>
              <a:spcBef>
                <a:spcPts val="25"/>
              </a:spcBef>
            </a:pPr>
            <a:r>
              <a:rPr sz="2700" spc="-5" dirty="0">
                <a:latin typeface="Calibri"/>
                <a:cs typeface="Calibri"/>
              </a:rPr>
              <a:t>border: </a:t>
            </a:r>
            <a:r>
              <a:rPr sz="2700" spc="-20" dirty="0">
                <a:latin typeface="Calibri"/>
                <a:cs typeface="Calibri"/>
              </a:rPr>
              <a:t>2px </a:t>
            </a:r>
            <a:r>
              <a:rPr sz="2700" spc="-10" dirty="0">
                <a:latin typeface="Calibri"/>
                <a:cs typeface="Calibri"/>
              </a:rPr>
              <a:t>solid black;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width:740px;</a:t>
            </a:r>
            <a:endParaRPr sz="2700">
              <a:latin typeface="Calibri"/>
              <a:cs typeface="Calibri"/>
            </a:endParaRPr>
          </a:p>
          <a:p>
            <a:pPr marL="927100" marR="5153660">
              <a:lnSpc>
                <a:spcPts val="3270"/>
              </a:lnSpc>
              <a:spcBef>
                <a:spcPts val="60"/>
              </a:spcBef>
            </a:pPr>
            <a:r>
              <a:rPr sz="2700" spc="-15" dirty="0">
                <a:latin typeface="Calibri"/>
                <a:cs typeface="Calibri"/>
              </a:rPr>
              <a:t>height: </a:t>
            </a:r>
            <a:r>
              <a:rPr sz="2700" spc="-10" dirty="0">
                <a:latin typeface="Calibri"/>
                <a:cs typeface="Calibri"/>
              </a:rPr>
              <a:t>300px;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display: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flex;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ts val="3110"/>
              </a:lnSpc>
            </a:pPr>
            <a:r>
              <a:rPr sz="2700" spc="-15" dirty="0">
                <a:latin typeface="Calibri"/>
                <a:cs typeface="Calibri"/>
              </a:rPr>
              <a:t>display: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-webkit-flex;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700" spc="-5" dirty="0">
                <a:latin typeface="Calibri"/>
                <a:cs typeface="Calibri"/>
              </a:rPr>
              <a:t>}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50404"/>
            <a:ext cx="8082280" cy="499745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7620" algn="just">
              <a:lnSpc>
                <a:spcPct val="79900"/>
              </a:lnSpc>
              <a:spcBef>
                <a:spcPts val="840"/>
              </a:spcBef>
            </a:pPr>
            <a:r>
              <a:rPr sz="3000" spc="5" dirty="0">
                <a:latin typeface="Calibri"/>
                <a:cs typeface="Calibri"/>
              </a:rPr>
              <a:t>Non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basta.</a:t>
            </a:r>
            <a:r>
              <a:rPr sz="3000" spc="-5" dirty="0">
                <a:latin typeface="Calibri"/>
                <a:cs typeface="Calibri"/>
              </a:rPr>
              <a:t> Dobbiamo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anche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dichiarare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direzione</a:t>
            </a:r>
            <a:r>
              <a:rPr sz="3000" spc="-5" dirty="0">
                <a:latin typeface="Calibri"/>
                <a:cs typeface="Calibri"/>
              </a:rPr>
              <a:t> disporre</a:t>
            </a:r>
            <a:r>
              <a:rPr sz="3000" dirty="0">
                <a:latin typeface="Calibri"/>
                <a:cs typeface="Calibri"/>
              </a:rPr>
              <a:t> 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box,</a:t>
            </a:r>
            <a:r>
              <a:rPr sz="3000" spc="-15" dirty="0">
                <a:latin typeface="Calibri"/>
                <a:cs typeface="Calibri"/>
              </a:rPr>
              <a:t> ovvero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stabilire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l’asse 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principale.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00">
              <a:latin typeface="Calibri"/>
              <a:cs typeface="Calibri"/>
            </a:endParaRPr>
          </a:p>
          <a:p>
            <a:pPr marL="12700" marR="7620" algn="just">
              <a:lnSpc>
                <a:spcPct val="80400"/>
              </a:lnSpc>
            </a:pPr>
            <a:r>
              <a:rPr sz="3000" spc="-15" dirty="0">
                <a:latin typeface="Calibri"/>
                <a:cs typeface="Calibri"/>
              </a:rPr>
              <a:t>Vogliamo </a:t>
            </a:r>
            <a:r>
              <a:rPr sz="3000" spc="-5" dirty="0">
                <a:latin typeface="Calibri"/>
                <a:cs typeface="Calibri"/>
              </a:rPr>
              <a:t>che siano </a:t>
            </a:r>
            <a:r>
              <a:rPr sz="3000" spc="-10" dirty="0">
                <a:latin typeface="Calibri"/>
                <a:cs typeface="Calibri"/>
              </a:rPr>
              <a:t>disposti </a:t>
            </a:r>
            <a:r>
              <a:rPr sz="3000" dirty="0">
                <a:latin typeface="Calibri"/>
                <a:cs typeface="Calibri"/>
              </a:rPr>
              <a:t>su una </a:t>
            </a:r>
            <a:r>
              <a:rPr sz="3000" spc="-20" dirty="0">
                <a:latin typeface="Calibri"/>
                <a:cs typeface="Calibri"/>
              </a:rPr>
              <a:t>riga </a:t>
            </a:r>
            <a:r>
              <a:rPr sz="3000" spc="5" dirty="0">
                <a:latin typeface="Calibri"/>
                <a:cs typeface="Calibri"/>
              </a:rPr>
              <a:t>e </a:t>
            </a:r>
            <a:r>
              <a:rPr sz="3000" spc="-5" dirty="0">
                <a:latin typeface="Calibri"/>
                <a:cs typeface="Calibri"/>
              </a:rPr>
              <a:t>non </a:t>
            </a:r>
            <a:r>
              <a:rPr sz="3000" spc="-15" dirty="0">
                <a:latin typeface="Calibri"/>
                <a:cs typeface="Calibri"/>
              </a:rPr>
              <a:t>in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colonna,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così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settiamo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su</a:t>
            </a:r>
            <a:r>
              <a:rPr sz="3000" spc="-10" dirty="0">
                <a:latin typeface="Calibri"/>
                <a:cs typeface="Calibri"/>
              </a:rPr>
              <a:t> row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valore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per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20" dirty="0">
                <a:latin typeface="Calibri"/>
                <a:cs typeface="Calibri"/>
              </a:rPr>
              <a:t>la 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proprietà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flex-direction.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50">
              <a:latin typeface="Calibri"/>
              <a:cs typeface="Calibri"/>
            </a:endParaRPr>
          </a:p>
          <a:p>
            <a:pPr marL="12700" marR="5080" algn="just">
              <a:lnSpc>
                <a:spcPct val="79900"/>
              </a:lnSpc>
              <a:spcBef>
                <a:spcPts val="5"/>
              </a:spcBef>
            </a:pPr>
            <a:r>
              <a:rPr sz="3000" spc="-10" dirty="0">
                <a:latin typeface="Calibri"/>
                <a:cs typeface="Calibri"/>
              </a:rPr>
              <a:t>Inoltre,</a:t>
            </a:r>
            <a:r>
              <a:rPr sz="3000" spc="-5" dirty="0">
                <a:latin typeface="Calibri"/>
                <a:cs typeface="Calibri"/>
              </a:rPr>
              <a:t> vogliamo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contenitore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sia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6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riga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singola: usiamo la </a:t>
            </a:r>
            <a:r>
              <a:rPr sz="3000" spc="-20" dirty="0">
                <a:latin typeface="Calibri"/>
                <a:cs typeface="Calibri"/>
              </a:rPr>
              <a:t>proprietà </a:t>
            </a:r>
            <a:r>
              <a:rPr sz="3000" spc="-15" dirty="0">
                <a:latin typeface="Calibri"/>
                <a:cs typeface="Calibri"/>
              </a:rPr>
              <a:t>flex-wrap </a:t>
            </a:r>
            <a:r>
              <a:rPr sz="3000" spc="-20" dirty="0">
                <a:latin typeface="Calibri"/>
                <a:cs typeface="Calibri"/>
              </a:rPr>
              <a:t>con </a:t>
            </a:r>
            <a:r>
              <a:rPr sz="3000" spc="10" dirty="0">
                <a:latin typeface="Calibri"/>
                <a:cs typeface="Calibri"/>
              </a:rPr>
              <a:t>il </a:t>
            </a:r>
            <a:r>
              <a:rPr sz="3000" spc="-25" dirty="0">
                <a:latin typeface="Calibri"/>
                <a:cs typeface="Calibri"/>
              </a:rPr>
              <a:t>valore 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nowrap.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Per</a:t>
            </a:r>
            <a:r>
              <a:rPr sz="3000" spc="-15" dirty="0">
                <a:latin typeface="Calibri"/>
                <a:cs typeface="Calibri"/>
              </a:rPr>
              <a:t> semplificare,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facciamo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ricorso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alla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proprietà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flex-flow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per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dichiarare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entrambe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20" dirty="0">
                <a:latin typeface="Calibri"/>
                <a:cs typeface="Calibri"/>
              </a:rPr>
              <a:t>le 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proprietà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una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sola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regola: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539506"/>
            <a:ext cx="5236845" cy="4142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35"/>
              </a:lnSpc>
              <a:spcBef>
                <a:spcPts val="95"/>
              </a:spcBef>
            </a:pPr>
            <a:r>
              <a:rPr sz="2700" spc="-25" dirty="0">
                <a:latin typeface="Calibri"/>
                <a:cs typeface="Calibri"/>
              </a:rPr>
              <a:t>#container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{</a:t>
            </a:r>
            <a:endParaRPr sz="2700" dirty="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background: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#e3e3e3;</a:t>
            </a:r>
            <a:endParaRPr sz="2700" dirty="0">
              <a:latin typeface="Calibri"/>
              <a:cs typeface="Calibri"/>
            </a:endParaRPr>
          </a:p>
          <a:p>
            <a:pPr marL="927100" marR="1073785">
              <a:lnSpc>
                <a:spcPts val="3229"/>
              </a:lnSpc>
              <a:spcBef>
                <a:spcPts val="145"/>
              </a:spcBef>
            </a:pPr>
            <a:r>
              <a:rPr sz="2700" spc="-5" dirty="0">
                <a:latin typeface="Calibri"/>
                <a:cs typeface="Calibri"/>
              </a:rPr>
              <a:t>border: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2px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solid</a:t>
            </a:r>
            <a:r>
              <a:rPr sz="2700" spc="-5" dirty="0">
                <a:latin typeface="Calibri"/>
                <a:cs typeface="Calibri"/>
              </a:rPr>
              <a:t> black;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width:740px;</a:t>
            </a:r>
            <a:endParaRPr sz="2700" dirty="0">
              <a:latin typeface="Calibri"/>
              <a:cs typeface="Calibri"/>
            </a:endParaRPr>
          </a:p>
          <a:p>
            <a:pPr marL="927100">
              <a:lnSpc>
                <a:spcPts val="3125"/>
              </a:lnSpc>
            </a:pPr>
            <a:r>
              <a:rPr sz="2700" spc="-15" dirty="0">
                <a:latin typeface="Calibri"/>
                <a:cs typeface="Calibri"/>
              </a:rPr>
              <a:t>height: </a:t>
            </a:r>
            <a:r>
              <a:rPr sz="2700" spc="-10" dirty="0">
                <a:latin typeface="Calibri"/>
                <a:cs typeface="Calibri"/>
              </a:rPr>
              <a:t>300px;</a:t>
            </a:r>
            <a:endParaRPr sz="2700" dirty="0">
              <a:latin typeface="Calibri"/>
              <a:cs typeface="Calibri"/>
            </a:endParaRPr>
          </a:p>
          <a:p>
            <a:pPr marL="927100">
              <a:lnSpc>
                <a:spcPts val="3235"/>
              </a:lnSpc>
              <a:spcBef>
                <a:spcPts val="25"/>
              </a:spcBef>
            </a:pPr>
            <a:r>
              <a:rPr sz="2700" spc="-15" dirty="0">
                <a:latin typeface="Calibri"/>
                <a:cs typeface="Calibri"/>
              </a:rPr>
              <a:t>display: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flex;</a:t>
            </a:r>
            <a:endParaRPr sz="2700" dirty="0">
              <a:latin typeface="Calibri"/>
              <a:cs typeface="Calibri"/>
            </a:endParaRPr>
          </a:p>
          <a:p>
            <a:pPr marL="927100" marR="1153795">
              <a:lnSpc>
                <a:spcPts val="3229"/>
              </a:lnSpc>
              <a:spcBef>
                <a:spcPts val="110"/>
              </a:spcBef>
            </a:pPr>
            <a:r>
              <a:rPr sz="2700" spc="-15" dirty="0">
                <a:latin typeface="Calibri"/>
                <a:cs typeface="Calibri"/>
              </a:rPr>
              <a:t>display: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-webkit-flex;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flex-flow: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row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nowrap;</a:t>
            </a:r>
            <a:endParaRPr sz="2700" dirty="0">
              <a:latin typeface="Calibri"/>
              <a:cs typeface="Calibri"/>
            </a:endParaRPr>
          </a:p>
          <a:p>
            <a:pPr marL="927100">
              <a:lnSpc>
                <a:spcPts val="3150"/>
              </a:lnSpc>
            </a:pPr>
            <a:r>
              <a:rPr sz="2700" spc="-15" dirty="0">
                <a:latin typeface="Calibri"/>
                <a:cs typeface="Calibri"/>
              </a:rPr>
              <a:t>-webkit-flex-flow: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row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nowrap;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</a:pPr>
            <a:r>
              <a:rPr sz="2700" spc="-5" dirty="0">
                <a:latin typeface="Calibri"/>
                <a:cs typeface="Calibri"/>
              </a:rPr>
              <a:t>}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82166"/>
            <a:ext cx="8077200" cy="4989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65"/>
              </a:lnSpc>
              <a:spcBef>
                <a:spcPts val="100"/>
              </a:spcBef>
              <a:tabLst>
                <a:tab pos="570865" algn="l"/>
                <a:tab pos="1706880" algn="l"/>
                <a:tab pos="3455035" algn="l"/>
                <a:tab pos="3698875" algn="l"/>
                <a:tab pos="4208145" algn="l"/>
                <a:tab pos="4798060" algn="l"/>
                <a:tab pos="6141085" algn="l"/>
                <a:tab pos="6673215" algn="l"/>
              </a:tabLst>
            </a:pPr>
            <a:r>
              <a:rPr sz="2200" spc="-45" dirty="0">
                <a:latin typeface="Calibri"/>
                <a:cs typeface="Calibri"/>
              </a:rPr>
              <a:t>P</a:t>
            </a:r>
            <a:r>
              <a:rPr sz="2200" spc="-5" dirty="0">
                <a:latin typeface="Calibri"/>
                <a:cs typeface="Calibri"/>
              </a:rPr>
              <a:t>er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spc="-20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t</a:t>
            </a:r>
            <a:r>
              <a:rPr sz="2200" spc="-65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5" dirty="0">
                <a:latin typeface="Calibri"/>
                <a:cs typeface="Calibri"/>
              </a:rPr>
              <a:t>v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spc="10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t</a:t>
            </a:r>
            <a:r>
              <a:rPr sz="2200" spc="-15" dirty="0">
                <a:latin typeface="Calibri"/>
                <a:cs typeface="Calibri"/>
              </a:rPr>
              <a:t>i</a:t>
            </a:r>
            <a:r>
              <a:rPr sz="2200" spc="-50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l</a:t>
            </a:r>
            <a:r>
              <a:rPr sz="2200" spc="5" dirty="0">
                <a:latin typeface="Calibri"/>
                <a:cs typeface="Calibri"/>
              </a:rPr>
              <a:t>m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spc="-20" dirty="0">
                <a:latin typeface="Calibri"/>
                <a:cs typeface="Calibri"/>
              </a:rPr>
              <a:t>n</a:t>
            </a:r>
            <a:r>
              <a:rPr sz="2200" spc="-3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	t</a:t>
            </a:r>
            <a:r>
              <a:rPr sz="2200" spc="-30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5" dirty="0">
                <a:latin typeface="Calibri"/>
                <a:cs typeface="Calibri"/>
              </a:rPr>
              <a:t>b</a:t>
            </a:r>
            <a:r>
              <a:rPr sz="2200" spc="-30" dirty="0">
                <a:latin typeface="Calibri"/>
                <a:cs typeface="Calibri"/>
              </a:rPr>
              <a:t>o</a:t>
            </a:r>
            <a:r>
              <a:rPr sz="2200" spc="-5" dirty="0">
                <a:latin typeface="Calibri"/>
                <a:cs typeface="Calibri"/>
              </a:rPr>
              <a:t>x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5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ll</a:t>
            </a:r>
            <a:r>
              <a:rPr sz="2200" spc="-25" dirty="0">
                <a:latin typeface="Calibri"/>
                <a:cs typeface="Calibri"/>
              </a:rPr>
              <a:t>’</a:t>
            </a:r>
            <a:r>
              <a:rPr sz="2200" spc="-15" dirty="0">
                <a:latin typeface="Calibri"/>
                <a:cs typeface="Calibri"/>
              </a:rPr>
              <a:t>i</a:t>
            </a:r>
            <a:r>
              <a:rPr sz="2200" spc="-25" dirty="0">
                <a:latin typeface="Calibri"/>
                <a:cs typeface="Calibri"/>
              </a:rPr>
              <a:t>n</a:t>
            </a:r>
            <a:r>
              <a:rPr sz="2200" spc="-3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5" dirty="0">
                <a:latin typeface="Calibri"/>
                <a:cs typeface="Calibri"/>
              </a:rPr>
              <a:t>rn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5" dirty="0">
                <a:latin typeface="Calibri"/>
                <a:cs typeface="Calibri"/>
              </a:rPr>
              <a:t>d</a:t>
            </a:r>
            <a:r>
              <a:rPr sz="2200" spc="-5" dirty="0">
                <a:latin typeface="Calibri"/>
                <a:cs typeface="Calibri"/>
              </a:rPr>
              <a:t>el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0" dirty="0">
                <a:latin typeface="Calibri"/>
                <a:cs typeface="Calibri"/>
              </a:rPr>
              <a:t>c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n</a:t>
            </a:r>
            <a:r>
              <a:rPr sz="2200" spc="-30" dirty="0">
                <a:latin typeface="Calibri"/>
                <a:cs typeface="Calibri"/>
              </a:rPr>
              <a:t>t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5" dirty="0">
                <a:latin typeface="Calibri"/>
                <a:cs typeface="Calibri"/>
              </a:rPr>
              <a:t>n</a:t>
            </a:r>
            <a:r>
              <a:rPr sz="2200" spc="-15" dirty="0">
                <a:latin typeface="Calibri"/>
                <a:cs typeface="Calibri"/>
              </a:rPr>
              <a:t>i</a:t>
            </a:r>
            <a:r>
              <a:rPr sz="2200" spc="-30" dirty="0">
                <a:latin typeface="Calibri"/>
                <a:cs typeface="Calibri"/>
              </a:rPr>
              <a:t>t</a:t>
            </a:r>
            <a:r>
              <a:rPr sz="2200" spc="5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,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ts val="2365"/>
              </a:lnSpc>
            </a:pPr>
            <a:r>
              <a:rPr sz="2200" spc="-5" dirty="0">
                <a:latin typeface="Calibri"/>
                <a:cs typeface="Calibri"/>
              </a:rPr>
              <a:t>ricorriamo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ancora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5" dirty="0">
                <a:latin typeface="Calibri"/>
                <a:cs typeface="Calibri"/>
              </a:rPr>
              <a:t>una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volta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alla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proprietà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align-items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#container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{</a:t>
            </a:r>
            <a:endParaRPr sz="2200" dirty="0">
              <a:latin typeface="Calibri"/>
              <a:cs typeface="Calibri"/>
            </a:endParaRPr>
          </a:p>
          <a:p>
            <a:pPr marL="927100" marR="4507230">
              <a:lnSpc>
                <a:spcPts val="2630"/>
              </a:lnSpc>
              <a:spcBef>
                <a:spcPts val="120"/>
              </a:spcBef>
            </a:pPr>
            <a:r>
              <a:rPr sz="2200" dirty="0">
                <a:latin typeface="Calibri"/>
                <a:cs typeface="Calibri"/>
              </a:rPr>
              <a:t>background: </a:t>
            </a:r>
            <a:r>
              <a:rPr sz="2200" spc="-10" dirty="0">
                <a:latin typeface="Calibri"/>
                <a:cs typeface="Calibri"/>
              </a:rPr>
              <a:t>#e3e3e3;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border: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2px </a:t>
            </a:r>
            <a:r>
              <a:rPr sz="2200" spc="-5" dirty="0">
                <a:latin typeface="Calibri"/>
                <a:cs typeface="Calibri"/>
              </a:rPr>
              <a:t>solid black;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width:740px;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560"/>
              </a:lnSpc>
            </a:pPr>
            <a:r>
              <a:rPr sz="2200" spc="-5" dirty="0">
                <a:latin typeface="Calibri"/>
                <a:cs typeface="Calibri"/>
              </a:rPr>
              <a:t>height: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300px;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display: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flex;</a:t>
            </a:r>
            <a:endParaRPr sz="2200" dirty="0">
              <a:latin typeface="Calibri"/>
              <a:cs typeface="Calibri"/>
            </a:endParaRPr>
          </a:p>
          <a:p>
            <a:pPr marL="927100" marR="4565650">
              <a:lnSpc>
                <a:spcPts val="2630"/>
              </a:lnSpc>
              <a:spcBef>
                <a:spcPts val="120"/>
              </a:spcBef>
            </a:pPr>
            <a:r>
              <a:rPr sz="2200" spc="-5" dirty="0">
                <a:latin typeface="Calibri"/>
                <a:cs typeface="Calibri"/>
              </a:rPr>
              <a:t>display: </a:t>
            </a:r>
            <a:r>
              <a:rPr sz="2200" spc="-10" dirty="0">
                <a:latin typeface="Calibri"/>
                <a:cs typeface="Calibri"/>
              </a:rPr>
              <a:t>-webkit-flex;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flex-flow: row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nowrap;</a:t>
            </a:r>
          </a:p>
          <a:p>
            <a:pPr marL="927100">
              <a:lnSpc>
                <a:spcPts val="2565"/>
              </a:lnSpc>
            </a:pPr>
            <a:r>
              <a:rPr sz="2200" spc="-10" dirty="0">
                <a:latin typeface="Calibri"/>
                <a:cs typeface="Calibri"/>
              </a:rPr>
              <a:t>-webkit-flex-flow: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row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nowrap;</a:t>
            </a:r>
          </a:p>
          <a:p>
            <a:pPr marL="927100">
              <a:lnSpc>
                <a:spcPts val="2625"/>
              </a:lnSpc>
            </a:pPr>
            <a:r>
              <a:rPr sz="2200" spc="-5" dirty="0">
                <a:latin typeface="Calibri"/>
                <a:cs typeface="Calibri"/>
              </a:rPr>
              <a:t>align-items: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center;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-webkit-align-items: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center;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200" spc="-5" dirty="0">
                <a:latin typeface="Calibri"/>
                <a:cs typeface="Calibri"/>
              </a:rPr>
              <a:t>}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58430"/>
            <a:ext cx="8072120" cy="445643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 algn="just">
              <a:lnSpc>
                <a:spcPts val="3440"/>
              </a:lnSpc>
              <a:spcBef>
                <a:spcPts val="540"/>
              </a:spcBef>
            </a:pP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nostro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obiettivo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però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è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avere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box 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distanziati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equamente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tra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loro</a:t>
            </a:r>
            <a:r>
              <a:rPr sz="3200" spc="-5" dirty="0">
                <a:latin typeface="Calibri"/>
                <a:cs typeface="Calibri"/>
              </a:rPr>
              <a:t> 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centrati </a:t>
            </a:r>
            <a:r>
              <a:rPr sz="3200" spc="-10" dirty="0">
                <a:latin typeface="Calibri"/>
                <a:cs typeface="Calibri"/>
              </a:rPr>
              <a:t> anche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orizzontalmente.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Calibri"/>
              <a:cs typeface="Calibri"/>
            </a:endParaRPr>
          </a:p>
          <a:p>
            <a:pPr marL="12700" marR="5715" algn="just">
              <a:lnSpc>
                <a:spcPct val="90000"/>
              </a:lnSpc>
            </a:pPr>
            <a:r>
              <a:rPr sz="3200" spc="-5" dirty="0">
                <a:latin typeface="Calibri"/>
                <a:cs typeface="Calibri"/>
              </a:rPr>
              <a:t>Usiamo </a:t>
            </a:r>
            <a:r>
              <a:rPr sz="3200" spc="-15" dirty="0">
                <a:latin typeface="Calibri"/>
                <a:cs typeface="Calibri"/>
              </a:rPr>
              <a:t>allora </a:t>
            </a:r>
            <a:r>
              <a:rPr sz="3200" spc="20" dirty="0">
                <a:latin typeface="Calibri"/>
                <a:cs typeface="Calibri"/>
              </a:rPr>
              <a:t>la </a:t>
            </a:r>
            <a:r>
              <a:rPr sz="3200" spc="-15" dirty="0">
                <a:latin typeface="Calibri"/>
                <a:cs typeface="Calibri"/>
              </a:rPr>
              <a:t>proprietà </a:t>
            </a:r>
            <a:r>
              <a:rPr sz="3200" b="1" spc="-15" dirty="0">
                <a:solidFill>
                  <a:srgbClr val="FF0000"/>
                </a:solidFill>
                <a:latin typeface="Calibri"/>
                <a:cs typeface="Calibri"/>
              </a:rPr>
              <a:t>justify-content </a:t>
            </a:r>
            <a:r>
              <a:rPr sz="3200" spc="-15" dirty="0">
                <a:latin typeface="Calibri"/>
                <a:cs typeface="Calibri"/>
              </a:rPr>
              <a:t>con </a:t>
            </a:r>
            <a:r>
              <a:rPr sz="3200" spc="5" dirty="0">
                <a:latin typeface="Calibri"/>
                <a:cs typeface="Calibri"/>
              </a:rPr>
              <a:t>il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valore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space-around</a:t>
            </a:r>
            <a:r>
              <a:rPr sz="3200" spc="-10" dirty="0">
                <a:latin typeface="Calibri"/>
                <a:cs typeface="Calibri"/>
              </a:rPr>
              <a:t>.</a:t>
            </a:r>
            <a:r>
              <a:rPr sz="3200" spc="-5" dirty="0">
                <a:latin typeface="Calibri"/>
                <a:cs typeface="Calibri"/>
              </a:rPr>
              <a:t> 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differenza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valore </a:t>
            </a:r>
            <a:r>
              <a:rPr sz="3200" spc="-10" dirty="0">
                <a:latin typeface="Calibri"/>
                <a:cs typeface="Calibri"/>
              </a:rPr>
              <a:t> space-between, </a:t>
            </a:r>
            <a:r>
              <a:rPr sz="3200" spc="-5" dirty="0">
                <a:latin typeface="Calibri"/>
                <a:cs typeface="Calibri"/>
              </a:rPr>
              <a:t>che colloca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primo e </a:t>
            </a:r>
            <a:r>
              <a:rPr sz="3200" spc="-10" dirty="0">
                <a:latin typeface="Calibri"/>
                <a:cs typeface="Calibri"/>
              </a:rPr>
              <a:t>l’ultimo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box </a:t>
            </a:r>
            <a:r>
              <a:rPr sz="3200" dirty="0">
                <a:latin typeface="Calibri"/>
                <a:cs typeface="Calibri"/>
              </a:rPr>
              <a:t>alle </a:t>
            </a:r>
            <a:r>
              <a:rPr sz="3200" spc="-15" dirty="0">
                <a:latin typeface="Calibri"/>
                <a:cs typeface="Calibri"/>
              </a:rPr>
              <a:t>estremità </a:t>
            </a:r>
            <a:r>
              <a:rPr sz="3200" spc="-10" dirty="0">
                <a:latin typeface="Calibri"/>
                <a:cs typeface="Calibri"/>
              </a:rPr>
              <a:t>del </a:t>
            </a:r>
            <a:r>
              <a:rPr sz="3200" spc="-15" dirty="0">
                <a:latin typeface="Calibri"/>
                <a:cs typeface="Calibri"/>
              </a:rPr>
              <a:t>contenitore, </a:t>
            </a:r>
            <a:r>
              <a:rPr sz="3200" spc="-10" dirty="0">
                <a:latin typeface="Calibri"/>
                <a:cs typeface="Calibri"/>
              </a:rPr>
              <a:t>space-around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aggiunge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un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margine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verso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bordo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contenitore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stesso.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Ecco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codice: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54303"/>
            <a:ext cx="5299075" cy="4719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30"/>
              </a:lnSpc>
              <a:spcBef>
                <a:spcPts val="100"/>
              </a:spcBef>
            </a:pPr>
            <a:r>
              <a:rPr sz="2200" spc="-10" dirty="0">
                <a:latin typeface="Calibri"/>
                <a:cs typeface="Calibri"/>
              </a:rPr>
              <a:t>#container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{</a:t>
            </a:r>
            <a:endParaRPr sz="2200" dirty="0">
              <a:latin typeface="Calibri"/>
              <a:cs typeface="Calibri"/>
            </a:endParaRPr>
          </a:p>
          <a:p>
            <a:pPr marL="927100" marR="1727835">
              <a:lnSpc>
                <a:spcPts val="2660"/>
              </a:lnSpc>
              <a:spcBef>
                <a:spcPts val="60"/>
              </a:spcBef>
            </a:pPr>
            <a:r>
              <a:rPr sz="2200" dirty="0">
                <a:latin typeface="Calibri"/>
                <a:cs typeface="Calibri"/>
              </a:rPr>
              <a:t>background: </a:t>
            </a:r>
            <a:r>
              <a:rPr sz="2200" spc="-5" dirty="0">
                <a:latin typeface="Calibri"/>
                <a:cs typeface="Calibri"/>
              </a:rPr>
              <a:t>#e3e3e3; </a:t>
            </a:r>
            <a:r>
              <a:rPr sz="2200" dirty="0">
                <a:latin typeface="Calibri"/>
                <a:cs typeface="Calibri"/>
              </a:rPr>
              <a:t> border: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2px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solid black;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530"/>
              </a:lnSpc>
            </a:pPr>
            <a:r>
              <a:rPr sz="2200" spc="-5" dirty="0">
                <a:latin typeface="Calibri"/>
                <a:cs typeface="Calibri"/>
              </a:rPr>
              <a:t>width:740px;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height: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300px;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  <a:spcBef>
                <a:spcPts val="20"/>
              </a:spcBef>
            </a:pPr>
            <a:r>
              <a:rPr sz="2200" spc="-5" dirty="0">
                <a:latin typeface="Calibri"/>
                <a:cs typeface="Calibri"/>
              </a:rPr>
              <a:t>display: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flex;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spc="-5" dirty="0">
                <a:latin typeface="Calibri"/>
                <a:cs typeface="Calibri"/>
              </a:rPr>
              <a:t>display: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-webkit-flex;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  <a:spcBef>
                <a:spcPts val="25"/>
              </a:spcBef>
            </a:pPr>
            <a:r>
              <a:rPr sz="2200" spc="-10" dirty="0">
                <a:latin typeface="Calibri"/>
                <a:cs typeface="Calibri"/>
              </a:rPr>
              <a:t>flex-flow: row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nowrap;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spc="-10" dirty="0">
                <a:latin typeface="Calibri"/>
                <a:cs typeface="Calibri"/>
              </a:rPr>
              <a:t>-webkit-flex-flow: row </a:t>
            </a:r>
            <a:r>
              <a:rPr sz="2200" dirty="0">
                <a:latin typeface="Calibri"/>
                <a:cs typeface="Calibri"/>
              </a:rPr>
              <a:t>nowrap;</a:t>
            </a:r>
          </a:p>
          <a:p>
            <a:pPr marL="927100">
              <a:lnSpc>
                <a:spcPts val="2635"/>
              </a:lnSpc>
              <a:spcBef>
                <a:spcPts val="20"/>
              </a:spcBef>
            </a:pPr>
            <a:r>
              <a:rPr sz="2200" spc="-5" dirty="0">
                <a:latin typeface="Calibri"/>
                <a:cs typeface="Calibri"/>
              </a:rPr>
              <a:t>align-items: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center;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25"/>
              </a:lnSpc>
            </a:pPr>
            <a:r>
              <a:rPr sz="2200" spc="-5" dirty="0">
                <a:latin typeface="Calibri"/>
                <a:cs typeface="Calibri"/>
              </a:rPr>
              <a:t>-webkit-align-items: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center;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ts val="2635"/>
              </a:lnSpc>
            </a:pPr>
            <a:r>
              <a:rPr sz="2200" spc="-10" dirty="0">
                <a:latin typeface="Calibri"/>
                <a:cs typeface="Calibri"/>
              </a:rPr>
              <a:t>justify-content: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space-around;</a:t>
            </a:r>
          </a:p>
          <a:p>
            <a:pPr marL="927100">
              <a:lnSpc>
                <a:spcPts val="2630"/>
              </a:lnSpc>
              <a:spcBef>
                <a:spcPts val="20"/>
              </a:spcBef>
            </a:pPr>
            <a:r>
              <a:rPr sz="2200" spc="-10" dirty="0">
                <a:latin typeface="Calibri"/>
                <a:cs typeface="Calibri"/>
              </a:rPr>
              <a:t>-webkit-justify-content: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space-around;</a:t>
            </a:r>
          </a:p>
          <a:p>
            <a:pPr marL="12700">
              <a:lnSpc>
                <a:spcPts val="2630"/>
              </a:lnSpc>
            </a:pPr>
            <a:r>
              <a:rPr sz="2200" dirty="0">
                <a:latin typeface="Calibri"/>
                <a:cs typeface="Calibri"/>
              </a:rPr>
              <a:t>}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36027"/>
            <a:ext cx="8075930" cy="14236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5"/>
              </a:spcBef>
            </a:pPr>
            <a:r>
              <a:rPr sz="2700" spc="-5" dirty="0">
                <a:latin typeface="Calibri"/>
                <a:cs typeface="Calibri"/>
              </a:rPr>
              <a:t>A </a:t>
            </a:r>
            <a:r>
              <a:rPr sz="2700" spc="-15" dirty="0">
                <a:latin typeface="Calibri"/>
                <a:cs typeface="Calibri"/>
              </a:rPr>
              <a:t>questo punto </a:t>
            </a:r>
            <a:r>
              <a:rPr sz="2700" spc="-10" dirty="0">
                <a:latin typeface="Calibri"/>
                <a:cs typeface="Calibri"/>
              </a:rPr>
              <a:t>bisogna </a:t>
            </a:r>
            <a:r>
              <a:rPr sz="2700" spc="-20" dirty="0">
                <a:latin typeface="Calibri"/>
                <a:cs typeface="Calibri"/>
              </a:rPr>
              <a:t>gestire </a:t>
            </a:r>
            <a:r>
              <a:rPr sz="2700" spc="5" dirty="0">
                <a:latin typeface="Calibri"/>
                <a:cs typeface="Calibri"/>
              </a:rPr>
              <a:t>il </a:t>
            </a:r>
            <a:r>
              <a:rPr sz="2700" spc="-10" dirty="0">
                <a:latin typeface="Calibri"/>
                <a:cs typeface="Calibri"/>
              </a:rPr>
              <a:t>dimensionamento </a:t>
            </a:r>
            <a:r>
              <a:rPr sz="2700" spc="5" dirty="0">
                <a:latin typeface="Calibri"/>
                <a:cs typeface="Calibri"/>
              </a:rPr>
              <a:t>dei 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box</a:t>
            </a:r>
            <a:r>
              <a:rPr sz="2700" spc="41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4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larghezza</a:t>
            </a:r>
            <a:r>
              <a:rPr sz="2700" spc="409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spc="4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altezza.</a:t>
            </a:r>
            <a:r>
              <a:rPr sz="2700" spc="409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Si</a:t>
            </a:r>
            <a:r>
              <a:rPr sz="2700" spc="44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tratta</a:t>
            </a:r>
            <a:r>
              <a:rPr sz="2700" spc="4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434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scelte</a:t>
            </a:r>
            <a:r>
              <a:rPr sz="2700" spc="4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progettuali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dipendono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contenuto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dalla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configurazione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layout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vuole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ottenere.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2840151"/>
            <a:ext cx="5184775" cy="10947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0"/>
              </a:spcBef>
            </a:pPr>
            <a:r>
              <a:rPr sz="2700" spc="-5" dirty="0">
                <a:latin typeface="Calibri"/>
                <a:cs typeface="Calibri"/>
              </a:rPr>
              <a:t>Si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tenga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comunque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presente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dimensionamento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esplicito</a:t>
            </a:r>
            <a:r>
              <a:rPr sz="2700" spc="-5" dirty="0">
                <a:latin typeface="Calibri"/>
                <a:cs typeface="Calibri"/>
              </a:rPr>
              <a:t> 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box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dimensioni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quelle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contenuto.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1845" y="2840151"/>
            <a:ext cx="2738755" cy="765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 indent="58419">
              <a:lnSpc>
                <a:spcPct val="79900"/>
              </a:lnSpc>
              <a:spcBef>
                <a:spcPts val="745"/>
              </a:spcBef>
              <a:tabLst>
                <a:tab pos="561975" algn="l"/>
                <a:tab pos="1657350" algn="l"/>
                <a:tab pos="1873885" algn="l"/>
                <a:tab pos="2171065" algn="l"/>
                <a:tab pos="2364740" algn="l"/>
              </a:tabLst>
            </a:pPr>
            <a:r>
              <a:rPr sz="2700" spc="-25" dirty="0">
                <a:latin typeface="Calibri"/>
                <a:cs typeface="Calibri"/>
              </a:rPr>
              <a:t>i</a:t>
            </a:r>
            <a:r>
              <a:rPr sz="2700" spc="-5" dirty="0">
                <a:latin typeface="Calibri"/>
                <a:cs typeface="Calibri"/>
              </a:rPr>
              <a:t>n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0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ss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n</a:t>
            </a:r>
            <a:r>
              <a:rPr sz="2700" spc="-45" dirty="0">
                <a:latin typeface="Calibri"/>
                <a:cs typeface="Calibri"/>
              </a:rPr>
              <a:t>z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		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		</a:t>
            </a:r>
            <a:r>
              <a:rPr sz="2700" spc="-5" dirty="0">
                <a:latin typeface="Calibri"/>
                <a:cs typeface="Calibri"/>
              </a:rPr>
              <a:t>un  </a:t>
            </a:r>
            <a:r>
              <a:rPr sz="2700" spc="-20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d</a:t>
            </a:r>
            <a:r>
              <a:rPr sz="2700" dirty="0">
                <a:latin typeface="Calibri"/>
                <a:cs typeface="Calibri"/>
              </a:rPr>
              <a:t>eg</a:t>
            </a:r>
            <a:r>
              <a:rPr sz="2700" spc="-10" dirty="0">
                <a:latin typeface="Calibri"/>
                <a:cs typeface="Calibri"/>
              </a:rPr>
              <a:t>u</a:t>
            </a:r>
            <a:r>
              <a:rPr sz="2700" spc="-15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n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l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l</a:t>
            </a:r>
            <a:r>
              <a:rPr sz="2700" spc="-10" dirty="0">
                <a:latin typeface="Calibri"/>
                <a:cs typeface="Calibri"/>
              </a:rPr>
              <a:t>o</a:t>
            </a:r>
            <a:r>
              <a:rPr sz="2700" spc="-30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o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244" y="4214926"/>
            <a:ext cx="8075930" cy="14236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740"/>
              </a:spcBef>
            </a:pPr>
            <a:r>
              <a:rPr sz="2700" spc="-5" dirty="0">
                <a:latin typeface="Calibri"/>
                <a:cs typeface="Calibri"/>
              </a:rPr>
              <a:t>Nel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nostro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esempio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ciò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vogliamo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ottenere,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lo </a:t>
            </a:r>
            <a:r>
              <a:rPr sz="2700" spc="-20" dirty="0">
                <a:latin typeface="Calibri"/>
                <a:cs typeface="Calibri"/>
              </a:rPr>
              <a:t> ricordiamo,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sono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box</a:t>
            </a:r>
            <a:r>
              <a:rPr sz="2700" spc="-15" dirty="0">
                <a:latin typeface="Calibri"/>
                <a:cs typeface="Calibri"/>
              </a:rPr>
              <a:t> ad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altezza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larghezza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fissa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equamente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distanziati.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Pertanto,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senza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ricorrere</a:t>
            </a:r>
            <a:r>
              <a:rPr sz="2700" spc="-5" dirty="0">
                <a:latin typeface="Calibri"/>
                <a:cs typeface="Calibri"/>
              </a:rPr>
              <a:t> a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particolari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proprietà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flexbox,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scriviamo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nel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codice: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41580"/>
            <a:ext cx="8079740" cy="4785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7100" marR="4310380" indent="-915035">
              <a:lnSpc>
                <a:spcPct val="110100"/>
              </a:lnSpc>
              <a:spcBef>
                <a:spcPts val="105"/>
              </a:spcBef>
            </a:pPr>
            <a:r>
              <a:rPr sz="3000" spc="-5" dirty="0">
                <a:latin typeface="Calibri"/>
                <a:cs typeface="Calibri"/>
              </a:rPr>
              <a:t>#box-1,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#box-2,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#box-3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{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padding: </a:t>
            </a:r>
            <a:r>
              <a:rPr sz="3000" spc="-10" dirty="0">
                <a:latin typeface="Calibri"/>
                <a:cs typeface="Calibri"/>
              </a:rPr>
              <a:t>20px;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width: </a:t>
            </a:r>
            <a:r>
              <a:rPr sz="3000" spc="-5" dirty="0">
                <a:latin typeface="Calibri"/>
                <a:cs typeface="Calibri"/>
              </a:rPr>
              <a:t>180px; </a:t>
            </a:r>
            <a:r>
              <a:rPr sz="3000" dirty="0">
                <a:latin typeface="Calibri"/>
                <a:cs typeface="Calibri"/>
              </a:rPr>
              <a:t> height: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100px;</a:t>
            </a:r>
            <a:endParaRPr sz="3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3000" spc="5" dirty="0">
                <a:latin typeface="Calibri"/>
                <a:cs typeface="Calibri"/>
              </a:rPr>
              <a:t>}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800" dirty="0">
              <a:latin typeface="Calibri"/>
              <a:cs typeface="Calibri"/>
            </a:endParaRPr>
          </a:p>
          <a:p>
            <a:pPr marL="12700" marR="5080" algn="just">
              <a:lnSpc>
                <a:spcPct val="90000"/>
              </a:lnSpc>
            </a:pPr>
            <a:r>
              <a:rPr sz="3000" spc="5" dirty="0">
                <a:latin typeface="Calibri"/>
                <a:cs typeface="Calibri"/>
              </a:rPr>
              <a:t>La </a:t>
            </a:r>
            <a:r>
              <a:rPr sz="3000" spc="-10" dirty="0">
                <a:latin typeface="Calibri"/>
                <a:cs typeface="Calibri"/>
              </a:rPr>
              <a:t>flessibilità, </a:t>
            </a: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spc="-10" dirty="0">
                <a:latin typeface="Calibri"/>
                <a:cs typeface="Calibri"/>
              </a:rPr>
              <a:t>questo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scenario,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-25" dirty="0">
                <a:latin typeface="Calibri"/>
                <a:cs typeface="Calibri"/>
              </a:rPr>
              <a:t>data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dal</a:t>
            </a:r>
            <a:r>
              <a:rPr sz="3000" spc="675" dirty="0">
                <a:latin typeface="Calibri"/>
                <a:cs typeface="Calibri"/>
              </a:rPr>
              <a:t> </a:t>
            </a:r>
            <a:r>
              <a:rPr sz="3000" spc="-40" dirty="0">
                <a:latin typeface="Calibri"/>
                <a:cs typeface="Calibri"/>
              </a:rPr>
              <a:t>fatto 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che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margini</a:t>
            </a:r>
            <a:r>
              <a:rPr sz="3000" spc="-5" dirty="0">
                <a:latin typeface="Calibri"/>
                <a:cs typeface="Calibri"/>
              </a:rPr>
              <a:t> sono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calcolati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automaticamente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20" dirty="0">
                <a:latin typeface="Calibri"/>
                <a:cs typeface="Calibri"/>
              </a:rPr>
              <a:t>in 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base </a:t>
            </a:r>
            <a:r>
              <a:rPr sz="3000" spc="-5" dirty="0">
                <a:latin typeface="Calibri"/>
                <a:cs typeface="Calibri"/>
              </a:rPr>
              <a:t>allo </a:t>
            </a:r>
            <a:r>
              <a:rPr sz="3000" dirty="0">
                <a:latin typeface="Calibri"/>
                <a:cs typeface="Calibri"/>
              </a:rPr>
              <a:t>spazio disponibile </a:t>
            </a:r>
            <a:r>
              <a:rPr sz="3000" spc="5" dirty="0">
                <a:latin typeface="Calibri"/>
                <a:cs typeface="Calibri"/>
              </a:rPr>
              <a:t>che </a:t>
            </a:r>
            <a:r>
              <a:rPr sz="3000" spc="-5" dirty="0">
                <a:latin typeface="Calibri"/>
                <a:cs typeface="Calibri"/>
              </a:rPr>
              <a:t>viene </a:t>
            </a:r>
            <a:r>
              <a:rPr sz="3000" spc="-15" dirty="0">
                <a:latin typeface="Calibri"/>
                <a:cs typeface="Calibri"/>
              </a:rPr>
              <a:t>equamente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distribuito.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03566"/>
            <a:ext cx="8079105" cy="41452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110"/>
              </a:spcBef>
            </a:pPr>
            <a:r>
              <a:rPr sz="3000" spc="-10" dirty="0">
                <a:latin typeface="Calibri"/>
                <a:cs typeface="Calibri"/>
              </a:rPr>
              <a:t>Un’ultima </a:t>
            </a:r>
            <a:r>
              <a:rPr sz="3000" spc="-15" dirty="0">
                <a:latin typeface="Calibri"/>
                <a:cs typeface="Calibri"/>
              </a:rPr>
              <a:t>variante </a:t>
            </a:r>
            <a:r>
              <a:rPr sz="3000" spc="-5" dirty="0">
                <a:latin typeface="Calibri"/>
                <a:cs typeface="Calibri"/>
              </a:rPr>
              <a:t>prima </a:t>
            </a:r>
            <a:r>
              <a:rPr sz="3000" spc="-10" dirty="0">
                <a:latin typeface="Calibri"/>
                <a:cs typeface="Calibri"/>
              </a:rPr>
              <a:t>di concludere. Sfruttiamo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15" dirty="0">
                <a:latin typeface="Calibri"/>
                <a:cs typeface="Calibri"/>
              </a:rPr>
              <a:t>proprietà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order </a:t>
            </a:r>
            <a:r>
              <a:rPr sz="3000" spc="-15" dirty="0">
                <a:latin typeface="Calibri"/>
                <a:cs typeface="Calibri"/>
              </a:rPr>
              <a:t>applicata </a:t>
            </a:r>
            <a:r>
              <a:rPr sz="3000" spc="5" dirty="0">
                <a:latin typeface="Calibri"/>
                <a:cs typeface="Calibri"/>
              </a:rPr>
              <a:t>ai </a:t>
            </a:r>
            <a:r>
              <a:rPr sz="3000" spc="-15" dirty="0">
                <a:latin typeface="Calibri"/>
                <a:cs typeface="Calibri"/>
              </a:rPr>
              <a:t>box </a:t>
            </a:r>
            <a:r>
              <a:rPr sz="3000" dirty="0">
                <a:latin typeface="Calibri"/>
                <a:cs typeface="Calibri"/>
              </a:rPr>
              <a:t>per </a:t>
            </a:r>
            <a:r>
              <a:rPr sz="3000" spc="-10" dirty="0">
                <a:latin typeface="Calibri"/>
                <a:cs typeface="Calibri"/>
              </a:rPr>
              <a:t>modificare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l’ordine </a:t>
            </a:r>
            <a:r>
              <a:rPr sz="3000" spc="10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cui </a:t>
            </a:r>
            <a:r>
              <a:rPr sz="3000" spc="-10" dirty="0">
                <a:latin typeface="Calibri"/>
                <a:cs typeface="Calibri"/>
              </a:rPr>
              <a:t>compaiono, superando così </a:t>
            </a:r>
            <a:r>
              <a:rPr sz="3000" spc="-35" dirty="0">
                <a:latin typeface="Calibri"/>
                <a:cs typeface="Calibri"/>
              </a:rPr>
              <a:t>l’ordine </a:t>
            </a:r>
            <a:r>
              <a:rPr sz="3000" spc="-20" dirty="0">
                <a:latin typeface="Calibri"/>
                <a:cs typeface="Calibri"/>
              </a:rPr>
              <a:t>di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dichiarazione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nel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codice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sorgente.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>
              <a:latin typeface="Calibri"/>
              <a:cs typeface="Calibri"/>
            </a:endParaRPr>
          </a:p>
          <a:p>
            <a:pPr marL="12700" marR="5715" algn="just">
              <a:lnSpc>
                <a:spcPct val="99900"/>
              </a:lnSpc>
            </a:pPr>
            <a:r>
              <a:rPr sz="3000" dirty="0">
                <a:latin typeface="Calibri"/>
                <a:cs typeface="Calibri"/>
              </a:rPr>
              <a:t>Si</a:t>
            </a:r>
            <a:r>
              <a:rPr sz="3000" spc="65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tratta,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come</a:t>
            </a:r>
            <a:r>
              <a:rPr sz="3000" spc="6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</a:t>
            </a:r>
            <a:r>
              <a:rPr sz="3000" spc="6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può</a:t>
            </a:r>
            <a:r>
              <a:rPr sz="3000" spc="64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intuire,</a:t>
            </a:r>
            <a:r>
              <a:rPr sz="3000" spc="63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6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una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funzionalità </a:t>
            </a:r>
            <a:r>
              <a:rPr sz="3000" spc="-6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utilissima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svariati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scenari,</a:t>
            </a:r>
            <a:r>
              <a:rPr sz="3000" spc="5" dirty="0">
                <a:latin typeface="Calibri"/>
                <a:cs typeface="Calibri"/>
              </a:rPr>
              <a:t> a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partire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dal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design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responsivo. </a:t>
            </a:r>
            <a:r>
              <a:rPr sz="3000" spc="-25" dirty="0">
                <a:latin typeface="Calibri"/>
                <a:cs typeface="Calibri"/>
              </a:rPr>
              <a:t>Basta </a:t>
            </a:r>
            <a:r>
              <a:rPr sz="3000" spc="-15" dirty="0">
                <a:latin typeface="Calibri"/>
                <a:cs typeface="Calibri"/>
              </a:rPr>
              <a:t>impostare </a:t>
            </a:r>
            <a:r>
              <a:rPr sz="3000" spc="-10" dirty="0">
                <a:latin typeface="Calibri"/>
                <a:cs typeface="Calibri"/>
              </a:rPr>
              <a:t>il </a:t>
            </a:r>
            <a:r>
              <a:rPr sz="3000" spc="-15" dirty="0">
                <a:latin typeface="Calibri"/>
                <a:cs typeface="Calibri"/>
              </a:rPr>
              <a:t>valore </a:t>
            </a:r>
            <a:r>
              <a:rPr sz="3000" spc="-5" dirty="0">
                <a:latin typeface="Calibri"/>
                <a:cs typeface="Calibri"/>
              </a:rPr>
              <a:t>della </a:t>
            </a:r>
            <a:r>
              <a:rPr sz="3000" spc="-10" dirty="0">
                <a:latin typeface="Calibri"/>
                <a:cs typeface="Calibri"/>
              </a:rPr>
              <a:t>proprietà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un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numero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corrispondente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alla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posizione: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127669"/>
            <a:ext cx="787400" cy="30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5" dirty="0"/>
              <a:t>#box-1</a:t>
            </a:r>
            <a:r>
              <a:rPr sz="1800" spc="-80" dirty="0"/>
              <a:t> </a:t>
            </a:r>
            <a:r>
              <a:rPr sz="1800" dirty="0"/>
              <a:t>{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365732"/>
            <a:ext cx="3105150" cy="4696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27100" marR="508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latin typeface="Calibri"/>
                <a:cs typeface="Calibri"/>
              </a:rPr>
              <a:t>background: </a:t>
            </a:r>
            <a:r>
              <a:rPr sz="1800" spc="-10" dirty="0">
                <a:latin typeface="Calibri"/>
                <a:cs typeface="Calibri"/>
              </a:rPr>
              <a:t>red; </a:t>
            </a:r>
            <a:r>
              <a:rPr sz="1800" spc="-5" dirty="0">
                <a:latin typeface="Calibri"/>
                <a:cs typeface="Calibri"/>
              </a:rPr>
              <a:t> border: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1px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solid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black;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order: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2;</a:t>
            </a:r>
          </a:p>
          <a:p>
            <a:pPr marL="927100">
              <a:lnSpc>
                <a:spcPct val="100000"/>
              </a:lnSpc>
              <a:spcBef>
                <a:spcPts val="15"/>
              </a:spcBef>
            </a:pPr>
            <a:r>
              <a:rPr sz="1800" spc="10" dirty="0">
                <a:latin typeface="Calibri"/>
                <a:cs typeface="Calibri"/>
              </a:rPr>
              <a:t>-</a:t>
            </a:r>
            <a:r>
              <a:rPr sz="1800" spc="-15" dirty="0">
                <a:latin typeface="Calibri"/>
                <a:cs typeface="Calibri"/>
              </a:rPr>
              <a:t>w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10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spc="10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15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5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r: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2;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#box-2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{</a:t>
            </a:r>
          </a:p>
          <a:p>
            <a:pPr marL="9271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background: blue;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border: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1px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solid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black;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order: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3;</a:t>
            </a:r>
          </a:p>
          <a:p>
            <a:pPr marL="927100">
              <a:lnSpc>
                <a:spcPts val="2145"/>
              </a:lnSpc>
              <a:spcBef>
                <a:spcPts val="15"/>
              </a:spcBef>
            </a:pPr>
            <a:r>
              <a:rPr sz="1800" spc="1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spc="5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spc="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15" dirty="0">
                <a:latin typeface="Calibri"/>
                <a:cs typeface="Calibri"/>
              </a:rPr>
              <a:t>-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15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3;</a:t>
            </a:r>
          </a:p>
          <a:p>
            <a:pPr marL="12700">
              <a:lnSpc>
                <a:spcPts val="2145"/>
              </a:lnSpc>
            </a:pPr>
            <a:r>
              <a:rPr sz="1800" dirty="0">
                <a:latin typeface="Calibri"/>
                <a:cs typeface="Calibri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#box-3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{</a:t>
            </a:r>
          </a:p>
          <a:p>
            <a:pPr marL="9271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background: </a:t>
            </a:r>
            <a:r>
              <a:rPr sz="1800" spc="-10" dirty="0">
                <a:latin typeface="Calibri"/>
                <a:cs typeface="Calibri"/>
              </a:rPr>
              <a:t>green; </a:t>
            </a:r>
            <a:r>
              <a:rPr sz="1800" spc="-5" dirty="0">
                <a:latin typeface="Calibri"/>
                <a:cs typeface="Calibri"/>
              </a:rPr>
              <a:t> border: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1px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solid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black;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order: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1;</a:t>
            </a:r>
          </a:p>
          <a:p>
            <a:pPr marL="927100">
              <a:lnSpc>
                <a:spcPct val="100000"/>
              </a:lnSpc>
              <a:spcBef>
                <a:spcPts val="15"/>
              </a:spcBef>
            </a:pPr>
            <a:r>
              <a:rPr sz="1800" spc="10" dirty="0">
                <a:latin typeface="Calibri"/>
                <a:cs typeface="Calibri"/>
              </a:rPr>
              <a:t>-</a:t>
            </a:r>
            <a:r>
              <a:rPr sz="1800" spc="-15" dirty="0">
                <a:latin typeface="Calibri"/>
                <a:cs typeface="Calibri"/>
              </a:rPr>
              <a:t>w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10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spc="10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15" dirty="0">
                <a:latin typeface="Calibri"/>
                <a:cs typeface="Calibri"/>
              </a:rPr>
              <a:t>-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5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r: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1;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}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644" y="1683803"/>
            <a:ext cx="8638675" cy="352761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376" y="889965"/>
            <a:ext cx="33591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Media</a:t>
            </a:r>
            <a:r>
              <a:rPr spc="-65" dirty="0"/>
              <a:t> </a:t>
            </a:r>
            <a:r>
              <a:rPr spc="-10" dirty="0"/>
              <a:t>Queries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0"/>
              </a:spcBef>
            </a:pPr>
            <a:r>
              <a:rPr spc="-5" dirty="0"/>
              <a:t>Una media </a:t>
            </a:r>
            <a:r>
              <a:rPr dirty="0"/>
              <a:t>query </a:t>
            </a:r>
            <a:r>
              <a:rPr spc="-20" dirty="0"/>
              <a:t>consiste </a:t>
            </a:r>
            <a:r>
              <a:rPr spc="-5" dirty="0"/>
              <a:t>nella </a:t>
            </a:r>
            <a:r>
              <a:rPr spc="-10" dirty="0"/>
              <a:t>dichiarazione </a:t>
            </a:r>
            <a:r>
              <a:rPr spc="-20" dirty="0"/>
              <a:t>di </a:t>
            </a:r>
            <a:r>
              <a:rPr spc="-15" dirty="0"/>
              <a:t> un </a:t>
            </a:r>
            <a:r>
              <a:rPr dirty="0"/>
              <a:t>tipo </a:t>
            </a:r>
            <a:r>
              <a:rPr spc="-10" dirty="0"/>
              <a:t>di </a:t>
            </a:r>
            <a:r>
              <a:rPr spc="-5" dirty="0"/>
              <a:t>media e </a:t>
            </a:r>
            <a:r>
              <a:rPr spc="-10" dirty="0"/>
              <a:t>di </a:t>
            </a:r>
            <a:r>
              <a:rPr spc="-30" dirty="0"/>
              <a:t>zero </a:t>
            </a:r>
            <a:r>
              <a:rPr spc="-5" dirty="0"/>
              <a:t>o </a:t>
            </a:r>
            <a:r>
              <a:rPr spc="-10" dirty="0"/>
              <a:t>più espressioni che </a:t>
            </a:r>
            <a:r>
              <a:rPr spc="-5" dirty="0"/>
              <a:t> </a:t>
            </a:r>
            <a:r>
              <a:rPr spc="-10" dirty="0"/>
              <a:t>verifichino </a:t>
            </a:r>
            <a:r>
              <a:rPr dirty="0"/>
              <a:t>le </a:t>
            </a:r>
            <a:r>
              <a:rPr spc="-5" dirty="0"/>
              <a:t>condizioni </a:t>
            </a:r>
            <a:r>
              <a:rPr spc="-10" dirty="0"/>
              <a:t>di </a:t>
            </a:r>
            <a:r>
              <a:rPr spc="-15" dirty="0"/>
              <a:t>validità </a:t>
            </a:r>
            <a:r>
              <a:rPr spc="-5" dirty="0"/>
              <a:t>o </a:t>
            </a:r>
            <a:r>
              <a:rPr spc="5" dirty="0"/>
              <a:t>non </a:t>
            </a:r>
            <a:r>
              <a:rPr spc="-15" dirty="0"/>
              <a:t>validità </a:t>
            </a:r>
            <a:r>
              <a:rPr spc="-10" dirty="0"/>
              <a:t> </a:t>
            </a:r>
            <a:r>
              <a:rPr spc="-5" dirty="0"/>
              <a:t>delle</a:t>
            </a:r>
            <a:r>
              <a:rPr dirty="0"/>
              <a:t> </a:t>
            </a:r>
            <a:r>
              <a:rPr spc="-25" dirty="0"/>
              <a:t>caratteristiche</a:t>
            </a:r>
            <a:r>
              <a:rPr spc="95" dirty="0"/>
              <a:t> </a:t>
            </a:r>
            <a:r>
              <a:rPr spc="-15" dirty="0"/>
              <a:t>di</a:t>
            </a:r>
            <a:r>
              <a:rPr spc="35" dirty="0"/>
              <a:t> </a:t>
            </a:r>
            <a:r>
              <a:rPr spc="-15" dirty="0"/>
              <a:t>un</a:t>
            </a:r>
            <a:r>
              <a:rPr spc="40" dirty="0"/>
              <a:t> </a:t>
            </a:r>
            <a:r>
              <a:rPr spc="-15" dirty="0"/>
              <a:t>certo</a:t>
            </a:r>
            <a:r>
              <a:rPr spc="5" dirty="0"/>
              <a:t> </a:t>
            </a:r>
            <a:r>
              <a:rPr spc="-5" dirty="0"/>
              <a:t>media.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00"/>
          </a:p>
          <a:p>
            <a:pPr marL="12700" marR="9525" algn="just">
              <a:lnSpc>
                <a:spcPct val="100000"/>
              </a:lnSpc>
            </a:pPr>
            <a:r>
              <a:rPr spc="-5" dirty="0"/>
              <a:t>Una media query </a:t>
            </a:r>
            <a:r>
              <a:rPr spc="-10" dirty="0"/>
              <a:t>prevede </a:t>
            </a:r>
            <a:r>
              <a:rPr spc="-5" dirty="0"/>
              <a:t>innanzitutto </a:t>
            </a:r>
            <a:r>
              <a:rPr spc="-15" dirty="0"/>
              <a:t>l’uso </a:t>
            </a:r>
            <a:r>
              <a:rPr spc="-20" dirty="0"/>
              <a:t>di </a:t>
            </a:r>
            <a:r>
              <a:rPr spc="-15" dirty="0"/>
              <a:t> un</a:t>
            </a:r>
            <a:r>
              <a:rPr spc="45" dirty="0"/>
              <a:t> </a:t>
            </a:r>
            <a:r>
              <a:rPr spc="-5" dirty="0"/>
              <a:t>tipo</a:t>
            </a:r>
            <a:r>
              <a:rPr dirty="0"/>
              <a:t> </a:t>
            </a:r>
            <a:r>
              <a:rPr spc="-10" dirty="0"/>
              <a:t>di</a:t>
            </a:r>
            <a:r>
              <a:rPr spc="35" dirty="0"/>
              <a:t> </a:t>
            </a:r>
            <a:r>
              <a:rPr spc="-5" dirty="0"/>
              <a:t>media.</a:t>
            </a:r>
            <a:r>
              <a:rPr spc="30" dirty="0"/>
              <a:t> </a:t>
            </a:r>
            <a:r>
              <a:rPr spc="-15" dirty="0"/>
              <a:t>Possiamo</a:t>
            </a:r>
            <a:r>
              <a:rPr spc="30" dirty="0"/>
              <a:t> </a:t>
            </a:r>
            <a:r>
              <a:rPr spc="-10" dirty="0"/>
              <a:t>scegliere</a:t>
            </a:r>
            <a:r>
              <a:rPr spc="35" dirty="0"/>
              <a:t> </a:t>
            </a:r>
            <a:r>
              <a:rPr spc="-35" dirty="0"/>
              <a:t>tra</a:t>
            </a:r>
            <a:r>
              <a:rPr spc="10" dirty="0"/>
              <a:t> </a:t>
            </a:r>
            <a:r>
              <a:rPr spc="-15" dirty="0"/>
              <a:t>questi: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17320"/>
            <a:ext cx="7588884" cy="4443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245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CSS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si</a:t>
            </a:r>
            <a:r>
              <a:rPr sz="2450" spc="10" dirty="0">
                <a:latin typeface="Calibri"/>
                <a:cs typeface="Calibri"/>
              </a:rPr>
              <a:t> applica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spc="-5" dirty="0">
                <a:latin typeface="Calibri"/>
                <a:cs typeface="Calibri"/>
              </a:rPr>
              <a:t> tutti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dispositivi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di visualizzazione;</a:t>
            </a:r>
            <a:endParaRPr sz="24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Screen</a:t>
            </a:r>
            <a:r>
              <a:rPr sz="2450" b="1" spc="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schermo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di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computer;</a:t>
            </a:r>
            <a:endParaRPr sz="24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Print</a:t>
            </a:r>
            <a:r>
              <a:rPr sz="245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pagina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stampata;</a:t>
            </a:r>
            <a:endParaRPr sz="24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Projection</a:t>
            </a:r>
            <a:r>
              <a:rPr sz="2450" b="1" spc="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presentazioni</a:t>
            </a:r>
            <a:r>
              <a:rPr sz="2450" spc="1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5" dirty="0">
                <a:latin typeface="Calibri"/>
                <a:cs typeface="Calibri"/>
              </a:rPr>
              <a:t> proiezioni;</a:t>
            </a:r>
            <a:endParaRPr sz="24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b="1" spc="10" dirty="0">
                <a:solidFill>
                  <a:srgbClr val="FF0000"/>
                </a:solidFill>
                <a:latin typeface="Calibri"/>
                <a:cs typeface="Calibri"/>
              </a:rPr>
              <a:t>Speech</a:t>
            </a:r>
            <a:r>
              <a:rPr sz="2450" b="1" spc="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dispositivi</a:t>
            </a:r>
            <a:r>
              <a:rPr sz="2450" spc="7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sintesi</a:t>
            </a:r>
            <a:r>
              <a:rPr sz="2450" spc="114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vocale;</a:t>
            </a:r>
            <a:endParaRPr sz="2450">
              <a:latin typeface="Calibri"/>
              <a:cs typeface="Calibri"/>
            </a:endParaRPr>
          </a:p>
          <a:p>
            <a:pPr marL="354965" indent="-342900">
              <a:lnSpc>
                <a:spcPts val="2660"/>
              </a:lnSpc>
              <a:spcBef>
                <a:spcPts val="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Braille</a:t>
            </a:r>
            <a:r>
              <a:rPr sz="2450" b="1" spc="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supporti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basati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sull’uso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del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braille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(sistema</a:t>
            </a:r>
            <a:r>
              <a:rPr sz="2450" spc="14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di</a:t>
            </a:r>
            <a:endParaRPr sz="2450">
              <a:latin typeface="Calibri"/>
              <a:cs typeface="Calibri"/>
            </a:endParaRPr>
          </a:p>
          <a:p>
            <a:pPr marL="354965">
              <a:lnSpc>
                <a:spcPts val="2660"/>
              </a:lnSpc>
            </a:pPr>
            <a:r>
              <a:rPr sz="2450" spc="-5" dirty="0">
                <a:latin typeface="Calibri"/>
                <a:cs typeface="Calibri"/>
              </a:rPr>
              <a:t>scrittura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per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non </a:t>
            </a:r>
            <a:r>
              <a:rPr sz="2450" spc="5" dirty="0">
                <a:latin typeface="Calibri"/>
                <a:cs typeface="Calibri"/>
              </a:rPr>
              <a:t>vedenti);</a:t>
            </a:r>
            <a:endParaRPr sz="24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b="1" spc="20" dirty="0">
                <a:solidFill>
                  <a:srgbClr val="FF0000"/>
                </a:solidFill>
                <a:latin typeface="Calibri"/>
                <a:cs typeface="Calibri"/>
              </a:rPr>
              <a:t>Embossed</a:t>
            </a:r>
            <a:r>
              <a:rPr sz="245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stampanti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braille;</a:t>
            </a:r>
            <a:endParaRPr sz="2450">
              <a:latin typeface="Calibri"/>
              <a:cs typeface="Calibri"/>
            </a:endParaRPr>
          </a:p>
          <a:p>
            <a:pPr marL="354965" marR="124460" indent="-342900">
              <a:lnSpc>
                <a:spcPts val="238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b="1" spc="15" dirty="0">
                <a:solidFill>
                  <a:srgbClr val="FF0000"/>
                </a:solidFill>
                <a:latin typeface="Calibri"/>
                <a:cs typeface="Calibri"/>
              </a:rPr>
              <a:t>Handheld</a:t>
            </a:r>
            <a:r>
              <a:rPr sz="2450" b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dispositivi</a:t>
            </a:r>
            <a:r>
              <a:rPr sz="2450" spc="8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mobili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con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schermo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piccolo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 </a:t>
            </a:r>
            <a:r>
              <a:rPr sz="2450" spc="10" dirty="0">
                <a:latin typeface="Calibri"/>
                <a:cs typeface="Calibri"/>
              </a:rPr>
              <a:t>in 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genere</a:t>
            </a:r>
            <a:r>
              <a:rPr sz="2450" spc="9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dotati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dirty="0">
                <a:latin typeface="Calibri"/>
                <a:cs typeface="Calibri"/>
              </a:rPr>
              <a:t>browser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con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limitate</a:t>
            </a:r>
            <a:r>
              <a:rPr sz="2450" spc="13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capacità</a:t>
            </a:r>
            <a:r>
              <a:rPr sz="2450" spc="7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grafiche;</a:t>
            </a:r>
            <a:endParaRPr sz="24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b="1" spc="10" dirty="0">
                <a:solidFill>
                  <a:srgbClr val="FF0000"/>
                </a:solidFill>
                <a:latin typeface="Calibri"/>
                <a:cs typeface="Calibri"/>
              </a:rPr>
              <a:t>Tty</a:t>
            </a:r>
            <a:r>
              <a:rPr sz="245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dispositivi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carattere</a:t>
            </a:r>
            <a:r>
              <a:rPr sz="2450" spc="1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fisso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come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i terminali;</a:t>
            </a:r>
            <a:endParaRPr sz="245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b="1" spc="-15" dirty="0">
                <a:solidFill>
                  <a:srgbClr val="FF0000"/>
                </a:solidFill>
                <a:latin typeface="Calibri"/>
                <a:cs typeface="Calibri"/>
              </a:rPr>
              <a:t>Tv</a:t>
            </a:r>
            <a:r>
              <a:rPr sz="245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r>
              <a:rPr sz="2450" spc="10" dirty="0">
                <a:latin typeface="Calibri"/>
                <a:cs typeface="Calibri"/>
              </a:rPr>
              <a:t> visualizzazione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su</a:t>
            </a:r>
            <a:r>
              <a:rPr sz="2450" spc="10" dirty="0">
                <a:latin typeface="Calibri"/>
                <a:cs typeface="Calibri"/>
              </a:rPr>
              <a:t> schermi</a:t>
            </a:r>
            <a:r>
              <a:rPr sz="2450" spc="8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televisivi.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45311"/>
            <a:ext cx="8072120" cy="13188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 algn="just">
              <a:lnSpc>
                <a:spcPct val="81700"/>
              </a:lnSpc>
              <a:spcBef>
                <a:spcPts val="670"/>
              </a:spcBef>
            </a:pPr>
            <a:r>
              <a:rPr sz="2450" spc="15" dirty="0">
                <a:latin typeface="Calibri"/>
                <a:cs typeface="Calibri"/>
              </a:rPr>
              <a:t>Una media query è </a:t>
            </a:r>
            <a:r>
              <a:rPr sz="2450" spc="5" dirty="0">
                <a:latin typeface="Calibri"/>
                <a:cs typeface="Calibri"/>
              </a:rPr>
              <a:t>un’espressione  logica </a:t>
            </a:r>
            <a:r>
              <a:rPr sz="2450" spc="20" dirty="0">
                <a:latin typeface="Calibri"/>
                <a:cs typeface="Calibri"/>
              </a:rPr>
              <a:t>che può </a:t>
            </a:r>
            <a:r>
              <a:rPr sz="2450" spc="10" dirty="0">
                <a:latin typeface="Calibri"/>
                <a:cs typeface="Calibri"/>
              </a:rPr>
              <a:t>essere </a:t>
            </a:r>
            <a:r>
              <a:rPr sz="2450" spc="-5" dirty="0">
                <a:latin typeface="Calibri"/>
                <a:cs typeface="Calibri"/>
              </a:rPr>
              <a:t>vera 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o </a:t>
            </a:r>
            <a:r>
              <a:rPr sz="2450" dirty="0">
                <a:latin typeface="Calibri"/>
                <a:cs typeface="Calibri"/>
              </a:rPr>
              <a:t>falsa. </a:t>
            </a:r>
            <a:r>
              <a:rPr sz="2450" spc="15" dirty="0">
                <a:latin typeface="Calibri"/>
                <a:cs typeface="Calibri"/>
              </a:rPr>
              <a:t>È </a:t>
            </a:r>
            <a:r>
              <a:rPr sz="2450" dirty="0">
                <a:latin typeface="Calibri"/>
                <a:cs typeface="Calibri"/>
              </a:rPr>
              <a:t>vera </a:t>
            </a:r>
            <a:r>
              <a:rPr sz="2450" spc="5" dirty="0">
                <a:latin typeface="Calibri"/>
                <a:cs typeface="Calibri"/>
              </a:rPr>
              <a:t>se </a:t>
            </a:r>
            <a:r>
              <a:rPr sz="2450" dirty="0">
                <a:latin typeface="Calibri"/>
                <a:cs typeface="Calibri"/>
              </a:rPr>
              <a:t>soddisfa </a:t>
            </a:r>
            <a:r>
              <a:rPr sz="2450" spc="-5" dirty="0">
                <a:latin typeface="Calibri"/>
                <a:cs typeface="Calibri"/>
              </a:rPr>
              <a:t>tutte </a:t>
            </a:r>
            <a:r>
              <a:rPr sz="2450" spc="25" dirty="0">
                <a:latin typeface="Calibri"/>
                <a:cs typeface="Calibri"/>
              </a:rPr>
              <a:t>le </a:t>
            </a:r>
            <a:r>
              <a:rPr sz="2450" spc="10" dirty="0">
                <a:latin typeface="Calibri"/>
                <a:cs typeface="Calibri"/>
              </a:rPr>
              <a:t>condizioni espresse </a:t>
            </a:r>
            <a:r>
              <a:rPr sz="2450" spc="20" dirty="0">
                <a:latin typeface="Calibri"/>
                <a:cs typeface="Calibri"/>
              </a:rPr>
              <a:t>nelle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query.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Per</a:t>
            </a:r>
            <a:r>
              <a:rPr sz="2450" spc="5" dirty="0">
                <a:latin typeface="Calibri"/>
                <a:cs typeface="Calibri"/>
              </a:rPr>
              <a:t> costruire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query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complesse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si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può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fare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ricorso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a 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operatori</a:t>
            </a:r>
            <a:r>
              <a:rPr sz="2450" spc="9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logici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come</a:t>
            </a:r>
            <a:r>
              <a:rPr sz="2450" spc="65" dirty="0">
                <a:latin typeface="Calibri"/>
                <a:cs typeface="Calibri"/>
              </a:rPr>
              <a:t> </a:t>
            </a:r>
            <a:r>
              <a:rPr sz="2450" b="1" spc="2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50" spc="25" dirty="0">
                <a:latin typeface="Calibri"/>
                <a:cs typeface="Calibri"/>
              </a:rPr>
              <a:t>,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b="1" spc="2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b="1" spc="10" dirty="0">
                <a:solidFill>
                  <a:srgbClr val="FF0000"/>
                </a:solidFill>
                <a:latin typeface="Calibri"/>
                <a:cs typeface="Calibri"/>
              </a:rPr>
              <a:t>only</a:t>
            </a:r>
            <a:r>
              <a:rPr sz="2450" spc="10" dirty="0">
                <a:latin typeface="Calibri"/>
                <a:cs typeface="Calibri"/>
              </a:rPr>
              <a:t>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2744965"/>
            <a:ext cx="6245556" cy="138525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spc="10" dirty="0">
                <a:latin typeface="Calibri"/>
                <a:cs typeface="Calibri"/>
              </a:rPr>
              <a:t>Facciamo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subito</a:t>
            </a:r>
            <a:r>
              <a:rPr sz="2450" spc="4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un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esempio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: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ts val="2410"/>
              </a:lnSpc>
              <a:tabLst>
                <a:tab pos="1120775" algn="l"/>
                <a:tab pos="3676015" algn="l"/>
              </a:tabLst>
            </a:pPr>
            <a:r>
              <a:rPr sz="2450" spc="5" dirty="0">
                <a:latin typeface="Calibri"/>
                <a:cs typeface="Calibri"/>
              </a:rPr>
              <a:t>&lt;lin</a:t>
            </a:r>
            <a:r>
              <a:rPr sz="2450" spc="10" dirty="0">
                <a:latin typeface="Calibri"/>
                <a:cs typeface="Calibri"/>
              </a:rPr>
              <a:t>k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40" dirty="0">
                <a:latin typeface="Calibri"/>
                <a:cs typeface="Calibri"/>
              </a:rPr>
              <a:t>r</a:t>
            </a:r>
            <a:r>
              <a:rPr sz="2450" spc="10" dirty="0">
                <a:latin typeface="Calibri"/>
                <a:cs typeface="Calibri"/>
              </a:rPr>
              <a:t>el=</a:t>
            </a:r>
            <a:r>
              <a:rPr sz="2450" spc="40" dirty="0">
                <a:latin typeface="Calibri"/>
                <a:cs typeface="Calibri"/>
              </a:rPr>
              <a:t>"</a:t>
            </a:r>
            <a:r>
              <a:rPr sz="2450" spc="-5" dirty="0">
                <a:latin typeface="Calibri"/>
                <a:cs typeface="Calibri"/>
              </a:rPr>
              <a:t>st</a:t>
            </a:r>
            <a:r>
              <a:rPr sz="2450" spc="15" dirty="0">
                <a:latin typeface="Calibri"/>
                <a:cs typeface="Calibri"/>
              </a:rPr>
              <a:t>y</a:t>
            </a:r>
            <a:r>
              <a:rPr sz="2450" spc="5" dirty="0">
                <a:latin typeface="Calibri"/>
                <a:cs typeface="Calibri"/>
              </a:rPr>
              <a:t>l</a:t>
            </a:r>
            <a:r>
              <a:rPr sz="2450" spc="50" dirty="0">
                <a:latin typeface="Calibri"/>
                <a:cs typeface="Calibri"/>
              </a:rPr>
              <a:t>e</a:t>
            </a:r>
            <a:r>
              <a:rPr sz="2450" spc="-5" dirty="0">
                <a:latin typeface="Calibri"/>
                <a:cs typeface="Calibri"/>
              </a:rPr>
              <a:t>s</a:t>
            </a:r>
            <a:r>
              <a:rPr sz="2450" spc="20" dirty="0">
                <a:latin typeface="Calibri"/>
                <a:cs typeface="Calibri"/>
              </a:rPr>
              <a:t>h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55" dirty="0">
                <a:latin typeface="Calibri"/>
                <a:cs typeface="Calibri"/>
              </a:rPr>
              <a:t>e</a:t>
            </a:r>
            <a:r>
              <a:rPr sz="2450" spc="-5" dirty="0">
                <a:latin typeface="Calibri"/>
                <a:cs typeface="Calibri"/>
              </a:rPr>
              <a:t>t</a:t>
            </a:r>
            <a:r>
              <a:rPr sz="2450" spc="10" dirty="0">
                <a:latin typeface="Calibri"/>
                <a:cs typeface="Calibri"/>
              </a:rPr>
              <a:t>"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20" dirty="0">
                <a:latin typeface="Calibri"/>
                <a:cs typeface="Calibri"/>
              </a:rPr>
              <a:t>me</a:t>
            </a:r>
            <a:r>
              <a:rPr sz="2450" spc="65" dirty="0">
                <a:latin typeface="Calibri"/>
                <a:cs typeface="Calibri"/>
              </a:rPr>
              <a:t>d</a:t>
            </a:r>
            <a:r>
              <a:rPr sz="2450" spc="5" dirty="0">
                <a:latin typeface="Calibri"/>
                <a:cs typeface="Calibri"/>
              </a:rPr>
              <a:t>i</a:t>
            </a:r>
            <a:r>
              <a:rPr sz="2450" spc="60" dirty="0">
                <a:latin typeface="Calibri"/>
                <a:cs typeface="Calibri"/>
              </a:rPr>
              <a:t>a</a:t>
            </a:r>
            <a:r>
              <a:rPr sz="2450" spc="5" dirty="0">
                <a:latin typeface="Calibri"/>
                <a:cs typeface="Calibri"/>
              </a:rPr>
              <a:t>="</a:t>
            </a:r>
            <a:r>
              <a:rPr sz="2450" dirty="0">
                <a:latin typeface="Calibri"/>
                <a:cs typeface="Calibri"/>
              </a:rPr>
              <a:t>s</a:t>
            </a:r>
            <a:r>
              <a:rPr sz="2450" spc="55" dirty="0">
                <a:latin typeface="Calibri"/>
                <a:cs typeface="Calibri"/>
              </a:rPr>
              <a:t>c</a:t>
            </a:r>
            <a:r>
              <a:rPr sz="2450" spc="-40" dirty="0">
                <a:latin typeface="Calibri"/>
                <a:cs typeface="Calibri"/>
              </a:rPr>
              <a:t>r</a:t>
            </a:r>
            <a:r>
              <a:rPr sz="2450" spc="15" dirty="0">
                <a:latin typeface="Calibri"/>
                <a:cs typeface="Calibri"/>
              </a:rPr>
              <a:t>e</a:t>
            </a:r>
            <a:r>
              <a:rPr sz="2450" spc="20" dirty="0">
                <a:latin typeface="Calibri"/>
                <a:cs typeface="Calibri"/>
              </a:rPr>
              <a:t>e</a:t>
            </a:r>
            <a:r>
              <a:rPr sz="2450" spc="10" dirty="0">
                <a:latin typeface="Calibri"/>
                <a:cs typeface="Calibri"/>
              </a:rPr>
              <a:t>n  </a:t>
            </a:r>
            <a:r>
              <a:rPr sz="2450" dirty="0">
                <a:latin typeface="Calibri"/>
                <a:cs typeface="Calibri"/>
              </a:rPr>
              <a:t>href="colore.css"</a:t>
            </a:r>
            <a:r>
              <a:rPr sz="2450" spc="15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/&gt;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33464" y="3430549"/>
            <a:ext cx="1976120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95044" algn="l"/>
              </a:tabLst>
            </a:pPr>
            <a:r>
              <a:rPr sz="2450" spc="30" dirty="0">
                <a:latin typeface="Calibri"/>
                <a:cs typeface="Calibri"/>
              </a:rPr>
              <a:t>a</a:t>
            </a:r>
            <a:r>
              <a:rPr sz="2450" spc="20" dirty="0">
                <a:latin typeface="Calibri"/>
                <a:cs typeface="Calibri"/>
              </a:rPr>
              <a:t>n</a:t>
            </a:r>
            <a:r>
              <a:rPr sz="2450" spc="15" dirty="0">
                <a:latin typeface="Calibri"/>
                <a:cs typeface="Calibri"/>
              </a:rPr>
              <a:t>d</a:t>
            </a:r>
            <a:r>
              <a:rPr sz="2450" dirty="0">
                <a:latin typeface="Calibri"/>
                <a:cs typeface="Calibri"/>
              </a:rPr>
              <a:t>	</a:t>
            </a:r>
            <a:r>
              <a:rPr sz="2450" spc="-5" dirty="0">
                <a:latin typeface="Calibri"/>
                <a:cs typeface="Calibri"/>
              </a:rPr>
              <a:t>(</a:t>
            </a:r>
            <a:r>
              <a:rPr sz="2450" spc="-15" dirty="0">
                <a:latin typeface="Calibri"/>
                <a:cs typeface="Calibri"/>
              </a:rPr>
              <a:t>c</a:t>
            </a:r>
            <a:r>
              <a:rPr sz="2450" spc="5" dirty="0">
                <a:latin typeface="Calibri"/>
                <a:cs typeface="Calibri"/>
              </a:rPr>
              <a:t>ol</a:t>
            </a:r>
            <a:r>
              <a:rPr sz="2450" spc="50" dirty="0">
                <a:latin typeface="Calibri"/>
                <a:cs typeface="Calibri"/>
              </a:rPr>
              <a:t>o</a:t>
            </a:r>
            <a:r>
              <a:rPr sz="2450" spc="-5" dirty="0">
                <a:latin typeface="Calibri"/>
                <a:cs typeface="Calibri"/>
              </a:rPr>
              <a:t>r</a:t>
            </a:r>
            <a:r>
              <a:rPr sz="2450" spc="25" dirty="0">
                <a:latin typeface="Calibri"/>
                <a:cs typeface="Calibri"/>
              </a:rPr>
              <a:t>)</a:t>
            </a:r>
            <a:r>
              <a:rPr sz="2450" spc="10" dirty="0">
                <a:latin typeface="Calibri"/>
                <a:cs typeface="Calibri"/>
              </a:rPr>
              <a:t>"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244" y="4421745"/>
            <a:ext cx="8073390" cy="162623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 algn="just">
              <a:lnSpc>
                <a:spcPct val="81800"/>
              </a:lnSpc>
              <a:spcBef>
                <a:spcPts val="670"/>
              </a:spcBef>
            </a:pPr>
            <a:r>
              <a:rPr sz="2450" spc="15" dirty="0">
                <a:latin typeface="Calibri"/>
                <a:cs typeface="Calibri"/>
              </a:rPr>
              <a:t>Dopo </a:t>
            </a:r>
            <a:r>
              <a:rPr sz="2450" dirty="0">
                <a:latin typeface="Calibri"/>
                <a:cs typeface="Calibri"/>
              </a:rPr>
              <a:t>aver </a:t>
            </a:r>
            <a:r>
              <a:rPr sz="2450" spc="5" dirty="0">
                <a:latin typeface="Calibri"/>
                <a:cs typeface="Calibri"/>
              </a:rPr>
              <a:t>dichiarato il tipo </a:t>
            </a:r>
            <a:r>
              <a:rPr sz="2450" spc="15" dirty="0">
                <a:latin typeface="Calibri"/>
                <a:cs typeface="Calibri"/>
              </a:rPr>
              <a:t>di </a:t>
            </a:r>
            <a:r>
              <a:rPr sz="2450" spc="25" dirty="0">
                <a:latin typeface="Calibri"/>
                <a:cs typeface="Calibri"/>
              </a:rPr>
              <a:t>media </a:t>
            </a:r>
            <a:r>
              <a:rPr sz="2450" spc="20" dirty="0">
                <a:latin typeface="Calibri"/>
                <a:cs typeface="Calibri"/>
              </a:rPr>
              <a:t>da </a:t>
            </a:r>
            <a:r>
              <a:rPr sz="2450" dirty="0">
                <a:latin typeface="Calibri"/>
                <a:cs typeface="Calibri"/>
              </a:rPr>
              <a:t>usare </a:t>
            </a:r>
            <a:r>
              <a:rPr sz="2450" spc="10" dirty="0">
                <a:latin typeface="Calibri"/>
                <a:cs typeface="Calibri"/>
              </a:rPr>
              <a:t>come </a:t>
            </a:r>
            <a:r>
              <a:rPr sz="2450" spc="-5" dirty="0">
                <a:latin typeface="Calibri"/>
                <a:cs typeface="Calibri"/>
              </a:rPr>
              <a:t>target 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(screen),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abbiamo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inserito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la</a:t>
            </a:r>
            <a:r>
              <a:rPr sz="2450" spc="10" dirty="0">
                <a:latin typeface="Calibri"/>
                <a:cs typeface="Calibri"/>
              </a:rPr>
              <a:t> parola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chiave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and.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10" dirty="0">
                <a:latin typeface="Calibri"/>
                <a:cs typeface="Calibri"/>
              </a:rPr>
              <a:t>Il</a:t>
            </a:r>
            <a:r>
              <a:rPr sz="2450" spc="575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suo 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significato </a:t>
            </a:r>
            <a:r>
              <a:rPr sz="2450" spc="15" dirty="0">
                <a:latin typeface="Calibri"/>
                <a:cs typeface="Calibri"/>
              </a:rPr>
              <a:t>non è </a:t>
            </a:r>
            <a:r>
              <a:rPr sz="2450" spc="5" dirty="0">
                <a:latin typeface="Calibri"/>
                <a:cs typeface="Calibri"/>
              </a:rPr>
              <a:t>diverso </a:t>
            </a:r>
            <a:r>
              <a:rPr sz="2450" spc="20" dirty="0">
                <a:latin typeface="Calibri"/>
                <a:cs typeface="Calibri"/>
              </a:rPr>
              <a:t>da quello comune </a:t>
            </a:r>
            <a:r>
              <a:rPr sz="2450" spc="15" dirty="0">
                <a:latin typeface="Calibri"/>
                <a:cs typeface="Calibri"/>
              </a:rPr>
              <a:t>e </a:t>
            </a:r>
            <a:r>
              <a:rPr sz="2450" spc="10" dirty="0">
                <a:latin typeface="Calibri"/>
                <a:cs typeface="Calibri"/>
              </a:rPr>
              <a:t>presente in tutti </a:t>
            </a:r>
            <a:r>
              <a:rPr sz="2450" spc="5" dirty="0">
                <a:latin typeface="Calibri"/>
                <a:cs typeface="Calibri"/>
              </a:rPr>
              <a:t>i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15" dirty="0">
                <a:latin typeface="Calibri"/>
                <a:cs typeface="Calibri"/>
              </a:rPr>
              <a:t>linguaggi di programmazione: </a:t>
            </a:r>
            <a:r>
              <a:rPr sz="2450" spc="20" dirty="0">
                <a:latin typeface="Calibri"/>
                <a:cs typeface="Calibri"/>
              </a:rPr>
              <a:t>esegue </a:t>
            </a:r>
            <a:r>
              <a:rPr sz="2450" spc="10" dirty="0">
                <a:latin typeface="Calibri"/>
                <a:cs typeface="Calibri"/>
              </a:rPr>
              <a:t>un’unione </a:t>
            </a:r>
            <a:r>
              <a:rPr sz="2450" spc="5" dirty="0">
                <a:latin typeface="Calibri"/>
                <a:cs typeface="Calibri"/>
              </a:rPr>
              <a:t>logica </a:t>
            </a:r>
            <a:r>
              <a:rPr sz="2450" spc="-15" dirty="0">
                <a:latin typeface="Calibri"/>
                <a:cs typeface="Calibri"/>
              </a:rPr>
              <a:t>tra </a:t>
            </a:r>
            <a:r>
              <a:rPr sz="2450" spc="25" dirty="0">
                <a:latin typeface="Calibri"/>
                <a:cs typeface="Calibri"/>
              </a:rPr>
              <a:t>due 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5" dirty="0">
                <a:latin typeface="Calibri"/>
                <a:cs typeface="Calibri"/>
              </a:rPr>
              <a:t>espressioni.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978268"/>
            <a:ext cx="8082280" cy="469519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835"/>
              </a:spcBef>
            </a:pP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10" dirty="0">
                <a:latin typeface="Calibri"/>
                <a:cs typeface="Calibri"/>
              </a:rPr>
              <a:t>seconda espressione </a:t>
            </a:r>
            <a:r>
              <a:rPr sz="3000" spc="5" dirty="0">
                <a:latin typeface="Calibri"/>
                <a:cs typeface="Calibri"/>
              </a:rPr>
              <a:t>è </a:t>
            </a:r>
            <a:r>
              <a:rPr sz="3000" spc="-5" dirty="0">
                <a:latin typeface="Calibri"/>
                <a:cs typeface="Calibri"/>
              </a:rPr>
              <a:t>(color). Color </a:t>
            </a:r>
            <a:r>
              <a:rPr sz="3000" spc="-20" dirty="0">
                <a:latin typeface="Calibri"/>
                <a:cs typeface="Calibri"/>
              </a:rPr>
              <a:t>rappresenta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delle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tante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caratteristiche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possibili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uno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schermo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40" dirty="0">
                <a:latin typeface="Calibri"/>
                <a:cs typeface="Calibri"/>
              </a:rPr>
              <a:t>computer. </a:t>
            </a:r>
            <a:r>
              <a:rPr sz="3000" dirty="0">
                <a:latin typeface="Calibri"/>
                <a:cs typeface="Calibri"/>
              </a:rPr>
              <a:t>Nello </a:t>
            </a:r>
            <a:r>
              <a:rPr sz="3000" spc="-10" dirty="0">
                <a:latin typeface="Calibri"/>
                <a:cs typeface="Calibri"/>
              </a:rPr>
              <a:t>specifico </a:t>
            </a:r>
            <a:r>
              <a:rPr sz="3000" spc="-5" dirty="0">
                <a:latin typeface="Calibri"/>
                <a:cs typeface="Calibri"/>
              </a:rPr>
              <a:t>designa </a:t>
            </a:r>
            <a:r>
              <a:rPr sz="3000" dirty="0">
                <a:latin typeface="Calibri"/>
                <a:cs typeface="Calibri"/>
              </a:rPr>
              <a:t>uno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schermo </a:t>
            </a: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colori. </a:t>
            </a: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livello </a:t>
            </a:r>
            <a:r>
              <a:rPr sz="3000" spc="-20" dirty="0">
                <a:latin typeface="Calibri"/>
                <a:cs typeface="Calibri"/>
              </a:rPr>
              <a:t>sintattico si </a:t>
            </a:r>
            <a:r>
              <a:rPr sz="3000" dirty="0">
                <a:latin typeface="Calibri"/>
                <a:cs typeface="Calibri"/>
              </a:rPr>
              <a:t>noti </a:t>
            </a:r>
            <a:r>
              <a:rPr sz="3000" spc="-5" dirty="0">
                <a:latin typeface="Calibri"/>
                <a:cs typeface="Calibri"/>
              </a:rPr>
              <a:t>che </a:t>
            </a:r>
            <a:r>
              <a:rPr sz="3000" spc="-15" dirty="0">
                <a:latin typeface="Calibri"/>
                <a:cs typeface="Calibri"/>
              </a:rPr>
              <a:t>la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seconda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parte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media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query,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quella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con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20" dirty="0">
                <a:latin typeface="Calibri"/>
                <a:cs typeface="Calibri"/>
              </a:rPr>
              <a:t>le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caratteristiche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tipo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media,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40" dirty="0">
                <a:latin typeface="Calibri"/>
                <a:cs typeface="Calibri"/>
              </a:rPr>
              <a:t>va</a:t>
            </a:r>
            <a:r>
              <a:rPr sz="3000" spc="6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posta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tra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parentesi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tonde.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00">
              <a:latin typeface="Calibri"/>
              <a:cs typeface="Calibri"/>
            </a:endParaRPr>
          </a:p>
          <a:p>
            <a:pPr marL="12700" marR="6985" algn="just">
              <a:lnSpc>
                <a:spcPct val="80200"/>
              </a:lnSpc>
            </a:pP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-15" dirty="0">
                <a:latin typeface="Calibri"/>
                <a:cs typeface="Calibri"/>
              </a:rPr>
              <a:t>questo punto </a:t>
            </a:r>
            <a:r>
              <a:rPr sz="3000" spc="10" dirty="0">
                <a:latin typeface="Calibri"/>
                <a:cs typeface="Calibri"/>
              </a:rPr>
              <a:t>il </a:t>
            </a:r>
            <a:r>
              <a:rPr sz="3000" spc="-15" dirty="0">
                <a:latin typeface="Calibri"/>
                <a:cs typeface="Calibri"/>
              </a:rPr>
              <a:t>significato </a:t>
            </a:r>
            <a:r>
              <a:rPr sz="3000" spc="-5" dirty="0">
                <a:latin typeface="Calibri"/>
                <a:cs typeface="Calibri"/>
              </a:rPr>
              <a:t>della </a:t>
            </a:r>
            <a:r>
              <a:rPr sz="3000" spc="-20" dirty="0">
                <a:latin typeface="Calibri"/>
                <a:cs typeface="Calibri"/>
              </a:rPr>
              <a:t>nostra </a:t>
            </a:r>
            <a:r>
              <a:rPr sz="3000" spc="5" dirty="0">
                <a:latin typeface="Calibri"/>
                <a:cs typeface="Calibri"/>
              </a:rPr>
              <a:t>query è 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chiaro. </a:t>
            </a:r>
            <a:r>
              <a:rPr sz="3000" dirty="0">
                <a:latin typeface="Calibri"/>
                <a:cs typeface="Calibri"/>
              </a:rPr>
              <a:t>Essa </a:t>
            </a:r>
            <a:r>
              <a:rPr sz="3000" spc="-20" dirty="0">
                <a:latin typeface="Calibri"/>
                <a:cs typeface="Calibri"/>
              </a:rPr>
              <a:t>sarà </a:t>
            </a:r>
            <a:r>
              <a:rPr sz="3000" spc="-35" dirty="0">
                <a:latin typeface="Calibri"/>
                <a:cs typeface="Calibri"/>
              </a:rPr>
              <a:t>vera </a:t>
            </a:r>
            <a:r>
              <a:rPr sz="3000" spc="-15" dirty="0">
                <a:latin typeface="Calibri"/>
                <a:cs typeface="Calibri"/>
              </a:rPr>
              <a:t>(ovvero </a:t>
            </a:r>
            <a:r>
              <a:rPr sz="3000" spc="-10" dirty="0">
                <a:latin typeface="Calibri"/>
                <a:cs typeface="Calibri"/>
              </a:rPr>
              <a:t>sarà </a:t>
            </a:r>
            <a:r>
              <a:rPr sz="3000" spc="-15" dirty="0">
                <a:latin typeface="Calibri"/>
                <a:cs typeface="Calibri"/>
              </a:rPr>
              <a:t>applicato </a:t>
            </a:r>
            <a:r>
              <a:rPr sz="3000" spc="10" dirty="0">
                <a:latin typeface="Calibri"/>
                <a:cs typeface="Calibri"/>
              </a:rPr>
              <a:t>il </a:t>
            </a:r>
            <a:r>
              <a:rPr sz="3000" spc="-15" dirty="0">
                <a:latin typeface="Calibri"/>
                <a:cs typeface="Calibri"/>
              </a:rPr>
              <a:t>foglio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stile </a:t>
            </a:r>
            <a:r>
              <a:rPr sz="3000" spc="-10" dirty="0">
                <a:latin typeface="Calibri"/>
                <a:cs typeface="Calibri"/>
              </a:rPr>
              <a:t>colore.css) </a:t>
            </a:r>
            <a:r>
              <a:rPr sz="3000" dirty="0">
                <a:latin typeface="Calibri"/>
                <a:cs typeface="Calibri"/>
              </a:rPr>
              <a:t>se </a:t>
            </a: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10" dirty="0">
                <a:latin typeface="Calibri"/>
                <a:cs typeface="Calibri"/>
              </a:rPr>
              <a:t>pagina </a:t>
            </a:r>
            <a:r>
              <a:rPr sz="3000" dirty="0">
                <a:latin typeface="Calibri"/>
                <a:cs typeface="Calibri"/>
              </a:rPr>
              <a:t>viene </a:t>
            </a:r>
            <a:r>
              <a:rPr sz="3000" spc="-20" dirty="0">
                <a:latin typeface="Calibri"/>
                <a:cs typeface="Calibri"/>
              </a:rPr>
              <a:t>visualizzata </a:t>
            </a:r>
            <a:r>
              <a:rPr sz="3000" spc="-5" dirty="0">
                <a:latin typeface="Calibri"/>
                <a:cs typeface="Calibri"/>
              </a:rPr>
              <a:t>su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5" dirty="0">
                <a:latin typeface="Calibri"/>
                <a:cs typeface="Calibri"/>
              </a:rPr>
              <a:t>uno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schermo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computer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colori.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239532"/>
            <a:ext cx="8072120" cy="238379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8255">
              <a:lnSpc>
                <a:spcPts val="2910"/>
              </a:lnSpc>
              <a:spcBef>
                <a:spcPts val="470"/>
              </a:spcBef>
            </a:pPr>
            <a:r>
              <a:rPr sz="2700" dirty="0">
                <a:latin typeface="Calibri"/>
                <a:cs typeface="Calibri"/>
              </a:rPr>
              <a:t>Un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altro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operatore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logico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utile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spc="60" dirty="0"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700" spc="-5" dirty="0">
                <a:latin typeface="Calibri"/>
                <a:cs typeface="Calibri"/>
              </a:rPr>
              <a:t>.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Esso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nega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il </a:t>
            </a:r>
            <a:r>
              <a:rPr sz="2700" spc="-15" dirty="0">
                <a:latin typeface="Calibri"/>
                <a:cs typeface="Calibri"/>
              </a:rPr>
              <a:t>risultato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della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query.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Modifichiamo</a:t>
            </a:r>
            <a:r>
              <a:rPr sz="2700" spc="1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nostro</a:t>
            </a:r>
            <a:r>
              <a:rPr sz="2700" spc="-5" dirty="0">
                <a:latin typeface="Calibri"/>
                <a:cs typeface="Calibri"/>
              </a:rPr>
              <a:t> esempio: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700" spc="-10" dirty="0">
                <a:latin typeface="Calibri"/>
                <a:cs typeface="Calibri"/>
              </a:rPr>
              <a:t>media="screen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and </a:t>
            </a:r>
            <a:r>
              <a:rPr sz="2700" spc="-5" dirty="0">
                <a:latin typeface="Calibri"/>
                <a:cs typeface="Calibri"/>
              </a:rPr>
              <a:t>(not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color)"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327660" algn="l"/>
                <a:tab pos="1260475" algn="l"/>
                <a:tab pos="1675130" algn="l"/>
                <a:tab pos="2400935" algn="l"/>
                <a:tab pos="3924300" algn="l"/>
                <a:tab pos="4649470" algn="l"/>
                <a:tab pos="6073775" algn="l"/>
                <a:tab pos="6542405" algn="l"/>
                <a:tab pos="7799705" algn="l"/>
              </a:tabLst>
            </a:pPr>
            <a:r>
              <a:rPr sz="2700" spc="-15" dirty="0">
                <a:latin typeface="Calibri"/>
                <a:cs typeface="Calibri"/>
              </a:rPr>
              <a:t>I</a:t>
            </a:r>
            <a:r>
              <a:rPr sz="2700" spc="-5" dirty="0">
                <a:latin typeface="Calibri"/>
                <a:cs typeface="Calibri"/>
              </a:rPr>
              <a:t>l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0" dirty="0">
                <a:latin typeface="Calibri"/>
                <a:cs typeface="Calibri"/>
              </a:rPr>
              <a:t>f</a:t>
            </a:r>
            <a:r>
              <a:rPr sz="2700" spc="-10" dirty="0">
                <a:latin typeface="Calibri"/>
                <a:cs typeface="Calibri"/>
              </a:rPr>
              <a:t>og</a:t>
            </a:r>
            <a:r>
              <a:rPr sz="2700" spc="15" dirty="0">
                <a:latin typeface="Calibri"/>
                <a:cs typeface="Calibri"/>
              </a:rPr>
              <a:t>l</a:t>
            </a:r>
            <a:r>
              <a:rPr sz="2700" spc="-25" dirty="0">
                <a:latin typeface="Calibri"/>
                <a:cs typeface="Calibri"/>
              </a:rPr>
              <a:t>i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30" dirty="0">
                <a:latin typeface="Calibri"/>
                <a:cs typeface="Calibri"/>
              </a:rPr>
              <a:t>d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35" dirty="0">
                <a:latin typeface="Calibri"/>
                <a:cs typeface="Calibri"/>
              </a:rPr>
              <a:t>s</a:t>
            </a:r>
            <a:r>
              <a:rPr sz="2700" spc="-25" dirty="0">
                <a:latin typeface="Calibri"/>
                <a:cs typeface="Calibri"/>
              </a:rPr>
              <a:t>t</a:t>
            </a:r>
            <a:r>
              <a:rPr sz="2700" spc="10" dirty="0">
                <a:latin typeface="Calibri"/>
                <a:cs typeface="Calibri"/>
              </a:rPr>
              <a:t>i</a:t>
            </a:r>
            <a:r>
              <a:rPr sz="2700" spc="-25" dirty="0">
                <a:latin typeface="Calibri"/>
                <a:cs typeface="Calibri"/>
              </a:rPr>
              <a:t>l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c</a:t>
            </a:r>
            <a:r>
              <a:rPr sz="2700" spc="-15" dirty="0">
                <a:latin typeface="Calibri"/>
                <a:cs typeface="Calibri"/>
              </a:rPr>
              <a:t>o</a:t>
            </a:r>
            <a:r>
              <a:rPr sz="2700" spc="-25" dirty="0">
                <a:latin typeface="Calibri"/>
                <a:cs typeface="Calibri"/>
              </a:rPr>
              <a:t>l</a:t>
            </a:r>
            <a:r>
              <a:rPr sz="2700" spc="-10" dirty="0">
                <a:latin typeface="Calibri"/>
                <a:cs typeface="Calibri"/>
              </a:rPr>
              <a:t>o</a:t>
            </a:r>
            <a:r>
              <a:rPr sz="2700" spc="-30" dirty="0">
                <a:latin typeface="Calibri"/>
                <a:cs typeface="Calibri"/>
              </a:rPr>
              <a:t>r</a:t>
            </a:r>
            <a:r>
              <a:rPr sz="2700" dirty="0">
                <a:latin typeface="Calibri"/>
                <a:cs typeface="Calibri"/>
              </a:rPr>
              <a:t>e</a:t>
            </a:r>
            <a:r>
              <a:rPr sz="2700" spc="-15" dirty="0">
                <a:latin typeface="Calibri"/>
                <a:cs typeface="Calibri"/>
              </a:rPr>
              <a:t>.</a:t>
            </a:r>
            <a:r>
              <a:rPr sz="2700" spc="-5" dirty="0">
                <a:latin typeface="Calibri"/>
                <a:cs typeface="Calibri"/>
              </a:rPr>
              <a:t>css</a:t>
            </a:r>
            <a:r>
              <a:rPr sz="2700" dirty="0">
                <a:latin typeface="Calibri"/>
                <a:cs typeface="Calibri"/>
              </a:rPr>
              <a:t>	s</a:t>
            </a:r>
            <a:r>
              <a:rPr sz="2700" spc="-25" dirty="0">
                <a:latin typeface="Calibri"/>
                <a:cs typeface="Calibri"/>
              </a:rPr>
              <a:t>a</a:t>
            </a:r>
            <a:r>
              <a:rPr sz="2700" spc="-60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à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pp</a:t>
            </a:r>
            <a:r>
              <a:rPr sz="2700" spc="-20" dirty="0">
                <a:latin typeface="Calibri"/>
                <a:cs typeface="Calibri"/>
              </a:rPr>
              <a:t>l</a:t>
            </a:r>
            <a:r>
              <a:rPr sz="2700" spc="10" dirty="0">
                <a:latin typeface="Calibri"/>
                <a:cs typeface="Calibri"/>
              </a:rPr>
              <a:t>i</a:t>
            </a:r>
            <a:r>
              <a:rPr sz="2700" spc="-50" dirty="0">
                <a:latin typeface="Calibri"/>
                <a:cs typeface="Calibri"/>
              </a:rPr>
              <a:t>c</a:t>
            </a:r>
            <a:r>
              <a:rPr sz="2700" spc="-25" dirty="0">
                <a:latin typeface="Calibri"/>
                <a:cs typeface="Calibri"/>
              </a:rPr>
              <a:t>a</a:t>
            </a:r>
            <a:r>
              <a:rPr sz="2700" spc="-6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5" dirty="0">
                <a:latin typeface="Calibri"/>
                <a:cs typeface="Calibri"/>
              </a:rPr>
              <a:t>s</a:t>
            </a:r>
            <a:r>
              <a:rPr sz="2700" spc="-5" dirty="0">
                <a:latin typeface="Calibri"/>
                <a:cs typeface="Calibri"/>
              </a:rPr>
              <a:t>u</a:t>
            </a:r>
            <a:r>
              <a:rPr sz="2700" dirty="0">
                <a:latin typeface="Calibri"/>
                <a:cs typeface="Calibri"/>
              </a:rPr>
              <a:t>	s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spc="5" dirty="0">
                <a:latin typeface="Calibri"/>
                <a:cs typeface="Calibri"/>
              </a:rPr>
              <a:t>r</a:t>
            </a:r>
            <a:r>
              <a:rPr sz="2700" dirty="0">
                <a:latin typeface="Calibri"/>
                <a:cs typeface="Calibri"/>
              </a:rPr>
              <a:t>m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di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3556393"/>
            <a:ext cx="3993515" cy="8108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ts val="2950"/>
              </a:lnSpc>
              <a:spcBef>
                <a:spcPts val="434"/>
              </a:spcBef>
              <a:tabLst>
                <a:tab pos="1580515" algn="l"/>
                <a:tab pos="2287905" algn="l"/>
                <a:tab pos="2675890" algn="l"/>
                <a:tab pos="3041015" algn="l"/>
                <a:tab pos="3725545" algn="l"/>
              </a:tabLst>
            </a:pPr>
            <a:r>
              <a:rPr sz="2700" spc="-20" dirty="0">
                <a:latin typeface="Calibri"/>
                <a:cs typeface="Calibri"/>
              </a:rPr>
              <a:t>computer	</a:t>
            </a:r>
            <a:r>
              <a:rPr sz="2700" spc="-5" dirty="0">
                <a:latin typeface="Calibri"/>
                <a:cs typeface="Calibri"/>
              </a:rPr>
              <a:t>che	non	</a:t>
            </a:r>
            <a:r>
              <a:rPr sz="2700" spc="-10" dirty="0">
                <a:latin typeface="Calibri"/>
                <a:cs typeface="Calibri"/>
              </a:rPr>
              <a:t>siano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45" dirty="0">
                <a:latin typeface="Calibri"/>
                <a:cs typeface="Calibri"/>
              </a:rPr>
              <a:t>c</a:t>
            </a:r>
            <a:r>
              <a:rPr sz="2700" spc="-10" dirty="0">
                <a:latin typeface="Calibri"/>
                <a:cs typeface="Calibri"/>
              </a:rPr>
              <a:t>omand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4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m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spc="5" dirty="0">
                <a:latin typeface="Calibri"/>
                <a:cs typeface="Calibri"/>
              </a:rPr>
              <a:t>n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u</a:t>
            </a:r>
            <a:r>
              <a:rPr sz="2700" dirty="0">
                <a:latin typeface="Calibri"/>
                <a:cs typeface="Calibri"/>
              </a:rPr>
              <a:t>s</a:t>
            </a:r>
            <a:r>
              <a:rPr sz="2700" spc="-20" dirty="0">
                <a:latin typeface="Calibri"/>
                <a:cs typeface="Calibri"/>
              </a:rPr>
              <a:t>a</a:t>
            </a:r>
            <a:r>
              <a:rPr sz="2700" spc="-6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in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10913" y="3556393"/>
            <a:ext cx="2522855" cy="8108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87655" marR="5080" indent="-275590">
              <a:lnSpc>
                <a:spcPts val="2950"/>
              </a:lnSpc>
              <a:spcBef>
                <a:spcPts val="434"/>
              </a:spcBef>
              <a:tabLst>
                <a:tab pos="386715" algn="l"/>
                <a:tab pos="1468120" algn="l"/>
                <a:tab pos="1558290" algn="l"/>
                <a:tab pos="2189480" algn="l"/>
              </a:tabLst>
            </a:pPr>
            <a:r>
              <a:rPr sz="2700" spc="-5" dirty="0">
                <a:latin typeface="Calibri"/>
                <a:cs typeface="Calibri"/>
              </a:rPr>
              <a:t>a		c</a:t>
            </a:r>
            <a:r>
              <a:rPr sz="2700" spc="-15" dirty="0">
                <a:latin typeface="Calibri"/>
                <a:cs typeface="Calibri"/>
              </a:rPr>
              <a:t>o</a:t>
            </a:r>
            <a:r>
              <a:rPr sz="2700" spc="-25" dirty="0">
                <a:latin typeface="Calibri"/>
                <a:cs typeface="Calibri"/>
              </a:rPr>
              <a:t>l</a:t>
            </a:r>
            <a:r>
              <a:rPr sz="2700" spc="-10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r</a:t>
            </a:r>
            <a:r>
              <a:rPr sz="2700" spc="-20" dirty="0">
                <a:latin typeface="Calibri"/>
                <a:cs typeface="Calibri"/>
              </a:rPr>
              <a:t>i</a:t>
            </a:r>
            <a:r>
              <a:rPr sz="2700" spc="-5" dirty="0">
                <a:latin typeface="Calibri"/>
                <a:cs typeface="Calibri"/>
              </a:rPr>
              <a:t>.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Me</a:t>
            </a:r>
            <a:r>
              <a:rPr sz="2700" spc="-30" dirty="0">
                <a:latin typeface="Calibri"/>
                <a:cs typeface="Calibri"/>
              </a:rPr>
              <a:t>n</a:t>
            </a:r>
            <a:r>
              <a:rPr sz="2700" spc="-20" dirty="0">
                <a:latin typeface="Calibri"/>
                <a:cs typeface="Calibri"/>
              </a:rPr>
              <a:t>t</a:t>
            </a:r>
            <a:r>
              <a:rPr sz="2700" spc="-2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e  </a:t>
            </a:r>
            <a:r>
              <a:rPr sz="2700" spc="-20" dirty="0">
                <a:latin typeface="Calibri"/>
                <a:cs typeface="Calibri"/>
              </a:rPr>
              <a:t>quanto		</a:t>
            </a:r>
            <a:r>
              <a:rPr sz="2700" spc="15" dirty="0">
                <a:latin typeface="Calibri"/>
                <a:cs typeface="Calibri"/>
              </a:rPr>
              <a:t>ha	</a:t>
            </a:r>
            <a:r>
              <a:rPr sz="2700" spc="-25" dirty="0">
                <a:latin typeface="Calibri"/>
                <a:cs typeface="Calibri"/>
              </a:rPr>
              <a:t>lo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19315" y="3556393"/>
            <a:ext cx="1391285" cy="8108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6510" marR="5080" indent="-4445">
              <a:lnSpc>
                <a:spcPts val="2950"/>
              </a:lnSpc>
              <a:spcBef>
                <a:spcPts val="434"/>
              </a:spcBef>
              <a:tabLst>
                <a:tab pos="842010" algn="l"/>
                <a:tab pos="1116330" algn="l"/>
                <a:tab pos="1224915" algn="l"/>
              </a:tabLst>
            </a:pP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nl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dirty="0">
                <a:latin typeface="Calibri"/>
                <a:cs typeface="Calibri"/>
              </a:rPr>
              <a:t>		</a:t>
            </a:r>
            <a:r>
              <a:rPr sz="2700" spc="-25" dirty="0">
                <a:latin typeface="Calibri"/>
                <a:cs typeface="Calibri"/>
              </a:rPr>
              <a:t>il  </a:t>
            </a:r>
            <a:r>
              <a:rPr sz="2700" spc="5" dirty="0">
                <a:latin typeface="Calibri"/>
                <a:cs typeface="Calibri"/>
              </a:rPr>
              <a:t>s</a:t>
            </a:r>
            <a:r>
              <a:rPr sz="2700" spc="-45" dirty="0">
                <a:latin typeface="Calibri"/>
                <a:cs typeface="Calibri"/>
              </a:rPr>
              <a:t>c</a:t>
            </a:r>
            <a:r>
              <a:rPr sz="2700" spc="-10" dirty="0">
                <a:latin typeface="Calibri"/>
                <a:cs typeface="Calibri"/>
              </a:rPr>
              <a:t>op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		</a:t>
            </a:r>
            <a:r>
              <a:rPr sz="2700" spc="-5" dirty="0">
                <a:latin typeface="Calibri"/>
                <a:cs typeface="Calibri"/>
              </a:rPr>
              <a:t>di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244" y="4300524"/>
            <a:ext cx="8075295" cy="1594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spc="-15" dirty="0">
                <a:latin typeface="Calibri"/>
                <a:cs typeface="Calibri"/>
              </a:rPr>
              <a:t>nascondere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le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query</a:t>
            </a:r>
            <a:r>
              <a:rPr sz="2700" spc="-10" dirty="0">
                <a:latin typeface="Calibri"/>
                <a:cs typeface="Calibri"/>
              </a:rPr>
              <a:t> multimediali</a:t>
            </a:r>
            <a:r>
              <a:rPr sz="2700" spc="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dai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browser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più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vecchi.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Calibri"/>
              <a:cs typeface="Calibri"/>
            </a:endParaRPr>
          </a:p>
          <a:p>
            <a:pPr marL="12700" marR="5080">
              <a:lnSpc>
                <a:spcPts val="2910"/>
              </a:lnSpc>
              <a:tabLst>
                <a:tab pos="1936750" algn="l"/>
                <a:tab pos="3013710" algn="l"/>
                <a:tab pos="3694429" algn="l"/>
                <a:tab pos="5483225" algn="l"/>
                <a:tab pos="6591934" algn="l"/>
                <a:tab pos="7272020" algn="l"/>
              </a:tabLst>
            </a:pPr>
            <a:r>
              <a:rPr sz="2700" spc="-5" dirty="0">
                <a:latin typeface="Calibri"/>
                <a:cs typeface="Calibri"/>
              </a:rPr>
              <a:t>m</a:t>
            </a:r>
            <a:r>
              <a:rPr sz="2700" dirty="0">
                <a:latin typeface="Calibri"/>
                <a:cs typeface="Calibri"/>
              </a:rPr>
              <a:t>e</a:t>
            </a:r>
            <a:r>
              <a:rPr sz="2700" spc="-10" dirty="0">
                <a:latin typeface="Calibri"/>
                <a:cs typeface="Calibri"/>
              </a:rPr>
              <a:t>d</a:t>
            </a:r>
            <a:r>
              <a:rPr sz="2700" spc="-25" dirty="0">
                <a:latin typeface="Calibri"/>
                <a:cs typeface="Calibri"/>
              </a:rPr>
              <a:t>ia</a:t>
            </a:r>
            <a:r>
              <a:rPr sz="2700" spc="-10" dirty="0">
                <a:latin typeface="Calibri"/>
                <a:cs typeface="Calibri"/>
              </a:rPr>
              <a:t>=</a:t>
            </a:r>
            <a:r>
              <a:rPr sz="2700" spc="-20" dirty="0">
                <a:latin typeface="Calibri"/>
                <a:cs typeface="Calibri"/>
              </a:rPr>
              <a:t>"</a:t>
            </a:r>
            <a:r>
              <a:rPr sz="2700" spc="-10" dirty="0">
                <a:latin typeface="Calibri"/>
                <a:cs typeface="Calibri"/>
              </a:rPr>
              <a:t>o</a:t>
            </a:r>
            <a:r>
              <a:rPr sz="2700" spc="25" dirty="0">
                <a:latin typeface="Calibri"/>
                <a:cs typeface="Calibri"/>
              </a:rPr>
              <a:t>n</a:t>
            </a:r>
            <a:r>
              <a:rPr sz="2700" spc="-25" dirty="0">
                <a:latin typeface="Calibri"/>
                <a:cs typeface="Calibri"/>
              </a:rPr>
              <a:t>l</a:t>
            </a:r>
            <a:r>
              <a:rPr sz="2700" spc="-5" dirty="0">
                <a:latin typeface="Calibri"/>
                <a:cs typeface="Calibri"/>
              </a:rPr>
              <a:t>y</a:t>
            </a:r>
            <a:r>
              <a:rPr sz="2700" dirty="0">
                <a:latin typeface="Calibri"/>
                <a:cs typeface="Calibri"/>
              </a:rPr>
              <a:t>	s</a:t>
            </a:r>
            <a:r>
              <a:rPr sz="2700" spc="-5" dirty="0">
                <a:latin typeface="Calibri"/>
                <a:cs typeface="Calibri"/>
              </a:rPr>
              <a:t>c</a:t>
            </a:r>
            <a:r>
              <a:rPr sz="2700" spc="-3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e</a:t>
            </a:r>
            <a:r>
              <a:rPr sz="2700" spc="-5" dirty="0">
                <a:latin typeface="Calibri"/>
                <a:cs typeface="Calibri"/>
              </a:rPr>
              <a:t>n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n</a:t>
            </a:r>
            <a:r>
              <a:rPr sz="2700" spc="-5" dirty="0">
                <a:latin typeface="Calibri"/>
                <a:cs typeface="Calibri"/>
              </a:rPr>
              <a:t>d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(m</a:t>
            </a:r>
            <a:r>
              <a:rPr sz="2700" spc="-20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n</a:t>
            </a:r>
            <a:r>
              <a:rPr sz="2700" spc="20" dirty="0">
                <a:latin typeface="Calibri"/>
                <a:cs typeface="Calibri"/>
              </a:rPr>
              <a:t>-</a:t>
            </a:r>
            <a:r>
              <a:rPr sz="2700" spc="-20" dirty="0">
                <a:latin typeface="Calibri"/>
                <a:cs typeface="Calibri"/>
              </a:rPr>
              <a:t>w</a:t>
            </a:r>
            <a:r>
              <a:rPr sz="2700" spc="-25" dirty="0">
                <a:latin typeface="Calibri"/>
                <a:cs typeface="Calibri"/>
              </a:rPr>
              <a:t>i</a:t>
            </a:r>
            <a:r>
              <a:rPr sz="2700" spc="-10" dirty="0">
                <a:latin typeface="Calibri"/>
                <a:cs typeface="Calibri"/>
              </a:rPr>
              <a:t>d</a:t>
            </a:r>
            <a:r>
              <a:rPr sz="2700" spc="-2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h: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10" dirty="0">
                <a:latin typeface="Calibri"/>
                <a:cs typeface="Calibri"/>
              </a:rPr>
              <a:t>401</a:t>
            </a:r>
            <a:r>
              <a:rPr sz="2700" spc="-75" dirty="0">
                <a:latin typeface="Calibri"/>
                <a:cs typeface="Calibri"/>
              </a:rPr>
              <a:t>p</a:t>
            </a:r>
            <a:r>
              <a:rPr sz="2700" spc="-10" dirty="0">
                <a:latin typeface="Calibri"/>
                <a:cs typeface="Calibri"/>
              </a:rPr>
              <a:t>x</a:t>
            </a:r>
            <a:r>
              <a:rPr sz="2700" spc="-5" dirty="0">
                <a:latin typeface="Calibri"/>
                <a:cs typeface="Calibri"/>
              </a:rPr>
              <a:t>)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0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n</a:t>
            </a:r>
            <a:r>
              <a:rPr sz="2700" spc="-5" dirty="0">
                <a:latin typeface="Calibri"/>
                <a:cs typeface="Calibri"/>
              </a:rPr>
              <a:t>d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(</a:t>
            </a:r>
            <a:r>
              <a:rPr sz="2700" spc="-5" dirty="0">
                <a:latin typeface="Calibri"/>
                <a:cs typeface="Calibri"/>
              </a:rPr>
              <a:t>m</a:t>
            </a:r>
            <a:r>
              <a:rPr sz="2700" spc="-55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x-  </a:t>
            </a:r>
            <a:r>
              <a:rPr sz="2700" spc="-15" dirty="0">
                <a:latin typeface="Calibri"/>
                <a:cs typeface="Calibri"/>
              </a:rPr>
              <a:t>width: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600px)"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5576" y="924610"/>
            <a:ext cx="7600315" cy="637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Come</a:t>
            </a:r>
            <a:r>
              <a:rPr sz="4000" spc="-40" dirty="0"/>
              <a:t> </a:t>
            </a:r>
            <a:r>
              <a:rPr sz="4000" spc="5" dirty="0"/>
              <a:t>e</a:t>
            </a:r>
            <a:r>
              <a:rPr sz="4000" dirty="0"/>
              <a:t> </a:t>
            </a:r>
            <a:r>
              <a:rPr sz="4000" spc="-5" dirty="0"/>
              <a:t>dove</a:t>
            </a:r>
            <a:r>
              <a:rPr sz="4000" spc="-35" dirty="0"/>
              <a:t> </a:t>
            </a:r>
            <a:r>
              <a:rPr sz="4000" spc="-15" dirty="0"/>
              <a:t>dichiarare</a:t>
            </a:r>
            <a:r>
              <a:rPr sz="4000" spc="-65" dirty="0"/>
              <a:t> </a:t>
            </a:r>
            <a:r>
              <a:rPr sz="4000" dirty="0"/>
              <a:t>media</a:t>
            </a:r>
            <a:r>
              <a:rPr sz="4000" spc="-10" dirty="0"/>
              <a:t> </a:t>
            </a:r>
            <a:r>
              <a:rPr sz="4000" spc="-5" dirty="0"/>
              <a:t>query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09600" y="1747620"/>
            <a:ext cx="8070215" cy="4412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35"/>
              </a:spcBef>
            </a:pPr>
            <a:r>
              <a:rPr sz="1950" spc="10" dirty="0">
                <a:latin typeface="Calibri"/>
                <a:cs typeface="Calibri"/>
              </a:rPr>
              <a:t>Ci</a:t>
            </a:r>
            <a:r>
              <a:rPr sz="1950" spc="13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sono</a:t>
            </a:r>
            <a:r>
              <a:rPr sz="1950" spc="14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tre</a:t>
            </a:r>
            <a:r>
              <a:rPr sz="1950" spc="13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modi</a:t>
            </a:r>
            <a:r>
              <a:rPr sz="1950" spc="17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per</a:t>
            </a:r>
            <a:r>
              <a:rPr sz="1950" spc="18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dichiarare</a:t>
            </a:r>
            <a:r>
              <a:rPr sz="1950" spc="15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una</a:t>
            </a:r>
            <a:r>
              <a:rPr sz="1950" spc="140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media</a:t>
            </a:r>
            <a:r>
              <a:rPr sz="1950" spc="18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query.</a:t>
            </a:r>
            <a:r>
              <a:rPr sz="1950" spc="155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Abbiamo</a:t>
            </a:r>
            <a:r>
              <a:rPr sz="1950" spc="15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già</a:t>
            </a:r>
            <a:r>
              <a:rPr sz="1950" spc="17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visto</a:t>
            </a:r>
            <a:r>
              <a:rPr sz="1950" spc="15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il</a:t>
            </a:r>
            <a:r>
              <a:rPr sz="1950" spc="135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primo.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1950" spc="15" dirty="0">
                <a:latin typeface="Calibri"/>
                <a:cs typeface="Calibri"/>
              </a:rPr>
              <a:t>Si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definisce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la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query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nel</a:t>
            </a:r>
            <a:r>
              <a:rPr sz="1950" spc="7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contesto</a:t>
            </a:r>
            <a:r>
              <a:rPr sz="1950" spc="8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dell’attributo</a:t>
            </a:r>
            <a:r>
              <a:rPr sz="1950" spc="16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media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dell’elemento</a:t>
            </a:r>
            <a:r>
              <a:rPr sz="1950" spc="16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link:</a:t>
            </a:r>
            <a:endParaRPr sz="1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Calibri"/>
              <a:cs typeface="Calibri"/>
            </a:endParaRPr>
          </a:p>
          <a:p>
            <a:pPr marL="336550">
              <a:lnSpc>
                <a:spcPct val="100000"/>
              </a:lnSpc>
              <a:spcBef>
                <a:spcPts val="5"/>
              </a:spcBef>
            </a:pPr>
            <a:r>
              <a:rPr sz="1950" b="1" spc="15" dirty="0">
                <a:latin typeface="Calibri"/>
                <a:cs typeface="Calibri"/>
              </a:rPr>
              <a:t>&lt;link</a:t>
            </a:r>
            <a:r>
              <a:rPr sz="1950" b="1" spc="30" dirty="0">
                <a:latin typeface="Calibri"/>
                <a:cs typeface="Calibri"/>
              </a:rPr>
              <a:t> </a:t>
            </a:r>
            <a:r>
              <a:rPr sz="1950" b="1" spc="5" dirty="0">
                <a:latin typeface="Calibri"/>
                <a:cs typeface="Calibri"/>
              </a:rPr>
              <a:t>rel="stylesheet"</a:t>
            </a:r>
            <a:r>
              <a:rPr sz="1950" b="1" spc="150" dirty="0">
                <a:latin typeface="Calibri"/>
                <a:cs typeface="Calibri"/>
              </a:rPr>
              <a:t> </a:t>
            </a:r>
            <a:r>
              <a:rPr sz="1950" b="1" spc="10" dirty="0">
                <a:latin typeface="Calibri"/>
                <a:cs typeface="Calibri"/>
              </a:rPr>
              <a:t>media="screen</a:t>
            </a:r>
            <a:r>
              <a:rPr sz="1950" b="1" spc="130" dirty="0">
                <a:latin typeface="Calibri"/>
                <a:cs typeface="Calibri"/>
              </a:rPr>
              <a:t> </a:t>
            </a:r>
            <a:r>
              <a:rPr sz="1950" b="1" spc="20" dirty="0">
                <a:latin typeface="Calibri"/>
                <a:cs typeface="Calibri"/>
              </a:rPr>
              <a:t>and </a:t>
            </a:r>
            <a:r>
              <a:rPr sz="1950" b="1" spc="5" dirty="0">
                <a:latin typeface="Calibri"/>
                <a:cs typeface="Calibri"/>
              </a:rPr>
              <a:t>(color)"</a:t>
            </a:r>
            <a:r>
              <a:rPr sz="1950" b="1" spc="114" dirty="0">
                <a:latin typeface="Calibri"/>
                <a:cs typeface="Calibri"/>
              </a:rPr>
              <a:t> </a:t>
            </a:r>
            <a:r>
              <a:rPr sz="1950" b="1" spc="5" dirty="0">
                <a:latin typeface="Calibri"/>
                <a:cs typeface="Calibri"/>
              </a:rPr>
              <a:t>href="colore.css"</a:t>
            </a:r>
            <a:r>
              <a:rPr sz="1950" b="1" spc="185" dirty="0">
                <a:latin typeface="Calibri"/>
                <a:cs typeface="Calibri"/>
              </a:rPr>
              <a:t> </a:t>
            </a:r>
            <a:r>
              <a:rPr sz="1950" b="1" spc="15" dirty="0">
                <a:latin typeface="Calibri"/>
                <a:cs typeface="Calibri"/>
              </a:rPr>
              <a:t>/&gt;</a:t>
            </a:r>
            <a:endParaRPr sz="1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1950" spc="10" dirty="0">
                <a:latin typeface="Calibri"/>
                <a:cs typeface="Calibri"/>
              </a:rPr>
              <a:t>All’interno </a:t>
            </a:r>
            <a:r>
              <a:rPr sz="1950" spc="9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</a:t>
            </a:r>
            <a:r>
              <a:rPr sz="1950" spc="530" dirty="0">
                <a:latin typeface="Calibri"/>
                <a:cs typeface="Calibri"/>
              </a:rPr>
              <a:t> </a:t>
            </a:r>
            <a:r>
              <a:rPr sz="1950" spc="25" dirty="0">
                <a:latin typeface="Calibri"/>
                <a:cs typeface="Calibri"/>
              </a:rPr>
              <a:t>un 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foglio </a:t>
            </a:r>
            <a:r>
              <a:rPr sz="1950" spc="9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</a:t>
            </a:r>
            <a:r>
              <a:rPr sz="1950" spc="52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stile, </a:t>
            </a:r>
            <a:r>
              <a:rPr sz="1950" spc="7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poi, 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si </a:t>
            </a:r>
            <a:r>
              <a:rPr sz="1950" spc="7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può </a:t>
            </a:r>
            <a:r>
              <a:rPr sz="1950" spc="8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impostare </a:t>
            </a:r>
            <a:r>
              <a:rPr sz="1950" spc="8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una </a:t>
            </a:r>
            <a:r>
              <a:rPr sz="1950" spc="70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query 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facendo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1950" spc="15" dirty="0">
                <a:latin typeface="Calibri"/>
                <a:cs typeface="Calibri"/>
              </a:rPr>
              <a:t>ricorso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alla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direttiva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@media:</a:t>
            </a:r>
            <a:endParaRPr sz="1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50" b="1" spc="20" dirty="0">
                <a:latin typeface="Calibri"/>
                <a:cs typeface="Calibri"/>
              </a:rPr>
              <a:t>@media</a:t>
            </a:r>
            <a:r>
              <a:rPr sz="1950" b="1" spc="65" dirty="0">
                <a:latin typeface="Calibri"/>
                <a:cs typeface="Calibri"/>
              </a:rPr>
              <a:t> </a:t>
            </a:r>
            <a:r>
              <a:rPr sz="1950" b="1" dirty="0">
                <a:latin typeface="Calibri"/>
                <a:cs typeface="Calibri"/>
              </a:rPr>
              <a:t>screen</a:t>
            </a:r>
            <a:r>
              <a:rPr sz="1950" b="1" spc="75" dirty="0">
                <a:latin typeface="Calibri"/>
                <a:cs typeface="Calibri"/>
              </a:rPr>
              <a:t> </a:t>
            </a:r>
            <a:r>
              <a:rPr sz="1950" b="1" spc="20" dirty="0">
                <a:latin typeface="Calibri"/>
                <a:cs typeface="Calibri"/>
              </a:rPr>
              <a:t>and</a:t>
            </a:r>
            <a:r>
              <a:rPr sz="1950" b="1" spc="40" dirty="0">
                <a:latin typeface="Calibri"/>
                <a:cs typeface="Calibri"/>
              </a:rPr>
              <a:t> </a:t>
            </a:r>
            <a:r>
              <a:rPr sz="1950" b="1" spc="5" dirty="0">
                <a:latin typeface="Calibri"/>
                <a:cs typeface="Calibri"/>
              </a:rPr>
              <a:t>(color)</a:t>
            </a:r>
            <a:r>
              <a:rPr sz="1950" b="1" spc="30" dirty="0">
                <a:latin typeface="Calibri"/>
                <a:cs typeface="Calibri"/>
              </a:rPr>
              <a:t> </a:t>
            </a:r>
            <a:r>
              <a:rPr sz="1950" b="1" spc="10" dirty="0">
                <a:latin typeface="Calibri"/>
                <a:cs typeface="Calibri"/>
              </a:rPr>
              <a:t>{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950" b="1" spc="10" dirty="0">
                <a:latin typeface="Calibri"/>
                <a:cs typeface="Calibri"/>
              </a:rPr>
              <a:t>/* </a:t>
            </a:r>
            <a:r>
              <a:rPr sz="1950" b="1" spc="15" dirty="0">
                <a:latin typeface="Calibri"/>
                <a:cs typeface="Calibri"/>
              </a:rPr>
              <a:t>qui vanno</a:t>
            </a:r>
            <a:r>
              <a:rPr sz="1950" b="1" spc="45" dirty="0">
                <a:latin typeface="Calibri"/>
                <a:cs typeface="Calibri"/>
              </a:rPr>
              <a:t> </a:t>
            </a:r>
            <a:r>
              <a:rPr sz="1950" b="1" spc="15" dirty="0">
                <a:latin typeface="Calibri"/>
                <a:cs typeface="Calibri"/>
              </a:rPr>
              <a:t>le</a:t>
            </a:r>
            <a:r>
              <a:rPr sz="1950" b="1" dirty="0">
                <a:latin typeface="Calibri"/>
                <a:cs typeface="Calibri"/>
              </a:rPr>
              <a:t> </a:t>
            </a:r>
            <a:r>
              <a:rPr sz="1950" b="1" spc="5" dirty="0">
                <a:latin typeface="Calibri"/>
                <a:cs typeface="Calibri"/>
              </a:rPr>
              <a:t>regole</a:t>
            </a:r>
            <a:r>
              <a:rPr sz="1950" b="1" spc="35" dirty="0">
                <a:latin typeface="Calibri"/>
                <a:cs typeface="Calibri"/>
              </a:rPr>
              <a:t> </a:t>
            </a:r>
            <a:r>
              <a:rPr sz="1950" b="1" spc="10" dirty="0">
                <a:latin typeface="Calibri"/>
                <a:cs typeface="Calibri"/>
              </a:rPr>
              <a:t>CSS</a:t>
            </a:r>
            <a:r>
              <a:rPr sz="1950" b="1" spc="30" dirty="0">
                <a:latin typeface="Calibri"/>
                <a:cs typeface="Calibri"/>
              </a:rPr>
              <a:t> </a:t>
            </a:r>
            <a:r>
              <a:rPr sz="1950" b="1" spc="15" dirty="0">
                <a:latin typeface="Calibri"/>
                <a:cs typeface="Calibri"/>
              </a:rPr>
              <a:t>*/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950" b="1" spc="10" dirty="0">
                <a:latin typeface="Calibri"/>
                <a:cs typeface="Calibri"/>
              </a:rPr>
              <a:t>}</a:t>
            </a:r>
            <a:endParaRPr sz="1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ts val="2145"/>
              </a:lnSpc>
            </a:pPr>
            <a:r>
              <a:rPr sz="1950" spc="10" dirty="0">
                <a:latin typeface="Calibri"/>
                <a:cs typeface="Calibri"/>
              </a:rPr>
              <a:t>Infine,</a:t>
            </a:r>
            <a:r>
              <a:rPr sz="1950" spc="16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si</a:t>
            </a:r>
            <a:r>
              <a:rPr sz="1950" spc="17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può</a:t>
            </a:r>
            <a:r>
              <a:rPr sz="1950" spc="18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importare</a:t>
            </a:r>
            <a:r>
              <a:rPr sz="1950" spc="180" dirty="0">
                <a:latin typeface="Calibri"/>
                <a:cs typeface="Calibri"/>
              </a:rPr>
              <a:t> </a:t>
            </a:r>
            <a:r>
              <a:rPr sz="1950" spc="25" dirty="0">
                <a:latin typeface="Calibri"/>
                <a:cs typeface="Calibri"/>
              </a:rPr>
              <a:t>un</a:t>
            </a:r>
            <a:r>
              <a:rPr sz="1950" spc="150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CSS</a:t>
            </a:r>
            <a:r>
              <a:rPr sz="1950" spc="17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specifico</a:t>
            </a:r>
            <a:r>
              <a:rPr sz="1950" spc="19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attraverso</a:t>
            </a:r>
            <a:r>
              <a:rPr sz="1950" spc="19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una</a:t>
            </a:r>
            <a:r>
              <a:rPr sz="1950" spc="170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media</a:t>
            </a:r>
            <a:r>
              <a:rPr sz="1950" spc="180" dirty="0">
                <a:latin typeface="Calibri"/>
                <a:cs typeface="Calibri"/>
              </a:rPr>
              <a:t> </a:t>
            </a:r>
            <a:r>
              <a:rPr sz="1950" spc="20" dirty="0">
                <a:latin typeface="Calibri"/>
                <a:cs typeface="Calibri"/>
              </a:rPr>
              <a:t>query</a:t>
            </a:r>
            <a:r>
              <a:rPr sz="1950" spc="18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usando</a:t>
            </a:r>
            <a:endParaRPr sz="1950" dirty="0">
              <a:latin typeface="Calibri"/>
              <a:cs typeface="Calibri"/>
            </a:endParaRPr>
          </a:p>
          <a:p>
            <a:pPr marL="12700">
              <a:lnSpc>
                <a:spcPts val="2145"/>
              </a:lnSpc>
            </a:pPr>
            <a:r>
              <a:rPr sz="1950" spc="10" dirty="0">
                <a:latin typeface="Calibri"/>
                <a:cs typeface="Calibri"/>
              </a:rPr>
              <a:t>la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direttiva</a:t>
            </a:r>
            <a:r>
              <a:rPr sz="1950" spc="7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@import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all’interno</a:t>
            </a:r>
            <a:r>
              <a:rPr sz="1950" spc="1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un altro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foglio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</a:t>
            </a:r>
            <a:r>
              <a:rPr sz="1950" spc="6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stile:</a:t>
            </a:r>
            <a:endParaRPr sz="19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50" b="1" spc="15" dirty="0">
                <a:latin typeface="Calibri"/>
                <a:cs typeface="Calibri"/>
              </a:rPr>
              <a:t>@import</a:t>
            </a:r>
            <a:r>
              <a:rPr sz="1950" b="1" spc="45" dirty="0">
                <a:latin typeface="Calibri"/>
                <a:cs typeface="Calibri"/>
              </a:rPr>
              <a:t> </a:t>
            </a:r>
            <a:r>
              <a:rPr sz="1950" b="1" spc="5" dirty="0">
                <a:latin typeface="Calibri"/>
                <a:cs typeface="Calibri"/>
              </a:rPr>
              <a:t>url(colore.css)</a:t>
            </a:r>
            <a:r>
              <a:rPr sz="1950" b="1" spc="180" dirty="0">
                <a:latin typeface="Calibri"/>
                <a:cs typeface="Calibri"/>
              </a:rPr>
              <a:t> </a:t>
            </a:r>
            <a:r>
              <a:rPr sz="1950" b="1" dirty="0">
                <a:latin typeface="Calibri"/>
                <a:cs typeface="Calibri"/>
              </a:rPr>
              <a:t>screen</a:t>
            </a:r>
            <a:r>
              <a:rPr sz="1950" b="1" spc="85" dirty="0">
                <a:latin typeface="Calibri"/>
                <a:cs typeface="Calibri"/>
              </a:rPr>
              <a:t> </a:t>
            </a:r>
            <a:r>
              <a:rPr sz="1950" b="1" spc="20" dirty="0">
                <a:latin typeface="Calibri"/>
                <a:cs typeface="Calibri"/>
              </a:rPr>
              <a:t>and</a:t>
            </a:r>
            <a:r>
              <a:rPr sz="1950" b="1" spc="45" dirty="0">
                <a:latin typeface="Calibri"/>
                <a:cs typeface="Calibri"/>
              </a:rPr>
              <a:t> </a:t>
            </a:r>
            <a:r>
              <a:rPr sz="1950" b="1" spc="5" dirty="0">
                <a:latin typeface="Calibri"/>
                <a:cs typeface="Calibri"/>
              </a:rPr>
              <a:t>(color);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5577" y="889965"/>
            <a:ext cx="42157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Meta</a:t>
            </a:r>
            <a:r>
              <a:rPr spc="-15" dirty="0"/>
              <a:t> </a:t>
            </a:r>
            <a:r>
              <a:rPr spc="-20" dirty="0"/>
              <a:t>tag</a:t>
            </a:r>
            <a:r>
              <a:rPr spc="-25" dirty="0"/>
              <a:t> </a:t>
            </a:r>
            <a:r>
              <a:rPr spc="-10" dirty="0"/>
              <a:t>viewport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823326"/>
            <a:ext cx="8080375" cy="420433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 algn="just">
              <a:lnSpc>
                <a:spcPct val="80200"/>
              </a:lnSpc>
              <a:spcBef>
                <a:spcPts val="830"/>
              </a:spcBef>
            </a:pPr>
            <a:r>
              <a:rPr sz="3000" dirty="0">
                <a:latin typeface="Calibri"/>
                <a:cs typeface="Calibri"/>
              </a:rPr>
              <a:t>Quando </a:t>
            </a:r>
            <a:r>
              <a:rPr sz="3000" spc="-10" dirty="0">
                <a:latin typeface="Calibri"/>
                <a:cs typeface="Calibri"/>
              </a:rPr>
              <a:t>realizziamo </a:t>
            </a:r>
            <a:r>
              <a:rPr sz="3000" spc="-5" dirty="0">
                <a:latin typeface="Calibri"/>
                <a:cs typeface="Calibri"/>
              </a:rPr>
              <a:t>un </a:t>
            </a:r>
            <a:r>
              <a:rPr sz="3000" spc="-10" dirty="0">
                <a:latin typeface="Calibri"/>
                <a:cs typeface="Calibri"/>
              </a:rPr>
              <a:t>sito </a:t>
            </a:r>
            <a:r>
              <a:rPr sz="3000" spc="-5" dirty="0">
                <a:latin typeface="Calibri"/>
                <a:cs typeface="Calibri"/>
              </a:rPr>
              <a:t>che </a:t>
            </a:r>
            <a:r>
              <a:rPr sz="3000" spc="-10" dirty="0">
                <a:latin typeface="Calibri"/>
                <a:cs typeface="Calibri"/>
              </a:rPr>
              <a:t>vogliamo </a:t>
            </a:r>
            <a:r>
              <a:rPr sz="3000" dirty="0">
                <a:latin typeface="Calibri"/>
                <a:cs typeface="Calibri"/>
              </a:rPr>
              <a:t>si </a:t>
            </a:r>
            <a:r>
              <a:rPr sz="3000" spc="-15" dirty="0">
                <a:latin typeface="Calibri"/>
                <a:cs typeface="Calibri"/>
              </a:rPr>
              <a:t>adatti </a:t>
            </a:r>
            <a:r>
              <a:rPr sz="3000" spc="-25" dirty="0">
                <a:latin typeface="Calibri"/>
                <a:cs typeface="Calibri"/>
              </a:rPr>
              <a:t>ai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browser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dei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dispositivi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mobili,</a:t>
            </a:r>
            <a:r>
              <a:rPr sz="3000" dirty="0">
                <a:latin typeface="Calibri"/>
                <a:cs typeface="Calibri"/>
              </a:rPr>
              <a:t> dobbiamo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sempre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inserire nella </a:t>
            </a:r>
            <a:r>
              <a:rPr sz="3000" dirty="0">
                <a:latin typeface="Calibri"/>
                <a:cs typeface="Calibri"/>
              </a:rPr>
              <a:t>head della </a:t>
            </a:r>
            <a:r>
              <a:rPr sz="3000" spc="-20" dirty="0">
                <a:latin typeface="Calibri"/>
                <a:cs typeface="Calibri"/>
              </a:rPr>
              <a:t>nostra </a:t>
            </a:r>
            <a:r>
              <a:rPr sz="3000" dirty="0">
                <a:latin typeface="Calibri"/>
                <a:cs typeface="Calibri"/>
              </a:rPr>
              <a:t>pagina </a:t>
            </a:r>
            <a:r>
              <a:rPr sz="3000" spc="-10" dirty="0">
                <a:latin typeface="Calibri"/>
                <a:cs typeface="Calibri"/>
              </a:rPr>
              <a:t>il </a:t>
            </a:r>
            <a:r>
              <a:rPr sz="3000" spc="-20" dirty="0">
                <a:latin typeface="Calibri"/>
                <a:cs typeface="Calibri"/>
              </a:rPr>
              <a:t>meta </a:t>
            </a:r>
            <a:r>
              <a:rPr sz="3000" spc="-25" dirty="0">
                <a:latin typeface="Calibri"/>
                <a:cs typeface="Calibri"/>
              </a:rPr>
              <a:t>tag 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viewport.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Calibri"/>
              <a:cs typeface="Calibri"/>
            </a:endParaRPr>
          </a:p>
          <a:p>
            <a:pPr marL="12700" marR="5080" algn="just">
              <a:lnSpc>
                <a:spcPct val="79900"/>
              </a:lnSpc>
              <a:spcBef>
                <a:spcPts val="5"/>
              </a:spcBef>
            </a:pPr>
            <a:r>
              <a:rPr sz="3000" dirty="0">
                <a:latin typeface="Calibri"/>
                <a:cs typeface="Calibri"/>
              </a:rPr>
              <a:t>Con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questo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meta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tag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siamo</a:t>
            </a:r>
            <a:r>
              <a:rPr sz="3000" spc="-5" dirty="0">
                <a:latin typeface="Calibri"/>
                <a:cs typeface="Calibri"/>
              </a:rPr>
              <a:t> noi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suggerire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al 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browser </a:t>
            </a:r>
            <a:r>
              <a:rPr sz="3000" spc="10" dirty="0">
                <a:latin typeface="Calibri"/>
                <a:cs typeface="Calibri"/>
              </a:rPr>
              <a:t>il </a:t>
            </a:r>
            <a:r>
              <a:rPr sz="3000" dirty="0">
                <a:latin typeface="Calibri"/>
                <a:cs typeface="Calibri"/>
              </a:rPr>
              <a:t>modo </a:t>
            </a:r>
            <a:r>
              <a:rPr sz="3000" spc="10" dirty="0">
                <a:latin typeface="Calibri"/>
                <a:cs typeface="Calibri"/>
              </a:rPr>
              <a:t>in </a:t>
            </a:r>
            <a:r>
              <a:rPr sz="3000" spc="-20" dirty="0">
                <a:latin typeface="Calibri"/>
                <a:cs typeface="Calibri"/>
              </a:rPr>
              <a:t>cui </a:t>
            </a:r>
            <a:r>
              <a:rPr sz="3000" spc="-15" dirty="0">
                <a:latin typeface="Calibri"/>
                <a:cs typeface="Calibri"/>
              </a:rPr>
              <a:t>dovrà gestire </a:t>
            </a: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5" dirty="0">
                <a:latin typeface="Calibri"/>
                <a:cs typeface="Calibri"/>
              </a:rPr>
              <a:t>viewport. </a:t>
            </a:r>
            <a:r>
              <a:rPr sz="3000" spc="-20" dirty="0">
                <a:latin typeface="Calibri"/>
                <a:cs typeface="Calibri"/>
              </a:rPr>
              <a:t>Il </a:t>
            </a:r>
            <a:r>
              <a:rPr sz="3000" spc="-15" dirty="0">
                <a:latin typeface="Calibri"/>
                <a:cs typeface="Calibri"/>
              </a:rPr>
              <a:t> controllo </a:t>
            </a:r>
            <a:r>
              <a:rPr sz="3000" spc="-5" dirty="0">
                <a:latin typeface="Calibri"/>
                <a:cs typeface="Calibri"/>
              </a:rPr>
              <a:t>passa </a:t>
            </a:r>
            <a:r>
              <a:rPr sz="3000" dirty="0">
                <a:latin typeface="Calibri"/>
                <a:cs typeface="Calibri"/>
              </a:rPr>
              <a:t>nelle </a:t>
            </a:r>
            <a:r>
              <a:rPr sz="3000" spc="-10" dirty="0">
                <a:latin typeface="Calibri"/>
                <a:cs typeface="Calibri"/>
              </a:rPr>
              <a:t>nostre </a:t>
            </a:r>
            <a:r>
              <a:rPr sz="3000" dirty="0">
                <a:latin typeface="Calibri"/>
                <a:cs typeface="Calibri"/>
              </a:rPr>
              <a:t>mani </a:t>
            </a:r>
            <a:r>
              <a:rPr sz="3000" spc="-15" dirty="0">
                <a:latin typeface="Calibri"/>
                <a:cs typeface="Calibri"/>
              </a:rPr>
              <a:t>invece </a:t>
            </a:r>
            <a:r>
              <a:rPr sz="3000" spc="-5" dirty="0">
                <a:latin typeface="Calibri"/>
                <a:cs typeface="Calibri"/>
              </a:rPr>
              <a:t>che essere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affidato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ai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meccanismi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di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default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40" dirty="0">
                <a:latin typeface="Calibri"/>
                <a:cs typeface="Calibri"/>
              </a:rPr>
              <a:t>browser.</a:t>
            </a:r>
            <a:endParaRPr sz="30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2395"/>
              </a:spcBef>
            </a:pPr>
            <a:r>
              <a:rPr sz="3000" spc="-15" dirty="0">
                <a:latin typeface="Calibri"/>
                <a:cs typeface="Calibri"/>
              </a:rPr>
              <a:t>L’istruzione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minima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da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inserire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è</a:t>
            </a:r>
            <a:r>
              <a:rPr sz="3000" spc="-10" dirty="0">
                <a:latin typeface="Calibri"/>
                <a:cs typeface="Calibri"/>
              </a:rPr>
              <a:t> questa: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22413"/>
            <a:ext cx="1264920" cy="8509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080">
              <a:lnSpc>
                <a:spcPct val="79900"/>
              </a:lnSpc>
              <a:spcBef>
                <a:spcPts val="840"/>
              </a:spcBef>
            </a:pPr>
            <a:r>
              <a:rPr sz="3000" spc="-10" dirty="0">
                <a:latin typeface="Calibri"/>
                <a:cs typeface="Calibri"/>
              </a:rPr>
              <a:t>&lt;meta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w</a:t>
            </a:r>
            <a:r>
              <a:rPr sz="3000" spc="20" dirty="0">
                <a:latin typeface="Calibri"/>
                <a:cs typeface="Calibri"/>
              </a:rPr>
              <a:t>i</a:t>
            </a:r>
            <a:r>
              <a:rPr sz="3000" spc="10" dirty="0">
                <a:latin typeface="Calibri"/>
                <a:cs typeface="Calibri"/>
              </a:rPr>
              <a:t>d</a:t>
            </a:r>
            <a:r>
              <a:rPr sz="3000" spc="-15" dirty="0">
                <a:latin typeface="Calibri"/>
                <a:cs typeface="Calibri"/>
              </a:rPr>
              <a:t>t</a:t>
            </a:r>
            <a:r>
              <a:rPr sz="3000" spc="10" dirty="0">
                <a:latin typeface="Calibri"/>
                <a:cs typeface="Calibri"/>
              </a:rPr>
              <a:t>h</a:t>
            </a:r>
            <a:r>
              <a:rPr sz="3000" spc="5" dirty="0">
                <a:latin typeface="Calibri"/>
                <a:cs typeface="Calibri"/>
              </a:rPr>
              <a:t>"&gt;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6100" y="1122413"/>
            <a:ext cx="2781300" cy="485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spc="-5" dirty="0">
                <a:latin typeface="Calibri"/>
                <a:cs typeface="Calibri"/>
              </a:rPr>
              <a:t>name="viewport"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67147" y="1122413"/>
            <a:ext cx="3747770" cy="485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spc="-15" dirty="0"/>
              <a:t>content="width=device-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536244" y="2402865"/>
            <a:ext cx="8076565" cy="323024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marR="5080" algn="just">
              <a:lnSpc>
                <a:spcPct val="80200"/>
              </a:lnSpc>
              <a:spcBef>
                <a:spcPts val="825"/>
              </a:spcBef>
            </a:pPr>
            <a:r>
              <a:rPr sz="3000" dirty="0">
                <a:latin typeface="Calibri"/>
                <a:cs typeface="Calibri"/>
              </a:rPr>
              <a:t>Con </a:t>
            </a:r>
            <a:r>
              <a:rPr sz="3000" spc="-20" dirty="0">
                <a:latin typeface="Calibri"/>
                <a:cs typeface="Calibri"/>
              </a:rPr>
              <a:t>questa </a:t>
            </a:r>
            <a:r>
              <a:rPr sz="3000" spc="-10" dirty="0">
                <a:latin typeface="Calibri"/>
                <a:cs typeface="Calibri"/>
              </a:rPr>
              <a:t>istruzione, </a:t>
            </a:r>
            <a:r>
              <a:rPr sz="3000" dirty="0">
                <a:latin typeface="Calibri"/>
                <a:cs typeface="Calibri"/>
              </a:rPr>
              <a:t>su </a:t>
            </a:r>
            <a:r>
              <a:rPr sz="3000" spc="-5" dirty="0">
                <a:latin typeface="Calibri"/>
                <a:cs typeface="Calibri"/>
              </a:rPr>
              <a:t>un </a:t>
            </a:r>
            <a:r>
              <a:rPr sz="3000" dirty="0">
                <a:latin typeface="Calibri"/>
                <a:cs typeface="Calibri"/>
              </a:rPr>
              <a:t>iPhone </a:t>
            </a:r>
            <a:r>
              <a:rPr sz="3000" spc="-15" dirty="0">
                <a:latin typeface="Calibri"/>
                <a:cs typeface="Calibri"/>
              </a:rPr>
              <a:t>con </a:t>
            </a:r>
            <a:r>
              <a:rPr sz="3000" spc="10" dirty="0">
                <a:latin typeface="Calibri"/>
                <a:cs typeface="Calibri"/>
              </a:rPr>
              <a:t>la </a:t>
            </a:r>
            <a:r>
              <a:rPr sz="3000" spc="-20" dirty="0">
                <a:latin typeface="Calibri"/>
                <a:cs typeface="Calibri"/>
              </a:rPr>
              <a:t>larghezza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della viewport </a:t>
            </a:r>
            <a:r>
              <a:rPr sz="3000" spc="-20" dirty="0">
                <a:latin typeface="Calibri"/>
                <a:cs typeface="Calibri"/>
              </a:rPr>
              <a:t>sarà </a:t>
            </a:r>
            <a:r>
              <a:rPr sz="3000" spc="-10" dirty="0">
                <a:latin typeface="Calibri"/>
                <a:cs typeface="Calibri"/>
              </a:rPr>
              <a:t>pari </a:t>
            </a:r>
            <a:r>
              <a:rPr sz="3000" spc="5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320px; </a:t>
            </a:r>
            <a:r>
              <a:rPr sz="3000" spc="-20" dirty="0">
                <a:latin typeface="Calibri"/>
                <a:cs typeface="Calibri"/>
              </a:rPr>
              <a:t>sarà </a:t>
            </a:r>
            <a:r>
              <a:rPr sz="3000" spc="-1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1024px </a:t>
            </a:r>
            <a:r>
              <a:rPr sz="3000" spc="-5" dirty="0">
                <a:latin typeface="Calibri"/>
                <a:cs typeface="Calibri"/>
              </a:rPr>
              <a:t>su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10" dirty="0">
                <a:latin typeface="Calibri"/>
                <a:cs typeface="Calibri"/>
              </a:rPr>
              <a:t>un </a:t>
            </a:r>
            <a:r>
              <a:rPr sz="3000" spc="-20" dirty="0">
                <a:latin typeface="Calibri"/>
                <a:cs typeface="Calibri"/>
              </a:rPr>
              <a:t>iPad, </a:t>
            </a:r>
            <a:r>
              <a:rPr sz="3000" spc="5" dirty="0">
                <a:latin typeface="Calibri"/>
                <a:cs typeface="Calibri"/>
              </a:rPr>
              <a:t>e </a:t>
            </a:r>
            <a:r>
              <a:rPr sz="3000" spc="-10" dirty="0">
                <a:latin typeface="Calibri"/>
                <a:cs typeface="Calibri"/>
              </a:rPr>
              <a:t>così </a:t>
            </a:r>
            <a:r>
              <a:rPr sz="3000" spc="5" dirty="0">
                <a:latin typeface="Calibri"/>
                <a:cs typeface="Calibri"/>
              </a:rPr>
              <a:t>via. </a:t>
            </a:r>
            <a:r>
              <a:rPr sz="3000" spc="-5" dirty="0">
                <a:latin typeface="Calibri"/>
                <a:cs typeface="Calibri"/>
              </a:rPr>
              <a:t>Saremo </a:t>
            </a:r>
            <a:r>
              <a:rPr sz="3000" spc="5" dirty="0">
                <a:latin typeface="Calibri"/>
                <a:cs typeface="Calibri"/>
              </a:rPr>
              <a:t>poi </a:t>
            </a:r>
            <a:r>
              <a:rPr sz="3000" spc="-5" dirty="0">
                <a:latin typeface="Calibri"/>
                <a:cs typeface="Calibri"/>
              </a:rPr>
              <a:t>noi </a:t>
            </a:r>
            <a:r>
              <a:rPr sz="3000" spc="10" dirty="0">
                <a:latin typeface="Calibri"/>
                <a:cs typeface="Calibri"/>
              </a:rPr>
              <a:t>ad </a:t>
            </a:r>
            <a:r>
              <a:rPr sz="3000" spc="-25" dirty="0">
                <a:latin typeface="Calibri"/>
                <a:cs typeface="Calibri"/>
              </a:rPr>
              <a:t>adattare </a:t>
            </a:r>
            <a:r>
              <a:rPr sz="3000" spc="-20" dirty="0">
                <a:latin typeface="Calibri"/>
                <a:cs typeface="Calibri"/>
              </a:rPr>
              <a:t>il </a:t>
            </a:r>
            <a:r>
              <a:rPr sz="3000" spc="-15" dirty="0">
                <a:latin typeface="Calibri"/>
                <a:cs typeface="Calibri"/>
              </a:rPr>
              <a:t> layout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queste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5" dirty="0">
                <a:latin typeface="Calibri"/>
                <a:cs typeface="Calibri"/>
              </a:rPr>
              <a:t>dimensioni!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00">
              <a:latin typeface="Calibri"/>
              <a:cs typeface="Calibri"/>
            </a:endParaRPr>
          </a:p>
          <a:p>
            <a:pPr marL="12700" marR="5080" algn="just">
              <a:lnSpc>
                <a:spcPct val="79900"/>
              </a:lnSpc>
            </a:pPr>
            <a:r>
              <a:rPr sz="3000" spc="10" dirty="0">
                <a:latin typeface="Calibri"/>
                <a:cs typeface="Calibri"/>
              </a:rPr>
              <a:t>Ma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cosa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succede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</a:t>
            </a:r>
            <a:r>
              <a:rPr sz="3000" spc="-5" dirty="0">
                <a:latin typeface="Calibri"/>
                <a:cs typeface="Calibri"/>
              </a:rPr>
              <a:t> un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sito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</a:t>
            </a:r>
            <a:r>
              <a:rPr sz="3000" spc="-5" dirty="0">
                <a:latin typeface="Calibri"/>
                <a:cs typeface="Calibri"/>
              </a:rPr>
              <a:t> un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layout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non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adattato </a:t>
            </a:r>
            <a:r>
              <a:rPr sz="3000" spc="5" dirty="0">
                <a:latin typeface="Calibri"/>
                <a:cs typeface="Calibri"/>
              </a:rPr>
              <a:t>per </a:t>
            </a:r>
            <a:r>
              <a:rPr sz="3000" spc="10" dirty="0">
                <a:latin typeface="Calibri"/>
                <a:cs typeface="Calibri"/>
              </a:rPr>
              <a:t>il </a:t>
            </a:r>
            <a:r>
              <a:rPr sz="3000" spc="-5" dirty="0">
                <a:latin typeface="Calibri"/>
                <a:cs typeface="Calibri"/>
              </a:rPr>
              <a:t>mobile </a:t>
            </a:r>
            <a:r>
              <a:rPr sz="3000" dirty="0">
                <a:latin typeface="Calibri"/>
                <a:cs typeface="Calibri"/>
              </a:rPr>
              <a:t>se si </a:t>
            </a:r>
            <a:r>
              <a:rPr sz="3000" spc="-15" dirty="0">
                <a:latin typeface="Calibri"/>
                <a:cs typeface="Calibri"/>
              </a:rPr>
              <a:t>adopera </a:t>
            </a:r>
            <a:r>
              <a:rPr sz="3000" dirty="0">
                <a:latin typeface="Calibri"/>
                <a:cs typeface="Calibri"/>
              </a:rPr>
              <a:t>quella </a:t>
            </a:r>
            <a:r>
              <a:rPr sz="3000" spc="-10" dirty="0">
                <a:latin typeface="Calibri"/>
                <a:cs typeface="Calibri"/>
              </a:rPr>
              <a:t>riga </a:t>
            </a:r>
            <a:r>
              <a:rPr sz="3000" spc="-20" dirty="0">
                <a:latin typeface="Calibri"/>
                <a:cs typeface="Calibri"/>
              </a:rPr>
              <a:t>di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codice?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Questo: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6876" y="887412"/>
            <a:ext cx="4153027" cy="58242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136027"/>
            <a:ext cx="8074659" cy="47771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715" algn="just">
              <a:lnSpc>
                <a:spcPct val="80000"/>
              </a:lnSpc>
              <a:spcBef>
                <a:spcPts val="745"/>
              </a:spcBef>
            </a:pPr>
            <a:r>
              <a:rPr sz="2700" spc="-5" dirty="0">
                <a:latin typeface="Calibri"/>
                <a:cs typeface="Calibri"/>
              </a:rPr>
              <a:t>Dal </a:t>
            </a:r>
            <a:r>
              <a:rPr sz="2700" spc="-10" dirty="0">
                <a:latin typeface="Calibri"/>
                <a:cs typeface="Calibri"/>
              </a:rPr>
              <a:t>momento </a:t>
            </a:r>
            <a:r>
              <a:rPr sz="2700" spc="-5" dirty="0">
                <a:latin typeface="Calibri"/>
                <a:cs typeface="Calibri"/>
              </a:rPr>
              <a:t>che </a:t>
            </a:r>
            <a:r>
              <a:rPr sz="2700" spc="-15" dirty="0">
                <a:latin typeface="Calibri"/>
                <a:cs typeface="Calibri"/>
              </a:rPr>
              <a:t>ora </a:t>
            </a:r>
            <a:r>
              <a:rPr sz="2700" spc="-45" dirty="0">
                <a:latin typeface="Calibri"/>
                <a:cs typeface="Calibri"/>
              </a:rPr>
              <a:t>l’area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10" dirty="0">
                <a:latin typeface="Calibri"/>
                <a:cs typeface="Calibri"/>
              </a:rPr>
              <a:t>visualizzazione </a:t>
            </a:r>
            <a:r>
              <a:rPr sz="2700" spc="-5" dirty="0">
                <a:latin typeface="Calibri"/>
                <a:cs typeface="Calibri"/>
              </a:rPr>
              <a:t>è di </a:t>
            </a:r>
            <a:r>
              <a:rPr sz="2700" spc="-10" dirty="0">
                <a:latin typeface="Calibri"/>
                <a:cs typeface="Calibri"/>
              </a:rPr>
              <a:t>320px </a:t>
            </a:r>
            <a:r>
              <a:rPr sz="2700" spc="-5" dirty="0">
                <a:latin typeface="Calibri"/>
                <a:cs typeface="Calibri"/>
              </a:rPr>
              <a:t>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non </a:t>
            </a:r>
            <a:r>
              <a:rPr sz="2700" spc="-15" dirty="0">
                <a:latin typeface="Calibri"/>
                <a:cs typeface="Calibri"/>
              </a:rPr>
              <a:t>980px come </a:t>
            </a:r>
            <a:r>
              <a:rPr sz="2700" spc="-5" dirty="0">
                <a:latin typeface="Calibri"/>
                <a:cs typeface="Calibri"/>
              </a:rPr>
              <a:t>di </a:t>
            </a:r>
            <a:r>
              <a:rPr sz="2700" spc="-20" dirty="0">
                <a:latin typeface="Calibri"/>
                <a:cs typeface="Calibri"/>
              </a:rPr>
              <a:t>default </a:t>
            </a:r>
            <a:r>
              <a:rPr sz="2700" dirty="0">
                <a:latin typeface="Calibri"/>
                <a:cs typeface="Calibri"/>
              </a:rPr>
              <a:t>su </a:t>
            </a:r>
            <a:r>
              <a:rPr sz="2700" spc="-15" dirty="0">
                <a:latin typeface="Calibri"/>
                <a:cs typeface="Calibri"/>
              </a:rPr>
              <a:t>Safari </a:t>
            </a:r>
            <a:r>
              <a:rPr sz="2700" spc="-5" dirty="0">
                <a:latin typeface="Calibri"/>
                <a:cs typeface="Calibri"/>
              </a:rPr>
              <a:t>per </a:t>
            </a:r>
            <a:r>
              <a:rPr sz="2700" spc="-15" dirty="0">
                <a:latin typeface="Calibri"/>
                <a:cs typeface="Calibri"/>
              </a:rPr>
              <a:t>iOS, il </a:t>
            </a:r>
            <a:r>
              <a:rPr sz="2700" spc="-20" dirty="0">
                <a:latin typeface="Calibri"/>
                <a:cs typeface="Calibri"/>
              </a:rPr>
              <a:t>layout </a:t>
            </a:r>
            <a:r>
              <a:rPr sz="2700" spc="-10" dirty="0">
                <a:latin typeface="Calibri"/>
                <a:cs typeface="Calibri"/>
              </a:rPr>
              <a:t>non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viene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adattato,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non</a:t>
            </a:r>
            <a:r>
              <a:rPr sz="2700" spc="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avviene</a:t>
            </a:r>
            <a:r>
              <a:rPr sz="2700" spc="59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nessun </a:t>
            </a:r>
            <a:r>
              <a:rPr sz="2700" spc="-10" dirty="0">
                <a:latin typeface="Calibri"/>
                <a:cs typeface="Calibri"/>
              </a:rPr>
              <a:t>ridimensionamento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 </a:t>
            </a:r>
            <a:r>
              <a:rPr sz="2700" spc="-10" dirty="0">
                <a:latin typeface="Calibri"/>
                <a:cs typeface="Calibri"/>
              </a:rPr>
              <a:t>scala, visualizzeremo solo </a:t>
            </a:r>
            <a:r>
              <a:rPr sz="2700" spc="-5" dirty="0">
                <a:latin typeface="Calibri"/>
                <a:cs typeface="Calibri"/>
              </a:rPr>
              <a:t>una </a:t>
            </a:r>
            <a:r>
              <a:rPr sz="2700" spc="-15" dirty="0">
                <a:latin typeface="Calibri"/>
                <a:cs typeface="Calibri"/>
              </a:rPr>
              <a:t>parte </a:t>
            </a:r>
            <a:r>
              <a:rPr sz="2700" spc="-10" dirty="0">
                <a:latin typeface="Calibri"/>
                <a:cs typeface="Calibri"/>
              </a:rPr>
              <a:t>della </a:t>
            </a:r>
            <a:r>
              <a:rPr sz="2700" spc="-5" dirty="0">
                <a:latin typeface="Calibri"/>
                <a:cs typeface="Calibri"/>
              </a:rPr>
              <a:t>pagina </a:t>
            </a:r>
            <a:r>
              <a:rPr sz="2700" spc="-20" dirty="0">
                <a:latin typeface="Calibri"/>
                <a:cs typeface="Calibri"/>
              </a:rPr>
              <a:t>larga </a:t>
            </a:r>
            <a:r>
              <a:rPr sz="2700" spc="-15" dirty="0">
                <a:latin typeface="Calibri"/>
                <a:cs typeface="Calibri"/>
              </a:rPr>
              <a:t> 320px,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per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accedere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resto</a:t>
            </a:r>
            <a:r>
              <a:rPr sz="2700" spc="-10" dirty="0">
                <a:latin typeface="Calibri"/>
                <a:cs typeface="Calibri"/>
              </a:rPr>
              <a:t> dovremo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affidarci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allo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scrolling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orizzontale.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Calibri"/>
              <a:cs typeface="Calibri"/>
            </a:endParaRPr>
          </a:p>
          <a:p>
            <a:pPr marL="12700" marR="5080" algn="just">
              <a:lnSpc>
                <a:spcPct val="80100"/>
              </a:lnSpc>
              <a:spcBef>
                <a:spcPts val="5"/>
              </a:spcBef>
            </a:pP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Se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abbiamo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un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sito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che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non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adatta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nel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layout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FF0000"/>
                </a:solidFill>
                <a:latin typeface="Calibri"/>
                <a:cs typeface="Calibri"/>
              </a:rPr>
              <a:t>ai </a:t>
            </a:r>
            <a:r>
              <a:rPr sz="27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dispositivi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mobili,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non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usiamo il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meta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tag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viewport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e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lasciamo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che sia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il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browser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700" b="1" spc="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compiere</a:t>
            </a:r>
            <a:r>
              <a:rPr sz="2700" b="1" spc="5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25" dirty="0">
                <a:solidFill>
                  <a:srgbClr val="FF0000"/>
                </a:solidFill>
                <a:latin typeface="Calibri"/>
                <a:cs typeface="Calibri"/>
              </a:rPr>
              <a:t>l’adattamento </a:t>
            </a:r>
            <a:r>
              <a:rPr sz="2700" b="1" spc="-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nei modi che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abbiamo 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visto;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se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operiamo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in un </a:t>
            </a:r>
            <a:r>
              <a:rPr sz="2700" b="1" spc="-25" dirty="0">
                <a:solidFill>
                  <a:srgbClr val="FF0000"/>
                </a:solidFill>
                <a:latin typeface="Calibri"/>
                <a:cs typeface="Calibri"/>
              </a:rPr>
              <a:t>contesto 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responsive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cui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il 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sito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si 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adatta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automaticamente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nel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layout 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ai </a:t>
            </a:r>
            <a:r>
              <a:rPr sz="2700" b="1" spc="-5" dirty="0">
                <a:solidFill>
                  <a:srgbClr val="FF0000"/>
                </a:solidFill>
                <a:latin typeface="Calibri"/>
                <a:cs typeface="Calibri"/>
              </a:rPr>
              <a:t>dispositivi mobili, dobbiamo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usare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il 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meta tag 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nella</a:t>
            </a:r>
            <a:r>
              <a:rPr sz="27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configurazione</a:t>
            </a:r>
            <a:r>
              <a:rPr sz="27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25" dirty="0">
                <a:solidFill>
                  <a:srgbClr val="FF0000"/>
                </a:solidFill>
                <a:latin typeface="Calibri"/>
                <a:cs typeface="Calibri"/>
              </a:rPr>
              <a:t>vista</a:t>
            </a:r>
            <a:r>
              <a:rPr sz="270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qui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sopra.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7248" y="817956"/>
            <a:ext cx="54254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Esempio</a:t>
            </a:r>
            <a:r>
              <a:rPr spc="-50" dirty="0"/>
              <a:t> </a:t>
            </a:r>
            <a:r>
              <a:rPr dirty="0"/>
              <a:t>Media </a:t>
            </a:r>
            <a:r>
              <a:rPr spc="-10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96579"/>
            <a:ext cx="8069580" cy="41427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spc="15" dirty="0">
                <a:latin typeface="Calibri"/>
                <a:cs typeface="Calibri"/>
              </a:rPr>
              <a:t>&lt;html&gt;</a:t>
            </a:r>
            <a:endParaRPr sz="1450" dirty="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15"/>
              </a:spcBef>
            </a:pPr>
            <a:r>
              <a:rPr sz="1500" spc="-10" dirty="0">
                <a:latin typeface="Calibri"/>
                <a:cs typeface="Calibri"/>
              </a:rPr>
              <a:t>&lt;head&gt;</a:t>
            </a:r>
            <a:endParaRPr sz="1500" dirty="0">
              <a:latin typeface="Calibri"/>
              <a:cs typeface="Calibri"/>
            </a:endParaRPr>
          </a:p>
          <a:p>
            <a:pPr marL="440690">
              <a:lnSpc>
                <a:spcPct val="100000"/>
              </a:lnSpc>
              <a:spcBef>
                <a:spcPts val="65"/>
              </a:spcBef>
            </a:pPr>
            <a:r>
              <a:rPr sz="1450" spc="15" dirty="0">
                <a:latin typeface="Calibri"/>
                <a:cs typeface="Calibri"/>
              </a:rPr>
              <a:t>&lt;title&gt;MediaQuery&lt;/title&gt;</a:t>
            </a:r>
            <a:endParaRPr sz="1450" dirty="0">
              <a:latin typeface="Calibri"/>
              <a:cs typeface="Calibri"/>
            </a:endParaRPr>
          </a:p>
          <a:p>
            <a:pPr marL="440690">
              <a:lnSpc>
                <a:spcPct val="100000"/>
              </a:lnSpc>
              <a:spcBef>
                <a:spcPts val="15"/>
              </a:spcBef>
            </a:pPr>
            <a:r>
              <a:rPr sz="1500" spc="-15" dirty="0">
                <a:latin typeface="Calibri"/>
                <a:cs typeface="Calibri"/>
              </a:rPr>
              <a:t>&lt;meta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name="viewport"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content="width=device-width,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initial-scale=1.0"&gt;</a:t>
            </a:r>
            <a:endParaRPr sz="1500" dirty="0">
              <a:latin typeface="Calibri"/>
              <a:cs typeface="Calibri"/>
            </a:endParaRPr>
          </a:p>
          <a:p>
            <a:pPr marL="440690">
              <a:lnSpc>
                <a:spcPct val="100000"/>
              </a:lnSpc>
              <a:spcBef>
                <a:spcPts val="30"/>
              </a:spcBef>
            </a:pPr>
            <a:r>
              <a:rPr sz="1450" spc="10" dirty="0">
                <a:latin typeface="Calibri"/>
                <a:cs typeface="Calibri"/>
              </a:rPr>
              <a:t>&lt;style&gt;</a:t>
            </a:r>
            <a:endParaRPr sz="1450" dirty="0">
              <a:latin typeface="Calibri"/>
              <a:cs typeface="Calibri"/>
            </a:endParaRPr>
          </a:p>
          <a:p>
            <a:pPr marL="440690">
              <a:lnSpc>
                <a:spcPct val="100000"/>
              </a:lnSpc>
              <a:spcBef>
                <a:spcPts val="15"/>
              </a:spcBef>
            </a:pPr>
            <a:r>
              <a:rPr sz="1500" spc="-10" dirty="0">
                <a:latin typeface="Calibri"/>
                <a:cs typeface="Calibri"/>
              </a:rPr>
              <a:t>body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{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background: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ivory; }</a:t>
            </a:r>
            <a:endParaRPr sz="1500" dirty="0">
              <a:latin typeface="Calibri"/>
              <a:cs typeface="Calibri"/>
            </a:endParaRPr>
          </a:p>
          <a:p>
            <a:pPr marL="400050">
              <a:lnSpc>
                <a:spcPct val="100000"/>
              </a:lnSpc>
              <a:spcBef>
                <a:spcPts val="65"/>
              </a:spcBef>
            </a:pPr>
            <a:r>
              <a:rPr sz="1450" spc="10" dirty="0">
                <a:latin typeface="Calibri"/>
                <a:cs typeface="Calibri"/>
              </a:rPr>
              <a:t>.contenitore{width:500px;</a:t>
            </a:r>
            <a:r>
              <a:rPr sz="1450" spc="95" dirty="0">
                <a:latin typeface="Calibri"/>
                <a:cs typeface="Calibri"/>
              </a:rPr>
              <a:t> </a:t>
            </a:r>
            <a:r>
              <a:rPr sz="1450" spc="5" dirty="0">
                <a:latin typeface="Calibri"/>
                <a:cs typeface="Calibri"/>
              </a:rPr>
              <a:t>height:500px;</a:t>
            </a:r>
            <a:r>
              <a:rPr sz="1450" spc="95" dirty="0">
                <a:latin typeface="Calibri"/>
                <a:cs typeface="Calibri"/>
              </a:rPr>
              <a:t> </a:t>
            </a:r>
            <a:r>
              <a:rPr sz="1450" spc="5" dirty="0">
                <a:latin typeface="Calibri"/>
                <a:cs typeface="Calibri"/>
              </a:rPr>
              <a:t>border:3px</a:t>
            </a:r>
            <a:r>
              <a:rPr sz="1450" spc="100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solid</a:t>
            </a:r>
            <a:r>
              <a:rPr sz="1450" spc="30" dirty="0">
                <a:latin typeface="Calibri"/>
                <a:cs typeface="Calibri"/>
              </a:rPr>
              <a:t> </a:t>
            </a:r>
            <a:r>
              <a:rPr sz="1450" spc="15" dirty="0">
                <a:latin typeface="Calibri"/>
                <a:cs typeface="Calibri"/>
              </a:rPr>
              <a:t>black;</a:t>
            </a:r>
            <a:r>
              <a:rPr sz="1450" spc="100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background:orange;</a:t>
            </a:r>
            <a:r>
              <a:rPr sz="1450" spc="60" dirty="0">
                <a:latin typeface="Calibri"/>
                <a:cs typeface="Calibri"/>
              </a:rPr>
              <a:t> </a:t>
            </a:r>
            <a:r>
              <a:rPr sz="1450" spc="15" dirty="0">
                <a:latin typeface="Calibri"/>
                <a:cs typeface="Calibri"/>
              </a:rPr>
              <a:t>margin:</a:t>
            </a:r>
            <a:r>
              <a:rPr sz="1450" spc="20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auto;}</a:t>
            </a:r>
            <a:endParaRPr sz="1450" dirty="0">
              <a:latin typeface="Calibri"/>
              <a:cs typeface="Calibri"/>
            </a:endParaRPr>
          </a:p>
          <a:p>
            <a:pPr marL="440690">
              <a:lnSpc>
                <a:spcPct val="100000"/>
              </a:lnSpc>
              <a:spcBef>
                <a:spcPts val="15"/>
              </a:spcBef>
            </a:pPr>
            <a:r>
              <a:rPr sz="1500" spc="-15" dirty="0">
                <a:latin typeface="Calibri"/>
                <a:cs typeface="Calibri"/>
              </a:rPr>
              <a:t>&lt;/style&gt;</a:t>
            </a:r>
            <a:endParaRPr sz="1500" dirty="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30"/>
              </a:spcBef>
            </a:pPr>
            <a:r>
              <a:rPr sz="1450" spc="10" dirty="0">
                <a:latin typeface="Calibri"/>
                <a:cs typeface="Calibri"/>
              </a:rPr>
              <a:t>&lt;/head&gt;</a:t>
            </a:r>
            <a:endParaRPr sz="1450" dirty="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15"/>
              </a:spcBef>
            </a:pPr>
            <a:r>
              <a:rPr sz="1500" spc="-10" dirty="0">
                <a:latin typeface="Calibri"/>
                <a:cs typeface="Calibri"/>
              </a:rPr>
              <a:t>&lt;body&gt;</a:t>
            </a:r>
            <a:endParaRPr sz="1500" dirty="0">
              <a:latin typeface="Calibri"/>
              <a:cs typeface="Calibri"/>
            </a:endParaRPr>
          </a:p>
          <a:p>
            <a:pPr marL="440690">
              <a:lnSpc>
                <a:spcPct val="100000"/>
              </a:lnSpc>
              <a:spcBef>
                <a:spcPts val="65"/>
              </a:spcBef>
            </a:pPr>
            <a:r>
              <a:rPr sz="1450" spc="15" dirty="0">
                <a:latin typeface="Calibri"/>
                <a:cs typeface="Calibri"/>
              </a:rPr>
              <a:t>&lt;h2&gt;Le </a:t>
            </a:r>
            <a:r>
              <a:rPr sz="1450" spc="20" dirty="0">
                <a:latin typeface="Calibri"/>
                <a:cs typeface="Calibri"/>
              </a:rPr>
              <a:t>Media</a:t>
            </a:r>
            <a:r>
              <a:rPr sz="1450" spc="45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Queries&lt;/h2&gt;</a:t>
            </a:r>
            <a:endParaRPr sz="1450" dirty="0">
              <a:latin typeface="Calibri"/>
              <a:cs typeface="Calibri"/>
            </a:endParaRPr>
          </a:p>
          <a:p>
            <a:pPr marL="440690">
              <a:lnSpc>
                <a:spcPct val="100000"/>
              </a:lnSpc>
              <a:spcBef>
                <a:spcPts val="15"/>
              </a:spcBef>
            </a:pPr>
            <a:r>
              <a:rPr sz="1500" spc="-20" dirty="0">
                <a:latin typeface="Calibri"/>
                <a:cs typeface="Calibri"/>
              </a:rPr>
              <a:t>&lt;h4&gt;Tramite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media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queries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possiamo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stilizzare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</a:t>
            </a:r>
            <a:r>
              <a:rPr sz="1500" spc="-15" dirty="0">
                <a:latin typeface="Calibri"/>
                <a:cs typeface="Calibri"/>
              </a:rPr>
              <a:t> nostre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pagine&lt;/h4&gt;</a:t>
            </a:r>
            <a:endParaRPr sz="1500" dirty="0">
              <a:latin typeface="Calibri"/>
              <a:cs typeface="Calibri"/>
            </a:endParaRPr>
          </a:p>
          <a:p>
            <a:pPr marL="440690">
              <a:lnSpc>
                <a:spcPct val="100000"/>
              </a:lnSpc>
              <a:spcBef>
                <a:spcPts val="25"/>
              </a:spcBef>
            </a:pPr>
            <a:r>
              <a:rPr sz="1450" spc="10" dirty="0">
                <a:latin typeface="Calibri"/>
                <a:cs typeface="Calibri"/>
              </a:rPr>
              <a:t>&lt;h4&gt;Vengono</a:t>
            </a:r>
            <a:r>
              <a:rPr sz="1450" spc="55" dirty="0">
                <a:latin typeface="Calibri"/>
                <a:cs typeface="Calibri"/>
              </a:rPr>
              <a:t> </a:t>
            </a:r>
            <a:r>
              <a:rPr sz="1450" spc="20" dirty="0">
                <a:latin typeface="Calibri"/>
                <a:cs typeface="Calibri"/>
              </a:rPr>
              <a:t>ampiamente</a:t>
            </a:r>
            <a:r>
              <a:rPr sz="1450" spc="-5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utilizzate</a:t>
            </a:r>
            <a:r>
              <a:rPr sz="1450" spc="-35" dirty="0">
                <a:latin typeface="Calibri"/>
                <a:cs typeface="Calibri"/>
              </a:rPr>
              <a:t> </a:t>
            </a:r>
            <a:r>
              <a:rPr sz="1450" spc="20" dirty="0">
                <a:latin typeface="Calibri"/>
                <a:cs typeface="Calibri"/>
              </a:rPr>
              <a:t>in </a:t>
            </a:r>
            <a:r>
              <a:rPr sz="1450" spc="10" dirty="0">
                <a:latin typeface="Calibri"/>
                <a:cs typeface="Calibri"/>
              </a:rPr>
              <a:t>Bootstrap&lt;/h4&gt;</a:t>
            </a:r>
            <a:endParaRPr sz="1450" dirty="0">
              <a:latin typeface="Calibri"/>
              <a:cs typeface="Calibri"/>
            </a:endParaRPr>
          </a:p>
          <a:p>
            <a:pPr marL="440690">
              <a:lnSpc>
                <a:spcPct val="100000"/>
              </a:lnSpc>
              <a:spcBef>
                <a:spcPts val="20"/>
              </a:spcBef>
            </a:pPr>
            <a:r>
              <a:rPr sz="1500" spc="-5" dirty="0">
                <a:latin typeface="Calibri"/>
                <a:cs typeface="Calibri"/>
              </a:rPr>
              <a:t>&lt;div </a:t>
            </a:r>
            <a:r>
              <a:rPr sz="1500" spc="-10" dirty="0">
                <a:latin typeface="Calibri"/>
                <a:cs typeface="Calibri"/>
              </a:rPr>
              <a:t>class="contenitore"&gt;</a:t>
            </a:r>
            <a:endParaRPr sz="1500" dirty="0">
              <a:latin typeface="Calibri"/>
              <a:cs typeface="Calibri"/>
            </a:endParaRPr>
          </a:p>
          <a:p>
            <a:pPr marL="656590">
              <a:lnSpc>
                <a:spcPct val="100000"/>
              </a:lnSpc>
              <a:spcBef>
                <a:spcPts val="65"/>
              </a:spcBef>
            </a:pPr>
            <a:r>
              <a:rPr sz="1450" spc="15" dirty="0">
                <a:latin typeface="Calibri"/>
                <a:cs typeface="Calibri"/>
              </a:rPr>
              <a:t>&lt;h1&gt;Mio</a:t>
            </a:r>
            <a:r>
              <a:rPr sz="1450" spc="40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Contenitore&lt;/h1&gt;</a:t>
            </a:r>
            <a:endParaRPr sz="1450" dirty="0">
              <a:latin typeface="Calibri"/>
              <a:cs typeface="Calibri"/>
            </a:endParaRPr>
          </a:p>
          <a:p>
            <a:pPr marR="7129780" algn="r">
              <a:lnSpc>
                <a:spcPct val="100000"/>
              </a:lnSpc>
              <a:spcBef>
                <a:spcPts val="15"/>
              </a:spcBef>
            </a:pPr>
            <a:r>
              <a:rPr sz="1500" spc="-10" dirty="0">
                <a:latin typeface="Calibri"/>
                <a:cs typeface="Calibri"/>
              </a:rPr>
              <a:t>&lt;/div&gt;</a:t>
            </a:r>
            <a:endParaRPr sz="1500" dirty="0">
              <a:latin typeface="Calibri"/>
              <a:cs typeface="Calibri"/>
            </a:endParaRPr>
          </a:p>
          <a:p>
            <a:pPr marR="7188200" algn="r">
              <a:lnSpc>
                <a:spcPct val="100000"/>
              </a:lnSpc>
              <a:spcBef>
                <a:spcPts val="25"/>
              </a:spcBef>
            </a:pPr>
            <a:r>
              <a:rPr sz="1450" spc="10" dirty="0">
                <a:latin typeface="Calibri"/>
                <a:cs typeface="Calibri"/>
              </a:rPr>
              <a:t>&lt;/body&gt;</a:t>
            </a:r>
            <a:endParaRPr sz="1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500" spc="-10" dirty="0">
                <a:latin typeface="Calibri"/>
                <a:cs typeface="Calibri"/>
              </a:rPr>
              <a:t>&lt;/html&gt;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17" y="1504441"/>
            <a:ext cx="8747633" cy="40314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095387"/>
            <a:ext cx="8075295" cy="46380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415"/>
              </a:spcBef>
            </a:pPr>
            <a:r>
              <a:rPr sz="2700" spc="-10" dirty="0">
                <a:latin typeface="Calibri"/>
                <a:cs typeface="Calibri"/>
              </a:rPr>
              <a:t>Supponiamo</a:t>
            </a:r>
            <a:r>
              <a:rPr sz="2700" spc="1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19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voler</a:t>
            </a:r>
            <a:r>
              <a:rPr sz="2700" spc="19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cambiare</a:t>
            </a:r>
            <a:r>
              <a:rPr sz="2700" spc="18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il</a:t>
            </a:r>
            <a:r>
              <a:rPr sz="2700" spc="19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colore</a:t>
            </a:r>
            <a:r>
              <a:rPr sz="2700" spc="1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spc="15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sfondo</a:t>
            </a:r>
            <a:r>
              <a:rPr sz="2700" spc="204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</a:t>
            </a:r>
            <a:r>
              <a:rPr sz="2700" spc="17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base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quella</a:t>
            </a:r>
            <a:r>
              <a:rPr sz="2700" spc="-5" dirty="0">
                <a:latin typeface="Calibri"/>
                <a:cs typeface="Calibri"/>
              </a:rPr>
              <a:t> che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è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larghezza</a:t>
            </a:r>
            <a:r>
              <a:rPr sz="2700" spc="-10" dirty="0">
                <a:latin typeface="Calibri"/>
                <a:cs typeface="Calibri"/>
              </a:rPr>
              <a:t> dello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schermo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sta 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visualizzando. </a:t>
            </a:r>
            <a:r>
              <a:rPr sz="2700" spc="-5" dirty="0">
                <a:latin typeface="Calibri"/>
                <a:cs typeface="Calibri"/>
              </a:rPr>
              <a:t>Ad esempio </a:t>
            </a:r>
            <a:r>
              <a:rPr sz="2700" spc="5" dirty="0">
                <a:latin typeface="Calibri"/>
                <a:cs typeface="Calibri"/>
              </a:rPr>
              <a:t>ai </a:t>
            </a:r>
            <a:r>
              <a:rPr sz="2700" dirty="0">
                <a:latin typeface="Calibri"/>
                <a:cs typeface="Calibri"/>
              </a:rPr>
              <a:t>schermi </a:t>
            </a:r>
            <a:r>
              <a:rPr sz="2700" spc="-20" dirty="0">
                <a:latin typeface="Calibri"/>
                <a:cs typeface="Calibri"/>
              </a:rPr>
              <a:t>con </a:t>
            </a:r>
            <a:r>
              <a:rPr sz="2700" spc="-5" dirty="0">
                <a:latin typeface="Calibri"/>
                <a:cs typeface="Calibri"/>
              </a:rPr>
              <a:t>una risoluzione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inferiore</a:t>
            </a:r>
            <a:r>
              <a:rPr sz="2700" spc="-15" dirty="0">
                <a:latin typeface="Calibri"/>
                <a:cs typeface="Calibri"/>
              </a:rPr>
              <a:t> ai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680px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colore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sfondo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sarà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rosso.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Aggiungere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all’interno</a:t>
            </a:r>
            <a:r>
              <a:rPr sz="2700" spc="10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del</a:t>
            </a:r>
            <a:r>
              <a:rPr sz="2700" spc="-15" dirty="0">
                <a:latin typeface="Calibri"/>
                <a:cs typeface="Calibri"/>
              </a:rPr>
              <a:t> codice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css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il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seguente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snippet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 dirty="0">
              <a:latin typeface="Calibri"/>
              <a:cs typeface="Calibri"/>
            </a:endParaRPr>
          </a:p>
          <a:p>
            <a:pPr marL="927100" marR="2317750" indent="-915035">
              <a:lnSpc>
                <a:spcPct val="109500"/>
              </a:lnSpc>
              <a:spcBef>
                <a:spcPts val="5"/>
              </a:spcBef>
            </a:pPr>
            <a:r>
              <a:rPr sz="2700" spc="-10" dirty="0">
                <a:latin typeface="Calibri"/>
                <a:cs typeface="Calibri"/>
              </a:rPr>
              <a:t>@media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screen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and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(max-width</a:t>
            </a:r>
            <a:r>
              <a:rPr sz="2700" spc="6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680px){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body{</a:t>
            </a:r>
            <a:endParaRPr sz="2700" dirty="0">
              <a:latin typeface="Calibri"/>
              <a:cs typeface="Calibri"/>
            </a:endParaRPr>
          </a:p>
          <a:p>
            <a:pPr marL="1842135">
              <a:lnSpc>
                <a:spcPct val="100000"/>
              </a:lnSpc>
              <a:spcBef>
                <a:spcPts val="345"/>
              </a:spcBef>
            </a:pPr>
            <a:r>
              <a:rPr sz="2700" spc="-10" dirty="0">
                <a:latin typeface="Calibri"/>
                <a:cs typeface="Calibri"/>
              </a:rPr>
              <a:t>background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: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red;</a:t>
            </a:r>
            <a:endParaRPr sz="27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05"/>
              </a:spcBef>
            </a:pPr>
            <a:r>
              <a:rPr sz="2700" spc="-5" dirty="0">
                <a:latin typeface="Calibri"/>
                <a:cs typeface="Calibri"/>
              </a:rPr>
              <a:t>}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700" spc="-5" dirty="0">
                <a:latin typeface="Calibri"/>
                <a:cs typeface="Calibri"/>
              </a:rPr>
              <a:t>}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5679" y="837803"/>
            <a:ext cx="4396359" cy="589635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Esercizio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80095"/>
            <a:ext cx="7297420" cy="168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5" dirty="0">
                <a:latin typeface="Calibri"/>
                <a:cs typeface="Calibri"/>
              </a:rPr>
              <a:t>Completare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l’esercizio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seguente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indirizzo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400" dirty="0">
              <a:latin typeface="Calibri"/>
              <a:cs typeface="Calibri"/>
            </a:endParaRPr>
          </a:p>
          <a:p>
            <a:pPr marL="770255" algn="ctr">
              <a:lnSpc>
                <a:spcPct val="100000"/>
              </a:lnSpc>
              <a:spcBef>
                <a:spcPts val="5"/>
              </a:spcBef>
            </a:pPr>
            <a:r>
              <a:rPr sz="3200" spc="-25" dirty="0">
                <a:latin typeface="Calibri"/>
                <a:cs typeface="Calibri"/>
                <a:hlinkClick r:id="rId2"/>
              </a:rPr>
              <a:t>http://flexboxfroggy.com/#it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739140"/>
          </a:xfrm>
          <a:custGeom>
            <a:avLst/>
            <a:gdLst/>
            <a:ahLst/>
            <a:cxnLst/>
            <a:rect l="l" t="t" r="r" b="b"/>
            <a:pathLst>
              <a:path w="9144000" h="739140">
                <a:moveTo>
                  <a:pt x="0" y="738758"/>
                </a:moveTo>
                <a:lnTo>
                  <a:pt x="9144000" y="738758"/>
                </a:lnTo>
                <a:lnTo>
                  <a:pt x="9144000" y="0"/>
                </a:lnTo>
                <a:lnTo>
                  <a:pt x="0" y="0"/>
                </a:lnTo>
                <a:lnTo>
                  <a:pt x="0" y="73875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pc="-10" dirty="0"/>
              <a:t>C</a:t>
            </a:r>
            <a:r>
              <a:rPr spc="10" dirty="0"/>
              <a:t>S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1035</TotalTime>
  <Words>2746</Words>
  <Application>Microsoft Office PowerPoint</Application>
  <PresentationFormat>Personalizzato</PresentationFormat>
  <Paragraphs>329</Paragraphs>
  <Slides>39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39</vt:i4>
      </vt:variant>
    </vt:vector>
  </HeadingPairs>
  <TitlesOfParts>
    <vt:vector size="43" baseType="lpstr">
      <vt:lpstr>Arial MT</vt:lpstr>
      <vt:lpstr>Calibri</vt:lpstr>
      <vt:lpstr>Times New Roman</vt:lpstr>
      <vt:lpstr>Office Theme</vt:lpstr>
      <vt:lpstr>C.S.S.</vt:lpstr>
      <vt:lpstr>FlexBox</vt:lpstr>
      <vt:lpstr>Presentazione standard di PowerPoint</vt:lpstr>
      <vt:lpstr>Presentazione standard di PowerPoint</vt:lpstr>
      <vt:lpstr>Presentazione standard di PowerPoint</vt:lpstr>
      <vt:lpstr>Le proprietà che si applicano ai box flessibili sono:</vt:lpstr>
      <vt:lpstr>Esempio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#box-1 {</vt:lpstr>
      <vt:lpstr>Presentazione standard di PowerPoint</vt:lpstr>
      <vt:lpstr>Media Queries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Come e dove dichiarare media query</vt:lpstr>
      <vt:lpstr>Meta tag viewport</vt:lpstr>
      <vt:lpstr>content="width=device-</vt:lpstr>
      <vt:lpstr>Presentazione standard di PowerPoint</vt:lpstr>
      <vt:lpstr>Presentazione standard di PowerPoint</vt:lpstr>
      <vt:lpstr>Esempio Media Queries</vt:lpstr>
      <vt:lpstr>Presentazione standard di PowerPoint</vt:lpstr>
      <vt:lpstr>Presentazione standard di PowerPoint</vt:lpstr>
      <vt:lpstr>Presentazione standard di PowerPoint</vt:lpstr>
      <vt:lpstr>Esercizio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3</dc:title>
  <dc:creator>Riccardo</dc:creator>
  <cp:lastModifiedBy>Admin</cp:lastModifiedBy>
  <cp:revision>12</cp:revision>
  <dcterms:created xsi:type="dcterms:W3CDTF">2022-06-08T11:45:33Z</dcterms:created>
  <dcterms:modified xsi:type="dcterms:W3CDTF">2025-04-01T10:03:57Z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2022-06-08T00:00:00Z</vt:filetime>
  </property>
</Properties>
</file>