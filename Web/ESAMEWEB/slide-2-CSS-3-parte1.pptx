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9144000" cy="6864350"/>
  <p:notesSz cx="9144000" cy="686435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70198" y="817956"/>
            <a:ext cx="2403602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4036"/>
            <a:ext cx="6400800" cy="1716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8800"/>
            <a:ext cx="3977640" cy="4530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8800"/>
            <a:ext cx="3977640" cy="4530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7658" y="817956"/>
            <a:ext cx="2408682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778317"/>
            <a:ext cx="8071510" cy="434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6725" y="6330324"/>
            <a:ext cx="24892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83845"/>
            <a:ext cx="2103120" cy="34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83845"/>
            <a:ext cx="2103120" cy="34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" TargetMode="External"/><Relationship Id="rId2" Type="http://schemas.openxmlformats.org/officeDocument/2006/relationships/hyperlink" Target="https://www.w3.org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or.adobe.com/creat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iosito.com/img/sfondo.jpg)%3B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css_websafe_fonts.asp" TargetMode="Externa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rwebmaster.it/html/strong_8938.html" TargetMode="External"/><Relationship Id="rId2" Type="http://schemas.openxmlformats.org/officeDocument/2006/relationships/hyperlink" Target="https://www.mrwebmaster.it/html/b_8863.html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"/>
            <a:ext cx="9144000" cy="3189605"/>
          </a:xfrm>
          <a:custGeom>
            <a:avLst/>
            <a:gdLst/>
            <a:ahLst/>
            <a:cxnLst/>
            <a:rect l="l" t="t" r="r" b="b"/>
            <a:pathLst>
              <a:path w="9144000" h="3189605">
                <a:moveTo>
                  <a:pt x="9144000" y="0"/>
                </a:moveTo>
                <a:lnTo>
                  <a:pt x="0" y="0"/>
                </a:lnTo>
                <a:lnTo>
                  <a:pt x="0" y="3189097"/>
                </a:lnTo>
                <a:lnTo>
                  <a:pt x="9144000" y="318909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47286" y="2483053"/>
            <a:ext cx="1257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Calibri"/>
                <a:cs typeface="Calibri"/>
              </a:rPr>
              <a:t>C</a:t>
            </a:r>
            <a:r>
              <a:rPr sz="4400" spc="-15" dirty="0">
                <a:latin typeface="Calibri"/>
                <a:cs typeface="Calibri"/>
              </a:rPr>
              <a:t>.</a:t>
            </a:r>
            <a:r>
              <a:rPr sz="4400" spc="-5" dirty="0">
                <a:latin typeface="Calibri"/>
                <a:cs typeface="Calibri"/>
              </a:rPr>
              <a:t>S.S.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5952" y="4048135"/>
            <a:ext cx="1908264" cy="26859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3730" y="881075"/>
            <a:ext cx="12598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C.S.S.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90039"/>
            <a:ext cx="8080375" cy="420814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8255" algn="just">
              <a:lnSpc>
                <a:spcPct val="90200"/>
              </a:lnSpc>
              <a:spcBef>
                <a:spcPts val="465"/>
              </a:spcBef>
            </a:pPr>
            <a:r>
              <a:rPr sz="3000" spc="-50" dirty="0">
                <a:latin typeface="Calibri"/>
                <a:cs typeface="Calibri"/>
              </a:rPr>
              <a:t>L’acronimo </a:t>
            </a:r>
            <a:r>
              <a:rPr sz="3000" b="1" dirty="0">
                <a:latin typeface="Calibri"/>
                <a:cs typeface="Calibri"/>
              </a:rPr>
              <a:t>CSS </a:t>
            </a:r>
            <a:r>
              <a:rPr sz="3000" spc="-30" dirty="0">
                <a:latin typeface="Calibri"/>
                <a:cs typeface="Calibri"/>
              </a:rPr>
              <a:t>sta </a:t>
            </a:r>
            <a:r>
              <a:rPr sz="3000" dirty="0">
                <a:latin typeface="Calibri"/>
                <a:cs typeface="Calibri"/>
              </a:rPr>
              <a:t>per </a:t>
            </a:r>
            <a:r>
              <a:rPr sz="3000" b="1" spc="-5" dirty="0">
                <a:latin typeface="Calibri"/>
                <a:cs typeface="Calibri"/>
              </a:rPr>
              <a:t>Cascading Style </a:t>
            </a:r>
            <a:r>
              <a:rPr sz="3000" b="1" spc="-10" dirty="0">
                <a:latin typeface="Calibri"/>
                <a:cs typeface="Calibri"/>
              </a:rPr>
              <a:t>Sheets </a:t>
            </a:r>
            <a:r>
              <a:rPr sz="3000" spc="-15" dirty="0">
                <a:latin typeface="Calibri"/>
                <a:cs typeface="Calibri"/>
              </a:rPr>
              <a:t>(fogli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spc="-5" dirty="0">
                <a:latin typeface="Calibri"/>
                <a:cs typeface="Calibri"/>
              </a:rPr>
              <a:t>stile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20" dirty="0">
                <a:latin typeface="Calibri"/>
                <a:cs typeface="Calibri"/>
              </a:rPr>
              <a:t>cascata)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spc="-5" dirty="0">
                <a:latin typeface="Calibri"/>
                <a:cs typeface="Calibri"/>
              </a:rPr>
              <a:t>designa un </a:t>
            </a:r>
            <a:r>
              <a:rPr sz="3000" spc="5" dirty="0">
                <a:latin typeface="Calibri"/>
                <a:cs typeface="Calibri"/>
              </a:rPr>
              <a:t>linguaggio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stile </a:t>
            </a:r>
            <a:r>
              <a:rPr sz="3000" spc="-10" dirty="0">
                <a:latin typeface="Calibri"/>
                <a:cs typeface="Calibri"/>
              </a:rPr>
              <a:t>per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documenti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web.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50">
              <a:latin typeface="Calibri"/>
              <a:cs typeface="Calibri"/>
            </a:endParaRPr>
          </a:p>
          <a:p>
            <a:pPr marL="12700" marR="5080" algn="just">
              <a:lnSpc>
                <a:spcPct val="90100"/>
              </a:lnSpc>
            </a:pPr>
            <a:r>
              <a:rPr sz="3000" dirty="0">
                <a:latin typeface="Calibri"/>
                <a:cs typeface="Calibri"/>
              </a:rPr>
              <a:t>I CSS </a:t>
            </a:r>
            <a:r>
              <a:rPr sz="3000" spc="-10" dirty="0">
                <a:latin typeface="Calibri"/>
                <a:cs typeface="Calibri"/>
              </a:rPr>
              <a:t>istruiscono </a:t>
            </a:r>
            <a:r>
              <a:rPr sz="3000" spc="-5" dirty="0">
                <a:latin typeface="Calibri"/>
                <a:cs typeface="Calibri"/>
              </a:rPr>
              <a:t>un </a:t>
            </a:r>
            <a:r>
              <a:rPr sz="3000" spc="-10" dirty="0">
                <a:latin typeface="Calibri"/>
                <a:cs typeface="Calibri"/>
              </a:rPr>
              <a:t>browser </a:t>
            </a:r>
            <a:r>
              <a:rPr sz="3000" spc="5" dirty="0">
                <a:latin typeface="Calibri"/>
                <a:cs typeface="Calibri"/>
              </a:rPr>
              <a:t>o </a:t>
            </a:r>
            <a:r>
              <a:rPr sz="3000" spc="10" dirty="0">
                <a:latin typeface="Calibri"/>
                <a:cs typeface="Calibri"/>
              </a:rPr>
              <a:t>un </a:t>
            </a:r>
            <a:r>
              <a:rPr sz="3000" spc="-5" dirty="0">
                <a:latin typeface="Calibri"/>
                <a:cs typeface="Calibri"/>
              </a:rPr>
              <a:t>altro </a:t>
            </a:r>
            <a:r>
              <a:rPr sz="3000" spc="-15" dirty="0">
                <a:latin typeface="Calibri"/>
                <a:cs typeface="Calibri"/>
              </a:rPr>
              <a:t>programma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utente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il</a:t>
            </a:r>
            <a:r>
              <a:rPr sz="3000" spc="7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documento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debba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essere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presentato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all’utente,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esempio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definendone</a:t>
            </a:r>
            <a:r>
              <a:rPr sz="3000" dirty="0">
                <a:latin typeface="Calibri"/>
                <a:cs typeface="Calibri"/>
              </a:rPr>
              <a:t> i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font,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colori,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le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immagini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sfondo,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il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layout,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posizionamento</a:t>
            </a:r>
            <a:r>
              <a:rPr sz="3000" spc="-5" dirty="0">
                <a:latin typeface="Calibri"/>
                <a:cs typeface="Calibri"/>
              </a:rPr>
              <a:t> delle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colonne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o</a:t>
            </a:r>
            <a:r>
              <a:rPr sz="3000" spc="10" dirty="0">
                <a:latin typeface="Calibri"/>
                <a:cs typeface="Calibri"/>
              </a:rPr>
              <a:t> di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altri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elementi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sulla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pagina,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etc.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50404"/>
            <a:ext cx="8079740" cy="487553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6350" algn="just">
              <a:lnSpc>
                <a:spcPct val="79900"/>
              </a:lnSpc>
              <a:spcBef>
                <a:spcPts val="840"/>
              </a:spcBef>
            </a:pPr>
            <a:r>
              <a:rPr sz="3000" spc="-50" dirty="0">
                <a:latin typeface="Calibri"/>
                <a:cs typeface="Calibri"/>
              </a:rPr>
              <a:t>L’obiettivo </a:t>
            </a:r>
            <a:r>
              <a:rPr sz="3000" dirty="0">
                <a:latin typeface="Calibri"/>
                <a:cs typeface="Calibri"/>
              </a:rPr>
              <a:t>dei CSS si può </a:t>
            </a:r>
            <a:r>
              <a:rPr sz="3000" spc="-15" dirty="0">
                <a:latin typeface="Calibri"/>
                <a:cs typeface="Calibri"/>
              </a:rPr>
              <a:t>sintetizzare </a:t>
            </a:r>
            <a:r>
              <a:rPr sz="3000" spc="-10" dirty="0">
                <a:latin typeface="Calibri"/>
                <a:cs typeface="Calibri"/>
              </a:rPr>
              <a:t>con </a:t>
            </a:r>
            <a:r>
              <a:rPr sz="3000" dirty="0">
                <a:latin typeface="Calibri"/>
                <a:cs typeface="Calibri"/>
              </a:rPr>
              <a:t>una </a:t>
            </a:r>
            <a:r>
              <a:rPr sz="3000" spc="-15" dirty="0">
                <a:latin typeface="Calibri"/>
                <a:cs typeface="Calibri"/>
              </a:rPr>
              <a:t>nota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espressione: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separare</a:t>
            </a:r>
            <a:r>
              <a:rPr sz="3000" b="1" spc="650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il</a:t>
            </a:r>
            <a:r>
              <a:rPr sz="3000" b="1" spc="65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contenuto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dalla 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presentazione</a:t>
            </a:r>
            <a:r>
              <a:rPr sz="3000" spc="-5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Calibri"/>
              <a:cs typeface="Calibri"/>
            </a:endParaRPr>
          </a:p>
          <a:p>
            <a:pPr marL="12700" marR="6985" algn="just">
              <a:lnSpc>
                <a:spcPts val="2910"/>
              </a:lnSpc>
            </a:pPr>
            <a:r>
              <a:rPr sz="3000" spc="-50" dirty="0">
                <a:latin typeface="Calibri"/>
                <a:cs typeface="Calibri"/>
              </a:rPr>
              <a:t>Tutti </a:t>
            </a:r>
            <a:r>
              <a:rPr sz="3000" dirty="0">
                <a:latin typeface="Calibri"/>
                <a:cs typeface="Calibri"/>
              </a:rPr>
              <a:t>i </a:t>
            </a:r>
            <a:r>
              <a:rPr sz="3000" spc="-15" dirty="0">
                <a:latin typeface="Calibri"/>
                <a:cs typeface="Calibri"/>
              </a:rPr>
              <a:t>browser </a:t>
            </a:r>
            <a:r>
              <a:rPr sz="3000" spc="5" dirty="0">
                <a:latin typeface="Calibri"/>
                <a:cs typeface="Calibri"/>
              </a:rPr>
              <a:t>oggi </a:t>
            </a:r>
            <a:r>
              <a:rPr sz="3000" spc="-15" dirty="0">
                <a:latin typeface="Calibri"/>
                <a:cs typeface="Calibri"/>
              </a:rPr>
              <a:t>usati garantiscono </a:t>
            </a:r>
            <a:r>
              <a:rPr sz="3000" spc="-10" dirty="0">
                <a:latin typeface="Calibri"/>
                <a:cs typeface="Calibri"/>
              </a:rPr>
              <a:t>il supporto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pieno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alla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specifica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CSS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3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>
              <a:latin typeface="Calibri"/>
              <a:cs typeface="Calibri"/>
            </a:endParaRPr>
          </a:p>
          <a:p>
            <a:pPr marL="12700" marR="5080" algn="just">
              <a:lnSpc>
                <a:spcPct val="79900"/>
              </a:lnSpc>
            </a:pPr>
            <a:r>
              <a:rPr sz="3000" spc="5" dirty="0">
                <a:latin typeface="Calibri"/>
                <a:cs typeface="Calibri"/>
              </a:rPr>
              <a:t>Prima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20" dirty="0">
                <a:latin typeface="Calibri"/>
                <a:cs typeface="Calibri"/>
              </a:rPr>
              <a:t>entrare </a:t>
            </a:r>
            <a:r>
              <a:rPr sz="3000" spc="-5" dirty="0">
                <a:latin typeface="Calibri"/>
                <a:cs typeface="Calibri"/>
              </a:rPr>
              <a:t>nei </a:t>
            </a:r>
            <a:r>
              <a:rPr sz="3000" spc="-15" dirty="0">
                <a:latin typeface="Calibri"/>
                <a:cs typeface="Calibri"/>
              </a:rPr>
              <a:t>dettagli </a:t>
            </a:r>
            <a:r>
              <a:rPr sz="3000" spc="5" dirty="0">
                <a:latin typeface="Calibri"/>
                <a:cs typeface="Calibri"/>
              </a:rPr>
              <a:t>del </a:t>
            </a:r>
            <a:r>
              <a:rPr sz="3000" dirty="0">
                <a:latin typeface="Calibri"/>
                <a:cs typeface="Calibri"/>
              </a:rPr>
              <a:t>linguaggio CSS,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necessario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soffermarsi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alcuni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concetti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chiave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legati </a:t>
            </a:r>
            <a:r>
              <a:rPr sz="3000" spc="10" dirty="0">
                <a:latin typeface="Calibri"/>
                <a:cs typeface="Calibri"/>
              </a:rPr>
              <a:t>ad </a:t>
            </a:r>
            <a:r>
              <a:rPr sz="3000" dirty="0">
                <a:latin typeface="Calibri"/>
                <a:cs typeface="Calibri"/>
              </a:rPr>
              <a:t>HTML. Si </a:t>
            </a:r>
            <a:r>
              <a:rPr sz="3000" spc="-40" dirty="0">
                <a:latin typeface="Calibri"/>
                <a:cs typeface="Calibri"/>
              </a:rPr>
              <a:t>tratta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argomenti </a:t>
            </a:r>
            <a:r>
              <a:rPr sz="3000" spc="-5" dirty="0">
                <a:latin typeface="Calibri"/>
                <a:cs typeface="Calibri"/>
              </a:rPr>
              <a:t>propedeutici </a:t>
            </a:r>
            <a:r>
              <a:rPr sz="3000" dirty="0">
                <a:latin typeface="Calibri"/>
                <a:cs typeface="Calibri"/>
              </a:rPr>
              <a:t> per una </a:t>
            </a:r>
            <a:r>
              <a:rPr sz="3000" spc="-10" dirty="0">
                <a:latin typeface="Calibri"/>
                <a:cs typeface="Calibri"/>
              </a:rPr>
              <a:t>migliore comprensione del </a:t>
            </a:r>
            <a:r>
              <a:rPr sz="3000" spc="-5" dirty="0">
                <a:latin typeface="Calibri"/>
                <a:cs typeface="Calibri"/>
              </a:rPr>
              <a:t>meccanismo </a:t>
            </a:r>
            <a:r>
              <a:rPr sz="3000" spc="-2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funzionamento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dei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CSS.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9889" y="817956"/>
            <a:ext cx="32823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Attributo</a:t>
            </a:r>
            <a:r>
              <a:rPr spc="-4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42300"/>
            <a:ext cx="8078470" cy="4177029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 algn="just">
              <a:lnSpc>
                <a:spcPct val="80100"/>
              </a:lnSpc>
              <a:spcBef>
                <a:spcPts val="830"/>
              </a:spcBef>
            </a:pPr>
            <a:r>
              <a:rPr sz="3000" spc="-55" dirty="0">
                <a:latin typeface="Calibri"/>
                <a:cs typeface="Calibri"/>
              </a:rPr>
              <a:t>L’attributo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“style”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assoluto</a:t>
            </a:r>
            <a:r>
              <a:rPr sz="3000" dirty="0">
                <a:latin typeface="Calibri"/>
                <a:cs typeface="Calibri"/>
              </a:rPr>
              <a:t> uno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più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importanti del </a:t>
            </a:r>
            <a:r>
              <a:rPr sz="3000" dirty="0">
                <a:latin typeface="Calibri"/>
                <a:cs typeface="Calibri"/>
              </a:rPr>
              <a:t>linguaggio </a:t>
            </a:r>
            <a:r>
              <a:rPr sz="3000" spc="5" dirty="0">
                <a:latin typeface="Calibri"/>
                <a:cs typeface="Calibri"/>
              </a:rPr>
              <a:t>HTML, </a:t>
            </a:r>
            <a:r>
              <a:rPr sz="3000" spc="-10" dirty="0">
                <a:latin typeface="Calibri"/>
                <a:cs typeface="Calibri"/>
              </a:rPr>
              <a:t>perché </a:t>
            </a:r>
            <a:r>
              <a:rPr sz="3000" spc="-15" dirty="0">
                <a:latin typeface="Calibri"/>
                <a:cs typeface="Calibri"/>
              </a:rPr>
              <a:t>permette,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attraverso </a:t>
            </a:r>
            <a:r>
              <a:rPr sz="3000" spc="10" dirty="0">
                <a:latin typeface="Calibri"/>
                <a:cs typeface="Calibri"/>
              </a:rPr>
              <a:t>le </a:t>
            </a:r>
            <a:r>
              <a:rPr sz="3000" spc="-5" dirty="0">
                <a:latin typeface="Calibri"/>
                <a:cs typeface="Calibri"/>
              </a:rPr>
              <a:t>opportune istruzioni, </a:t>
            </a:r>
            <a:r>
              <a:rPr sz="3000" spc="-10" dirty="0">
                <a:latin typeface="Calibri"/>
                <a:cs typeface="Calibri"/>
              </a:rPr>
              <a:t>di modificare </a:t>
            </a:r>
            <a:r>
              <a:rPr sz="3000" spc="-15" dirty="0">
                <a:latin typeface="Calibri"/>
                <a:cs typeface="Calibri"/>
              </a:rPr>
              <a:t>lo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stile </a:t>
            </a:r>
            <a:r>
              <a:rPr sz="3000" dirty="0">
                <a:latin typeface="Calibri"/>
                <a:cs typeface="Calibri"/>
              </a:rPr>
              <a:t>del </a:t>
            </a:r>
            <a:r>
              <a:rPr sz="3000" spc="-25" dirty="0">
                <a:latin typeface="Calibri"/>
                <a:cs typeface="Calibri"/>
              </a:rPr>
              <a:t>tag</a:t>
            </a:r>
            <a:r>
              <a:rPr sz="3000" spc="-20" dirty="0">
                <a:latin typeface="Calibri"/>
                <a:cs typeface="Calibri"/>
              </a:rPr>
              <a:t> contenitore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o </a:t>
            </a:r>
            <a:r>
              <a:rPr sz="3000" spc="-10" dirty="0">
                <a:latin typeface="Calibri"/>
                <a:cs typeface="Calibri"/>
              </a:rPr>
              <a:t>del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tag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vuoto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spc="-20" dirty="0">
                <a:latin typeface="Calibri"/>
                <a:cs typeface="Calibri"/>
              </a:rPr>
              <a:t>cui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si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trova.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Calibri"/>
              <a:cs typeface="Calibri"/>
            </a:endParaRPr>
          </a:p>
          <a:p>
            <a:pPr marL="12700" marR="5080" algn="just">
              <a:lnSpc>
                <a:spcPct val="80100"/>
              </a:lnSpc>
            </a:pPr>
            <a:r>
              <a:rPr sz="3000" spc="-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sostanza,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specificando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l’attributo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style="..."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possiamo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ad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esempio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cambiare</a:t>
            </a:r>
            <a:r>
              <a:rPr sz="3000" spc="-5" dirty="0">
                <a:latin typeface="Calibri"/>
                <a:cs typeface="Calibri"/>
              </a:rPr>
              <a:t> la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grandezza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del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carattere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o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colore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testo,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determinarne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l'allineamento, </a:t>
            </a:r>
            <a:r>
              <a:rPr sz="3000" spc="-15" dirty="0">
                <a:latin typeface="Calibri"/>
                <a:cs typeface="Calibri"/>
              </a:rPr>
              <a:t>stabilire </a:t>
            </a:r>
            <a:r>
              <a:rPr sz="3000" spc="-5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distanza </a:t>
            </a:r>
            <a:r>
              <a:rPr sz="3000" dirty="0">
                <a:latin typeface="Calibri"/>
                <a:cs typeface="Calibri"/>
              </a:rPr>
              <a:t>del </a:t>
            </a:r>
            <a:r>
              <a:rPr sz="3000" spc="-20" dirty="0">
                <a:latin typeface="Calibri"/>
                <a:cs typeface="Calibri"/>
              </a:rPr>
              <a:t>contenitore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dal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margine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così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via.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8433" y="889965"/>
            <a:ext cx="17119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</a:t>
            </a:r>
            <a:r>
              <a:rPr spc="-20" dirty="0"/>
              <a:t>i</a:t>
            </a:r>
            <a:r>
              <a:rPr spc="-45" dirty="0"/>
              <a:t>n</a:t>
            </a:r>
            <a:r>
              <a:rPr spc="-60" dirty="0"/>
              <a:t>t</a:t>
            </a:r>
            <a:r>
              <a:rPr dirty="0"/>
              <a:t>as</a:t>
            </a:r>
            <a:r>
              <a:rPr spc="15" dirty="0"/>
              <a:t>s</a:t>
            </a:r>
            <a:r>
              <a:rPr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50377"/>
            <a:ext cx="8081009" cy="414527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75"/>
              </a:spcBef>
            </a:pPr>
            <a:r>
              <a:rPr sz="3000" spc="-20" dirty="0">
                <a:latin typeface="Calibri"/>
                <a:cs typeface="Calibri"/>
              </a:rPr>
              <a:t>Attenzione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alla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punteggiatura!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ogni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istruzione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fondamentale: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la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proprietà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  </a:t>
            </a:r>
            <a:r>
              <a:rPr sz="3000" spc="-2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valore </a:t>
            </a:r>
            <a:r>
              <a:rPr sz="3000" spc="-20" dirty="0">
                <a:latin typeface="Calibri"/>
                <a:cs typeface="Calibri"/>
              </a:rPr>
              <a:t>impostato </a:t>
            </a:r>
            <a:r>
              <a:rPr sz="3000" spc="-5" dirty="0">
                <a:latin typeface="Calibri"/>
                <a:cs typeface="Calibri"/>
              </a:rPr>
              <a:t>bisogna </a:t>
            </a:r>
            <a:r>
              <a:rPr sz="3000" spc="-10" dirty="0">
                <a:latin typeface="Calibri"/>
                <a:cs typeface="Calibri"/>
              </a:rPr>
              <a:t>inserire </a:t>
            </a:r>
            <a:r>
              <a:rPr sz="3000" dirty="0">
                <a:latin typeface="Calibri"/>
                <a:cs typeface="Calibri"/>
              </a:rPr>
              <a:t>i due </a:t>
            </a:r>
            <a:r>
              <a:rPr sz="3000" spc="-10" dirty="0">
                <a:latin typeface="Calibri"/>
                <a:cs typeface="Calibri"/>
              </a:rPr>
              <a:t>punti; </a:t>
            </a:r>
            <a:r>
              <a:rPr sz="3000" spc="-20" dirty="0">
                <a:latin typeface="Calibri"/>
                <a:cs typeface="Calibri"/>
              </a:rPr>
              <a:t>tutte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le </a:t>
            </a:r>
            <a:r>
              <a:rPr sz="3000" spc="-15" dirty="0">
                <a:latin typeface="Calibri"/>
                <a:cs typeface="Calibri"/>
              </a:rPr>
              <a:t>proprietà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dirty="0">
                <a:latin typeface="Calibri"/>
                <a:cs typeface="Calibri"/>
              </a:rPr>
              <a:t>i </a:t>
            </a:r>
            <a:r>
              <a:rPr sz="3000" spc="-15" dirty="0">
                <a:latin typeface="Calibri"/>
                <a:cs typeface="Calibri"/>
              </a:rPr>
              <a:t>valori </a:t>
            </a:r>
            <a:r>
              <a:rPr sz="3000" spc="10" dirty="0">
                <a:latin typeface="Calibri"/>
                <a:cs typeface="Calibri"/>
              </a:rPr>
              <a:t>che </a:t>
            </a:r>
            <a:r>
              <a:rPr sz="3000" spc="-5" dirty="0">
                <a:latin typeface="Calibri"/>
                <a:cs typeface="Calibri"/>
              </a:rPr>
              <a:t>definiamo </a:t>
            </a:r>
            <a:r>
              <a:rPr sz="3000" spc="-10" dirty="0">
                <a:latin typeface="Calibri"/>
                <a:cs typeface="Calibri"/>
              </a:rPr>
              <a:t>devono </a:t>
            </a:r>
            <a:r>
              <a:rPr sz="3000" spc="-15" dirty="0">
                <a:latin typeface="Calibri"/>
                <a:cs typeface="Calibri"/>
              </a:rPr>
              <a:t>essere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divisi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dal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punto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virgola.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Calibri"/>
              <a:cs typeface="Calibri"/>
            </a:endParaRPr>
          </a:p>
          <a:p>
            <a:pPr marL="927100" marR="306705" indent="-915035">
              <a:lnSpc>
                <a:spcPct val="109400"/>
              </a:lnSpc>
            </a:pPr>
            <a:r>
              <a:rPr sz="3000" spc="5" dirty="0">
                <a:latin typeface="Calibri"/>
                <a:cs typeface="Calibri"/>
              </a:rPr>
              <a:t>&lt;div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style="color:</a:t>
            </a:r>
            <a:r>
              <a:rPr sz="30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red;</a:t>
            </a:r>
            <a:r>
              <a:rPr sz="3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background-color:</a:t>
            </a:r>
            <a:r>
              <a:rPr sz="30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yellow</a:t>
            </a:r>
            <a:r>
              <a:rPr sz="3000" dirty="0">
                <a:latin typeface="Calibri"/>
                <a:cs typeface="Calibri"/>
              </a:rPr>
              <a:t>&gt;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testo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rosso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sfondo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giallo.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3000" dirty="0">
                <a:latin typeface="Calibri"/>
                <a:cs typeface="Calibri"/>
              </a:rPr>
              <a:t>&lt;/div&gt;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08328"/>
            <a:ext cx="8070850" cy="47097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0"/>
              </a:spcBef>
            </a:pPr>
            <a:r>
              <a:rPr sz="2700" spc="-10" dirty="0">
                <a:latin typeface="Calibri"/>
                <a:cs typeface="Calibri"/>
              </a:rPr>
              <a:t>Il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CSS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linguaggi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fondamentali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Web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ed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standardizzato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nei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browser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web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secondo</a:t>
            </a:r>
            <a:r>
              <a:rPr sz="2700" spc="59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la</a:t>
            </a:r>
            <a:r>
              <a:rPr sz="2700" spc="5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specifica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W3C.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Il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sito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ufficiale</a:t>
            </a:r>
            <a:r>
              <a:rPr sz="2700" spc="1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seguente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7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https://www.w3.org/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00">
              <a:latin typeface="Calibri"/>
              <a:cs typeface="Calibri"/>
            </a:endParaRPr>
          </a:p>
          <a:p>
            <a:pPr marL="12700" marR="6350" algn="just">
              <a:lnSpc>
                <a:spcPct val="80000"/>
              </a:lnSpc>
            </a:pPr>
            <a:r>
              <a:rPr sz="2700" spc="-15" dirty="0">
                <a:latin typeface="Calibri"/>
                <a:cs typeface="Calibri"/>
              </a:rPr>
              <a:t>Mentre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20" dirty="0">
                <a:latin typeface="Calibri"/>
                <a:cs typeface="Calibri"/>
              </a:rPr>
              <a:t>sito </a:t>
            </a:r>
            <a:r>
              <a:rPr sz="2700" b="1" dirty="0">
                <a:latin typeface="Calibri"/>
                <a:cs typeface="Calibri"/>
              </a:rPr>
              <a:t>non </a:t>
            </a:r>
            <a:r>
              <a:rPr sz="2700" spc="-5" dirty="0">
                <a:latin typeface="Calibri"/>
                <a:cs typeface="Calibri"/>
              </a:rPr>
              <a:t>ufficiale </a:t>
            </a:r>
            <a:r>
              <a:rPr sz="2700" spc="20" dirty="0">
                <a:latin typeface="Calibri"/>
                <a:cs typeface="Calibri"/>
              </a:rPr>
              <a:t>ma </a:t>
            </a:r>
            <a:r>
              <a:rPr sz="2700" spc="-5" dirty="0">
                <a:latin typeface="Calibri"/>
                <a:cs typeface="Calibri"/>
              </a:rPr>
              <a:t>ben </a:t>
            </a:r>
            <a:r>
              <a:rPr sz="2700" spc="-45" dirty="0">
                <a:latin typeface="Calibri"/>
                <a:cs typeface="Calibri"/>
              </a:rPr>
              <a:t>fatto, </a:t>
            </a:r>
            <a:r>
              <a:rPr sz="2700" spc="-5" dirty="0">
                <a:latin typeface="Calibri"/>
                <a:cs typeface="Calibri"/>
              </a:rPr>
              <a:t>ben </a:t>
            </a:r>
            <a:r>
              <a:rPr sz="2700" spc="-25" dirty="0">
                <a:latin typeface="Calibri"/>
                <a:cs typeface="Calibri"/>
              </a:rPr>
              <a:t>strutturato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italiano</a:t>
            </a:r>
            <a:r>
              <a:rPr sz="2700" spc="10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seguente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7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https://www.w3schools.com/css/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50">
              <a:latin typeface="Calibri"/>
              <a:cs typeface="Calibri"/>
            </a:endParaRPr>
          </a:p>
          <a:p>
            <a:pPr marL="12700" marR="5715" algn="just">
              <a:lnSpc>
                <a:spcPct val="80000"/>
              </a:lnSpc>
            </a:pPr>
            <a:r>
              <a:rPr sz="2700" dirty="0">
                <a:latin typeface="Calibri"/>
                <a:cs typeface="Calibri"/>
              </a:rPr>
              <a:t>Da </a:t>
            </a:r>
            <a:r>
              <a:rPr sz="2700" spc="-5" dirty="0">
                <a:latin typeface="Calibri"/>
                <a:cs typeface="Calibri"/>
              </a:rPr>
              <a:t>qui è </a:t>
            </a:r>
            <a:r>
              <a:rPr sz="2700" spc="-10" dirty="0">
                <a:latin typeface="Calibri"/>
                <a:cs typeface="Calibri"/>
              </a:rPr>
              <a:t>possible </a:t>
            </a:r>
            <a:r>
              <a:rPr sz="2700" spc="-15" dirty="0">
                <a:latin typeface="Calibri"/>
                <a:cs typeface="Calibri"/>
              </a:rPr>
              <a:t>visualizzare </a:t>
            </a:r>
            <a:r>
              <a:rPr sz="2700" spc="-25" dirty="0">
                <a:latin typeface="Calibri"/>
                <a:cs typeface="Calibri"/>
              </a:rPr>
              <a:t>tutti </a:t>
            </a:r>
            <a:r>
              <a:rPr sz="2700" dirty="0">
                <a:latin typeface="Calibri"/>
                <a:cs typeface="Calibri"/>
              </a:rPr>
              <a:t>gli </a:t>
            </a:r>
            <a:r>
              <a:rPr sz="2700" spc="-15" dirty="0">
                <a:latin typeface="Calibri"/>
                <a:cs typeface="Calibri"/>
              </a:rPr>
              <a:t>attributi </a:t>
            </a:r>
            <a:r>
              <a:rPr sz="2700" dirty="0">
                <a:latin typeface="Calibri"/>
                <a:cs typeface="Calibri"/>
              </a:rPr>
              <a:t>disponibili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relativi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valori.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3785" y="889965"/>
            <a:ext cx="54610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Esempio</a:t>
            </a:r>
            <a:r>
              <a:rPr spc="-45" dirty="0"/>
              <a:t> </a:t>
            </a:r>
            <a:r>
              <a:rPr spc="-5" dirty="0"/>
              <a:t>CSS…</a:t>
            </a:r>
            <a:r>
              <a:rPr spc="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35" dirty="0"/>
              <a:t>cascata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50326"/>
            <a:ext cx="8072120" cy="401955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algn="just">
              <a:lnSpc>
                <a:spcPct val="89900"/>
              </a:lnSpc>
              <a:spcBef>
                <a:spcPts val="480"/>
              </a:spcBef>
            </a:pPr>
            <a:r>
              <a:rPr sz="3200" spc="-10" dirty="0">
                <a:latin typeface="Calibri"/>
                <a:cs typeface="Calibri"/>
              </a:rPr>
              <a:t>Prendendo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l’esempio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precedente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visto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la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sintassi, </a:t>
            </a:r>
            <a:r>
              <a:rPr sz="3200" spc="-30" dirty="0">
                <a:latin typeface="Calibri"/>
                <a:cs typeface="Calibri"/>
              </a:rPr>
              <a:t>provare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creare un </a:t>
            </a:r>
            <a:r>
              <a:rPr sz="3200" spc="-10" dirty="0">
                <a:latin typeface="Calibri"/>
                <a:cs typeface="Calibri"/>
              </a:rPr>
              <a:t>secondo div </a:t>
            </a:r>
            <a:r>
              <a:rPr sz="3200" spc="-20" dirty="0">
                <a:latin typeface="Calibri"/>
                <a:cs typeface="Calibri"/>
              </a:rPr>
              <a:t>dove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cambiamo</a:t>
            </a:r>
            <a:r>
              <a:rPr sz="3200" dirty="0">
                <a:latin typeface="Calibri"/>
                <a:cs typeface="Calibri"/>
              </a:rPr>
              <a:t> 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colore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sfondo</a:t>
            </a:r>
            <a:r>
              <a:rPr sz="3200" spc="-5" dirty="0">
                <a:latin typeface="Calibri"/>
                <a:cs typeface="Calibri"/>
              </a:rPr>
              <a:t> o</a:t>
            </a:r>
            <a:r>
              <a:rPr sz="3200" dirty="0">
                <a:latin typeface="Calibri"/>
                <a:cs typeface="Calibri"/>
              </a:rPr>
              <a:t> 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colore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testo…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oppure</a:t>
            </a:r>
            <a:r>
              <a:rPr sz="3200" spc="-10" dirty="0">
                <a:latin typeface="Calibri"/>
                <a:cs typeface="Calibri"/>
              </a:rPr>
              <a:t> scegliere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lasciare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stesso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sfondo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 </a:t>
            </a:r>
            <a:r>
              <a:rPr sz="3200" spc="-20" dirty="0">
                <a:latin typeface="Calibri"/>
                <a:cs typeface="Calibri"/>
              </a:rPr>
              <a:t>stesso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colore…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provare!!!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00">
              <a:latin typeface="Calibri"/>
              <a:cs typeface="Calibri"/>
            </a:endParaRPr>
          </a:p>
          <a:p>
            <a:pPr marL="12700" marR="7620" algn="just">
              <a:lnSpc>
                <a:spcPct val="90100"/>
              </a:lnSpc>
              <a:spcBef>
                <a:spcPts val="5"/>
              </a:spcBef>
            </a:pP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invece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volessimo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stessi</a:t>
            </a:r>
            <a:r>
              <a:rPr sz="3200" spc="-10" dirty="0">
                <a:latin typeface="Calibri"/>
                <a:cs typeface="Calibri"/>
              </a:rPr>
              <a:t> colori</a:t>
            </a:r>
            <a:r>
              <a:rPr sz="3200" spc="-5" dirty="0">
                <a:latin typeface="Calibri"/>
                <a:cs typeface="Calibri"/>
              </a:rPr>
              <a:t> 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stessi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sfondi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tutto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contenuto</a:t>
            </a:r>
            <a:r>
              <a:rPr sz="3200" spc="-5" dirty="0">
                <a:latin typeface="Calibri"/>
                <a:cs typeface="Calibri"/>
              </a:rPr>
              <a:t> della</a:t>
            </a:r>
            <a:r>
              <a:rPr sz="3200" dirty="0">
                <a:latin typeface="Calibri"/>
                <a:cs typeface="Calibri"/>
              </a:rPr>
              <a:t> pagina?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possibile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? </a:t>
            </a:r>
            <a:r>
              <a:rPr sz="3200" spc="-10" dirty="0">
                <a:latin typeface="Calibri"/>
                <a:cs typeface="Calibri"/>
              </a:rPr>
              <a:t>Come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547" y="881075"/>
            <a:ext cx="7249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CSS</a:t>
            </a:r>
            <a:r>
              <a:rPr spc="15" dirty="0"/>
              <a:t> </a:t>
            </a:r>
            <a:r>
              <a:rPr spc="-15" dirty="0"/>
              <a:t>inline</a:t>
            </a:r>
            <a:r>
              <a:rPr spc="7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30" dirty="0"/>
              <a:t>incorporati</a:t>
            </a:r>
            <a:r>
              <a:rPr spc="160" dirty="0"/>
              <a:t> </a:t>
            </a:r>
            <a:r>
              <a:rPr dirty="0"/>
              <a:t>-</a:t>
            </a:r>
            <a:r>
              <a:rPr spc="-5" dirty="0"/>
              <a:t> esterni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97798"/>
            <a:ext cx="8079105" cy="42087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9525" algn="just">
              <a:lnSpc>
                <a:spcPts val="3229"/>
              </a:lnSpc>
              <a:spcBef>
                <a:spcPts val="530"/>
              </a:spcBef>
            </a:pPr>
            <a:r>
              <a:rPr sz="3000" spc="-70" dirty="0">
                <a:latin typeface="Calibri"/>
                <a:cs typeface="Calibri"/>
              </a:rPr>
              <a:t>Tre </a:t>
            </a:r>
            <a:r>
              <a:rPr sz="3000" spc="-5" dirty="0">
                <a:latin typeface="Calibri"/>
                <a:cs typeface="Calibri"/>
              </a:rPr>
              <a:t>sono </a:t>
            </a:r>
            <a:r>
              <a:rPr sz="3000" dirty="0">
                <a:latin typeface="Calibri"/>
                <a:cs typeface="Calibri"/>
              </a:rPr>
              <a:t>i </a:t>
            </a:r>
            <a:r>
              <a:rPr sz="3000" spc="-10" dirty="0">
                <a:latin typeface="Calibri"/>
                <a:cs typeface="Calibri"/>
              </a:rPr>
              <a:t>modi </a:t>
            </a:r>
            <a:r>
              <a:rPr sz="3000" dirty="0">
                <a:latin typeface="Calibri"/>
                <a:cs typeface="Calibri"/>
              </a:rPr>
              <a:t>per </a:t>
            </a:r>
            <a:r>
              <a:rPr sz="3000" spc="-5" dirty="0">
                <a:latin typeface="Calibri"/>
                <a:cs typeface="Calibri"/>
              </a:rPr>
              <a:t>inserire </a:t>
            </a:r>
            <a:r>
              <a:rPr sz="3000" dirty="0">
                <a:latin typeface="Calibri"/>
                <a:cs typeface="Calibri"/>
              </a:rPr>
              <a:t>i </a:t>
            </a:r>
            <a:r>
              <a:rPr sz="3000" spc="-15" dirty="0">
                <a:latin typeface="Calibri"/>
                <a:cs typeface="Calibri"/>
              </a:rPr>
              <a:t>fogli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stile </a:t>
            </a:r>
            <a:r>
              <a:rPr sz="3000" dirty="0">
                <a:latin typeface="Calibri"/>
                <a:cs typeface="Calibri"/>
              </a:rPr>
              <a:t>CSS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spc="-20" dirty="0">
                <a:latin typeface="Calibri"/>
                <a:cs typeface="Calibri"/>
              </a:rPr>
              <a:t>un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documento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html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: INLINE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INCORPORATI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ESTERNI.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Calibri"/>
              <a:cs typeface="Calibri"/>
            </a:endParaRPr>
          </a:p>
          <a:p>
            <a:pPr marL="12700" marR="5080" algn="just">
              <a:lnSpc>
                <a:spcPct val="90200"/>
              </a:lnSpc>
            </a:pPr>
            <a:r>
              <a:rPr sz="3000" b="1" dirty="0">
                <a:latin typeface="Calibri"/>
                <a:cs typeface="Calibri"/>
              </a:rPr>
              <a:t>INLINE </a:t>
            </a:r>
            <a:r>
              <a:rPr sz="3000" dirty="0">
                <a:latin typeface="Calibri"/>
                <a:cs typeface="Calibri"/>
              </a:rPr>
              <a:t>: </a:t>
            </a:r>
            <a:r>
              <a:rPr sz="3000" spc="5" dirty="0">
                <a:latin typeface="Calibri"/>
                <a:cs typeface="Calibri"/>
              </a:rPr>
              <a:t>Esso </a:t>
            </a:r>
            <a:r>
              <a:rPr sz="3000" spc="-50" dirty="0">
                <a:latin typeface="Calibri"/>
                <a:cs typeface="Calibri"/>
              </a:rPr>
              <a:t>fa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parte </a:t>
            </a:r>
            <a:r>
              <a:rPr sz="3000" spc="-5" dirty="0">
                <a:latin typeface="Calibri"/>
                <a:cs typeface="Calibri"/>
              </a:rPr>
              <a:t>della </a:t>
            </a:r>
            <a:r>
              <a:rPr sz="3000" spc="-10" dirty="0">
                <a:latin typeface="Calibri"/>
                <a:cs typeface="Calibri"/>
              </a:rPr>
              <a:t>collezione di </a:t>
            </a:r>
            <a:r>
              <a:rPr sz="3000" spc="-20" dirty="0">
                <a:latin typeface="Calibri"/>
                <a:cs typeface="Calibri"/>
              </a:rPr>
              <a:t>attributi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HTML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definiti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globali: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si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40" dirty="0">
                <a:latin typeface="Calibri"/>
                <a:cs typeface="Calibri"/>
              </a:rPr>
              <a:t>tratta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quegli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attributi </a:t>
            </a:r>
            <a:r>
              <a:rPr sz="3000" spc="-10" dirty="0">
                <a:latin typeface="Calibri"/>
                <a:cs typeface="Calibri"/>
              </a:rPr>
              <a:t> applicabili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tutti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gli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elementi.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La</a:t>
            </a:r>
            <a:r>
              <a:rPr sz="3000" spc="-5" dirty="0">
                <a:latin typeface="Calibri"/>
                <a:cs typeface="Calibri"/>
              </a:rPr>
              <a:t> dichiarazione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avviene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livello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singoli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tag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contenuti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nella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pagina </a:t>
            </a:r>
            <a:r>
              <a:rPr sz="3000" spc="-30" dirty="0">
                <a:latin typeface="Calibri"/>
                <a:cs typeface="Calibri"/>
              </a:rPr>
              <a:t>attraverso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b="1" spc="-30" dirty="0">
                <a:latin typeface="Calibri"/>
                <a:cs typeface="Calibri"/>
              </a:rPr>
              <a:t>l’attributo </a:t>
            </a:r>
            <a:r>
              <a:rPr sz="3000" b="1" spc="-10" dirty="0">
                <a:latin typeface="Calibri"/>
                <a:cs typeface="Calibri"/>
              </a:rPr>
              <a:t>style </a:t>
            </a:r>
            <a:r>
              <a:rPr sz="3000" spc="5" dirty="0">
                <a:latin typeface="Calibri"/>
                <a:cs typeface="Calibri"/>
              </a:rPr>
              <a:t>e per </a:t>
            </a:r>
            <a:r>
              <a:rPr sz="3000" spc="-10" dirty="0">
                <a:latin typeface="Calibri"/>
                <a:cs typeface="Calibri"/>
              </a:rPr>
              <a:t>questo </a:t>
            </a:r>
            <a:r>
              <a:rPr sz="3000" spc="-5" dirty="0">
                <a:latin typeface="Calibri"/>
                <a:cs typeface="Calibri"/>
              </a:rPr>
              <a:t>si </a:t>
            </a:r>
            <a:r>
              <a:rPr sz="3000" dirty="0">
                <a:latin typeface="Calibri"/>
                <a:cs typeface="Calibri"/>
              </a:rPr>
              <a:t> parla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fogli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stile </a:t>
            </a:r>
            <a:r>
              <a:rPr sz="3000" spc="-5" dirty="0">
                <a:latin typeface="Calibri"/>
                <a:cs typeface="Calibri"/>
              </a:rPr>
              <a:t>in linea </a:t>
            </a:r>
            <a:r>
              <a:rPr sz="3000" spc="5" dirty="0">
                <a:latin typeface="Calibri"/>
                <a:cs typeface="Calibri"/>
              </a:rPr>
              <a:t>(gli </a:t>
            </a:r>
            <a:r>
              <a:rPr sz="3000" spc="-10" dirty="0">
                <a:latin typeface="Calibri"/>
                <a:cs typeface="Calibri"/>
              </a:rPr>
              <a:t>esempi </a:t>
            </a:r>
            <a:r>
              <a:rPr sz="3000" spc="-30" dirty="0">
                <a:latin typeface="Calibri"/>
                <a:cs typeface="Calibri"/>
              </a:rPr>
              <a:t>fatti </a:t>
            </a:r>
            <a:r>
              <a:rPr sz="3000" spc="-15" dirty="0">
                <a:latin typeface="Calibri"/>
                <a:cs typeface="Calibri"/>
              </a:rPr>
              <a:t>finora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sono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inserimenti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INLINE).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8864" y="889965"/>
            <a:ext cx="34474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CSS</a:t>
            </a:r>
            <a:r>
              <a:rPr spc="-20" dirty="0"/>
              <a:t> </a:t>
            </a:r>
            <a:r>
              <a:rPr spc="-30" dirty="0"/>
              <a:t>incorporati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711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60"/>
              </a:spcBef>
              <a:tabLst>
                <a:tab pos="629920" algn="l"/>
                <a:tab pos="1851025" algn="l"/>
                <a:tab pos="4180840" algn="l"/>
                <a:tab pos="5501640" algn="l"/>
                <a:tab pos="6925309" algn="l"/>
              </a:tabLst>
            </a:pPr>
            <a:r>
              <a:rPr spc="-5" dirty="0"/>
              <a:t>I	</a:t>
            </a:r>
            <a:r>
              <a:rPr spc="-95" dirty="0"/>
              <a:t>f</a:t>
            </a:r>
            <a:r>
              <a:rPr spc="5" dirty="0"/>
              <a:t>o</a:t>
            </a:r>
            <a:r>
              <a:rPr spc="-20" dirty="0"/>
              <a:t>g</a:t>
            </a:r>
            <a:r>
              <a:rPr dirty="0"/>
              <a:t>l</a:t>
            </a:r>
            <a:r>
              <a:rPr spc="-5" dirty="0"/>
              <a:t>i</a:t>
            </a:r>
            <a:r>
              <a:rPr dirty="0"/>
              <a:t>	i</a:t>
            </a:r>
            <a:r>
              <a:rPr spc="-10" dirty="0"/>
              <a:t>n</a:t>
            </a:r>
            <a:r>
              <a:rPr spc="-20" dirty="0"/>
              <a:t>c</a:t>
            </a:r>
            <a:r>
              <a:rPr spc="-25" dirty="0"/>
              <a:t>o</a:t>
            </a:r>
            <a:r>
              <a:rPr spc="15" dirty="0"/>
              <a:t>rp</a:t>
            </a:r>
            <a:r>
              <a:rPr spc="-25" dirty="0"/>
              <a:t>o</a:t>
            </a:r>
            <a:r>
              <a:rPr spc="-55" dirty="0"/>
              <a:t>r</a:t>
            </a:r>
            <a:r>
              <a:rPr spc="-45" dirty="0"/>
              <a:t>a</a:t>
            </a:r>
            <a:r>
              <a:rPr spc="-5" dirty="0"/>
              <a:t>ti</a:t>
            </a:r>
            <a:r>
              <a:rPr dirty="0"/>
              <a:t>	</a:t>
            </a:r>
            <a:r>
              <a:rPr spc="20" dirty="0"/>
              <a:t>s</a:t>
            </a:r>
            <a:r>
              <a:rPr spc="10" dirty="0"/>
              <a:t>o</a:t>
            </a:r>
            <a:r>
              <a:rPr spc="-10" dirty="0"/>
              <a:t>n</a:t>
            </a:r>
            <a:r>
              <a:rPr spc="-5" dirty="0"/>
              <a:t>o</a:t>
            </a:r>
            <a:r>
              <a:rPr dirty="0"/>
              <a:t>	</a:t>
            </a:r>
            <a:r>
              <a:rPr spc="-10" dirty="0"/>
              <a:t>q</a:t>
            </a:r>
            <a:r>
              <a:rPr spc="-30" dirty="0"/>
              <a:t>u</a:t>
            </a:r>
            <a:r>
              <a:rPr spc="-5" dirty="0"/>
              <a:t>e</a:t>
            </a:r>
            <a:r>
              <a:rPr spc="5" dirty="0"/>
              <a:t>l</a:t>
            </a:r>
            <a:r>
              <a:rPr dirty="0"/>
              <a:t>l</a:t>
            </a:r>
            <a:r>
              <a:rPr spc="-5" dirty="0"/>
              <a:t>i</a:t>
            </a:r>
            <a:r>
              <a:rPr dirty="0"/>
              <a:t>	i</a:t>
            </a:r>
            <a:r>
              <a:rPr spc="-10" dirty="0"/>
              <a:t>n</a:t>
            </a:r>
            <a:r>
              <a:rPr spc="-25" dirty="0"/>
              <a:t>s</a:t>
            </a:r>
            <a:r>
              <a:rPr spc="30" dirty="0"/>
              <a:t>e</a:t>
            </a:r>
            <a:r>
              <a:rPr spc="-20" dirty="0"/>
              <a:t>r</a:t>
            </a:r>
            <a:r>
              <a:rPr dirty="0"/>
              <a:t>i</a:t>
            </a:r>
            <a:r>
              <a:rPr spc="-5" dirty="0"/>
              <a:t>ti  </a:t>
            </a:r>
            <a:r>
              <a:rPr spc="-20" dirty="0"/>
              <a:t>direttamente</a:t>
            </a:r>
            <a:r>
              <a:rPr spc="30" dirty="0"/>
              <a:t> </a:t>
            </a:r>
            <a:r>
              <a:rPr spc="-10" dirty="0"/>
              <a:t>nel</a:t>
            </a:r>
            <a:r>
              <a:rPr spc="25" dirty="0"/>
              <a:t> </a:t>
            </a:r>
            <a:r>
              <a:rPr spc="-5" dirty="0"/>
              <a:t>documento </a:t>
            </a:r>
            <a:r>
              <a:rPr spc="-10" dirty="0"/>
              <a:t>HTML</a:t>
            </a:r>
            <a:r>
              <a:rPr spc="55" dirty="0"/>
              <a:t> </a:t>
            </a:r>
            <a:r>
              <a:rPr spc="-20" dirty="0"/>
              <a:t>tramite</a:t>
            </a:r>
            <a:r>
              <a:rPr spc="30" dirty="0"/>
              <a:t> </a:t>
            </a:r>
            <a:r>
              <a:rPr dirty="0"/>
              <a:t>il</a:t>
            </a:r>
            <a:r>
              <a:rPr spc="30" dirty="0"/>
              <a:t> </a:t>
            </a:r>
            <a:r>
              <a:rPr spc="-10" dirty="0"/>
              <a:t>tag</a:t>
            </a:r>
          </a:p>
          <a:p>
            <a:pPr marL="12700">
              <a:lnSpc>
                <a:spcPts val="3829"/>
              </a:lnSpc>
            </a:pPr>
            <a:r>
              <a:rPr spc="-5" dirty="0"/>
              <a:t>&lt;style&gt;.</a:t>
            </a:r>
            <a:r>
              <a:rPr spc="165" dirty="0"/>
              <a:t> </a:t>
            </a:r>
            <a:r>
              <a:rPr dirty="0"/>
              <a:t>In</a:t>
            </a:r>
            <a:r>
              <a:rPr spc="220" dirty="0"/>
              <a:t> </a:t>
            </a:r>
            <a:r>
              <a:rPr spc="-20" dirty="0"/>
              <a:t>questo</a:t>
            </a:r>
            <a:r>
              <a:rPr spc="180" dirty="0"/>
              <a:t> </a:t>
            </a:r>
            <a:r>
              <a:rPr dirty="0"/>
              <a:t>caso</a:t>
            </a:r>
            <a:r>
              <a:rPr spc="150" dirty="0"/>
              <a:t> </a:t>
            </a:r>
            <a:r>
              <a:rPr spc="20" dirty="0"/>
              <a:t>la</a:t>
            </a:r>
            <a:r>
              <a:rPr spc="190" dirty="0"/>
              <a:t> </a:t>
            </a:r>
            <a:r>
              <a:rPr spc="-10" dirty="0"/>
              <a:t>dichiarazione</a:t>
            </a:r>
            <a:r>
              <a:rPr spc="229" dirty="0"/>
              <a:t> </a:t>
            </a:r>
            <a:r>
              <a:rPr spc="-20" dirty="0"/>
              <a:t>va</a:t>
            </a:r>
            <a:r>
              <a:rPr spc="190" dirty="0"/>
              <a:t> </a:t>
            </a:r>
            <a:r>
              <a:rPr spc="-25" dirty="0"/>
              <a:t>posta</a:t>
            </a:r>
          </a:p>
          <a:p>
            <a:pPr marL="12700">
              <a:lnSpc>
                <a:spcPts val="3835"/>
              </a:lnSpc>
            </a:pPr>
            <a:r>
              <a:rPr spc="-15" dirty="0"/>
              <a:t>all’interno</a:t>
            </a:r>
            <a:r>
              <a:rPr spc="75" dirty="0"/>
              <a:t> </a:t>
            </a:r>
            <a:r>
              <a:rPr spc="-5" dirty="0"/>
              <a:t>della</a:t>
            </a:r>
            <a:r>
              <a:rPr spc="15" dirty="0"/>
              <a:t> </a:t>
            </a:r>
            <a:r>
              <a:rPr spc="-15" dirty="0"/>
              <a:t>sezione</a:t>
            </a:r>
            <a:r>
              <a:rPr spc="30" dirty="0"/>
              <a:t> </a:t>
            </a:r>
            <a:r>
              <a:rPr spc="-10" dirty="0"/>
              <a:t>&lt;head&gt;.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/>
          </a:p>
          <a:p>
            <a:pPr marL="12700">
              <a:lnSpc>
                <a:spcPct val="100000"/>
              </a:lnSpc>
            </a:pPr>
            <a:r>
              <a:rPr spc="-5" dirty="0"/>
              <a:t>La</a:t>
            </a:r>
            <a:r>
              <a:rPr spc="5" dirty="0"/>
              <a:t> </a:t>
            </a:r>
            <a:r>
              <a:rPr spc="-20" dirty="0"/>
              <a:t>sintassi</a:t>
            </a:r>
            <a:r>
              <a:rPr spc="55" dirty="0"/>
              <a:t> </a:t>
            </a:r>
            <a:r>
              <a:rPr spc="-5" dirty="0"/>
              <a:t>è</a:t>
            </a:r>
            <a:r>
              <a:rPr spc="-20" dirty="0"/>
              <a:t> </a:t>
            </a:r>
            <a:r>
              <a:rPr dirty="0"/>
              <a:t>la</a:t>
            </a:r>
            <a:r>
              <a:rPr spc="5" dirty="0"/>
              <a:t> </a:t>
            </a:r>
            <a:r>
              <a:rPr spc="-20" dirty="0"/>
              <a:t>seguente</a:t>
            </a:r>
            <a:r>
              <a:rPr spc="55" dirty="0"/>
              <a:t> </a:t>
            </a:r>
            <a:r>
              <a:rPr spc="-5" dirty="0"/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36027"/>
            <a:ext cx="6435725" cy="4552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95"/>
              </a:spcBef>
            </a:pPr>
            <a:r>
              <a:rPr sz="2700" spc="-15" dirty="0">
                <a:latin typeface="Calibri"/>
                <a:cs typeface="Calibri"/>
              </a:rPr>
              <a:t>&lt;html&gt;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&lt;head&gt;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235"/>
              </a:lnSpc>
              <a:spcBef>
                <a:spcPts val="25"/>
              </a:spcBef>
            </a:pPr>
            <a:r>
              <a:rPr sz="2700" spc="-20" dirty="0">
                <a:latin typeface="Calibri"/>
                <a:cs typeface="Calibri"/>
              </a:rPr>
              <a:t>&lt;style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type="text/css"&gt;</a:t>
            </a:r>
            <a:endParaRPr sz="2700">
              <a:latin typeface="Calibri"/>
              <a:cs typeface="Calibri"/>
            </a:endParaRPr>
          </a:p>
          <a:p>
            <a:pPr marL="2756535" marR="5080">
              <a:lnSpc>
                <a:spcPts val="3229"/>
              </a:lnSpc>
              <a:spcBef>
                <a:spcPts val="115"/>
              </a:spcBef>
            </a:pPr>
            <a:r>
              <a:rPr sz="2700" spc="-10" dirty="0">
                <a:latin typeface="Calibri"/>
                <a:cs typeface="Calibri"/>
              </a:rPr>
              <a:t>body {background: </a:t>
            </a:r>
            <a:r>
              <a:rPr sz="2700" spc="-15" dirty="0">
                <a:latin typeface="Calibri"/>
                <a:cs typeface="Calibri"/>
              </a:rPr>
              <a:t>white;}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{color: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red;}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150"/>
              </a:lnSpc>
            </a:pPr>
            <a:r>
              <a:rPr sz="2700" spc="-20" dirty="0">
                <a:latin typeface="Calibri"/>
                <a:cs typeface="Calibri"/>
              </a:rPr>
              <a:t>&lt;/style&gt;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29"/>
              </a:lnSpc>
            </a:pPr>
            <a:r>
              <a:rPr sz="2700" spc="-10" dirty="0">
                <a:latin typeface="Calibri"/>
                <a:cs typeface="Calibri"/>
              </a:rPr>
              <a:t>&lt;/head&gt;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10" dirty="0">
                <a:latin typeface="Calibri"/>
                <a:cs typeface="Calibri"/>
              </a:rPr>
              <a:t>&lt;body&gt;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235"/>
              </a:lnSpc>
              <a:spcBef>
                <a:spcPts val="25"/>
              </a:spcBef>
            </a:pPr>
            <a:r>
              <a:rPr sz="2700" spc="-45" dirty="0">
                <a:latin typeface="Calibri"/>
                <a:cs typeface="Calibri"/>
              </a:rPr>
              <a:t>&lt;p&gt;Testo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scritto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rosso&lt;/p&gt;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29"/>
              </a:lnSpc>
            </a:pPr>
            <a:r>
              <a:rPr sz="2700" spc="-10" dirty="0">
                <a:latin typeface="Calibri"/>
                <a:cs typeface="Calibri"/>
              </a:rPr>
              <a:t>&lt;/body&gt;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15" dirty="0">
                <a:latin typeface="Calibri"/>
                <a:cs typeface="Calibri"/>
              </a:rPr>
              <a:t>&lt;/html&gt;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1952" y="889965"/>
            <a:ext cx="63398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Inline</a:t>
            </a:r>
            <a:r>
              <a:rPr spc="60" dirty="0"/>
              <a:t> </a:t>
            </a:r>
            <a:r>
              <a:rPr spc="-35" dirty="0"/>
              <a:t>prevale</a:t>
            </a:r>
            <a:r>
              <a:rPr spc="70" dirty="0"/>
              <a:t> </a:t>
            </a:r>
            <a:r>
              <a:rPr spc="5" dirty="0"/>
              <a:t>su</a:t>
            </a:r>
            <a:r>
              <a:rPr spc="-25" dirty="0"/>
              <a:t> </a:t>
            </a:r>
            <a:r>
              <a:rPr spc="-30" dirty="0"/>
              <a:t>incorporati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922462"/>
            <a:ext cx="8078470" cy="35775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12065" algn="just">
              <a:lnSpc>
                <a:spcPct val="90000"/>
              </a:lnSpc>
              <a:spcBef>
                <a:spcPts val="475"/>
              </a:spcBef>
            </a:pPr>
            <a:r>
              <a:rPr sz="3200" spc="-40" dirty="0">
                <a:latin typeface="Calibri"/>
                <a:cs typeface="Calibri"/>
              </a:rPr>
              <a:t>Fare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attenzione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</a:t>
            </a:r>
            <a:r>
              <a:rPr sz="3200" spc="-5" dirty="0">
                <a:latin typeface="Calibri"/>
                <a:cs typeface="Calibri"/>
              </a:rPr>
              <a:t> nella</a:t>
            </a:r>
            <a:r>
              <a:rPr sz="3200" spc="7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stessa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pagina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scriviamo codice </a:t>
            </a:r>
            <a:r>
              <a:rPr sz="3200" dirty="0">
                <a:latin typeface="Calibri"/>
                <a:cs typeface="Calibri"/>
              </a:rPr>
              <a:t>CSS </a:t>
            </a:r>
            <a:r>
              <a:rPr sz="3200" spc="-15" dirty="0">
                <a:latin typeface="Calibri"/>
                <a:cs typeface="Calibri"/>
              </a:rPr>
              <a:t>incorporato </a:t>
            </a:r>
            <a:r>
              <a:rPr sz="3200" dirty="0">
                <a:latin typeface="Calibri"/>
                <a:cs typeface="Calibri"/>
              </a:rPr>
              <a:t>e, </a:t>
            </a:r>
            <a:r>
              <a:rPr sz="3200" spc="-5" dirty="0">
                <a:latin typeface="Calibri"/>
                <a:cs typeface="Calibri"/>
              </a:rPr>
              <a:t>nella </a:t>
            </a:r>
            <a:r>
              <a:rPr sz="3200" spc="-15" dirty="0">
                <a:latin typeface="Calibri"/>
                <a:cs typeface="Calibri"/>
              </a:rPr>
              <a:t>stessa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abbiamo </a:t>
            </a:r>
            <a:r>
              <a:rPr sz="3200" spc="-10" dirty="0">
                <a:latin typeface="Calibri"/>
                <a:cs typeface="Calibri"/>
              </a:rPr>
              <a:t>tag html </a:t>
            </a:r>
            <a:r>
              <a:rPr sz="3200" spc="-15" dirty="0">
                <a:latin typeface="Calibri"/>
                <a:cs typeface="Calibri"/>
              </a:rPr>
              <a:t>con </a:t>
            </a:r>
            <a:r>
              <a:rPr sz="3200" spc="-5" dirty="0">
                <a:latin typeface="Calibri"/>
                <a:cs typeface="Calibri"/>
              </a:rPr>
              <a:t>codice </a:t>
            </a:r>
            <a:r>
              <a:rPr sz="3200" spc="-10" dirty="0">
                <a:latin typeface="Calibri"/>
                <a:cs typeface="Calibri"/>
              </a:rPr>
              <a:t>css </a:t>
            </a:r>
            <a:r>
              <a:rPr sz="3200" dirty="0">
                <a:latin typeface="Calibri"/>
                <a:cs typeface="Calibri"/>
              </a:rPr>
              <a:t>inline, </a:t>
            </a:r>
            <a:r>
              <a:rPr sz="3200" spc="-25" dirty="0">
                <a:latin typeface="Calibri"/>
                <a:cs typeface="Calibri"/>
              </a:rPr>
              <a:t>prevarrà 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codice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scritto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inline</a:t>
            </a:r>
            <a:r>
              <a:rPr sz="3200" spc="-1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50">
              <a:latin typeface="Calibri"/>
              <a:cs typeface="Calibri"/>
            </a:endParaRPr>
          </a:p>
          <a:p>
            <a:pPr marL="12700" marR="5080" algn="just">
              <a:lnSpc>
                <a:spcPct val="90100"/>
              </a:lnSpc>
            </a:pPr>
            <a:r>
              <a:rPr sz="3200" spc="-20" dirty="0">
                <a:latin typeface="Calibri"/>
                <a:cs typeface="Calibri"/>
              </a:rPr>
              <a:t>Diremo, </a:t>
            </a:r>
            <a:r>
              <a:rPr sz="3200" spc="20" dirty="0">
                <a:latin typeface="Calibri"/>
                <a:cs typeface="Calibri"/>
              </a:rPr>
              <a:t>in </a:t>
            </a:r>
            <a:r>
              <a:rPr sz="3200" spc="-10" dirty="0">
                <a:latin typeface="Calibri"/>
                <a:cs typeface="Calibri"/>
              </a:rPr>
              <a:t>questo </a:t>
            </a:r>
            <a:r>
              <a:rPr sz="3200" spc="-20" dirty="0">
                <a:latin typeface="Calibri"/>
                <a:cs typeface="Calibri"/>
              </a:rPr>
              <a:t>caso, </a:t>
            </a:r>
            <a:r>
              <a:rPr sz="3200" dirty="0">
                <a:latin typeface="Calibri"/>
                <a:cs typeface="Calibri"/>
              </a:rPr>
              <a:t>che il </a:t>
            </a:r>
            <a:r>
              <a:rPr sz="3200" spc="-10" dirty="0">
                <a:latin typeface="Calibri"/>
                <a:cs typeface="Calibri"/>
              </a:rPr>
              <a:t>codice </a:t>
            </a:r>
            <a:r>
              <a:rPr sz="3200" spc="-5" dirty="0">
                <a:latin typeface="Calibri"/>
                <a:cs typeface="Calibri"/>
              </a:rPr>
              <a:t>inline </a:t>
            </a:r>
            <a:r>
              <a:rPr sz="3200" spc="15" dirty="0">
                <a:latin typeface="Calibri"/>
                <a:cs typeface="Calibri"/>
              </a:rPr>
              <a:t>ha 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sovrascritto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codice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incorporato.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Ecco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un 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esempio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36027"/>
            <a:ext cx="7843520" cy="4552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95"/>
              </a:spcBef>
            </a:pPr>
            <a:r>
              <a:rPr sz="2700" spc="-15" dirty="0">
                <a:latin typeface="Calibri"/>
                <a:cs typeface="Calibri"/>
              </a:rPr>
              <a:t>&lt;html&gt;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&lt;head&gt;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235"/>
              </a:lnSpc>
              <a:spcBef>
                <a:spcPts val="25"/>
              </a:spcBef>
            </a:pPr>
            <a:r>
              <a:rPr sz="2700" spc="-20" dirty="0">
                <a:latin typeface="Calibri"/>
                <a:cs typeface="Calibri"/>
              </a:rPr>
              <a:t>&lt;style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type="text/css"&gt;</a:t>
            </a:r>
            <a:endParaRPr sz="2700">
              <a:latin typeface="Calibri"/>
              <a:cs typeface="Calibri"/>
            </a:endParaRPr>
          </a:p>
          <a:p>
            <a:pPr marL="2756535" marR="1412240">
              <a:lnSpc>
                <a:spcPts val="3229"/>
              </a:lnSpc>
              <a:spcBef>
                <a:spcPts val="115"/>
              </a:spcBef>
            </a:pPr>
            <a:r>
              <a:rPr sz="2700" spc="-10" dirty="0">
                <a:latin typeface="Calibri"/>
                <a:cs typeface="Calibri"/>
              </a:rPr>
              <a:t>body {background: </a:t>
            </a:r>
            <a:r>
              <a:rPr sz="2700" spc="-15" dirty="0">
                <a:latin typeface="Calibri"/>
                <a:cs typeface="Calibri"/>
              </a:rPr>
              <a:t>white;}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{color: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red;}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150"/>
              </a:lnSpc>
            </a:pPr>
            <a:r>
              <a:rPr sz="2700" spc="-20" dirty="0">
                <a:latin typeface="Calibri"/>
                <a:cs typeface="Calibri"/>
              </a:rPr>
              <a:t>&lt;/style&gt;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29"/>
              </a:lnSpc>
            </a:pPr>
            <a:r>
              <a:rPr sz="2700" spc="-10" dirty="0">
                <a:latin typeface="Calibri"/>
                <a:cs typeface="Calibri"/>
              </a:rPr>
              <a:t>&lt;/head&gt;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&lt;body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style="background: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yellow;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"&gt;</a:t>
            </a:r>
            <a:endParaRPr sz="2700">
              <a:latin typeface="Calibri"/>
              <a:cs typeface="Calibri"/>
            </a:endParaRPr>
          </a:p>
          <a:p>
            <a:pPr marL="1395730">
              <a:lnSpc>
                <a:spcPts val="3235"/>
              </a:lnSpc>
              <a:spcBef>
                <a:spcPts val="25"/>
              </a:spcBef>
            </a:pPr>
            <a:r>
              <a:rPr sz="2700" spc="-45" dirty="0">
                <a:latin typeface="Calibri"/>
                <a:cs typeface="Calibri"/>
              </a:rPr>
              <a:t>&lt;p&gt;Testo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scritto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rosso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sfondo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giallo&lt;/p&gt;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29"/>
              </a:lnSpc>
            </a:pPr>
            <a:r>
              <a:rPr sz="2700" spc="-10" dirty="0">
                <a:latin typeface="Calibri"/>
                <a:cs typeface="Calibri"/>
              </a:rPr>
              <a:t>&lt;/body&gt;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15" dirty="0">
                <a:latin typeface="Calibri"/>
                <a:cs typeface="Calibri"/>
              </a:rPr>
              <a:t>&lt;/html&gt;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4201" y="889965"/>
            <a:ext cx="1358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Colori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65363"/>
            <a:ext cx="8078470" cy="40011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10160" algn="just">
              <a:lnSpc>
                <a:spcPct val="81500"/>
              </a:lnSpc>
              <a:spcBef>
                <a:spcPts val="680"/>
              </a:spcBef>
            </a:pPr>
            <a:r>
              <a:rPr sz="2450" dirty="0">
                <a:latin typeface="Calibri"/>
                <a:cs typeface="Calibri"/>
              </a:rPr>
              <a:t>Finora </a:t>
            </a:r>
            <a:r>
              <a:rPr sz="2450" spc="20" dirty="0">
                <a:latin typeface="Calibri"/>
                <a:cs typeface="Calibri"/>
              </a:rPr>
              <a:t>abbiamo </a:t>
            </a:r>
            <a:r>
              <a:rPr sz="2450" dirty="0">
                <a:latin typeface="Calibri"/>
                <a:cs typeface="Calibri"/>
              </a:rPr>
              <a:t>detto </a:t>
            </a:r>
            <a:r>
              <a:rPr sz="2450" spc="20" dirty="0">
                <a:latin typeface="Calibri"/>
                <a:cs typeface="Calibri"/>
              </a:rPr>
              <a:t>che </a:t>
            </a:r>
            <a:r>
              <a:rPr sz="2450" spc="5" dirty="0">
                <a:latin typeface="Calibri"/>
                <a:cs typeface="Calibri"/>
              </a:rPr>
              <a:t>sia </a:t>
            </a:r>
            <a:r>
              <a:rPr sz="2450" spc="10" dirty="0">
                <a:latin typeface="Calibri"/>
                <a:cs typeface="Calibri"/>
              </a:rPr>
              <a:t>html </a:t>
            </a:r>
            <a:r>
              <a:rPr sz="2450" spc="20" dirty="0">
                <a:latin typeface="Calibri"/>
                <a:cs typeface="Calibri"/>
              </a:rPr>
              <a:t>che </a:t>
            </a:r>
            <a:r>
              <a:rPr sz="2450" spc="5" dirty="0">
                <a:latin typeface="Calibri"/>
                <a:cs typeface="Calibri"/>
              </a:rPr>
              <a:t>i </a:t>
            </a:r>
            <a:r>
              <a:rPr sz="2450" spc="10" dirty="0">
                <a:latin typeface="Calibri"/>
                <a:cs typeface="Calibri"/>
              </a:rPr>
              <a:t>css prendono come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valore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del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colore,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corrispondente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valore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scritto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  </a:t>
            </a:r>
            <a:r>
              <a:rPr sz="2450" spc="15" dirty="0">
                <a:latin typeface="Calibri"/>
                <a:cs typeface="Calibri"/>
              </a:rPr>
              <a:t>inglese </a:t>
            </a:r>
            <a:r>
              <a:rPr sz="2450" spc="-54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(red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 </a:t>
            </a:r>
            <a:r>
              <a:rPr sz="2450" spc="-10" dirty="0">
                <a:latin typeface="Calibri"/>
                <a:cs typeface="Calibri"/>
              </a:rPr>
              <a:t>rosso,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white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 </a:t>
            </a:r>
            <a:r>
              <a:rPr sz="2450" spc="10" dirty="0">
                <a:latin typeface="Calibri"/>
                <a:cs typeface="Calibri"/>
              </a:rPr>
              <a:t>bianco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ecc.).</a:t>
            </a:r>
            <a:endParaRPr sz="2450">
              <a:latin typeface="Calibri"/>
              <a:cs typeface="Calibri"/>
            </a:endParaRPr>
          </a:p>
          <a:p>
            <a:pPr marL="12700" marR="5080" algn="just">
              <a:lnSpc>
                <a:spcPct val="81600"/>
              </a:lnSpc>
              <a:spcBef>
                <a:spcPts val="1930"/>
              </a:spcBef>
            </a:pPr>
            <a:r>
              <a:rPr sz="2450" spc="10" dirty="0">
                <a:latin typeface="Calibri"/>
                <a:cs typeface="Calibri"/>
              </a:rPr>
              <a:t>Il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modo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più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corretto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però,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è</a:t>
            </a:r>
            <a:r>
              <a:rPr sz="2450" spc="20" dirty="0">
                <a:latin typeface="Calibri"/>
                <a:cs typeface="Calibri"/>
              </a:rPr>
              <a:t> quello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usare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valore 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alfanumerico chiamato </a:t>
            </a:r>
            <a:r>
              <a:rPr sz="2450" spc="5" dirty="0">
                <a:latin typeface="Calibri"/>
                <a:cs typeface="Calibri"/>
              </a:rPr>
              <a:t>“valore </a:t>
            </a:r>
            <a:r>
              <a:rPr sz="2450" spc="20" dirty="0">
                <a:latin typeface="Calibri"/>
                <a:cs typeface="Calibri"/>
              </a:rPr>
              <a:t>esadecimale”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5" dirty="0">
                <a:latin typeface="Calibri"/>
                <a:cs typeface="Calibri"/>
              </a:rPr>
              <a:t>colore, con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 vantaggio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dirty="0">
                <a:latin typeface="Calibri"/>
                <a:cs typeface="Calibri"/>
              </a:rPr>
              <a:t>avere </a:t>
            </a:r>
            <a:r>
              <a:rPr sz="2450" spc="15" dirty="0">
                <a:latin typeface="Calibri"/>
                <a:cs typeface="Calibri"/>
              </a:rPr>
              <a:t>a </a:t>
            </a:r>
            <a:r>
              <a:rPr sz="2450" spc="20" dirty="0">
                <a:latin typeface="Calibri"/>
                <a:cs typeface="Calibri"/>
              </a:rPr>
              <a:t>disposizione </a:t>
            </a:r>
            <a:r>
              <a:rPr sz="2450" spc="15" dirty="0">
                <a:latin typeface="Calibri"/>
                <a:cs typeface="Calibri"/>
              </a:rPr>
              <a:t>più </a:t>
            </a:r>
            <a:r>
              <a:rPr sz="2450" spc="5" dirty="0">
                <a:latin typeface="Calibri"/>
                <a:cs typeface="Calibri"/>
              </a:rPr>
              <a:t>sfumature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5" dirty="0">
                <a:latin typeface="Calibri"/>
                <a:cs typeface="Calibri"/>
              </a:rPr>
              <a:t>colore.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Questo</a:t>
            </a:r>
            <a:r>
              <a:rPr sz="2450" spc="10" dirty="0">
                <a:latin typeface="Calibri"/>
                <a:cs typeface="Calibri"/>
              </a:rPr>
              <a:t> argomento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verrà</a:t>
            </a:r>
            <a:r>
              <a:rPr sz="2450" spc="5" dirty="0">
                <a:latin typeface="Calibri"/>
                <a:cs typeface="Calibri"/>
              </a:rPr>
              <a:t> approfondito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più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avanti,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30" dirty="0">
                <a:latin typeface="Calibri"/>
                <a:cs typeface="Calibri"/>
              </a:rPr>
              <a:t>per</a:t>
            </a:r>
            <a:r>
              <a:rPr sz="2450" spc="35" dirty="0">
                <a:latin typeface="Calibri"/>
                <a:cs typeface="Calibri"/>
              </a:rPr>
              <a:t> il 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momento</a:t>
            </a:r>
            <a:r>
              <a:rPr sz="2450" spc="15" dirty="0">
                <a:latin typeface="Calibri"/>
                <a:cs typeface="Calibri"/>
              </a:rPr>
              <a:t> limitiamoci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ad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inserire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valore</a:t>
            </a:r>
            <a:r>
              <a:rPr sz="2450" spc="55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esadecimale  </a:t>
            </a:r>
            <a:r>
              <a:rPr sz="2450" spc="25" dirty="0">
                <a:latin typeface="Calibri"/>
                <a:cs typeface="Calibri"/>
              </a:rPr>
              <a:t>al 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posto </a:t>
            </a:r>
            <a:r>
              <a:rPr sz="2450" spc="10" dirty="0">
                <a:latin typeface="Calibri"/>
                <a:cs typeface="Calibri"/>
              </a:rPr>
              <a:t>della </a:t>
            </a:r>
            <a:r>
              <a:rPr sz="2450" spc="5" dirty="0">
                <a:latin typeface="Calibri"/>
                <a:cs typeface="Calibri"/>
              </a:rPr>
              <a:t>parola </a:t>
            </a:r>
            <a:r>
              <a:rPr sz="2450" spc="10" dirty="0">
                <a:latin typeface="Calibri"/>
                <a:cs typeface="Calibri"/>
              </a:rPr>
              <a:t>in inglese </a:t>
            </a:r>
            <a:r>
              <a:rPr sz="2450" spc="15" dirty="0">
                <a:latin typeface="Calibri"/>
                <a:cs typeface="Calibri"/>
              </a:rPr>
              <a:t>prendendoli </a:t>
            </a:r>
            <a:r>
              <a:rPr sz="2450" spc="20" dirty="0">
                <a:latin typeface="Calibri"/>
                <a:cs typeface="Calibri"/>
              </a:rPr>
              <a:t>da </a:t>
            </a:r>
            <a:r>
              <a:rPr sz="2450" spc="5" dirty="0">
                <a:latin typeface="Calibri"/>
                <a:cs typeface="Calibri"/>
              </a:rPr>
              <a:t>internet </a:t>
            </a:r>
            <a:r>
              <a:rPr sz="2450" spc="10" dirty="0">
                <a:latin typeface="Calibri"/>
                <a:cs typeface="Calibri"/>
              </a:rPr>
              <a:t>(scrivere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sul </a:t>
            </a:r>
            <a:r>
              <a:rPr sz="2450" spc="15" dirty="0">
                <a:latin typeface="Calibri"/>
                <a:cs typeface="Calibri"/>
              </a:rPr>
              <a:t>campo </a:t>
            </a:r>
            <a:r>
              <a:rPr sz="2450" spc="10" dirty="0">
                <a:latin typeface="Calibri"/>
                <a:cs typeface="Calibri"/>
              </a:rPr>
              <a:t>ricerca di </a:t>
            </a:r>
            <a:r>
              <a:rPr sz="2450" spc="15" dirty="0">
                <a:latin typeface="Calibri"/>
                <a:cs typeface="Calibri"/>
              </a:rPr>
              <a:t>google </a:t>
            </a:r>
            <a:r>
              <a:rPr sz="2450" spc="-15" dirty="0">
                <a:latin typeface="Calibri"/>
                <a:cs typeface="Calibri"/>
              </a:rPr>
              <a:t>“color </a:t>
            </a:r>
            <a:r>
              <a:rPr sz="2450" spc="5" dirty="0">
                <a:latin typeface="Calibri"/>
                <a:cs typeface="Calibri"/>
              </a:rPr>
              <a:t>swatch”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spc="10" dirty="0">
                <a:latin typeface="Calibri"/>
                <a:cs typeface="Calibri"/>
              </a:rPr>
              <a:t>prendere </a:t>
            </a:r>
            <a:r>
              <a:rPr sz="2450" spc="20" dirty="0">
                <a:latin typeface="Calibri"/>
                <a:cs typeface="Calibri"/>
              </a:rPr>
              <a:t>uno </a:t>
            </a:r>
            <a:r>
              <a:rPr sz="2450" spc="15" dirty="0">
                <a:latin typeface="Calibri"/>
                <a:cs typeface="Calibri"/>
              </a:rPr>
              <a:t>dei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primi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siti)</a:t>
            </a:r>
            <a:r>
              <a:rPr sz="2450" spc="10" dirty="0">
                <a:latin typeface="Calibri"/>
                <a:cs typeface="Calibri"/>
              </a:rPr>
              <a:t> oppure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vai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direttamente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al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seguente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indirizzo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https://color.adobe.com/create</a:t>
            </a:r>
            <a:r>
              <a:rPr sz="2450" spc="-5" dirty="0">
                <a:latin typeface="Calibri"/>
                <a:cs typeface="Calibri"/>
              </a:rPr>
              <a:t>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36027"/>
            <a:ext cx="7843520" cy="4552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95"/>
              </a:spcBef>
            </a:pPr>
            <a:r>
              <a:rPr sz="2700" spc="-15" dirty="0">
                <a:latin typeface="Calibri"/>
                <a:cs typeface="Calibri"/>
              </a:rPr>
              <a:t>&lt;html&gt;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&lt;head&gt;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235"/>
              </a:lnSpc>
              <a:spcBef>
                <a:spcPts val="25"/>
              </a:spcBef>
            </a:pPr>
            <a:r>
              <a:rPr sz="2700" spc="-20" dirty="0">
                <a:latin typeface="Calibri"/>
                <a:cs typeface="Calibri"/>
              </a:rPr>
              <a:t>&lt;style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type="text/css"&gt;</a:t>
            </a:r>
            <a:endParaRPr sz="2700">
              <a:latin typeface="Calibri"/>
              <a:cs typeface="Calibri"/>
            </a:endParaRPr>
          </a:p>
          <a:p>
            <a:pPr marL="2756535" marR="1420495">
              <a:lnSpc>
                <a:spcPts val="3229"/>
              </a:lnSpc>
              <a:spcBef>
                <a:spcPts val="115"/>
              </a:spcBef>
            </a:pPr>
            <a:r>
              <a:rPr sz="2700" spc="-10" dirty="0">
                <a:latin typeface="Calibri"/>
                <a:cs typeface="Calibri"/>
              </a:rPr>
              <a:t>body {background: </a:t>
            </a:r>
            <a:r>
              <a:rPr sz="2700" spc="-30" dirty="0">
                <a:latin typeface="Calibri"/>
                <a:cs typeface="Calibri"/>
              </a:rPr>
              <a:t>#ffffff;}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{color: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#ff0000;}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150"/>
              </a:lnSpc>
            </a:pPr>
            <a:r>
              <a:rPr sz="2700" spc="-20" dirty="0">
                <a:latin typeface="Calibri"/>
                <a:cs typeface="Calibri"/>
              </a:rPr>
              <a:t>&lt;/style&gt;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29"/>
              </a:lnSpc>
            </a:pPr>
            <a:r>
              <a:rPr sz="2700" spc="-10" dirty="0">
                <a:latin typeface="Calibri"/>
                <a:cs typeface="Calibri"/>
              </a:rPr>
              <a:t>&lt;/head&gt;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&lt;body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style="background: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#ffff00;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"&gt;</a:t>
            </a:r>
            <a:endParaRPr sz="2700">
              <a:latin typeface="Calibri"/>
              <a:cs typeface="Calibri"/>
            </a:endParaRPr>
          </a:p>
          <a:p>
            <a:pPr marL="1395730">
              <a:lnSpc>
                <a:spcPts val="3235"/>
              </a:lnSpc>
              <a:spcBef>
                <a:spcPts val="25"/>
              </a:spcBef>
            </a:pPr>
            <a:r>
              <a:rPr sz="2700" spc="-45" dirty="0">
                <a:latin typeface="Calibri"/>
                <a:cs typeface="Calibri"/>
              </a:rPr>
              <a:t>&lt;p&gt;Testo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scritto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rosso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sfondo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giallo&lt;/p&gt;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29"/>
              </a:lnSpc>
            </a:pPr>
            <a:r>
              <a:rPr sz="2700" spc="-10" dirty="0">
                <a:latin typeface="Calibri"/>
                <a:cs typeface="Calibri"/>
              </a:rPr>
              <a:t>&lt;/body&gt;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15" dirty="0">
                <a:latin typeface="Calibri"/>
                <a:cs typeface="Calibri"/>
              </a:rPr>
              <a:t>&lt;/html&gt;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95387"/>
            <a:ext cx="8074025" cy="47186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algn="just">
              <a:lnSpc>
                <a:spcPct val="90200"/>
              </a:lnSpc>
              <a:spcBef>
                <a:spcPts val="415"/>
              </a:spcBef>
            </a:pPr>
            <a:r>
              <a:rPr sz="2700" spc="-5" dirty="0">
                <a:latin typeface="Calibri"/>
                <a:cs typeface="Calibri"/>
              </a:rPr>
              <a:t>E’ </a:t>
            </a:r>
            <a:r>
              <a:rPr sz="2700" spc="-10" dirty="0">
                <a:latin typeface="Calibri"/>
                <a:cs typeface="Calibri"/>
              </a:rPr>
              <a:t>possibile accorpare </a:t>
            </a:r>
            <a:r>
              <a:rPr sz="2700" spc="-15" dirty="0">
                <a:latin typeface="Calibri"/>
                <a:cs typeface="Calibri"/>
              </a:rPr>
              <a:t>lo stile </a:t>
            </a:r>
            <a:r>
              <a:rPr sz="2700" spc="15" dirty="0">
                <a:latin typeface="Calibri"/>
                <a:cs typeface="Calibri"/>
              </a:rPr>
              <a:t>di </a:t>
            </a:r>
            <a:r>
              <a:rPr sz="2700" dirty="0">
                <a:latin typeface="Calibri"/>
                <a:cs typeface="Calibri"/>
              </a:rPr>
              <a:t>più </a:t>
            </a:r>
            <a:r>
              <a:rPr sz="2700" spc="-15" dirty="0">
                <a:latin typeface="Calibri"/>
                <a:cs typeface="Calibri"/>
              </a:rPr>
              <a:t>tag </a:t>
            </a:r>
            <a:r>
              <a:rPr sz="2700" spc="-10" dirty="0">
                <a:latin typeface="Calibri"/>
                <a:cs typeface="Calibri"/>
              </a:rPr>
              <a:t>in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0" dirty="0">
                <a:latin typeface="Calibri"/>
                <a:cs typeface="Calibri"/>
              </a:rPr>
              <a:t>unico </a:t>
            </a:r>
            <a:r>
              <a:rPr sz="2700" spc="-5" dirty="0">
                <a:latin typeface="Calibri"/>
                <a:cs typeface="Calibri"/>
              </a:rPr>
              <a:t>blocco.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Supponiamo</a:t>
            </a:r>
            <a:r>
              <a:rPr sz="2700" spc="-5" dirty="0">
                <a:latin typeface="Calibri"/>
                <a:cs typeface="Calibri"/>
              </a:rPr>
              <a:t> 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voler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applicare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stesse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regole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paragrafo </a:t>
            </a:r>
            <a:r>
              <a:rPr sz="2700" spc="-10" dirty="0">
                <a:latin typeface="Calibri"/>
                <a:cs typeface="Calibri"/>
              </a:rPr>
              <a:t>ad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55" dirty="0">
                <a:latin typeface="Calibri"/>
                <a:cs typeface="Calibri"/>
              </a:rPr>
              <a:t>div. </a:t>
            </a:r>
            <a:r>
              <a:rPr sz="2700" spc="-20" dirty="0">
                <a:latin typeface="Calibri"/>
                <a:cs typeface="Calibri"/>
              </a:rPr>
              <a:t>Basta </a:t>
            </a:r>
            <a:r>
              <a:rPr sz="2700" spc="-15" dirty="0">
                <a:latin typeface="Calibri"/>
                <a:cs typeface="Calibri"/>
              </a:rPr>
              <a:t>separare </a:t>
            </a:r>
            <a:r>
              <a:rPr sz="2700" spc="-20" dirty="0">
                <a:latin typeface="Calibri"/>
                <a:cs typeface="Calibri"/>
              </a:rPr>
              <a:t>con </a:t>
            </a:r>
            <a:r>
              <a:rPr sz="2700" spc="-15" dirty="0">
                <a:latin typeface="Calibri"/>
                <a:cs typeface="Calibri"/>
              </a:rPr>
              <a:t>la </a:t>
            </a:r>
            <a:r>
              <a:rPr sz="2700" spc="-10" dirty="0">
                <a:latin typeface="Calibri"/>
                <a:cs typeface="Calibri"/>
              </a:rPr>
              <a:t>virgola </a:t>
            </a:r>
            <a:r>
              <a:rPr sz="2700" spc="-5" dirty="0">
                <a:latin typeface="Calibri"/>
                <a:cs typeface="Calibri"/>
              </a:rPr>
              <a:t>i due </a:t>
            </a:r>
            <a:r>
              <a:rPr sz="2700" spc="-30" dirty="0">
                <a:latin typeface="Calibri"/>
                <a:cs typeface="Calibri"/>
              </a:rPr>
              <a:t>tag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riferimento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allo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stesso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blocco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stile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700" spc="-5" dirty="0">
                <a:latin typeface="Calibri"/>
                <a:cs typeface="Calibri"/>
              </a:rPr>
              <a:t>&lt;head&gt;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310"/>
              </a:spcBef>
            </a:pPr>
            <a:r>
              <a:rPr sz="2700" spc="-20" dirty="0">
                <a:latin typeface="Calibri"/>
                <a:cs typeface="Calibri"/>
              </a:rPr>
              <a:t>&lt;style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type="text/css"&gt;</a:t>
            </a:r>
            <a:endParaRPr sz="2700">
              <a:latin typeface="Calibri"/>
              <a:cs typeface="Calibri"/>
            </a:endParaRPr>
          </a:p>
          <a:p>
            <a:pPr marL="2756535" marR="1651635">
              <a:lnSpc>
                <a:spcPct val="109500"/>
              </a:lnSpc>
              <a:spcBef>
                <a:spcPts val="40"/>
              </a:spcBef>
            </a:pPr>
            <a:r>
              <a:rPr sz="2700" spc="-5" dirty="0">
                <a:latin typeface="Calibri"/>
                <a:cs typeface="Calibri"/>
              </a:rPr>
              <a:t>body </a:t>
            </a:r>
            <a:r>
              <a:rPr sz="2700" spc="-10" dirty="0">
                <a:latin typeface="Calibri"/>
                <a:cs typeface="Calibri"/>
              </a:rPr>
              <a:t>{background: </a:t>
            </a:r>
            <a:r>
              <a:rPr sz="2700" spc="-30" dirty="0">
                <a:latin typeface="Calibri"/>
                <a:cs typeface="Calibri"/>
              </a:rPr>
              <a:t>#ffffff;}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p,</a:t>
            </a:r>
            <a:r>
              <a:rPr sz="2700" spc="-15" dirty="0">
                <a:latin typeface="Calibri"/>
                <a:cs typeface="Calibri"/>
              </a:rPr>
              <a:t> div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{color: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#ff0000;}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345"/>
              </a:spcBef>
            </a:pPr>
            <a:r>
              <a:rPr sz="2700" spc="-20" dirty="0">
                <a:latin typeface="Calibri"/>
                <a:cs typeface="Calibri"/>
              </a:rPr>
              <a:t>&lt;/style&gt;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5"/>
              </a:spcBef>
            </a:pPr>
            <a:r>
              <a:rPr sz="2700" spc="-10" dirty="0">
                <a:latin typeface="Calibri"/>
                <a:cs typeface="Calibri"/>
              </a:rPr>
              <a:t>&lt;/head&gt;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7197" y="808938"/>
            <a:ext cx="26917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06816"/>
            <a:ext cx="8077834" cy="415925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algn="just">
              <a:lnSpc>
                <a:spcPct val="90200"/>
              </a:lnSpc>
              <a:spcBef>
                <a:spcPts val="470"/>
              </a:spcBef>
            </a:pPr>
            <a:r>
              <a:rPr sz="3000" spc="-15" dirty="0">
                <a:latin typeface="Calibri"/>
                <a:cs typeface="Calibri"/>
              </a:rPr>
              <a:t>Ecco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lista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delle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proprietà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per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lo</a:t>
            </a:r>
            <a:r>
              <a:rPr sz="3000" spc="70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sfondo, 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applicabili, </a:t>
            </a:r>
            <a:r>
              <a:rPr sz="3000" spc="-20" dirty="0">
                <a:latin typeface="Calibri"/>
                <a:cs typeface="Calibri"/>
              </a:rPr>
              <a:t>ed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-15" dirty="0">
                <a:latin typeface="Calibri"/>
                <a:cs typeface="Calibri"/>
              </a:rPr>
              <a:t>questa </a:t>
            </a:r>
            <a:r>
              <a:rPr sz="3000" spc="-5" dirty="0">
                <a:latin typeface="Calibri"/>
                <a:cs typeface="Calibri"/>
              </a:rPr>
              <a:t>la </a:t>
            </a:r>
            <a:r>
              <a:rPr sz="3000" dirty="0">
                <a:latin typeface="Calibri"/>
                <a:cs typeface="Calibri"/>
              </a:rPr>
              <a:t>prima </a:t>
            </a:r>
            <a:r>
              <a:rPr sz="3000" spc="-15" dirty="0">
                <a:latin typeface="Calibri"/>
                <a:cs typeface="Calibri"/>
              </a:rPr>
              <a:t>grande </a:t>
            </a:r>
            <a:r>
              <a:rPr sz="3000" spc="-10" dirty="0">
                <a:latin typeface="Calibri"/>
                <a:cs typeface="Calibri"/>
              </a:rPr>
              <a:t>innovazione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CSS,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tutti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gli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elementi:</a:t>
            </a:r>
            <a:endParaRPr sz="3000">
              <a:latin typeface="Calibri"/>
              <a:cs typeface="Calibri"/>
            </a:endParaRPr>
          </a:p>
          <a:p>
            <a:pPr marL="12700" marR="4321175">
              <a:lnSpc>
                <a:spcPct val="109900"/>
              </a:lnSpc>
              <a:spcBef>
                <a:spcPts val="2645"/>
              </a:spcBef>
            </a:pPr>
            <a:r>
              <a:rPr sz="3000" dirty="0">
                <a:latin typeface="Calibri"/>
                <a:cs typeface="Calibri"/>
              </a:rPr>
              <a:t>background-color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background-image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background-repeat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b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ck</a:t>
            </a:r>
            <a:r>
              <a:rPr sz="3000" spc="5" dirty="0">
                <a:latin typeface="Calibri"/>
                <a:cs typeface="Calibri"/>
              </a:rPr>
              <a:t>g</a:t>
            </a:r>
            <a:r>
              <a:rPr sz="3000" spc="-2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o</a:t>
            </a:r>
            <a:r>
              <a:rPr sz="3000" spc="-15" dirty="0">
                <a:latin typeface="Calibri"/>
                <a:cs typeface="Calibri"/>
              </a:rPr>
              <a:t>u</a:t>
            </a:r>
            <a:r>
              <a:rPr sz="3000" spc="10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d-</a:t>
            </a:r>
            <a:r>
              <a:rPr sz="3000" spc="-60" dirty="0">
                <a:latin typeface="Calibri"/>
                <a:cs typeface="Calibri"/>
              </a:rPr>
              <a:t>a</a:t>
            </a:r>
            <a:r>
              <a:rPr sz="3000" spc="-50" dirty="0">
                <a:latin typeface="Calibri"/>
                <a:cs typeface="Calibri"/>
              </a:rPr>
              <a:t>tt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c</a:t>
            </a:r>
            <a:r>
              <a:rPr sz="3000" spc="-25" dirty="0">
                <a:latin typeface="Calibri"/>
                <a:cs typeface="Calibri"/>
              </a:rPr>
              <a:t>h</a:t>
            </a:r>
            <a:r>
              <a:rPr sz="3000" spc="10" dirty="0">
                <a:latin typeface="Calibri"/>
                <a:cs typeface="Calibri"/>
              </a:rPr>
              <a:t>m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60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t  background-position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3782" y="889965"/>
            <a:ext cx="40011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background-color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934781"/>
            <a:ext cx="8072755" cy="3636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715" algn="just">
              <a:lnSpc>
                <a:spcPct val="100099"/>
              </a:lnSpc>
              <a:spcBef>
                <a:spcPts val="90"/>
              </a:spcBef>
            </a:pPr>
            <a:r>
              <a:rPr sz="3200" spc="-10" dirty="0">
                <a:latin typeface="Calibri"/>
                <a:cs typeface="Calibri"/>
              </a:rPr>
              <a:t>Definisce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20" dirty="0">
                <a:latin typeface="Calibri"/>
                <a:cs typeface="Calibri"/>
              </a:rPr>
              <a:t>colore </a:t>
            </a:r>
            <a:r>
              <a:rPr sz="3200" spc="-10" dirty="0">
                <a:latin typeface="Calibri"/>
                <a:cs typeface="Calibri"/>
              </a:rPr>
              <a:t>di </a:t>
            </a:r>
            <a:r>
              <a:rPr sz="3200" spc="-20" dirty="0">
                <a:latin typeface="Calibri"/>
                <a:cs typeface="Calibri"/>
              </a:rPr>
              <a:t>sfondo </a:t>
            </a:r>
            <a:r>
              <a:rPr sz="3200" spc="-10" dirty="0">
                <a:latin typeface="Calibri"/>
                <a:cs typeface="Calibri"/>
              </a:rPr>
              <a:t>di </a:t>
            </a:r>
            <a:r>
              <a:rPr sz="3200" spc="-15" dirty="0">
                <a:latin typeface="Calibri"/>
                <a:cs typeface="Calibri"/>
              </a:rPr>
              <a:t>un </a:t>
            </a:r>
            <a:r>
              <a:rPr sz="3200" spc="-10" dirty="0">
                <a:latin typeface="Calibri"/>
                <a:cs typeface="Calibri"/>
              </a:rPr>
              <a:t>elemento.</a:t>
            </a:r>
            <a:r>
              <a:rPr sz="3200" spc="-5" dirty="0">
                <a:latin typeface="Calibri"/>
                <a:cs typeface="Calibri"/>
              </a:rPr>
              <a:t> La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sua </a:t>
            </a:r>
            <a:r>
              <a:rPr sz="3200" spc="-5" dirty="0">
                <a:latin typeface="Calibri"/>
                <a:cs typeface="Calibri"/>
              </a:rPr>
              <a:t>funzione </a:t>
            </a:r>
            <a:r>
              <a:rPr sz="3200" dirty="0">
                <a:latin typeface="Calibri"/>
                <a:cs typeface="Calibri"/>
              </a:rPr>
              <a:t>e' </a:t>
            </a:r>
            <a:r>
              <a:rPr sz="3200" spc="-5" dirty="0">
                <a:latin typeface="Calibri"/>
                <a:cs typeface="Calibri"/>
              </a:rPr>
              <a:t>simile al classico </a:t>
            </a:r>
            <a:r>
              <a:rPr sz="3200" spc="-20" dirty="0">
                <a:latin typeface="Calibri"/>
                <a:cs typeface="Calibri"/>
              </a:rPr>
              <a:t>BODY </a:t>
            </a:r>
            <a:r>
              <a:rPr sz="3200" spc="-10" dirty="0">
                <a:latin typeface="Calibri"/>
                <a:cs typeface="Calibri"/>
              </a:rPr>
              <a:t>di </a:t>
            </a:r>
            <a:r>
              <a:rPr sz="3200" dirty="0">
                <a:latin typeface="Calibri"/>
                <a:cs typeface="Calibri"/>
              </a:rPr>
              <a:t>HTML,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</a:t>
            </a:r>
            <a:r>
              <a:rPr sz="3200" dirty="0">
                <a:latin typeface="Calibri"/>
                <a:cs typeface="Calibri"/>
              </a:rPr>
              <a:t> puo'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essere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avvicinata</a:t>
            </a:r>
            <a:r>
              <a:rPr sz="3200" spc="-5" dirty="0">
                <a:latin typeface="Calibri"/>
                <a:cs typeface="Calibri"/>
              </a:rPr>
              <a:t> al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colore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sfondo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delle </a:t>
            </a:r>
            <a:r>
              <a:rPr sz="3200" spc="-10" dirty="0">
                <a:latin typeface="Calibri"/>
                <a:cs typeface="Calibri"/>
              </a:rPr>
              <a:t>tabelle.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Viene usato </a:t>
            </a:r>
            <a:r>
              <a:rPr sz="3200" spc="-20" dirty="0">
                <a:latin typeface="Calibri"/>
                <a:cs typeface="Calibri"/>
              </a:rPr>
              <a:t>soprattutto </a:t>
            </a:r>
            <a:r>
              <a:rPr sz="3200" spc="5" dirty="0">
                <a:latin typeface="Calibri"/>
                <a:cs typeface="Calibri"/>
              </a:rPr>
              <a:t>per </a:t>
            </a:r>
            <a:r>
              <a:rPr sz="3200" spc="-10" dirty="0">
                <a:latin typeface="Calibri"/>
                <a:cs typeface="Calibri"/>
              </a:rPr>
              <a:t>evidenziare </a:t>
            </a:r>
            <a:r>
              <a:rPr sz="3200" spc="-5" dirty="0">
                <a:latin typeface="Calibri"/>
                <a:cs typeface="Calibri"/>
              </a:rPr>
              <a:t>alcune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parti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documento.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6688" y="817956"/>
            <a:ext cx="42341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background-image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77720"/>
            <a:ext cx="8074025" cy="46291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10795" algn="just">
              <a:lnSpc>
                <a:spcPts val="1920"/>
              </a:lnSpc>
              <a:spcBef>
                <a:spcPts val="550"/>
              </a:spcBef>
            </a:pPr>
            <a:r>
              <a:rPr sz="1950" spc="20" dirty="0">
                <a:latin typeface="Calibri"/>
                <a:cs typeface="Calibri"/>
              </a:rPr>
              <a:t>La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proprietà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CSS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background-image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serve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ad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impostare  </a:t>
            </a:r>
            <a:r>
              <a:rPr sz="1950" spc="20" dirty="0">
                <a:latin typeface="Calibri"/>
                <a:cs typeface="Calibri"/>
              </a:rPr>
              <a:t>un'immagine  </a:t>
            </a:r>
            <a:r>
              <a:rPr sz="1950" spc="-10" dirty="0">
                <a:latin typeface="Calibri"/>
                <a:cs typeface="Calibri"/>
              </a:rPr>
              <a:t>di 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sfondo </a:t>
            </a:r>
            <a:r>
              <a:rPr sz="1950" spc="20" dirty="0">
                <a:latin typeface="Calibri"/>
                <a:cs typeface="Calibri"/>
              </a:rPr>
              <a:t>ad </a:t>
            </a:r>
            <a:r>
              <a:rPr sz="1950" spc="25" dirty="0">
                <a:latin typeface="Calibri"/>
                <a:cs typeface="Calibri"/>
              </a:rPr>
              <a:t>un </a:t>
            </a:r>
            <a:r>
              <a:rPr sz="1950" spc="15" dirty="0">
                <a:latin typeface="Calibri"/>
                <a:cs typeface="Calibri"/>
              </a:rPr>
              <a:t>elemento della pagina </a:t>
            </a:r>
            <a:r>
              <a:rPr sz="1950" spc="25" dirty="0">
                <a:latin typeface="Calibri"/>
                <a:cs typeface="Calibri"/>
              </a:rPr>
              <a:t>(ad </a:t>
            </a:r>
            <a:r>
              <a:rPr sz="1950" spc="20" dirty="0">
                <a:latin typeface="Calibri"/>
                <a:cs typeface="Calibri"/>
              </a:rPr>
              <a:t>esempio </a:t>
            </a:r>
            <a:r>
              <a:rPr sz="1950" spc="25" dirty="0">
                <a:latin typeface="Calibri"/>
                <a:cs typeface="Calibri"/>
              </a:rPr>
              <a:t>un </a:t>
            </a:r>
            <a:r>
              <a:rPr sz="1950" spc="15" dirty="0">
                <a:latin typeface="Calibri"/>
                <a:cs typeface="Calibri"/>
              </a:rPr>
              <a:t>&lt;div&gt;) o al </a:t>
            </a:r>
            <a:r>
              <a:rPr sz="1950" spc="20" dirty="0">
                <a:latin typeface="Calibri"/>
                <a:cs typeface="Calibri"/>
              </a:rPr>
              <a:t>corpo </a:t>
            </a:r>
            <a:r>
              <a:rPr sz="1950" spc="10" dirty="0">
                <a:latin typeface="Calibri"/>
                <a:cs typeface="Calibri"/>
              </a:rPr>
              <a:t>della 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pagina</a:t>
            </a:r>
            <a:r>
              <a:rPr sz="1950" spc="9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stessa.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La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sintassi</a:t>
            </a:r>
            <a:r>
              <a:rPr sz="1950" spc="10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background-image</a:t>
            </a:r>
            <a:r>
              <a:rPr sz="1950" spc="13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è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la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seguente: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50" spc="10" dirty="0">
                <a:latin typeface="Calibri"/>
                <a:cs typeface="Calibri"/>
              </a:rPr>
              <a:t>body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950" spc="10" dirty="0">
                <a:latin typeface="Calibri"/>
                <a:cs typeface="Calibri"/>
              </a:rPr>
              <a:t>{</a:t>
            </a:r>
            <a:endParaRPr sz="1950">
              <a:latin typeface="Calibri"/>
              <a:cs typeface="Calibri"/>
            </a:endParaRPr>
          </a:p>
          <a:p>
            <a:pPr marL="241935">
              <a:lnSpc>
                <a:spcPct val="100000"/>
              </a:lnSpc>
              <a:spcBef>
                <a:spcPts val="75"/>
              </a:spcBef>
            </a:pPr>
            <a:r>
              <a:rPr sz="1950" spc="10" dirty="0">
                <a:latin typeface="Calibri"/>
                <a:cs typeface="Calibri"/>
              </a:rPr>
              <a:t>background-image:</a:t>
            </a:r>
            <a:r>
              <a:rPr sz="1950" spc="9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url(sfondo.jpg);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spc="10" dirty="0">
                <a:latin typeface="Calibri"/>
                <a:cs typeface="Calibri"/>
              </a:rPr>
              <a:t>}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alibri"/>
              <a:cs typeface="Calibri"/>
            </a:endParaRPr>
          </a:p>
          <a:p>
            <a:pPr marL="12700" algn="just">
              <a:lnSpc>
                <a:spcPts val="2130"/>
              </a:lnSpc>
              <a:spcBef>
                <a:spcPts val="5"/>
              </a:spcBef>
            </a:pPr>
            <a:r>
              <a:rPr sz="1950" spc="15" dirty="0">
                <a:latin typeface="Calibri"/>
                <a:cs typeface="Calibri"/>
              </a:rPr>
              <a:t>L'immagine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va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specificata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all'interno</a:t>
            </a:r>
            <a:r>
              <a:rPr sz="1950" spc="9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del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comando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url()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a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cui</a:t>
            </a:r>
            <a:r>
              <a:rPr sz="1950" spc="7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si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può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passare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spc="35" dirty="0">
                <a:latin typeface="Calibri"/>
                <a:cs typeface="Calibri"/>
              </a:rPr>
              <a:t>un</a:t>
            </a:r>
            <a:endParaRPr sz="1950">
              <a:latin typeface="Calibri"/>
              <a:cs typeface="Calibri"/>
            </a:endParaRPr>
          </a:p>
          <a:p>
            <a:pPr marL="12700" algn="just">
              <a:lnSpc>
                <a:spcPts val="2130"/>
              </a:lnSpc>
            </a:pPr>
            <a:r>
              <a:rPr sz="1950" spc="10" dirty="0">
                <a:latin typeface="Calibri"/>
                <a:cs typeface="Calibri"/>
              </a:rPr>
              <a:t>percorso assoluto,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relativo</a:t>
            </a:r>
            <a:r>
              <a:rPr sz="1950" spc="8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o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anche</a:t>
            </a:r>
            <a:r>
              <a:rPr sz="1950" spc="7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remoto.</a:t>
            </a:r>
            <a:r>
              <a:rPr sz="1950" spc="10" dirty="0">
                <a:latin typeface="Calibri"/>
                <a:cs typeface="Calibri"/>
              </a:rPr>
              <a:t> Ad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esempio: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50" spc="10" dirty="0">
                <a:latin typeface="Calibri"/>
                <a:cs typeface="Calibri"/>
              </a:rPr>
              <a:t>body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spc="10" dirty="0">
                <a:latin typeface="Calibri"/>
                <a:cs typeface="Calibri"/>
              </a:rPr>
              <a:t>{</a:t>
            </a:r>
            <a:endParaRPr sz="1950">
              <a:latin typeface="Calibri"/>
              <a:cs typeface="Calibri"/>
            </a:endParaRPr>
          </a:p>
          <a:p>
            <a:pPr marL="241935">
              <a:lnSpc>
                <a:spcPct val="100000"/>
              </a:lnSpc>
              <a:spcBef>
                <a:spcPts val="75"/>
              </a:spcBef>
            </a:pPr>
            <a:r>
              <a:rPr sz="1950" spc="10" dirty="0">
                <a:latin typeface="Calibri"/>
                <a:cs typeface="Calibri"/>
              </a:rPr>
              <a:t>background-image:</a:t>
            </a:r>
            <a:r>
              <a:rPr sz="1950" spc="10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url</a:t>
            </a:r>
            <a:r>
              <a:rPr sz="1950" spc="10" dirty="0">
                <a:latin typeface="Calibri"/>
                <a:cs typeface="Calibri"/>
                <a:hlinkClick r:id="rId2"/>
              </a:rPr>
              <a:t>(h</a:t>
            </a:r>
            <a:r>
              <a:rPr sz="1950" spc="10" dirty="0">
                <a:latin typeface="Calibri"/>
                <a:cs typeface="Calibri"/>
              </a:rPr>
              <a:t>t</a:t>
            </a:r>
            <a:r>
              <a:rPr sz="1950" spc="10" dirty="0">
                <a:latin typeface="Calibri"/>
                <a:cs typeface="Calibri"/>
                <a:hlinkClick r:id="rId2"/>
              </a:rPr>
              <a:t>tp://www.miosito.com/img/sfondo.jpg);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950" spc="10" dirty="0">
                <a:latin typeface="Calibri"/>
                <a:cs typeface="Calibri"/>
              </a:rPr>
              <a:t>}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14" y="808938"/>
            <a:ext cx="4345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background-repeat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20634"/>
            <a:ext cx="7478395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5" dirty="0">
                <a:latin typeface="Calibri"/>
                <a:cs typeface="Calibri"/>
              </a:rPr>
              <a:t>Specifica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come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l'immagine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sfondo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deve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essere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ripetuta.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44" y="2242553"/>
            <a:ext cx="5153660" cy="286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15" dirty="0">
                <a:latin typeface="Calibri"/>
                <a:cs typeface="Calibri"/>
              </a:rPr>
              <a:t>body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50" spc="10" dirty="0">
                <a:latin typeface="Calibri"/>
                <a:cs typeface="Calibri"/>
              </a:rPr>
              <a:t>{</a:t>
            </a:r>
            <a:endParaRPr sz="2450">
              <a:latin typeface="Calibri"/>
              <a:cs typeface="Calibri"/>
            </a:endParaRPr>
          </a:p>
          <a:p>
            <a:pPr marL="12700" marR="771525">
              <a:lnSpc>
                <a:spcPct val="101400"/>
              </a:lnSpc>
              <a:spcBef>
                <a:spcPts val="35"/>
              </a:spcBef>
            </a:pPr>
            <a:r>
              <a:rPr sz="2450" spc="15" dirty="0">
                <a:latin typeface="Calibri"/>
                <a:cs typeface="Calibri"/>
              </a:rPr>
              <a:t>b</a:t>
            </a:r>
            <a:r>
              <a:rPr sz="2450" spc="25" dirty="0">
                <a:latin typeface="Calibri"/>
                <a:cs typeface="Calibri"/>
              </a:rPr>
              <a:t>ac</a:t>
            </a:r>
            <a:r>
              <a:rPr sz="2450" spc="15" dirty="0">
                <a:latin typeface="Calibri"/>
                <a:cs typeface="Calibri"/>
              </a:rPr>
              <a:t>kg</a:t>
            </a:r>
            <a:r>
              <a:rPr sz="2450" spc="-40" dirty="0">
                <a:latin typeface="Calibri"/>
                <a:cs typeface="Calibri"/>
              </a:rPr>
              <a:t>r</a:t>
            </a:r>
            <a:r>
              <a:rPr sz="2450" spc="10" dirty="0">
                <a:latin typeface="Calibri"/>
                <a:cs typeface="Calibri"/>
              </a:rPr>
              <a:t>o</a:t>
            </a:r>
            <a:r>
              <a:rPr sz="2450" spc="20" dirty="0">
                <a:latin typeface="Calibri"/>
                <a:cs typeface="Calibri"/>
              </a:rPr>
              <a:t>u</a:t>
            </a:r>
            <a:r>
              <a:rPr sz="2450" spc="15" dirty="0">
                <a:latin typeface="Calibri"/>
                <a:cs typeface="Calibri"/>
              </a:rPr>
              <a:t>n</a:t>
            </a:r>
            <a:r>
              <a:rPr sz="2450" spc="40" dirty="0">
                <a:latin typeface="Calibri"/>
                <a:cs typeface="Calibri"/>
              </a:rPr>
              <a:t>d</a:t>
            </a:r>
            <a:r>
              <a:rPr sz="2450" spc="-10" dirty="0">
                <a:latin typeface="Calibri"/>
                <a:cs typeface="Calibri"/>
              </a:rPr>
              <a:t>-</a:t>
            </a:r>
            <a:r>
              <a:rPr sz="2450" spc="15" dirty="0">
                <a:latin typeface="Calibri"/>
                <a:cs typeface="Calibri"/>
              </a:rPr>
              <a:t>im</a:t>
            </a:r>
            <a:r>
              <a:rPr sz="2450" spc="30" dirty="0">
                <a:latin typeface="Calibri"/>
                <a:cs typeface="Calibri"/>
              </a:rPr>
              <a:t>a</a:t>
            </a:r>
            <a:r>
              <a:rPr sz="2450" spc="-20" dirty="0">
                <a:latin typeface="Calibri"/>
                <a:cs typeface="Calibri"/>
              </a:rPr>
              <a:t>g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10" dirty="0">
                <a:latin typeface="Calibri"/>
                <a:cs typeface="Calibri"/>
              </a:rPr>
              <a:t>:</a:t>
            </a:r>
            <a:r>
              <a:rPr sz="2450" spc="15" dirty="0">
                <a:latin typeface="Calibri"/>
                <a:cs typeface="Calibri"/>
              </a:rPr>
              <a:t>u</a:t>
            </a:r>
            <a:r>
              <a:rPr sz="2450" spc="-5" dirty="0">
                <a:latin typeface="Calibri"/>
                <a:cs typeface="Calibri"/>
              </a:rPr>
              <a:t>r</a:t>
            </a:r>
            <a:r>
              <a:rPr sz="2450" dirty="0">
                <a:latin typeface="Calibri"/>
                <a:cs typeface="Calibri"/>
              </a:rPr>
              <a:t>l(</a:t>
            </a:r>
            <a:r>
              <a:rPr sz="2450" spc="-15" dirty="0">
                <a:latin typeface="Calibri"/>
                <a:cs typeface="Calibri"/>
              </a:rPr>
              <a:t>'</a:t>
            </a:r>
            <a:r>
              <a:rPr sz="2450" spc="20" dirty="0">
                <a:latin typeface="Calibri"/>
                <a:cs typeface="Calibri"/>
              </a:rPr>
              <a:t>p</a:t>
            </a:r>
            <a:r>
              <a:rPr sz="2450" spc="25" dirty="0">
                <a:latin typeface="Calibri"/>
                <a:cs typeface="Calibri"/>
              </a:rPr>
              <a:t>a</a:t>
            </a:r>
            <a:r>
              <a:rPr sz="2450" spc="20" dirty="0">
                <a:latin typeface="Calibri"/>
                <a:cs typeface="Calibri"/>
              </a:rPr>
              <a:t>p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-245" dirty="0">
                <a:latin typeface="Calibri"/>
                <a:cs typeface="Calibri"/>
              </a:rPr>
              <a:t>r</a:t>
            </a:r>
            <a:r>
              <a:rPr sz="2450" spc="50" dirty="0">
                <a:latin typeface="Calibri"/>
                <a:cs typeface="Calibri"/>
              </a:rPr>
              <a:t>.</a:t>
            </a:r>
            <a:r>
              <a:rPr sz="2450" spc="10" dirty="0">
                <a:latin typeface="Calibri"/>
                <a:cs typeface="Calibri"/>
              </a:rPr>
              <a:t>gi</a:t>
            </a:r>
            <a:r>
              <a:rPr sz="2450" spc="25" dirty="0">
                <a:latin typeface="Calibri"/>
                <a:cs typeface="Calibri"/>
              </a:rPr>
              <a:t>f</a:t>
            </a:r>
            <a:r>
              <a:rPr sz="2450" spc="-15" dirty="0">
                <a:latin typeface="Calibri"/>
                <a:cs typeface="Calibri"/>
              </a:rPr>
              <a:t>'</a:t>
            </a:r>
            <a:r>
              <a:rPr sz="2450" spc="5" dirty="0">
                <a:latin typeface="Calibri"/>
                <a:cs typeface="Calibri"/>
              </a:rPr>
              <a:t>);  background-repeat:repeat-y;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450" spc="10" dirty="0">
                <a:latin typeface="Calibri"/>
                <a:cs typeface="Calibri"/>
              </a:rPr>
              <a:t>}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Calibri"/>
              <a:cs typeface="Calibri"/>
            </a:endParaRPr>
          </a:p>
          <a:p>
            <a:pPr marL="12700" marR="5080">
              <a:lnSpc>
                <a:spcPts val="2380"/>
              </a:lnSpc>
              <a:tabLst>
                <a:tab pos="1274445" algn="l"/>
                <a:tab pos="1851025" algn="l"/>
                <a:tab pos="3058795" algn="l"/>
                <a:tab pos="4090670" algn="l"/>
              </a:tabLst>
            </a:pPr>
            <a:r>
              <a:rPr sz="2450" spc="-4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5" dirty="0">
                <a:latin typeface="Calibri"/>
                <a:cs typeface="Calibri"/>
              </a:rPr>
              <a:t>p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30" dirty="0">
                <a:latin typeface="Calibri"/>
                <a:cs typeface="Calibri"/>
              </a:rPr>
              <a:t>a</a:t>
            </a:r>
            <a:r>
              <a:rPr sz="2450" spc="-5" dirty="0">
                <a:latin typeface="Calibri"/>
                <a:cs typeface="Calibri"/>
              </a:rPr>
              <a:t>t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dirty="0">
                <a:latin typeface="Calibri"/>
                <a:cs typeface="Calibri"/>
              </a:rPr>
              <a:t>	l</a:t>
            </a:r>
            <a:r>
              <a:rPr sz="2450" spc="1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40" dirty="0">
                <a:latin typeface="Calibri"/>
                <a:cs typeface="Calibri"/>
              </a:rPr>
              <a:t>s</a:t>
            </a:r>
            <a:r>
              <a:rPr sz="2450" spc="-45" dirty="0">
                <a:latin typeface="Calibri"/>
                <a:cs typeface="Calibri"/>
              </a:rPr>
              <a:t>f</a:t>
            </a:r>
            <a:r>
              <a:rPr sz="2450" spc="10" dirty="0">
                <a:latin typeface="Calibri"/>
                <a:cs typeface="Calibri"/>
              </a:rPr>
              <a:t>o</a:t>
            </a:r>
            <a:r>
              <a:rPr sz="2450" spc="20" dirty="0">
                <a:latin typeface="Calibri"/>
                <a:cs typeface="Calibri"/>
              </a:rPr>
              <a:t>n</a:t>
            </a:r>
            <a:r>
              <a:rPr sz="2450" spc="15" dirty="0">
                <a:latin typeface="Calibri"/>
                <a:cs typeface="Calibri"/>
              </a:rPr>
              <a:t>do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5" dirty="0">
                <a:latin typeface="Calibri"/>
                <a:cs typeface="Calibri"/>
              </a:rPr>
              <a:t>v</a:t>
            </a:r>
            <a:r>
              <a:rPr sz="2450" spc="15" dirty="0">
                <a:latin typeface="Calibri"/>
                <a:cs typeface="Calibri"/>
              </a:rPr>
              <a:t>iene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5" dirty="0">
                <a:latin typeface="Calibri"/>
                <a:cs typeface="Calibri"/>
              </a:rPr>
              <a:t>r</a:t>
            </a:r>
            <a:r>
              <a:rPr sz="2450" spc="10" dirty="0">
                <a:latin typeface="Calibri"/>
                <a:cs typeface="Calibri"/>
              </a:rPr>
              <a:t>ip</a:t>
            </a:r>
            <a:r>
              <a:rPr sz="2450" spc="25" dirty="0">
                <a:latin typeface="Calibri"/>
                <a:cs typeface="Calibri"/>
              </a:rPr>
              <a:t>e</a:t>
            </a:r>
            <a:r>
              <a:rPr sz="2450" spc="-10" dirty="0">
                <a:latin typeface="Calibri"/>
                <a:cs typeface="Calibri"/>
              </a:rPr>
              <a:t>t</a:t>
            </a:r>
            <a:r>
              <a:rPr sz="2450" spc="55" dirty="0">
                <a:latin typeface="Calibri"/>
                <a:cs typeface="Calibri"/>
              </a:rPr>
              <a:t>u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0" dirty="0">
                <a:latin typeface="Calibri"/>
                <a:cs typeface="Calibri"/>
              </a:rPr>
              <a:t>o  </a:t>
            </a:r>
            <a:r>
              <a:rPr sz="2450" dirty="0">
                <a:latin typeface="Calibri"/>
                <a:cs typeface="Calibri"/>
              </a:rPr>
              <a:t>verticalmente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7955" y="4397235"/>
            <a:ext cx="260731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37130" algn="l"/>
              </a:tabLst>
            </a:pPr>
            <a:r>
              <a:rPr sz="2450" spc="10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r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20" dirty="0">
                <a:latin typeface="Calibri"/>
                <a:cs typeface="Calibri"/>
              </a:rPr>
              <a:t>z</a:t>
            </a:r>
            <a:r>
              <a:rPr sz="2450" spc="-50" dirty="0">
                <a:latin typeface="Calibri"/>
                <a:cs typeface="Calibri"/>
              </a:rPr>
              <a:t>z</a:t>
            </a:r>
            <a:r>
              <a:rPr sz="2450" spc="50" dirty="0">
                <a:latin typeface="Calibri"/>
                <a:cs typeface="Calibri"/>
              </a:rPr>
              <a:t>o</a:t>
            </a:r>
            <a:r>
              <a:rPr sz="2450" spc="-15" dirty="0">
                <a:latin typeface="Calibri"/>
                <a:cs typeface="Calibri"/>
              </a:rPr>
              <a:t>n</a:t>
            </a:r>
            <a:r>
              <a:rPr sz="2450" spc="-40" dirty="0">
                <a:latin typeface="Calibri"/>
                <a:cs typeface="Calibri"/>
              </a:rPr>
              <a:t>t</a:t>
            </a:r>
            <a:r>
              <a:rPr sz="2450" spc="60" dirty="0">
                <a:latin typeface="Calibri"/>
                <a:cs typeface="Calibri"/>
              </a:rPr>
              <a:t>a</a:t>
            </a:r>
            <a:r>
              <a:rPr sz="2450" spc="15" dirty="0">
                <a:latin typeface="Calibri"/>
                <a:cs typeface="Calibri"/>
              </a:rPr>
              <a:t>lme</a:t>
            </a:r>
            <a:r>
              <a:rPr sz="2450" spc="30" dirty="0">
                <a:latin typeface="Calibri"/>
                <a:cs typeface="Calibri"/>
              </a:rPr>
              <a:t>n</a:t>
            </a:r>
            <a:r>
              <a:rPr sz="2450" spc="-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15" dirty="0">
                <a:latin typeface="Calibri"/>
                <a:cs typeface="Calibri"/>
              </a:rPr>
              <a:t>e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244" y="5082692"/>
            <a:ext cx="7094220" cy="1165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75"/>
              </a:spcBef>
            </a:pPr>
            <a:r>
              <a:rPr sz="2450" dirty="0">
                <a:latin typeface="Calibri"/>
                <a:cs typeface="Calibri"/>
              </a:rPr>
              <a:t>repeat-x:</a:t>
            </a:r>
            <a:r>
              <a:rPr sz="2450" spc="13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sfondo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viene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ripetuto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solo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orizzontalmente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repeat-y: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lo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sfondo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viene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ripetuto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solo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verticalmente </a:t>
            </a:r>
            <a:r>
              <a:rPr sz="2450" spc="5" dirty="0">
                <a:latin typeface="Calibri"/>
                <a:cs typeface="Calibri"/>
              </a:rPr>
              <a:t> no-repeat: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lo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sfondo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non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viene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ripetuto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4769" y="889965"/>
            <a:ext cx="54737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background-attachment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83054"/>
            <a:ext cx="8074659" cy="423164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algn="just">
              <a:lnSpc>
                <a:spcPts val="1920"/>
              </a:lnSpc>
              <a:spcBef>
                <a:spcPts val="550"/>
              </a:spcBef>
            </a:pPr>
            <a:r>
              <a:rPr sz="1950" spc="20" dirty="0">
                <a:latin typeface="Calibri"/>
                <a:cs typeface="Calibri"/>
              </a:rPr>
              <a:t>La </a:t>
            </a:r>
            <a:r>
              <a:rPr sz="1950" spc="10" dirty="0">
                <a:latin typeface="Calibri"/>
                <a:cs typeface="Calibri"/>
              </a:rPr>
              <a:t>proprietà </a:t>
            </a:r>
            <a:r>
              <a:rPr sz="1950" spc="15" dirty="0">
                <a:latin typeface="Calibri"/>
                <a:cs typeface="Calibri"/>
              </a:rPr>
              <a:t>background-attachment </a:t>
            </a:r>
            <a:r>
              <a:rPr sz="1950" spc="5" dirty="0">
                <a:latin typeface="Calibri"/>
                <a:cs typeface="Calibri"/>
              </a:rPr>
              <a:t>effettua </a:t>
            </a:r>
            <a:r>
              <a:rPr sz="1950" spc="15" dirty="0">
                <a:latin typeface="Calibri"/>
                <a:cs typeface="Calibri"/>
              </a:rPr>
              <a:t>la gestione </a:t>
            </a:r>
            <a:r>
              <a:rPr sz="1950" spc="10" dirty="0">
                <a:latin typeface="Calibri"/>
                <a:cs typeface="Calibri"/>
              </a:rPr>
              <a:t>delle </a:t>
            </a:r>
            <a:r>
              <a:rPr sz="1950" spc="20" dirty="0">
                <a:latin typeface="Calibri"/>
                <a:cs typeface="Calibri"/>
              </a:rPr>
              <a:t>immagini </a:t>
            </a:r>
            <a:r>
              <a:rPr sz="1950" spc="-5" dirty="0">
                <a:latin typeface="Calibri"/>
                <a:cs typeface="Calibri"/>
              </a:rPr>
              <a:t>di 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sfondo </a:t>
            </a:r>
            <a:r>
              <a:rPr sz="1950" dirty="0">
                <a:latin typeface="Calibri"/>
                <a:cs typeface="Calibri"/>
              </a:rPr>
              <a:t>di </a:t>
            </a:r>
            <a:r>
              <a:rPr sz="1950" spc="5" dirty="0">
                <a:latin typeface="Calibri"/>
                <a:cs typeface="Calibri"/>
              </a:rPr>
              <a:t>una </a:t>
            </a:r>
            <a:r>
              <a:rPr sz="1950" spc="15" dirty="0">
                <a:latin typeface="Calibri"/>
                <a:cs typeface="Calibri"/>
              </a:rPr>
              <a:t>pagina </a:t>
            </a:r>
            <a:r>
              <a:rPr sz="1950" spc="20" dirty="0">
                <a:latin typeface="Calibri"/>
                <a:cs typeface="Calibri"/>
              </a:rPr>
              <a:t>o </a:t>
            </a:r>
            <a:r>
              <a:rPr sz="1950" dirty="0">
                <a:latin typeface="Calibri"/>
                <a:cs typeface="Calibri"/>
              </a:rPr>
              <a:t>di </a:t>
            </a:r>
            <a:r>
              <a:rPr sz="1950" spc="30" dirty="0">
                <a:latin typeface="Calibri"/>
                <a:cs typeface="Calibri"/>
              </a:rPr>
              <a:t>un </a:t>
            </a:r>
            <a:r>
              <a:rPr sz="1950" spc="10" dirty="0">
                <a:latin typeface="Calibri"/>
                <a:cs typeface="Calibri"/>
              </a:rPr>
              <a:t>qualsiasi </a:t>
            </a:r>
            <a:r>
              <a:rPr sz="1950" spc="20" dirty="0">
                <a:latin typeface="Calibri"/>
                <a:cs typeface="Calibri"/>
              </a:rPr>
              <a:t>elemento </a:t>
            </a:r>
            <a:r>
              <a:rPr sz="1950" spc="25" dirty="0">
                <a:latin typeface="Calibri"/>
                <a:cs typeface="Calibri"/>
              </a:rPr>
              <a:t>HTML </a:t>
            </a:r>
            <a:r>
              <a:rPr sz="1950" spc="10" dirty="0">
                <a:latin typeface="Calibri"/>
                <a:cs typeface="Calibri"/>
              </a:rPr>
              <a:t>che, per </a:t>
            </a:r>
            <a:r>
              <a:rPr sz="1950" spc="20" dirty="0">
                <a:latin typeface="Calibri"/>
                <a:cs typeface="Calibri"/>
              </a:rPr>
              <a:t>sua </a:t>
            </a:r>
            <a:r>
              <a:rPr sz="1950" spc="15" dirty="0">
                <a:latin typeface="Calibri"/>
                <a:cs typeface="Calibri"/>
              </a:rPr>
              <a:t>natura, 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accetti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le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immagini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di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sfondo.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50" spc="10" dirty="0">
                <a:latin typeface="Calibri"/>
                <a:cs typeface="Calibri"/>
              </a:rPr>
              <a:t>body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950" spc="10" dirty="0">
                <a:latin typeface="Calibri"/>
                <a:cs typeface="Calibri"/>
              </a:rPr>
              <a:t>{</a:t>
            </a:r>
            <a:endParaRPr sz="1950">
              <a:latin typeface="Calibri"/>
              <a:cs typeface="Calibri"/>
            </a:endParaRPr>
          </a:p>
          <a:p>
            <a:pPr marL="241935" marR="4210050">
              <a:lnSpc>
                <a:spcPts val="2410"/>
              </a:lnSpc>
              <a:spcBef>
                <a:spcPts val="90"/>
              </a:spcBef>
            </a:pPr>
            <a:r>
              <a:rPr sz="1950" spc="10" dirty="0">
                <a:latin typeface="Calibri"/>
                <a:cs typeface="Calibri"/>
              </a:rPr>
              <a:t>background-image: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url(sfondo.jpg); </a:t>
            </a:r>
            <a:r>
              <a:rPr sz="1950" spc="-42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background-attachment:</a:t>
            </a:r>
            <a:r>
              <a:rPr sz="1950" spc="16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Fixed;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290"/>
              </a:lnSpc>
            </a:pPr>
            <a:r>
              <a:rPr sz="1950" spc="10" dirty="0">
                <a:latin typeface="Calibri"/>
                <a:cs typeface="Calibri"/>
              </a:rPr>
              <a:t>}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950" spc="15" dirty="0">
                <a:latin typeface="Calibri"/>
                <a:cs typeface="Calibri"/>
              </a:rPr>
              <a:t>L'immagine 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</a:t>
            </a:r>
            <a:r>
              <a:rPr sz="1950" spc="49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sfondo,</a:t>
            </a:r>
            <a:r>
              <a:rPr sz="1950" spc="49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così 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gestita, 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non  scrollerà 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insieme 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alla 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pagina. 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Può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950" spc="10" dirty="0">
                <a:latin typeface="Calibri"/>
                <a:cs typeface="Calibri"/>
              </a:rPr>
              <a:t>assumere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due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valori: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50" spc="5" dirty="0">
                <a:latin typeface="Calibri"/>
                <a:cs typeface="Calibri"/>
              </a:rPr>
              <a:t>Fixed</a:t>
            </a:r>
            <a:r>
              <a:rPr sz="1950" spc="10" dirty="0">
                <a:latin typeface="Calibri"/>
                <a:cs typeface="Calibri"/>
              </a:rPr>
              <a:t> -</a:t>
            </a:r>
            <a:r>
              <a:rPr sz="1950" spc="15" dirty="0">
                <a:latin typeface="Calibri"/>
                <a:cs typeface="Calibri"/>
              </a:rPr>
              <a:t> non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permette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all'immagine</a:t>
            </a:r>
            <a:r>
              <a:rPr sz="1950" spc="9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di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scrollare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insieme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alla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pagina;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950" spc="10" dirty="0">
                <a:latin typeface="Calibri"/>
                <a:cs typeface="Calibri"/>
              </a:rPr>
              <a:t>Scroll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- </a:t>
            </a:r>
            <a:r>
              <a:rPr sz="1950" spc="5" dirty="0">
                <a:latin typeface="Calibri"/>
                <a:cs typeface="Calibri"/>
              </a:rPr>
              <a:t>(di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default)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permette</a:t>
            </a:r>
            <a:r>
              <a:rPr sz="1950" spc="7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all'immagine</a:t>
            </a:r>
            <a:r>
              <a:rPr sz="1950" spc="10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scrollare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insieme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alla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pagina.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73" y="817956"/>
            <a:ext cx="46990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background-position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36915"/>
            <a:ext cx="8070850" cy="421767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 algn="just">
              <a:lnSpc>
                <a:spcPct val="81500"/>
              </a:lnSpc>
              <a:spcBef>
                <a:spcPts val="680"/>
              </a:spcBef>
            </a:pPr>
            <a:r>
              <a:rPr sz="2450" spc="5" dirty="0">
                <a:latin typeface="Calibri"/>
                <a:cs typeface="Calibri"/>
              </a:rPr>
              <a:t>La proprietà </a:t>
            </a:r>
            <a:r>
              <a:rPr sz="2450" b="1" spc="15" dirty="0">
                <a:latin typeface="Calibri"/>
                <a:cs typeface="Calibri"/>
              </a:rPr>
              <a:t>background-position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0" dirty="0">
                <a:latin typeface="Calibri"/>
                <a:cs typeface="Calibri"/>
              </a:rPr>
              <a:t>CSS </a:t>
            </a:r>
            <a:r>
              <a:rPr sz="2450" spc="10" dirty="0">
                <a:latin typeface="Calibri"/>
                <a:cs typeface="Calibri"/>
              </a:rPr>
              <a:t>indica </a:t>
            </a:r>
            <a:r>
              <a:rPr sz="2450" spc="5" dirty="0">
                <a:latin typeface="Calibri"/>
                <a:cs typeface="Calibri"/>
              </a:rPr>
              <a:t>la </a:t>
            </a:r>
            <a:r>
              <a:rPr sz="2450" spc="15" dirty="0">
                <a:latin typeface="Calibri"/>
                <a:cs typeface="Calibri"/>
              </a:rPr>
              <a:t>posizione di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partenza </a:t>
            </a:r>
            <a:r>
              <a:rPr sz="2450" dirty="0">
                <a:latin typeface="Calibri"/>
                <a:cs typeface="Calibri"/>
              </a:rPr>
              <a:t>(top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 left) </a:t>
            </a:r>
            <a:r>
              <a:rPr sz="2450" spc="20" dirty="0">
                <a:latin typeface="Calibri"/>
                <a:cs typeface="Calibri"/>
              </a:rPr>
              <a:t>delle </a:t>
            </a:r>
            <a:r>
              <a:rPr sz="2450" spc="25" dirty="0">
                <a:latin typeface="Calibri"/>
                <a:cs typeface="Calibri"/>
              </a:rPr>
              <a:t>immagini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sfondo</a:t>
            </a:r>
            <a:r>
              <a:rPr sz="2450" spc="5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0" dirty="0">
                <a:latin typeface="Calibri"/>
                <a:cs typeface="Calibri"/>
              </a:rPr>
              <a:t>una </a:t>
            </a:r>
            <a:r>
              <a:rPr sz="2450" spc="15" dirty="0">
                <a:latin typeface="Calibri"/>
                <a:cs typeface="Calibri"/>
              </a:rPr>
              <a:t>pagina o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10" dirty="0">
                <a:latin typeface="Calibri"/>
                <a:cs typeface="Calibri"/>
              </a:rPr>
              <a:t>qualsiasi </a:t>
            </a:r>
            <a:r>
              <a:rPr sz="2450" spc="15" dirty="0">
                <a:latin typeface="Calibri"/>
                <a:cs typeface="Calibri"/>
              </a:rPr>
              <a:t>elemento </a:t>
            </a:r>
            <a:r>
              <a:rPr sz="2450" spc="25" dirty="0">
                <a:latin typeface="Calibri"/>
                <a:cs typeface="Calibri"/>
              </a:rPr>
              <a:t>HTML che, </a:t>
            </a:r>
            <a:r>
              <a:rPr sz="2450" spc="15" dirty="0">
                <a:latin typeface="Calibri"/>
                <a:cs typeface="Calibri"/>
              </a:rPr>
              <a:t>per </a:t>
            </a:r>
            <a:r>
              <a:rPr sz="2450" spc="5" dirty="0">
                <a:latin typeface="Calibri"/>
                <a:cs typeface="Calibri"/>
              </a:rPr>
              <a:t>sua natura, </a:t>
            </a:r>
            <a:r>
              <a:rPr sz="2450" spc="10" dirty="0">
                <a:latin typeface="Calibri"/>
                <a:cs typeface="Calibri"/>
              </a:rPr>
              <a:t>accetti </a:t>
            </a:r>
            <a:r>
              <a:rPr sz="2450" spc="5" dirty="0">
                <a:latin typeface="Calibri"/>
                <a:cs typeface="Calibri"/>
              </a:rPr>
              <a:t>le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immagini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sfondo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(come,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ad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esempio,</a:t>
            </a:r>
            <a:r>
              <a:rPr sz="2450" spc="20" dirty="0">
                <a:latin typeface="Calibri"/>
                <a:cs typeface="Calibri"/>
              </a:rPr>
              <a:t> un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tag</a:t>
            </a:r>
            <a:r>
              <a:rPr sz="2450" spc="55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&lt;div&gt;).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Vediamo</a:t>
            </a:r>
            <a:r>
              <a:rPr sz="2450" spc="1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un</a:t>
            </a:r>
            <a:r>
              <a:rPr sz="2450" spc="12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esempio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applicando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la</a:t>
            </a:r>
            <a:r>
              <a:rPr sz="2450" spc="17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proprietà</a:t>
            </a:r>
            <a:r>
              <a:rPr sz="2450" spc="14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in</a:t>
            </a:r>
            <a:r>
              <a:rPr sz="2450" spc="13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oggetto</a:t>
            </a:r>
            <a:r>
              <a:rPr sz="2450" spc="13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al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tag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ts val="2410"/>
              </a:lnSpc>
            </a:pPr>
            <a:r>
              <a:rPr sz="2450" spc="15" dirty="0">
                <a:latin typeface="Calibri"/>
                <a:cs typeface="Calibri"/>
              </a:rPr>
              <a:t>&lt;body&gt;.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50" spc="15" dirty="0">
                <a:latin typeface="Calibri"/>
                <a:cs typeface="Calibri"/>
              </a:rPr>
              <a:t>body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50" spc="10" dirty="0">
                <a:latin typeface="Calibri"/>
                <a:cs typeface="Calibri"/>
              </a:rPr>
              <a:t>{</a:t>
            </a:r>
            <a:endParaRPr sz="2450">
              <a:latin typeface="Calibri"/>
              <a:cs typeface="Calibri"/>
            </a:endParaRPr>
          </a:p>
          <a:p>
            <a:pPr marL="156210" marR="3378200">
              <a:lnSpc>
                <a:spcPts val="3020"/>
              </a:lnSpc>
              <a:spcBef>
                <a:spcPts val="75"/>
              </a:spcBef>
            </a:pPr>
            <a:r>
              <a:rPr sz="2450" spc="10" dirty="0">
                <a:latin typeface="Calibri"/>
                <a:cs typeface="Calibri"/>
              </a:rPr>
              <a:t>background-image: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url(sfondo.jpg);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background-position: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10px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10px;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ts val="2900"/>
              </a:lnSpc>
            </a:pPr>
            <a:r>
              <a:rPr sz="2450" spc="10" dirty="0">
                <a:latin typeface="Calibri"/>
                <a:cs typeface="Calibri"/>
              </a:rPr>
              <a:t>}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319" y="1414462"/>
            <a:ext cx="8414258" cy="45359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0569" y="808938"/>
            <a:ext cx="15621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</a:t>
            </a:r>
            <a:r>
              <a:rPr spc="-15" dirty="0"/>
              <a:t>o</a:t>
            </a:r>
            <a:r>
              <a:rPr spc="-85" dirty="0"/>
              <a:t>r</a:t>
            </a:r>
            <a:r>
              <a:rPr spc="-5" dirty="0"/>
              <a:t>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9199"/>
            <a:ext cx="8079105" cy="43751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ct val="89900"/>
              </a:lnSpc>
              <a:spcBef>
                <a:spcPts val="475"/>
              </a:spcBef>
            </a:pPr>
            <a:r>
              <a:rPr sz="3000" spc="5" dirty="0">
                <a:latin typeface="Calibri"/>
                <a:cs typeface="Calibri"/>
              </a:rPr>
              <a:t>La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proprietà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border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una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abbreviazione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impostare</a:t>
            </a:r>
            <a:r>
              <a:rPr sz="3000" spc="-5" dirty="0">
                <a:latin typeface="Calibri"/>
                <a:cs typeface="Calibri"/>
              </a:rPr>
              <a:t> in</a:t>
            </a:r>
            <a:r>
              <a:rPr sz="3000" dirty="0">
                <a:latin typeface="Calibri"/>
                <a:cs typeface="Calibri"/>
              </a:rPr>
              <a:t> una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sola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volta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valori</a:t>
            </a:r>
            <a:r>
              <a:rPr sz="3000" spc="-10" dirty="0">
                <a:latin typeface="Calibri"/>
                <a:cs typeface="Calibri"/>
              </a:rPr>
              <a:t> individuali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di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border. </a:t>
            </a:r>
            <a:r>
              <a:rPr sz="3000" spc="-5" dirty="0">
                <a:latin typeface="Calibri"/>
                <a:cs typeface="Calibri"/>
              </a:rPr>
              <a:t>border </a:t>
            </a:r>
            <a:r>
              <a:rPr sz="3000" dirty="0">
                <a:latin typeface="Calibri"/>
                <a:cs typeface="Calibri"/>
              </a:rPr>
              <a:t>può </a:t>
            </a:r>
            <a:r>
              <a:rPr sz="3000" spc="-5" dirty="0">
                <a:latin typeface="Calibri"/>
                <a:cs typeface="Calibri"/>
              </a:rPr>
              <a:t>essere </a:t>
            </a:r>
            <a:r>
              <a:rPr sz="3000" spc="-20" dirty="0">
                <a:latin typeface="Calibri"/>
                <a:cs typeface="Calibri"/>
              </a:rPr>
              <a:t>usata </a:t>
            </a:r>
            <a:r>
              <a:rPr sz="3000" dirty="0">
                <a:latin typeface="Calibri"/>
                <a:cs typeface="Calibri"/>
              </a:rPr>
              <a:t>per </a:t>
            </a:r>
            <a:r>
              <a:rPr sz="3000" spc="-15" dirty="0">
                <a:latin typeface="Calibri"/>
                <a:cs typeface="Calibri"/>
              </a:rPr>
              <a:t>impostare </a:t>
            </a:r>
            <a:r>
              <a:rPr sz="3000" dirty="0">
                <a:latin typeface="Calibri"/>
                <a:cs typeface="Calibri"/>
              </a:rPr>
              <a:t>uno </a:t>
            </a:r>
            <a:r>
              <a:rPr sz="3000" spc="5" dirty="0">
                <a:latin typeface="Calibri"/>
                <a:cs typeface="Calibri"/>
              </a:rPr>
              <a:t> o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più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seguenti</a:t>
            </a:r>
            <a:r>
              <a:rPr sz="3000" spc="-10" dirty="0">
                <a:latin typeface="Calibri"/>
                <a:cs typeface="Calibri"/>
              </a:rPr>
              <a:t> valori: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border-width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border-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style</a:t>
            </a:r>
            <a:r>
              <a:rPr sz="3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border-color</a:t>
            </a:r>
            <a:r>
              <a:rPr sz="300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50">
              <a:latin typeface="Calibri"/>
              <a:cs typeface="Calibri"/>
            </a:endParaRPr>
          </a:p>
          <a:p>
            <a:pPr marL="12700" marR="6985" algn="just">
              <a:lnSpc>
                <a:spcPct val="90000"/>
              </a:lnSpc>
            </a:pPr>
            <a:r>
              <a:rPr sz="3000" spc="5" dirty="0">
                <a:latin typeface="Calibri"/>
                <a:cs typeface="Calibri"/>
              </a:rPr>
              <a:t>è</a:t>
            </a:r>
            <a:r>
              <a:rPr sz="3000" spc="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possibile</a:t>
            </a:r>
            <a:r>
              <a:rPr sz="3000" spc="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agire</a:t>
            </a:r>
            <a:r>
              <a:rPr sz="3000" spc="6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simultaneamente</a:t>
            </a:r>
            <a:r>
              <a:rPr sz="3000" spc="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</a:t>
            </a:r>
            <a:r>
              <a:rPr sz="3000" spc="8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tutti</a:t>
            </a:r>
            <a:r>
              <a:rPr sz="3000" spc="9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quattro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lati</a:t>
            </a:r>
            <a:r>
              <a:rPr sz="3000" spc="-5" dirty="0">
                <a:latin typeface="Calibri"/>
                <a:cs typeface="Calibri"/>
              </a:rPr>
              <a:t> del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box</a:t>
            </a:r>
            <a:r>
              <a:rPr sz="3000" spc="-5" dirty="0">
                <a:latin typeface="Calibri"/>
                <a:cs typeface="Calibri"/>
              </a:rPr>
              <a:t> oppure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solo</a:t>
            </a:r>
            <a:r>
              <a:rPr sz="3000" dirty="0">
                <a:latin typeface="Calibri"/>
                <a:cs typeface="Calibri"/>
              </a:rPr>
              <a:t> su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uno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specifico</a:t>
            </a:r>
            <a:r>
              <a:rPr sz="3000" spc="-10" dirty="0">
                <a:latin typeface="Calibri"/>
                <a:cs typeface="Calibri"/>
              </a:rPr>
              <a:t> lato. </a:t>
            </a:r>
            <a:r>
              <a:rPr sz="3000" spc="-5" dirty="0">
                <a:latin typeface="Calibri"/>
                <a:cs typeface="Calibri"/>
              </a:rPr>
              <a:t> Partiamo dall'analisi delle </a:t>
            </a:r>
            <a:r>
              <a:rPr sz="3000" spc="-10" dirty="0">
                <a:latin typeface="Calibri"/>
                <a:cs typeface="Calibri"/>
              </a:rPr>
              <a:t>proprietà </a:t>
            </a:r>
            <a:r>
              <a:rPr sz="3000" spc="5" dirty="0">
                <a:latin typeface="Calibri"/>
                <a:cs typeface="Calibri"/>
              </a:rPr>
              <a:t>che </a:t>
            </a:r>
            <a:r>
              <a:rPr sz="3000" spc="-15" dirty="0">
                <a:latin typeface="Calibri"/>
                <a:cs typeface="Calibri"/>
              </a:rPr>
              <a:t>consentono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stilizzare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bordi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singolarmente.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947140"/>
            <a:ext cx="3145790" cy="52057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5" dirty="0">
                <a:latin typeface="Calibri"/>
                <a:cs typeface="Calibri"/>
              </a:rPr>
              <a:t>Queste</a:t>
            </a:r>
            <a:r>
              <a:rPr sz="1950" spc="8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proprietà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sono: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50" spc="10" dirty="0">
                <a:solidFill>
                  <a:srgbClr val="FF0000"/>
                </a:solidFill>
                <a:latin typeface="Calibri"/>
                <a:cs typeface="Calibri"/>
              </a:rPr>
              <a:t>spessore</a:t>
            </a:r>
            <a:r>
              <a:rPr sz="1950" spc="10" dirty="0">
                <a:latin typeface="Calibri"/>
                <a:cs typeface="Calibri"/>
              </a:rPr>
              <a:t>:</a:t>
            </a:r>
            <a:endParaRPr sz="1950">
              <a:latin typeface="Calibri"/>
              <a:cs typeface="Calibri"/>
            </a:endParaRPr>
          </a:p>
          <a:p>
            <a:pPr marL="927100" marR="5080">
              <a:lnSpc>
                <a:spcPct val="102600"/>
              </a:lnSpc>
              <a:spcBef>
                <a:spcPts val="10"/>
              </a:spcBef>
            </a:pPr>
            <a:r>
              <a:rPr sz="1950" spc="10" dirty="0">
                <a:latin typeface="Calibri"/>
                <a:cs typeface="Calibri"/>
              </a:rPr>
              <a:t>border-top-width 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b</a:t>
            </a:r>
            <a:r>
              <a:rPr sz="1950" spc="35" dirty="0">
                <a:latin typeface="Calibri"/>
                <a:cs typeface="Calibri"/>
              </a:rPr>
              <a:t>o</a:t>
            </a:r>
            <a:r>
              <a:rPr sz="1950" spc="-10" dirty="0">
                <a:latin typeface="Calibri"/>
                <a:cs typeface="Calibri"/>
              </a:rPr>
              <a:t>r</a:t>
            </a:r>
            <a:r>
              <a:rPr sz="1950" spc="5" dirty="0">
                <a:latin typeface="Calibri"/>
                <a:cs typeface="Calibri"/>
              </a:rPr>
              <a:t>d</a:t>
            </a:r>
            <a:r>
              <a:rPr sz="1950" spc="15" dirty="0">
                <a:latin typeface="Calibri"/>
                <a:cs typeface="Calibri"/>
              </a:rPr>
              <a:t>e</a:t>
            </a:r>
            <a:r>
              <a:rPr sz="1950" spc="25" dirty="0">
                <a:latin typeface="Calibri"/>
                <a:cs typeface="Calibri"/>
              </a:rPr>
              <a:t>r</a:t>
            </a:r>
            <a:r>
              <a:rPr sz="1950" spc="5" dirty="0">
                <a:latin typeface="Calibri"/>
                <a:cs typeface="Calibri"/>
              </a:rPr>
              <a:t>-</a:t>
            </a:r>
            <a:r>
              <a:rPr sz="1950" dirty="0">
                <a:latin typeface="Calibri"/>
                <a:cs typeface="Calibri"/>
              </a:rPr>
              <a:t>b</a:t>
            </a:r>
            <a:r>
              <a:rPr sz="1950" spc="30" dirty="0">
                <a:latin typeface="Calibri"/>
                <a:cs typeface="Calibri"/>
              </a:rPr>
              <a:t>o</a:t>
            </a:r>
            <a:r>
              <a:rPr sz="1950" spc="-20" dirty="0">
                <a:latin typeface="Calibri"/>
                <a:cs typeface="Calibri"/>
              </a:rPr>
              <a:t>tt</a:t>
            </a:r>
            <a:r>
              <a:rPr sz="1950" spc="35" dirty="0">
                <a:latin typeface="Calibri"/>
                <a:cs typeface="Calibri"/>
              </a:rPr>
              <a:t>om</a:t>
            </a:r>
            <a:r>
              <a:rPr sz="1950" dirty="0">
                <a:latin typeface="Calibri"/>
                <a:cs typeface="Calibri"/>
              </a:rPr>
              <a:t>-</a:t>
            </a:r>
            <a:r>
              <a:rPr sz="1950" spc="15" dirty="0">
                <a:latin typeface="Calibri"/>
                <a:cs typeface="Calibri"/>
              </a:rPr>
              <a:t>wi</a:t>
            </a:r>
            <a:r>
              <a:rPr sz="1950" spc="5" dirty="0">
                <a:latin typeface="Calibri"/>
                <a:cs typeface="Calibri"/>
              </a:rPr>
              <a:t>d</a:t>
            </a:r>
            <a:r>
              <a:rPr sz="1950" spc="15" dirty="0">
                <a:latin typeface="Calibri"/>
                <a:cs typeface="Calibri"/>
              </a:rPr>
              <a:t>t</a:t>
            </a:r>
            <a:r>
              <a:rPr sz="1950" spc="10" dirty="0">
                <a:latin typeface="Calibri"/>
                <a:cs typeface="Calibri"/>
              </a:rPr>
              <a:t>h  border-left-width 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border-right-width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solidFill>
                  <a:srgbClr val="FF0000"/>
                </a:solidFill>
                <a:latin typeface="Calibri"/>
                <a:cs typeface="Calibri"/>
              </a:rPr>
              <a:t>stile</a:t>
            </a:r>
            <a:r>
              <a:rPr sz="1950" spc="5" dirty="0">
                <a:latin typeface="Calibri"/>
                <a:cs typeface="Calibri"/>
              </a:rPr>
              <a:t>:</a:t>
            </a:r>
            <a:endParaRPr sz="1950">
              <a:latin typeface="Calibri"/>
              <a:cs typeface="Calibri"/>
            </a:endParaRPr>
          </a:p>
          <a:p>
            <a:pPr marL="927100" marR="116205">
              <a:lnSpc>
                <a:spcPct val="102600"/>
              </a:lnSpc>
              <a:spcBef>
                <a:spcPts val="15"/>
              </a:spcBef>
            </a:pPr>
            <a:r>
              <a:rPr sz="1950" spc="5" dirty="0">
                <a:latin typeface="Calibri"/>
                <a:cs typeface="Calibri"/>
              </a:rPr>
              <a:t>border-top-style 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border-bottom-style </a:t>
            </a:r>
            <a:r>
              <a:rPr sz="1950" spc="-4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border-left-style 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border-right-style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950" spc="15" dirty="0">
                <a:solidFill>
                  <a:srgbClr val="FF0000"/>
                </a:solidFill>
                <a:latin typeface="Calibri"/>
                <a:cs typeface="Calibri"/>
              </a:rPr>
              <a:t>colore</a:t>
            </a:r>
            <a:r>
              <a:rPr sz="1950" spc="15" dirty="0">
                <a:latin typeface="Calibri"/>
                <a:cs typeface="Calibri"/>
              </a:rPr>
              <a:t>:</a:t>
            </a:r>
            <a:endParaRPr sz="1950">
              <a:latin typeface="Calibri"/>
              <a:cs typeface="Calibri"/>
            </a:endParaRPr>
          </a:p>
          <a:p>
            <a:pPr marL="927100" marR="67945">
              <a:lnSpc>
                <a:spcPts val="2410"/>
              </a:lnSpc>
              <a:spcBef>
                <a:spcPts val="60"/>
              </a:spcBef>
            </a:pPr>
            <a:r>
              <a:rPr sz="1950" spc="10" dirty="0">
                <a:latin typeface="Calibri"/>
                <a:cs typeface="Calibri"/>
              </a:rPr>
              <a:t>border-top-color 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border-bottom-color</a:t>
            </a:r>
            <a:endParaRPr sz="1950">
              <a:latin typeface="Calibri"/>
              <a:cs typeface="Calibri"/>
            </a:endParaRPr>
          </a:p>
          <a:p>
            <a:pPr marL="927100" marR="355600">
              <a:lnSpc>
                <a:spcPts val="2380"/>
              </a:lnSpc>
              <a:spcBef>
                <a:spcPts val="30"/>
              </a:spcBef>
            </a:pPr>
            <a:r>
              <a:rPr sz="1950" spc="15" dirty="0">
                <a:latin typeface="Calibri"/>
                <a:cs typeface="Calibri"/>
              </a:rPr>
              <a:t>border-left-color 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</a:t>
            </a:r>
            <a:r>
              <a:rPr sz="1950" spc="30" dirty="0">
                <a:latin typeface="Calibri"/>
                <a:cs typeface="Calibri"/>
              </a:rPr>
              <a:t>o</a:t>
            </a:r>
            <a:r>
              <a:rPr sz="1950" spc="-10" dirty="0">
                <a:latin typeface="Calibri"/>
                <a:cs typeface="Calibri"/>
              </a:rPr>
              <a:t>r</a:t>
            </a:r>
            <a:r>
              <a:rPr sz="1950" dirty="0">
                <a:latin typeface="Calibri"/>
                <a:cs typeface="Calibri"/>
              </a:rPr>
              <a:t>d</a:t>
            </a:r>
            <a:r>
              <a:rPr sz="1950" spc="15" dirty="0">
                <a:latin typeface="Calibri"/>
                <a:cs typeface="Calibri"/>
              </a:rPr>
              <a:t>e</a:t>
            </a:r>
            <a:r>
              <a:rPr sz="1950" spc="20" dirty="0">
                <a:latin typeface="Calibri"/>
                <a:cs typeface="Calibri"/>
              </a:rPr>
              <a:t>r</a:t>
            </a:r>
            <a:r>
              <a:rPr sz="1950" spc="5" dirty="0">
                <a:latin typeface="Calibri"/>
                <a:cs typeface="Calibri"/>
              </a:rPr>
              <a:t>-</a:t>
            </a:r>
            <a:r>
              <a:rPr sz="1950" spc="20" dirty="0">
                <a:latin typeface="Calibri"/>
                <a:cs typeface="Calibri"/>
              </a:rPr>
              <a:t>r</a:t>
            </a:r>
            <a:r>
              <a:rPr sz="1950" spc="5" dirty="0">
                <a:latin typeface="Calibri"/>
                <a:cs typeface="Calibri"/>
              </a:rPr>
              <a:t>ig</a:t>
            </a:r>
            <a:r>
              <a:rPr sz="1950" spc="-40" dirty="0">
                <a:latin typeface="Calibri"/>
                <a:cs typeface="Calibri"/>
              </a:rPr>
              <a:t>h</a:t>
            </a:r>
            <a:r>
              <a:rPr sz="1950" spc="20" dirty="0">
                <a:latin typeface="Calibri"/>
                <a:cs typeface="Calibri"/>
              </a:rPr>
              <a:t>t</a:t>
            </a:r>
            <a:r>
              <a:rPr sz="1950" dirty="0">
                <a:latin typeface="Calibri"/>
                <a:cs typeface="Calibri"/>
              </a:rPr>
              <a:t>-</a:t>
            </a:r>
            <a:r>
              <a:rPr sz="1950" spc="25" dirty="0">
                <a:latin typeface="Calibri"/>
                <a:cs typeface="Calibri"/>
              </a:rPr>
              <a:t>c</a:t>
            </a:r>
            <a:r>
              <a:rPr sz="1950" spc="30" dirty="0">
                <a:latin typeface="Calibri"/>
                <a:cs typeface="Calibri"/>
              </a:rPr>
              <a:t>o</a:t>
            </a:r>
            <a:r>
              <a:rPr sz="1950" spc="5" dirty="0">
                <a:latin typeface="Calibri"/>
                <a:cs typeface="Calibri"/>
              </a:rPr>
              <a:t>l</a:t>
            </a:r>
            <a:r>
              <a:rPr sz="1950" spc="35" dirty="0">
                <a:latin typeface="Calibri"/>
                <a:cs typeface="Calibri"/>
              </a:rPr>
              <a:t>o</a:t>
            </a:r>
            <a:r>
              <a:rPr sz="1950" spc="10" dirty="0">
                <a:latin typeface="Calibri"/>
                <a:cs typeface="Calibri"/>
              </a:rPr>
              <a:t>r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54303"/>
            <a:ext cx="8077834" cy="492252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625"/>
              </a:spcBef>
            </a:pPr>
            <a:r>
              <a:rPr sz="2200" spc="-5" dirty="0">
                <a:latin typeface="Calibri"/>
                <a:cs typeface="Calibri"/>
              </a:rPr>
              <a:t>Le </a:t>
            </a:r>
            <a:r>
              <a:rPr sz="2200" spc="-10" dirty="0">
                <a:latin typeface="Calibri"/>
                <a:cs typeface="Calibri"/>
              </a:rPr>
              <a:t>proprietà </a:t>
            </a:r>
            <a:r>
              <a:rPr sz="2200" spc="-5" dirty="0">
                <a:latin typeface="Calibri"/>
                <a:cs typeface="Calibri"/>
              </a:rPr>
              <a:t>della </a:t>
            </a:r>
            <a:r>
              <a:rPr sz="2200" spc="-15" dirty="0">
                <a:latin typeface="Calibri"/>
                <a:cs typeface="Calibri"/>
              </a:rPr>
              <a:t>famiglia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width </a:t>
            </a:r>
            <a:r>
              <a:rPr sz="2200" spc="-15" dirty="0">
                <a:latin typeface="Calibri"/>
                <a:cs typeface="Calibri"/>
              </a:rPr>
              <a:t>attendono un valore </a:t>
            </a:r>
            <a:r>
              <a:rPr sz="2200" spc="-10" dirty="0">
                <a:latin typeface="Calibri"/>
                <a:cs typeface="Calibri"/>
              </a:rPr>
              <a:t>numerico </a:t>
            </a:r>
            <a:r>
              <a:rPr sz="2200" spc="-15" dirty="0">
                <a:latin typeface="Calibri"/>
                <a:cs typeface="Calibri"/>
              </a:rPr>
              <a:t>(con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unità </a:t>
            </a:r>
            <a:r>
              <a:rPr sz="2200" spc="5" dirty="0">
                <a:latin typeface="Calibri"/>
                <a:cs typeface="Calibri"/>
              </a:rPr>
              <a:t>di </a:t>
            </a:r>
            <a:r>
              <a:rPr sz="2200" spc="-15" dirty="0">
                <a:latin typeface="Calibri"/>
                <a:cs typeface="Calibri"/>
              </a:rPr>
              <a:t>misura) </a:t>
            </a:r>
            <a:r>
              <a:rPr sz="2200" spc="-10" dirty="0">
                <a:latin typeface="Calibri"/>
                <a:cs typeface="Calibri"/>
              </a:rPr>
              <a:t>oppure </a:t>
            </a:r>
            <a:r>
              <a:rPr sz="2200" spc="-5" dirty="0">
                <a:latin typeface="Calibri"/>
                <a:cs typeface="Calibri"/>
              </a:rPr>
              <a:t>una </a:t>
            </a:r>
            <a:r>
              <a:rPr sz="2200" spc="-20" dirty="0">
                <a:latin typeface="Calibri"/>
                <a:cs typeface="Calibri"/>
              </a:rPr>
              <a:t>stringa tra </a:t>
            </a:r>
            <a:r>
              <a:rPr sz="2200" spc="-10" dirty="0">
                <a:latin typeface="Calibri"/>
                <a:cs typeface="Calibri"/>
              </a:rPr>
              <a:t>thin (sottile), </a:t>
            </a:r>
            <a:r>
              <a:rPr sz="2200" spc="5" dirty="0">
                <a:latin typeface="Calibri"/>
                <a:cs typeface="Calibri"/>
              </a:rPr>
              <a:t>medium </a:t>
            </a:r>
            <a:r>
              <a:rPr sz="2200" spc="-5" dirty="0">
                <a:latin typeface="Calibri"/>
                <a:cs typeface="Calibri"/>
              </a:rPr>
              <a:t>(medio) </a:t>
            </a:r>
            <a:r>
              <a:rPr sz="2200" dirty="0">
                <a:latin typeface="Calibri"/>
                <a:cs typeface="Calibri"/>
              </a:rPr>
              <a:t>o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thick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(spesso).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00">
              <a:latin typeface="Calibri"/>
              <a:cs typeface="Calibri"/>
            </a:endParaRPr>
          </a:p>
          <a:p>
            <a:pPr marL="12700" marR="1690370">
              <a:lnSpc>
                <a:spcPts val="2630"/>
              </a:lnSpc>
              <a:spcBef>
                <a:spcPts val="5"/>
              </a:spcBef>
            </a:pPr>
            <a:r>
              <a:rPr sz="2200" spc="-5" dirty="0">
                <a:latin typeface="Calibri"/>
                <a:cs typeface="Calibri"/>
              </a:rPr>
              <a:t>Le proprietà della </a:t>
            </a:r>
            <a:r>
              <a:rPr sz="2200" spc="-10" dirty="0">
                <a:latin typeface="Calibri"/>
                <a:cs typeface="Calibri"/>
              </a:rPr>
              <a:t>famiglia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style </a:t>
            </a:r>
            <a:r>
              <a:rPr sz="2200" spc="-5" dirty="0">
                <a:latin typeface="Calibri"/>
                <a:cs typeface="Calibri"/>
              </a:rPr>
              <a:t>attendono </a:t>
            </a:r>
            <a:r>
              <a:rPr sz="2200" spc="5" dirty="0">
                <a:latin typeface="Calibri"/>
                <a:cs typeface="Calibri"/>
              </a:rPr>
              <a:t>un </a:t>
            </a:r>
            <a:r>
              <a:rPr sz="2200" spc="-15" dirty="0">
                <a:latin typeface="Calibri"/>
                <a:cs typeface="Calibri"/>
              </a:rPr>
              <a:t>valore </a:t>
            </a:r>
            <a:r>
              <a:rPr sz="2200" spc="-5" dirty="0">
                <a:latin typeface="Calibri"/>
                <a:cs typeface="Calibri"/>
              </a:rPr>
              <a:t>tra: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none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nessun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bordo;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40"/>
              </a:lnSpc>
            </a:pPr>
            <a:r>
              <a:rPr sz="2200" dirty="0">
                <a:latin typeface="Calibri"/>
                <a:cs typeface="Calibri"/>
              </a:rPr>
              <a:t>hidden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nella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pratica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equivale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none;</a:t>
            </a:r>
            <a:endParaRPr sz="2200">
              <a:latin typeface="Calibri"/>
              <a:cs typeface="Calibri"/>
            </a:endParaRPr>
          </a:p>
          <a:p>
            <a:pPr marL="12700" marR="4745990">
              <a:lnSpc>
                <a:spcPct val="100200"/>
              </a:lnSpc>
              <a:spcBef>
                <a:spcPts val="15"/>
              </a:spcBef>
            </a:pPr>
            <a:r>
              <a:rPr sz="2200" spc="-10" dirty="0">
                <a:latin typeface="Calibri"/>
                <a:cs typeface="Calibri"/>
              </a:rPr>
              <a:t>dotted </a:t>
            </a:r>
            <a:r>
              <a:rPr sz="2200" spc="-5" dirty="0">
                <a:latin typeface="Calibri"/>
                <a:cs typeface="Calibri"/>
              </a:rPr>
              <a:t>- </a:t>
            </a:r>
            <a:r>
              <a:rPr sz="2200" dirty="0">
                <a:latin typeface="Calibri"/>
                <a:cs typeface="Calibri"/>
              </a:rPr>
              <a:t>bordo </a:t>
            </a:r>
            <a:r>
              <a:rPr sz="2200" spc="-5" dirty="0">
                <a:latin typeface="Calibri"/>
                <a:cs typeface="Calibri"/>
              </a:rPr>
              <a:t>a puntini; </a:t>
            </a:r>
            <a:r>
              <a:rPr sz="2200" dirty="0">
                <a:latin typeface="Calibri"/>
                <a:cs typeface="Calibri"/>
              </a:rPr>
              <a:t> dashed - bordo a </a:t>
            </a:r>
            <a:r>
              <a:rPr sz="2200" spc="-10" dirty="0">
                <a:latin typeface="Calibri"/>
                <a:cs typeface="Calibri"/>
              </a:rPr>
              <a:t>trattini; </a:t>
            </a:r>
            <a:r>
              <a:rPr sz="2200" spc="-5" dirty="0">
                <a:latin typeface="Calibri"/>
                <a:cs typeface="Calibri"/>
              </a:rPr>
              <a:t> solid</a:t>
            </a:r>
            <a:r>
              <a:rPr sz="2200" dirty="0">
                <a:latin typeface="Calibri"/>
                <a:cs typeface="Calibri"/>
              </a:rPr>
              <a:t> -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bordo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linea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intera;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625"/>
              </a:lnSpc>
            </a:pPr>
            <a:r>
              <a:rPr sz="2200" dirty="0">
                <a:latin typeface="Calibri"/>
                <a:cs typeface="Calibri"/>
              </a:rPr>
              <a:t>double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- </a:t>
            </a:r>
            <a:r>
              <a:rPr sz="2200" dirty="0">
                <a:latin typeface="Calibri"/>
                <a:cs typeface="Calibri"/>
              </a:rPr>
              <a:t>bordo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doppia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linea;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635"/>
              </a:lnSpc>
              <a:spcBef>
                <a:spcPts val="20"/>
              </a:spcBef>
            </a:pPr>
            <a:r>
              <a:rPr sz="2200" spc="-15" dirty="0">
                <a:latin typeface="Calibri"/>
                <a:cs typeface="Calibri"/>
              </a:rPr>
              <a:t>groove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bordo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rilievo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(3D);</a:t>
            </a:r>
            <a:endParaRPr sz="2200">
              <a:latin typeface="Calibri"/>
              <a:cs typeface="Calibri"/>
            </a:endParaRPr>
          </a:p>
          <a:p>
            <a:pPr marL="12700" marR="2893695">
              <a:lnSpc>
                <a:spcPts val="2660"/>
              </a:lnSpc>
              <a:spcBef>
                <a:spcPts val="65"/>
              </a:spcBef>
            </a:pPr>
            <a:r>
              <a:rPr sz="2200" spc="-10" dirty="0">
                <a:latin typeface="Calibri"/>
                <a:cs typeface="Calibri"/>
              </a:rPr>
              <a:t>ridge </a:t>
            </a:r>
            <a:r>
              <a:rPr sz="2200" dirty="0">
                <a:latin typeface="Calibri"/>
                <a:cs typeface="Calibri"/>
              </a:rPr>
              <a:t>- bordo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rilievo </a:t>
            </a:r>
            <a:r>
              <a:rPr sz="2200" spc="-5" dirty="0">
                <a:latin typeface="Calibri"/>
                <a:cs typeface="Calibri"/>
              </a:rPr>
              <a:t>(3D) </a:t>
            </a:r>
            <a:r>
              <a:rPr sz="2200" spc="-10" dirty="0">
                <a:latin typeface="Calibri"/>
                <a:cs typeface="Calibri"/>
              </a:rPr>
              <a:t>opposto </a:t>
            </a:r>
            <a:r>
              <a:rPr sz="2200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groove;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inset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bordo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"che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rientra"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(3D);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35"/>
              </a:lnSpc>
            </a:pPr>
            <a:r>
              <a:rPr sz="2200" dirty="0">
                <a:latin typeface="Calibri"/>
                <a:cs typeface="Calibri"/>
              </a:rPr>
              <a:t>outset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- </a:t>
            </a:r>
            <a:r>
              <a:rPr sz="2200" dirty="0">
                <a:latin typeface="Calibri"/>
                <a:cs typeface="Calibri"/>
              </a:rPr>
              <a:t>bordo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"che </a:t>
            </a:r>
            <a:r>
              <a:rPr sz="2200" spc="-5" dirty="0">
                <a:latin typeface="Calibri"/>
                <a:cs typeface="Calibri"/>
              </a:rPr>
              <a:t>esce" </a:t>
            </a:r>
            <a:r>
              <a:rPr sz="2200" spc="-10" dirty="0">
                <a:latin typeface="Calibri"/>
                <a:cs typeface="Calibri"/>
              </a:rPr>
              <a:t>(3D)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opposto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inset;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58481"/>
            <a:ext cx="8077834" cy="46323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75"/>
              </a:spcBef>
            </a:pPr>
            <a:r>
              <a:rPr sz="3000" spc="10" dirty="0">
                <a:latin typeface="Calibri"/>
                <a:cs typeface="Calibri"/>
              </a:rPr>
              <a:t>Le </a:t>
            </a:r>
            <a:r>
              <a:rPr sz="3000" spc="-20" dirty="0">
                <a:latin typeface="Calibri"/>
                <a:cs typeface="Calibri"/>
              </a:rPr>
              <a:t>proprietà </a:t>
            </a:r>
            <a:r>
              <a:rPr sz="3000" dirty="0">
                <a:latin typeface="Calibri"/>
                <a:cs typeface="Calibri"/>
              </a:rPr>
              <a:t>della </a:t>
            </a:r>
            <a:r>
              <a:rPr sz="3000" spc="-10" dirty="0">
                <a:latin typeface="Calibri"/>
                <a:cs typeface="Calibri"/>
              </a:rPr>
              <a:t>famiglia </a:t>
            </a:r>
            <a:r>
              <a:rPr sz="3000" spc="-50" dirty="0">
                <a:solidFill>
                  <a:srgbClr val="FF0000"/>
                </a:solidFill>
                <a:latin typeface="Calibri"/>
                <a:cs typeface="Calibri"/>
              </a:rPr>
              <a:t>color</a:t>
            </a:r>
            <a:r>
              <a:rPr sz="3000" spc="-50" dirty="0">
                <a:latin typeface="Calibri"/>
                <a:cs typeface="Calibri"/>
              </a:rPr>
              <a:t>, </a:t>
            </a:r>
            <a:r>
              <a:rPr sz="3000" dirty="0">
                <a:latin typeface="Calibri"/>
                <a:cs typeface="Calibri"/>
              </a:rPr>
              <a:t>infine, </a:t>
            </a:r>
            <a:r>
              <a:rPr sz="3000" spc="-15" dirty="0">
                <a:latin typeface="Calibri"/>
                <a:cs typeface="Calibri"/>
              </a:rPr>
              <a:t>attendono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un </a:t>
            </a:r>
            <a:r>
              <a:rPr sz="3000" spc="-20" dirty="0">
                <a:latin typeface="Calibri"/>
                <a:cs typeface="Calibri"/>
              </a:rPr>
              <a:t>valore </a:t>
            </a:r>
            <a:r>
              <a:rPr sz="3000" spc="-5" dirty="0">
                <a:latin typeface="Calibri"/>
                <a:cs typeface="Calibri"/>
              </a:rPr>
              <a:t>corrispondente ad </a:t>
            </a:r>
            <a:r>
              <a:rPr sz="3000" spc="10" dirty="0">
                <a:latin typeface="Calibri"/>
                <a:cs typeface="Calibri"/>
              </a:rPr>
              <a:t>un </a:t>
            </a:r>
            <a:r>
              <a:rPr sz="3000" spc="-15" dirty="0">
                <a:latin typeface="Calibri"/>
                <a:cs typeface="Calibri"/>
              </a:rPr>
              <a:t>colore (solitamente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 </a:t>
            </a:r>
            <a:r>
              <a:rPr sz="3000" spc="-5" dirty="0">
                <a:latin typeface="Calibri"/>
                <a:cs typeface="Calibri"/>
              </a:rPr>
              <a:t>utilizza la </a:t>
            </a:r>
            <a:r>
              <a:rPr sz="3000" spc="-10" dirty="0">
                <a:latin typeface="Calibri"/>
                <a:cs typeface="Calibri"/>
              </a:rPr>
              <a:t>notazione </a:t>
            </a:r>
            <a:r>
              <a:rPr sz="3000" spc="-5" dirty="0">
                <a:latin typeface="Calibri"/>
                <a:cs typeface="Calibri"/>
              </a:rPr>
              <a:t>esadecimale </a:t>
            </a:r>
            <a:r>
              <a:rPr sz="3000" dirty="0">
                <a:latin typeface="Calibri"/>
                <a:cs typeface="Calibri"/>
              </a:rPr>
              <a:t>per i </a:t>
            </a:r>
            <a:r>
              <a:rPr sz="3000" spc="-10" dirty="0">
                <a:latin typeface="Calibri"/>
                <a:cs typeface="Calibri"/>
              </a:rPr>
              <a:t>colori dei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bordi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oppure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parole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chiave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"red"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"black").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 dirty="0">
              <a:latin typeface="Calibri"/>
              <a:cs typeface="Calibri"/>
            </a:endParaRPr>
          </a:p>
          <a:p>
            <a:pPr marL="12700" marR="6350" algn="just">
              <a:lnSpc>
                <a:spcPct val="90000"/>
              </a:lnSpc>
            </a:pP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border-radius </a:t>
            </a:r>
            <a:r>
              <a:rPr sz="3000" dirty="0">
                <a:latin typeface="Calibri"/>
                <a:cs typeface="Calibri"/>
              </a:rPr>
              <a:t>: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dirty="0">
                <a:latin typeface="Calibri"/>
                <a:cs typeface="Calibri"/>
              </a:rPr>
              <a:t>una </a:t>
            </a:r>
            <a:r>
              <a:rPr sz="3000" spc="-15" dirty="0">
                <a:latin typeface="Calibri"/>
                <a:cs typeface="Calibri"/>
              </a:rPr>
              <a:t>proprietà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15" dirty="0">
                <a:latin typeface="Calibri"/>
                <a:cs typeface="Calibri"/>
              </a:rPr>
              <a:t>sintassi abbreviata </a:t>
            </a:r>
            <a:r>
              <a:rPr sz="3000" spc="-10" dirty="0">
                <a:latin typeface="Calibri"/>
                <a:cs typeface="Calibri"/>
              </a:rPr>
              <a:t> con</a:t>
            </a:r>
            <a:r>
              <a:rPr sz="3000" spc="-5" dirty="0">
                <a:latin typeface="Calibri"/>
                <a:cs typeface="Calibri"/>
              </a:rPr>
              <a:t> cui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dirty="0">
                <a:latin typeface="Calibri"/>
                <a:cs typeface="Calibri"/>
              </a:rPr>
              <a:t>possibile </a:t>
            </a:r>
            <a:r>
              <a:rPr sz="3000" spc="-15" dirty="0">
                <a:latin typeface="Calibri"/>
                <a:cs typeface="Calibri"/>
              </a:rPr>
              <a:t>definire </a:t>
            </a:r>
            <a:r>
              <a:rPr sz="3000" spc="-10" dirty="0">
                <a:latin typeface="Calibri"/>
                <a:cs typeface="Calibri"/>
              </a:rPr>
              <a:t>con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sola </a:t>
            </a:r>
            <a:r>
              <a:rPr sz="3000" spc="-15" dirty="0">
                <a:latin typeface="Calibri"/>
                <a:cs typeface="Calibri"/>
              </a:rPr>
              <a:t>regola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valori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arrotondamento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tutti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quattro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gli </a:t>
            </a:r>
            <a:r>
              <a:rPr sz="3000" dirty="0">
                <a:latin typeface="Calibri"/>
                <a:cs typeface="Calibri"/>
              </a:rPr>
              <a:t> angoli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un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elemento.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3000" spc="-15" dirty="0">
                <a:latin typeface="Calibri"/>
                <a:cs typeface="Calibri"/>
              </a:rPr>
              <a:t>#box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{border-radius: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20px}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423" y="817956"/>
            <a:ext cx="18516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padding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87283"/>
            <a:ext cx="8075930" cy="419163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415"/>
              </a:spcBef>
            </a:pPr>
            <a:r>
              <a:rPr sz="2700" spc="-15" dirty="0">
                <a:latin typeface="Calibri"/>
                <a:cs typeface="Calibri"/>
              </a:rPr>
              <a:t>il </a:t>
            </a:r>
            <a:r>
              <a:rPr sz="2700" spc="-5" dirty="0">
                <a:latin typeface="Calibri"/>
                <a:cs typeface="Calibri"/>
              </a:rPr>
              <a:t>padding è </a:t>
            </a:r>
            <a:r>
              <a:rPr sz="2700" spc="-10" dirty="0">
                <a:latin typeface="Calibri"/>
                <a:cs typeface="Calibri"/>
              </a:rPr>
              <a:t>utile </a:t>
            </a:r>
            <a:r>
              <a:rPr sz="2700" spc="-5" dirty="0">
                <a:latin typeface="Calibri"/>
                <a:cs typeface="Calibri"/>
              </a:rPr>
              <a:t>per </a:t>
            </a:r>
            <a:r>
              <a:rPr sz="2700" spc="-20" dirty="0">
                <a:latin typeface="Calibri"/>
                <a:cs typeface="Calibri"/>
              </a:rPr>
              <a:t>creare </a:t>
            </a:r>
            <a:r>
              <a:rPr sz="2700" spc="-15" dirty="0">
                <a:latin typeface="Calibri"/>
                <a:cs typeface="Calibri"/>
              </a:rPr>
              <a:t>spazio intorno </a:t>
            </a:r>
            <a:r>
              <a:rPr sz="2700" spc="5" dirty="0">
                <a:latin typeface="Calibri"/>
                <a:cs typeface="Calibri"/>
              </a:rPr>
              <a:t>al </a:t>
            </a:r>
            <a:r>
              <a:rPr sz="2700" spc="-20" dirty="0">
                <a:latin typeface="Calibri"/>
                <a:cs typeface="Calibri"/>
              </a:rPr>
              <a:t>contenuto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box.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80" dirty="0">
                <a:latin typeface="Calibri"/>
                <a:cs typeface="Calibri"/>
              </a:rPr>
              <a:t>Tra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margini</a:t>
            </a:r>
            <a:r>
              <a:rPr sz="2700" spc="-5" dirty="0">
                <a:latin typeface="Calibri"/>
                <a:cs typeface="Calibri"/>
              </a:rPr>
              <a:t> e</a:t>
            </a:r>
            <a:r>
              <a:rPr sz="2700" dirty="0">
                <a:latin typeface="Calibri"/>
                <a:cs typeface="Calibri"/>
              </a:rPr>
              <a:t> padding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vi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è,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insomma,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una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fondamentale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differenza: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quando</a:t>
            </a:r>
            <a:r>
              <a:rPr sz="2700" dirty="0">
                <a:latin typeface="Calibri"/>
                <a:cs typeface="Calibri"/>
              </a:rPr>
              <a:t> si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usa</a:t>
            </a:r>
            <a:r>
              <a:rPr sz="2700" spc="5" dirty="0">
                <a:latin typeface="Calibri"/>
                <a:cs typeface="Calibri"/>
              </a:rPr>
              <a:t> 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padding,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lo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spazio</a:t>
            </a:r>
            <a:r>
              <a:rPr sz="2700" spc="-5" dirty="0">
                <a:latin typeface="Calibri"/>
                <a:cs typeface="Calibri"/>
              </a:rPr>
              <a:t> 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distanza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viene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inserito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all’interno</a:t>
            </a:r>
            <a:r>
              <a:rPr sz="2700" spc="-5" dirty="0">
                <a:latin typeface="Calibri"/>
                <a:cs typeface="Calibri"/>
              </a:rPr>
              <a:t> dei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bordi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dell’elemento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 non </a:t>
            </a:r>
            <a:r>
              <a:rPr sz="2700" spc="-30" dirty="0">
                <a:latin typeface="Calibri"/>
                <a:cs typeface="Calibri"/>
              </a:rPr>
              <a:t>all’esterno.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00" dirty="0">
              <a:latin typeface="Calibri"/>
              <a:cs typeface="Calibri"/>
            </a:endParaRPr>
          </a:p>
          <a:p>
            <a:pPr marL="12700" marR="5715" algn="just">
              <a:lnSpc>
                <a:spcPct val="90100"/>
              </a:lnSpc>
            </a:pPr>
            <a:r>
              <a:rPr sz="2700" spc="-5" dirty="0">
                <a:latin typeface="Calibri"/>
                <a:cs typeface="Calibri"/>
              </a:rPr>
              <a:t>La cosa </a:t>
            </a:r>
            <a:r>
              <a:rPr sz="2700" spc="-10" dirty="0">
                <a:latin typeface="Calibri"/>
                <a:cs typeface="Calibri"/>
              </a:rPr>
              <a:t>risulta </a:t>
            </a:r>
            <a:r>
              <a:rPr sz="2700" spc="-20" dirty="0">
                <a:latin typeface="Calibri"/>
                <a:cs typeface="Calibri"/>
              </a:rPr>
              <a:t>evidente </a:t>
            </a:r>
            <a:r>
              <a:rPr sz="2700" dirty="0">
                <a:latin typeface="Calibri"/>
                <a:cs typeface="Calibri"/>
              </a:rPr>
              <a:t>se si </a:t>
            </a:r>
            <a:r>
              <a:rPr sz="2700" spc="-5" dirty="0">
                <a:latin typeface="Calibri"/>
                <a:cs typeface="Calibri"/>
              </a:rPr>
              <a:t>usa per </a:t>
            </a:r>
            <a:r>
              <a:rPr sz="2700" spc="-35" dirty="0">
                <a:latin typeface="Calibri"/>
                <a:cs typeface="Calibri"/>
              </a:rPr>
              <a:t>l’elemento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5" dirty="0">
                <a:latin typeface="Calibri"/>
                <a:cs typeface="Calibri"/>
              </a:rPr>
              <a:t>colore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sfondo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diverso</a:t>
            </a:r>
            <a:r>
              <a:rPr sz="2700" spc="-5" dirty="0">
                <a:latin typeface="Calibri"/>
                <a:cs typeface="Calibri"/>
              </a:rPr>
              <a:t> da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quello</a:t>
            </a:r>
            <a:r>
              <a:rPr sz="2700" spc="-5" dirty="0">
                <a:latin typeface="Calibri"/>
                <a:cs typeface="Calibri"/>
              </a:rPr>
              <a:t> della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pagina.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Nel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caso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del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padding, </a:t>
            </a:r>
            <a:r>
              <a:rPr sz="2700" spc="-15" dirty="0">
                <a:latin typeface="Calibri"/>
                <a:cs typeface="Calibri"/>
              </a:rPr>
              <a:t>lo </a:t>
            </a:r>
            <a:r>
              <a:rPr sz="2700" spc="-5" dirty="0">
                <a:latin typeface="Calibri"/>
                <a:cs typeface="Calibri"/>
              </a:rPr>
              <a:t>spazio </a:t>
            </a:r>
            <a:r>
              <a:rPr sz="2700" spc="-10" dirty="0">
                <a:latin typeface="Calibri"/>
                <a:cs typeface="Calibri"/>
              </a:rPr>
              <a:t>inserito </a:t>
            </a:r>
            <a:r>
              <a:rPr sz="2700" spc="-25" dirty="0">
                <a:latin typeface="Calibri"/>
                <a:cs typeface="Calibri"/>
              </a:rPr>
              <a:t>avrà </a:t>
            </a:r>
            <a:r>
              <a:rPr sz="2700" spc="-10" dirty="0">
                <a:latin typeface="Calibri"/>
                <a:cs typeface="Calibri"/>
              </a:rPr>
              <a:t>proprio </a:t>
            </a:r>
            <a:r>
              <a:rPr sz="2700" spc="-15" dirty="0">
                <a:latin typeface="Calibri"/>
                <a:cs typeface="Calibri"/>
              </a:rPr>
              <a:t>il colore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20" dirty="0">
                <a:latin typeface="Calibri"/>
                <a:cs typeface="Calibri"/>
              </a:rPr>
              <a:t>sfondo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dell’elemento,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differenza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margini,</a:t>
            </a:r>
            <a:r>
              <a:rPr sz="2700" spc="-5" dirty="0">
                <a:latin typeface="Calibri"/>
                <a:cs typeface="Calibri"/>
              </a:rPr>
              <a:t> per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quali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il 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colore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sarà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quello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dell’elemento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contenitore.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22413"/>
            <a:ext cx="8077834" cy="4695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114"/>
              </a:spcBef>
            </a:pPr>
            <a:r>
              <a:rPr sz="3000" spc="5" dirty="0">
                <a:latin typeface="Calibri"/>
                <a:cs typeface="Calibri"/>
              </a:rPr>
              <a:t>p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{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padding: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10px;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}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 dirty="0">
              <a:latin typeface="Calibri"/>
              <a:cs typeface="Calibri"/>
            </a:endParaRPr>
          </a:p>
          <a:p>
            <a:pPr marL="12700" algn="just">
              <a:lnSpc>
                <a:spcPts val="3240"/>
              </a:lnSpc>
            </a:pPr>
            <a:r>
              <a:rPr sz="3000" dirty="0">
                <a:latin typeface="Calibri"/>
                <a:cs typeface="Calibri"/>
              </a:rPr>
              <a:t>Con</a:t>
            </a:r>
            <a:r>
              <a:rPr sz="3000" spc="1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questa</a:t>
            </a:r>
            <a:r>
              <a:rPr sz="3000" spc="1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regola</a:t>
            </a:r>
            <a:r>
              <a:rPr sz="3000" spc="1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abbiamo</a:t>
            </a:r>
            <a:r>
              <a:rPr sz="3000" spc="1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applicato</a:t>
            </a:r>
            <a:r>
              <a:rPr sz="3000" spc="1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</a:t>
            </a:r>
            <a:r>
              <a:rPr sz="3000" spc="1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padding</a:t>
            </a:r>
            <a:r>
              <a:rPr sz="3000" spc="15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di</a:t>
            </a:r>
            <a:endParaRPr sz="3000" dirty="0">
              <a:latin typeface="Calibri"/>
              <a:cs typeface="Calibri"/>
            </a:endParaRPr>
          </a:p>
          <a:p>
            <a:pPr marL="12700" marR="5080">
              <a:lnSpc>
                <a:spcPct val="79800"/>
              </a:lnSpc>
              <a:spcBef>
                <a:spcPts val="365"/>
              </a:spcBef>
              <a:tabLst>
                <a:tab pos="602615" algn="l"/>
                <a:tab pos="1526540" algn="l"/>
                <a:tab pos="2080895" algn="l"/>
                <a:tab pos="2941955" algn="l"/>
                <a:tab pos="3230245" algn="l"/>
                <a:tab pos="3914775" algn="l"/>
                <a:tab pos="4591050" algn="l"/>
                <a:tab pos="6492875" algn="l"/>
              </a:tabLst>
            </a:pPr>
            <a:r>
              <a:rPr sz="3000" dirty="0">
                <a:latin typeface="Calibri"/>
                <a:cs typeface="Calibri"/>
              </a:rPr>
              <a:t>1</a:t>
            </a:r>
            <a:r>
              <a:rPr sz="3000" spc="5" dirty="0">
                <a:latin typeface="Calibri"/>
                <a:cs typeface="Calibri"/>
              </a:rPr>
              <a:t>0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" dirty="0">
                <a:latin typeface="Calibri"/>
                <a:cs typeface="Calibri"/>
              </a:rPr>
              <a:t>p</a:t>
            </a:r>
            <a:r>
              <a:rPr sz="3000" spc="-20" dirty="0">
                <a:latin typeface="Calibri"/>
                <a:cs typeface="Calibri"/>
              </a:rPr>
              <a:t>i</a:t>
            </a:r>
            <a:r>
              <a:rPr sz="3000" spc="-60" dirty="0">
                <a:latin typeface="Calibri"/>
                <a:cs typeface="Calibri"/>
              </a:rPr>
              <a:t>x</a:t>
            </a:r>
            <a:r>
              <a:rPr sz="3000" spc="-4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l	</a:t>
            </a:r>
            <a:r>
              <a:rPr sz="3000" spc="-5" dirty="0">
                <a:latin typeface="Calibri"/>
                <a:cs typeface="Calibri"/>
              </a:rPr>
              <a:t>s</a:t>
            </a:r>
            <a:r>
              <a:rPr sz="3000" spc="5" dirty="0">
                <a:latin typeface="Calibri"/>
                <a:cs typeface="Calibri"/>
              </a:rPr>
              <a:t>u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10" dirty="0">
                <a:latin typeface="Calibri"/>
                <a:cs typeface="Calibri"/>
              </a:rPr>
              <a:t>u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-15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i	i	</a:t>
            </a:r>
            <a:r>
              <a:rPr sz="3000" spc="10" dirty="0">
                <a:latin typeface="Calibri"/>
                <a:cs typeface="Calibri"/>
              </a:rPr>
              <a:t>l</a:t>
            </a:r>
            <a:r>
              <a:rPr sz="3000" spc="-2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i	</a:t>
            </a:r>
            <a:r>
              <a:rPr sz="3000" spc="10" dirty="0">
                <a:latin typeface="Calibri"/>
                <a:cs typeface="Calibri"/>
              </a:rPr>
              <a:t>d</a:t>
            </a:r>
            <a:r>
              <a:rPr sz="3000" spc="-4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l	</a:t>
            </a:r>
            <a:r>
              <a:rPr sz="3000" spc="-30" dirty="0">
                <a:latin typeface="Calibri"/>
                <a:cs typeface="Calibri"/>
              </a:rPr>
              <a:t>c</a:t>
            </a:r>
            <a:r>
              <a:rPr sz="3000" dirty="0">
                <a:latin typeface="Calibri"/>
                <a:cs typeface="Calibri"/>
              </a:rPr>
              <a:t>o</a:t>
            </a:r>
            <a:r>
              <a:rPr sz="3000" spc="-15" dirty="0">
                <a:latin typeface="Calibri"/>
                <a:cs typeface="Calibri"/>
              </a:rPr>
              <a:t>n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20" dirty="0">
                <a:latin typeface="Calibri"/>
                <a:cs typeface="Calibri"/>
              </a:rPr>
              <a:t>n</a:t>
            </a:r>
            <a:r>
              <a:rPr sz="3000" spc="10" dirty="0">
                <a:latin typeface="Calibri"/>
                <a:cs typeface="Calibri"/>
              </a:rPr>
              <a:t>u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15" dirty="0">
                <a:latin typeface="Calibri"/>
                <a:cs typeface="Calibri"/>
              </a:rPr>
              <a:t>o</a:t>
            </a:r>
            <a:r>
              <a:rPr sz="3000" dirty="0">
                <a:latin typeface="Calibri"/>
                <a:cs typeface="Calibri"/>
              </a:rPr>
              <a:t>:	</a:t>
            </a:r>
            <a:r>
              <a:rPr sz="3000" spc="-45" dirty="0">
                <a:latin typeface="Calibri"/>
                <a:cs typeface="Calibri"/>
              </a:rPr>
              <a:t>s</a:t>
            </a:r>
            <a:r>
              <a:rPr sz="3000" spc="10" dirty="0">
                <a:latin typeface="Calibri"/>
                <a:cs typeface="Calibri"/>
              </a:rPr>
              <a:t>up</a:t>
            </a:r>
            <a:r>
              <a:rPr sz="3000" spc="-45" dirty="0">
                <a:latin typeface="Calibri"/>
                <a:cs typeface="Calibri"/>
              </a:rPr>
              <a:t>e</a:t>
            </a:r>
            <a:r>
              <a:rPr sz="3000" spc="15" dirty="0">
                <a:latin typeface="Calibri"/>
                <a:cs typeface="Calibri"/>
              </a:rPr>
              <a:t>r</a:t>
            </a:r>
            <a:r>
              <a:rPr sz="3000" spc="-20" dirty="0">
                <a:latin typeface="Calibri"/>
                <a:cs typeface="Calibri"/>
              </a:rPr>
              <a:t>i</a:t>
            </a:r>
            <a:r>
              <a:rPr sz="3000" dirty="0">
                <a:latin typeface="Calibri"/>
                <a:cs typeface="Calibri"/>
              </a:rPr>
              <a:t>o</a:t>
            </a:r>
            <a:r>
              <a:rPr sz="3000" spc="-15" dirty="0">
                <a:latin typeface="Calibri"/>
                <a:cs typeface="Calibri"/>
              </a:rPr>
              <a:t>r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,  </a:t>
            </a:r>
            <a:r>
              <a:rPr sz="3000" spc="-10" dirty="0">
                <a:latin typeface="Calibri"/>
                <a:cs typeface="Calibri"/>
              </a:rPr>
              <a:t>inferiore,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destro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sinistro.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00" dirty="0">
              <a:latin typeface="Calibri"/>
              <a:cs typeface="Calibri"/>
            </a:endParaRPr>
          </a:p>
          <a:p>
            <a:pPr marL="12700" marR="5080" algn="just">
              <a:lnSpc>
                <a:spcPct val="80400"/>
              </a:lnSpc>
            </a:pPr>
            <a:r>
              <a:rPr sz="3000" spc="-25" dirty="0">
                <a:latin typeface="Calibri"/>
                <a:cs typeface="Calibri"/>
              </a:rPr>
              <a:t>Volendo,</a:t>
            </a:r>
            <a:r>
              <a:rPr sz="3000" spc="-20" dirty="0">
                <a:latin typeface="Calibri"/>
                <a:cs typeface="Calibri"/>
              </a:rPr>
              <a:t> però,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dirty="0">
                <a:latin typeface="Calibri"/>
                <a:cs typeface="Calibri"/>
              </a:rPr>
              <a:t>anche possibile </a:t>
            </a:r>
            <a:r>
              <a:rPr sz="3000" spc="-15" dirty="0">
                <a:latin typeface="Calibri"/>
                <a:cs typeface="Calibri"/>
              </a:rPr>
              <a:t>prevedere valori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differenti, </a:t>
            </a:r>
            <a:r>
              <a:rPr sz="3000" dirty="0">
                <a:latin typeface="Calibri"/>
                <a:cs typeface="Calibri"/>
              </a:rPr>
              <a:t>per </a:t>
            </a:r>
            <a:r>
              <a:rPr sz="3000" spc="-10" dirty="0">
                <a:latin typeface="Calibri"/>
                <a:cs typeface="Calibri"/>
              </a:rPr>
              <a:t>farlo </a:t>
            </a:r>
            <a:r>
              <a:rPr sz="3000" dirty="0">
                <a:latin typeface="Calibri"/>
                <a:cs typeface="Calibri"/>
              </a:rPr>
              <a:t>si </a:t>
            </a:r>
            <a:r>
              <a:rPr sz="3000" spc="-15" dirty="0">
                <a:latin typeface="Calibri"/>
                <a:cs typeface="Calibri"/>
              </a:rPr>
              <a:t>utilizza </a:t>
            </a:r>
            <a:r>
              <a:rPr sz="3000" spc="-5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proprietà </a:t>
            </a:r>
            <a:r>
              <a:rPr sz="3000" spc="-10" dirty="0">
                <a:latin typeface="Calibri"/>
                <a:cs typeface="Calibri"/>
              </a:rPr>
              <a:t>padding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specificando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quattro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valori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questo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modo: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 dirty="0">
              <a:latin typeface="Calibri"/>
              <a:cs typeface="Calibri"/>
            </a:endParaRPr>
          </a:p>
          <a:p>
            <a:pPr marR="6350" algn="ctr">
              <a:lnSpc>
                <a:spcPct val="100000"/>
              </a:lnSpc>
            </a:pPr>
            <a:r>
              <a:rPr sz="3000" spc="5" dirty="0">
                <a:latin typeface="Calibri"/>
                <a:cs typeface="Calibri"/>
              </a:rPr>
              <a:t>p{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padding: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10px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5px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15px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30px;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}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10158"/>
            <a:ext cx="8079105" cy="509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Calibri"/>
                <a:cs typeface="Calibri"/>
              </a:rPr>
              <a:t>L'ordine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(da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sinistra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verso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destra)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è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il</a:t>
            </a:r>
            <a:r>
              <a:rPr sz="2200" spc="-5" dirty="0">
                <a:latin typeface="Calibri"/>
                <a:cs typeface="Calibri"/>
              </a:rPr>
              <a:t> seguente: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Calibri"/>
              <a:cs typeface="Calibri"/>
            </a:endParaRPr>
          </a:p>
          <a:p>
            <a:pPr marL="12700" marR="5191125">
              <a:lnSpc>
                <a:spcPct val="99900"/>
              </a:lnSpc>
            </a:pPr>
            <a:r>
              <a:rPr sz="2200" spc="5" dirty="0">
                <a:latin typeface="Calibri"/>
                <a:cs typeface="Calibri"/>
              </a:rPr>
              <a:t>padding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superiore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5" dirty="0">
                <a:latin typeface="Calibri"/>
                <a:cs typeface="Calibri"/>
              </a:rPr>
              <a:t> 10px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padding </a:t>
            </a:r>
            <a:r>
              <a:rPr sz="2200" spc="-10" dirty="0">
                <a:latin typeface="Calibri"/>
                <a:cs typeface="Calibri"/>
              </a:rPr>
              <a:t>destro </a:t>
            </a:r>
            <a:r>
              <a:rPr sz="2200" spc="-5" dirty="0">
                <a:latin typeface="Calibri"/>
                <a:cs typeface="Calibri"/>
              </a:rPr>
              <a:t>= </a:t>
            </a:r>
            <a:r>
              <a:rPr sz="2200" spc="-25" dirty="0">
                <a:latin typeface="Calibri"/>
                <a:cs typeface="Calibri"/>
              </a:rPr>
              <a:t>5px 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padding </a:t>
            </a:r>
            <a:r>
              <a:rPr sz="2200" spc="-10" dirty="0">
                <a:latin typeface="Calibri"/>
                <a:cs typeface="Calibri"/>
              </a:rPr>
              <a:t>inferiore </a:t>
            </a:r>
            <a:r>
              <a:rPr sz="2200" spc="-5" dirty="0">
                <a:latin typeface="Calibri"/>
                <a:cs typeface="Calibri"/>
              </a:rPr>
              <a:t>= </a:t>
            </a:r>
            <a:r>
              <a:rPr sz="2200" spc="-25" dirty="0">
                <a:latin typeface="Calibri"/>
                <a:cs typeface="Calibri"/>
              </a:rPr>
              <a:t>15px 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padding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sinistro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30px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Calibri"/>
              <a:cs typeface="Calibri"/>
            </a:endParaRPr>
          </a:p>
          <a:p>
            <a:pPr marL="12700" marR="5080" algn="just">
              <a:lnSpc>
                <a:spcPct val="80200"/>
              </a:lnSpc>
            </a:pPr>
            <a:r>
              <a:rPr sz="2200" dirty="0">
                <a:latin typeface="Calibri"/>
                <a:cs typeface="Calibri"/>
              </a:rPr>
              <a:t>In </a:t>
            </a:r>
            <a:r>
              <a:rPr sz="2200" spc="-20" dirty="0">
                <a:latin typeface="Calibri"/>
                <a:cs typeface="Calibri"/>
              </a:rPr>
              <a:t>pratica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il</a:t>
            </a:r>
            <a:r>
              <a:rPr sz="2200" spc="-5" dirty="0">
                <a:latin typeface="Calibri"/>
                <a:cs typeface="Calibri"/>
              </a:rPr>
              <a:t> primo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valore</a:t>
            </a:r>
            <a:r>
              <a:rPr sz="2200" spc="-10" dirty="0">
                <a:latin typeface="Calibri"/>
                <a:cs typeface="Calibri"/>
              </a:rPr>
              <a:t> corrisponde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 </a:t>
            </a:r>
            <a:r>
              <a:rPr sz="2200" spc="-5" dirty="0">
                <a:latin typeface="Calibri"/>
                <a:cs typeface="Calibri"/>
              </a:rPr>
              <a:t>padding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superiore</a:t>
            </a:r>
            <a:r>
              <a:rPr sz="2200" spc="-5" dirty="0">
                <a:latin typeface="Calibri"/>
                <a:cs typeface="Calibri"/>
              </a:rPr>
              <a:t> e</a:t>
            </a:r>
            <a:r>
              <a:rPr sz="2200" dirty="0">
                <a:latin typeface="Calibri"/>
                <a:cs typeface="Calibri"/>
              </a:rPr>
              <a:t> poi </a:t>
            </a:r>
            <a:r>
              <a:rPr sz="2200" spc="-15" dirty="0">
                <a:latin typeface="Calibri"/>
                <a:cs typeface="Calibri"/>
              </a:rPr>
              <a:t>si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prosegue </a:t>
            </a:r>
            <a:r>
              <a:rPr sz="2200" spc="-10" dirty="0">
                <a:latin typeface="Calibri"/>
                <a:cs typeface="Calibri"/>
              </a:rPr>
              <a:t>muovendosi </a:t>
            </a:r>
            <a:r>
              <a:rPr sz="2200" spc="-5" dirty="0">
                <a:latin typeface="Calibri"/>
                <a:cs typeface="Calibri"/>
              </a:rPr>
              <a:t>in senso </a:t>
            </a:r>
            <a:r>
              <a:rPr sz="2200" spc="-15" dirty="0">
                <a:latin typeface="Calibri"/>
                <a:cs typeface="Calibri"/>
              </a:rPr>
              <a:t>orario. </a:t>
            </a:r>
            <a:r>
              <a:rPr sz="2200" dirty="0">
                <a:latin typeface="Calibri"/>
                <a:cs typeface="Calibri"/>
              </a:rPr>
              <a:t>Un </a:t>
            </a:r>
            <a:r>
              <a:rPr sz="2200" spc="-15" dirty="0">
                <a:latin typeface="Calibri"/>
                <a:cs typeface="Calibri"/>
              </a:rPr>
              <a:t>altra </a:t>
            </a:r>
            <a:r>
              <a:rPr sz="2200" spc="-10" dirty="0">
                <a:latin typeface="Calibri"/>
                <a:cs typeface="Calibri"/>
              </a:rPr>
              <a:t>modalità </a:t>
            </a:r>
            <a:r>
              <a:rPr sz="2200" spc="-20" dirty="0">
                <a:latin typeface="Calibri"/>
                <a:cs typeface="Calibri"/>
              </a:rPr>
              <a:t>prevista</a:t>
            </a:r>
            <a:r>
              <a:rPr sz="2200" spc="455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da 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CSS </a:t>
            </a:r>
            <a:r>
              <a:rPr sz="2200" dirty="0">
                <a:latin typeface="Calibri"/>
                <a:cs typeface="Calibri"/>
              </a:rPr>
              <a:t>per </a:t>
            </a:r>
            <a:r>
              <a:rPr sz="2200" spc="-5" dirty="0">
                <a:latin typeface="Calibri"/>
                <a:cs typeface="Calibri"/>
              </a:rPr>
              <a:t>la definizione </a:t>
            </a:r>
            <a:r>
              <a:rPr sz="2200" spc="5" dirty="0">
                <a:latin typeface="Calibri"/>
                <a:cs typeface="Calibri"/>
              </a:rPr>
              <a:t>di </a:t>
            </a:r>
            <a:r>
              <a:rPr sz="2200" spc="-5" dirty="0">
                <a:latin typeface="Calibri"/>
                <a:cs typeface="Calibri"/>
              </a:rPr>
              <a:t>padding </a:t>
            </a:r>
            <a:r>
              <a:rPr sz="2200" spc="-15" dirty="0">
                <a:latin typeface="Calibri"/>
                <a:cs typeface="Calibri"/>
              </a:rPr>
              <a:t>distinti </a:t>
            </a:r>
            <a:r>
              <a:rPr sz="2200" dirty="0">
                <a:latin typeface="Calibri"/>
                <a:cs typeface="Calibri"/>
              </a:rPr>
              <a:t>per i </a:t>
            </a:r>
            <a:r>
              <a:rPr sz="2200" spc="-5" dirty="0">
                <a:latin typeface="Calibri"/>
                <a:cs typeface="Calibri"/>
              </a:rPr>
              <a:t>singoli </a:t>
            </a:r>
            <a:r>
              <a:rPr sz="2200" spc="-10" dirty="0">
                <a:latin typeface="Calibri"/>
                <a:cs typeface="Calibri"/>
              </a:rPr>
              <a:t>lati </a:t>
            </a:r>
            <a:r>
              <a:rPr sz="2200" dirty="0">
                <a:latin typeface="Calibri"/>
                <a:cs typeface="Calibri"/>
              </a:rPr>
              <a:t>è </a:t>
            </a:r>
            <a:r>
              <a:rPr sz="2200" spc="-5" dirty="0">
                <a:latin typeface="Calibri"/>
                <a:cs typeface="Calibri"/>
              </a:rPr>
              <a:t>quella </a:t>
            </a:r>
            <a:r>
              <a:rPr sz="2200" spc="-15" dirty="0">
                <a:latin typeface="Calibri"/>
                <a:cs typeface="Calibri"/>
              </a:rPr>
              <a:t>che </a:t>
            </a:r>
            <a:r>
              <a:rPr sz="2200" spc="-10" dirty="0">
                <a:latin typeface="Calibri"/>
                <a:cs typeface="Calibri"/>
              </a:rPr>
              <a:t> prevede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l'utilizzo</a:t>
            </a:r>
            <a:r>
              <a:rPr sz="2200" spc="-5" dirty="0">
                <a:latin typeface="Calibri"/>
                <a:cs typeface="Calibri"/>
              </a:rPr>
              <a:t> delle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proprietà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specifiche: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Calibri"/>
              <a:cs typeface="Calibri"/>
            </a:endParaRPr>
          </a:p>
          <a:p>
            <a:pPr marL="12700" marR="4032250">
              <a:lnSpc>
                <a:spcPct val="99900"/>
              </a:lnSpc>
            </a:pPr>
            <a:r>
              <a:rPr sz="2200" dirty="0">
                <a:latin typeface="Calibri"/>
                <a:cs typeface="Calibri"/>
              </a:rPr>
              <a:t>padding-top </a:t>
            </a:r>
            <a:r>
              <a:rPr sz="2200" spc="5" dirty="0">
                <a:latin typeface="Calibri"/>
                <a:cs typeface="Calibri"/>
              </a:rPr>
              <a:t>(padding </a:t>
            </a:r>
            <a:r>
              <a:rPr sz="2200" spc="-5" dirty="0">
                <a:latin typeface="Calibri"/>
                <a:cs typeface="Calibri"/>
              </a:rPr>
              <a:t>superiore)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p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dd</a:t>
            </a:r>
            <a:r>
              <a:rPr sz="2200" spc="-15" dirty="0">
                <a:latin typeface="Calibri"/>
                <a:cs typeface="Calibri"/>
              </a:rPr>
              <a:t>i</a:t>
            </a:r>
            <a:r>
              <a:rPr sz="2200" spc="5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g</a:t>
            </a:r>
            <a:r>
              <a:rPr sz="2200" spc="-5" dirty="0">
                <a:latin typeface="Calibri"/>
                <a:cs typeface="Calibri"/>
              </a:rPr>
              <a:t>-</a:t>
            </a:r>
            <a:r>
              <a:rPr sz="2200" spc="5" dirty="0">
                <a:latin typeface="Calibri"/>
                <a:cs typeface="Calibri"/>
              </a:rPr>
              <a:t>bo</a:t>
            </a:r>
            <a:r>
              <a:rPr sz="2200" spc="-30" dirty="0">
                <a:latin typeface="Calibri"/>
                <a:cs typeface="Calibri"/>
              </a:rPr>
              <a:t>tt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m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spc="5" dirty="0">
                <a:latin typeface="Calibri"/>
                <a:cs typeface="Calibri"/>
              </a:rPr>
              <a:t>p</a:t>
            </a:r>
            <a:r>
              <a:rPr sz="2200" spc="-3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d</a:t>
            </a:r>
            <a:r>
              <a:rPr sz="2200" spc="-3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i</a:t>
            </a:r>
            <a:r>
              <a:rPr sz="2200" spc="5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g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</a:t>
            </a:r>
            <a:r>
              <a:rPr sz="2200" spc="5" dirty="0">
                <a:latin typeface="Calibri"/>
                <a:cs typeface="Calibri"/>
              </a:rPr>
              <a:t>n</a:t>
            </a:r>
            <a:r>
              <a:rPr sz="2200" spc="-7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spc="10" dirty="0">
                <a:latin typeface="Calibri"/>
                <a:cs typeface="Calibri"/>
              </a:rPr>
              <a:t>r</a:t>
            </a:r>
            <a:r>
              <a:rPr sz="2200" spc="-15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0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e)  padding-left </a:t>
            </a:r>
            <a:r>
              <a:rPr sz="2200" spc="5" dirty="0">
                <a:latin typeface="Calibri"/>
                <a:cs typeface="Calibri"/>
              </a:rPr>
              <a:t>(padding </a:t>
            </a:r>
            <a:r>
              <a:rPr sz="2200" spc="-10" dirty="0">
                <a:latin typeface="Calibri"/>
                <a:cs typeface="Calibri"/>
              </a:rPr>
              <a:t>sinistro)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padding-right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(padding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destro)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534" y="817956"/>
            <a:ext cx="16040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</a:t>
            </a:r>
            <a:r>
              <a:rPr spc="-15" dirty="0"/>
              <a:t>a</a:t>
            </a:r>
            <a:r>
              <a:rPr spc="-85" dirty="0"/>
              <a:t>r</a:t>
            </a:r>
            <a:r>
              <a:rPr dirty="0"/>
              <a:t>g</a:t>
            </a:r>
            <a:r>
              <a:rPr spc="-30" dirty="0"/>
              <a:t>i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06232"/>
            <a:ext cx="8079740" cy="420878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470"/>
              </a:spcBef>
            </a:pPr>
            <a:r>
              <a:rPr sz="3000" spc="-25" dirty="0">
                <a:latin typeface="Calibri"/>
                <a:cs typeface="Calibri"/>
              </a:rPr>
              <a:t>Per </a:t>
            </a:r>
            <a:r>
              <a:rPr sz="3000" spc="-10" dirty="0">
                <a:latin typeface="Calibri"/>
                <a:cs typeface="Calibri"/>
              </a:rPr>
              <a:t>certi </a:t>
            </a:r>
            <a:r>
              <a:rPr sz="3000" spc="-25" dirty="0">
                <a:latin typeface="Calibri"/>
                <a:cs typeface="Calibri"/>
              </a:rPr>
              <a:t>versi </a:t>
            </a:r>
            <a:r>
              <a:rPr sz="3000" spc="-5" dirty="0">
                <a:latin typeface="Calibri"/>
                <a:cs typeface="Calibri"/>
              </a:rPr>
              <a:t>molto simile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padding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proprietà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margin.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differenza</a:t>
            </a:r>
            <a:r>
              <a:rPr sz="3000" spc="-15" dirty="0">
                <a:latin typeface="Calibri"/>
                <a:cs typeface="Calibri"/>
              </a:rPr>
              <a:t> della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prima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(che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come </a:t>
            </a:r>
            <a:r>
              <a:rPr sz="3000" dirty="0">
                <a:latin typeface="Calibri"/>
                <a:cs typeface="Calibri"/>
              </a:rPr>
              <a:t> abbiamo </a:t>
            </a:r>
            <a:r>
              <a:rPr sz="3000" spc="-25" dirty="0">
                <a:latin typeface="Calibri"/>
                <a:cs typeface="Calibri"/>
              </a:rPr>
              <a:t>detto </a:t>
            </a:r>
            <a:r>
              <a:rPr sz="3000" spc="-5" dirty="0">
                <a:latin typeface="Calibri"/>
                <a:cs typeface="Calibri"/>
              </a:rPr>
              <a:t>definisce </a:t>
            </a:r>
            <a:r>
              <a:rPr sz="3000" spc="-10" dirty="0">
                <a:latin typeface="Calibri"/>
                <a:cs typeface="Calibri"/>
              </a:rPr>
              <a:t>una spaziatura interna </a:t>
            </a:r>
            <a:r>
              <a:rPr sz="3000" spc="-25" dirty="0">
                <a:latin typeface="Calibri"/>
                <a:cs typeface="Calibri"/>
              </a:rPr>
              <a:t>al 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box),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proprietà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margin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assegna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margine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esterno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box,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quindi</a:t>
            </a:r>
            <a:r>
              <a:rPr sz="3000" spc="-5" dirty="0">
                <a:latin typeface="Calibri"/>
                <a:cs typeface="Calibri"/>
              </a:rPr>
              <a:t> "al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</a:t>
            </a:r>
            <a:r>
              <a:rPr sz="3000" spc="-5" dirty="0">
                <a:latin typeface="Calibri"/>
                <a:cs typeface="Calibri"/>
              </a:rPr>
              <a:t> fuori"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suo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perimetro.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50">
              <a:latin typeface="Calibri"/>
              <a:cs typeface="Calibri"/>
            </a:endParaRPr>
          </a:p>
          <a:p>
            <a:pPr marL="12700" marR="8255" algn="just">
              <a:lnSpc>
                <a:spcPct val="90200"/>
              </a:lnSpc>
            </a:pPr>
            <a:r>
              <a:rPr sz="3000" spc="-5" dirty="0">
                <a:latin typeface="Calibri"/>
                <a:cs typeface="Calibri"/>
              </a:rPr>
              <a:t>Normalmente </a:t>
            </a:r>
            <a:r>
              <a:rPr sz="3000" spc="-10" dirty="0">
                <a:latin typeface="Calibri"/>
                <a:cs typeface="Calibri"/>
              </a:rPr>
              <a:t>margin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-20" dirty="0">
                <a:latin typeface="Calibri"/>
                <a:cs typeface="Calibri"/>
              </a:rPr>
              <a:t>utilizzata </a:t>
            </a:r>
            <a:r>
              <a:rPr sz="3000" spc="5" dirty="0">
                <a:latin typeface="Calibri"/>
                <a:cs typeface="Calibri"/>
              </a:rPr>
              <a:t>per </a:t>
            </a:r>
            <a:r>
              <a:rPr sz="3000" spc="-15" dirty="0">
                <a:latin typeface="Calibri"/>
                <a:cs typeface="Calibri"/>
              </a:rPr>
              <a:t>distanziare </a:t>
            </a:r>
            <a:r>
              <a:rPr sz="3000" dirty="0">
                <a:latin typeface="Calibri"/>
                <a:cs typeface="Calibri"/>
              </a:rPr>
              <a:t>i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vari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elementi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della</a:t>
            </a:r>
            <a:r>
              <a:rPr sz="3000" dirty="0">
                <a:latin typeface="Calibri"/>
                <a:cs typeface="Calibri"/>
              </a:rPr>
              <a:t> pagina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loro.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Vediamo</a:t>
            </a:r>
            <a:r>
              <a:rPr sz="3000" spc="-20" dirty="0">
                <a:latin typeface="Calibri"/>
                <a:cs typeface="Calibri"/>
              </a:rPr>
              <a:t> un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esempio: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73175"/>
            <a:ext cx="8078470" cy="49790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450" spc="15" dirty="0">
                <a:latin typeface="Calibri"/>
                <a:cs typeface="Calibri"/>
              </a:rPr>
              <a:t>p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margin: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10px;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ts val="2410"/>
              </a:lnSpc>
              <a:spcBef>
                <a:spcPts val="5"/>
              </a:spcBef>
              <a:tabLst>
                <a:tab pos="1382395" algn="l"/>
                <a:tab pos="2373630" algn="l"/>
                <a:tab pos="3644900" algn="l"/>
                <a:tab pos="4573270" algn="l"/>
                <a:tab pos="6465570" algn="l"/>
                <a:tab pos="7731759" algn="l"/>
              </a:tabLst>
            </a:pPr>
            <a:r>
              <a:rPr sz="2450" spc="20" dirty="0">
                <a:latin typeface="Calibri"/>
                <a:cs typeface="Calibri"/>
              </a:rPr>
              <a:t>Me</a:t>
            </a:r>
            <a:r>
              <a:rPr sz="2450" spc="25" dirty="0">
                <a:latin typeface="Calibri"/>
                <a:cs typeface="Calibri"/>
              </a:rPr>
              <a:t>d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25" dirty="0">
                <a:latin typeface="Calibri"/>
                <a:cs typeface="Calibri"/>
              </a:rPr>
              <a:t>a</a:t>
            </a:r>
            <a:r>
              <a:rPr sz="2450" spc="15" dirty="0">
                <a:latin typeface="Calibri"/>
                <a:cs typeface="Calibri"/>
              </a:rPr>
              <a:t>n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15" dirty="0">
                <a:latin typeface="Calibri"/>
                <a:cs typeface="Calibri"/>
              </a:rPr>
              <a:t>qu</a:t>
            </a:r>
            <a:r>
              <a:rPr sz="2450" spc="50" dirty="0">
                <a:latin typeface="Calibri"/>
                <a:cs typeface="Calibri"/>
              </a:rPr>
              <a:t>e</a:t>
            </a:r>
            <a:r>
              <a:rPr sz="2450" spc="-40" dirty="0">
                <a:latin typeface="Calibri"/>
                <a:cs typeface="Calibri"/>
              </a:rPr>
              <a:t>s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10" dirty="0">
                <a:latin typeface="Calibri"/>
                <a:cs typeface="Calibri"/>
              </a:rPr>
              <a:t>s</a:t>
            </a:r>
            <a:r>
              <a:rPr sz="2450" spc="50" dirty="0">
                <a:latin typeface="Calibri"/>
                <a:cs typeface="Calibri"/>
              </a:rPr>
              <a:t>e</a:t>
            </a:r>
            <a:r>
              <a:rPr sz="2450" spc="25" dirty="0">
                <a:latin typeface="Calibri"/>
                <a:cs typeface="Calibri"/>
              </a:rPr>
              <a:t>m</a:t>
            </a:r>
            <a:r>
              <a:rPr sz="2450" spc="20" dirty="0">
                <a:latin typeface="Calibri"/>
                <a:cs typeface="Calibri"/>
              </a:rPr>
              <a:t>p</a:t>
            </a:r>
            <a:r>
              <a:rPr sz="2450" spc="5" dirty="0">
                <a:latin typeface="Calibri"/>
                <a:cs typeface="Calibri"/>
              </a:rPr>
              <a:t>l</a:t>
            </a:r>
            <a:r>
              <a:rPr sz="2450" spc="-5" dirty="0">
                <a:latin typeface="Calibri"/>
                <a:cs typeface="Calibri"/>
              </a:rPr>
              <a:t>i</a:t>
            </a:r>
            <a:r>
              <a:rPr sz="2450" spc="20" dirty="0">
                <a:latin typeface="Calibri"/>
                <a:cs typeface="Calibri"/>
              </a:rPr>
              <a:t>c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4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egola</a:t>
            </a:r>
            <a:r>
              <a:rPr sz="2450" dirty="0">
                <a:latin typeface="Calibri"/>
                <a:cs typeface="Calibri"/>
              </a:rPr>
              <a:t>	C</a:t>
            </a:r>
            <a:r>
              <a:rPr sz="2450" spc="40" dirty="0">
                <a:latin typeface="Calibri"/>
                <a:cs typeface="Calibri"/>
              </a:rPr>
              <a:t>S</a:t>
            </a:r>
            <a:r>
              <a:rPr sz="2450" spc="10" dirty="0">
                <a:latin typeface="Calibri"/>
                <a:cs typeface="Calibri"/>
              </a:rPr>
              <a:t>S</a:t>
            </a:r>
            <a:r>
              <a:rPr sz="2450" spc="5" dirty="0">
                <a:latin typeface="Calibri"/>
                <a:cs typeface="Calibri"/>
              </a:rPr>
              <a:t>,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</a:t>
            </a:r>
            <a:r>
              <a:rPr sz="2450" spc="5" dirty="0">
                <a:latin typeface="Calibri"/>
                <a:cs typeface="Calibri"/>
              </a:rPr>
              <a:t>l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</a:t>
            </a:r>
            <a:r>
              <a:rPr sz="2450" spc="10" dirty="0">
                <a:latin typeface="Calibri"/>
                <a:cs typeface="Calibri"/>
              </a:rPr>
              <a:t>o</a:t>
            </a:r>
            <a:r>
              <a:rPr sz="2450" spc="-5" dirty="0">
                <a:latin typeface="Calibri"/>
                <a:cs typeface="Calibri"/>
              </a:rPr>
              <a:t>s</a:t>
            </a:r>
            <a:r>
              <a:rPr sz="2450" spc="25" dirty="0">
                <a:latin typeface="Calibri"/>
                <a:cs typeface="Calibri"/>
              </a:rPr>
              <a:t>t</a:t>
            </a:r>
            <a:r>
              <a:rPr sz="2450" spc="-4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15" dirty="0">
                <a:latin typeface="Calibri"/>
                <a:cs typeface="Calibri"/>
              </a:rPr>
              <a:t>b</a:t>
            </a:r>
            <a:r>
              <a:rPr sz="2450" spc="-20" dirty="0">
                <a:latin typeface="Calibri"/>
                <a:cs typeface="Calibri"/>
              </a:rPr>
              <a:t>o</a:t>
            </a:r>
            <a:r>
              <a:rPr sz="2450" spc="15" dirty="0">
                <a:latin typeface="Calibri"/>
                <a:cs typeface="Calibri"/>
              </a:rPr>
              <a:t>x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25" dirty="0">
                <a:latin typeface="Calibri"/>
                <a:cs typeface="Calibri"/>
              </a:rPr>
              <a:t>v</a:t>
            </a:r>
            <a:r>
              <a:rPr sz="2450" spc="-4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à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15" dirty="0">
                <a:latin typeface="Calibri"/>
                <a:cs typeface="Calibri"/>
              </a:rPr>
              <a:t>un  </a:t>
            </a:r>
            <a:r>
              <a:rPr sz="2450" spc="10" dirty="0">
                <a:latin typeface="Calibri"/>
                <a:cs typeface="Calibri"/>
              </a:rPr>
              <a:t>margine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10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pixel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su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tutti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lati.</a:t>
            </a:r>
          </a:p>
          <a:p>
            <a:pPr marL="12700" marR="13335">
              <a:lnSpc>
                <a:spcPts val="2410"/>
              </a:lnSpc>
              <a:spcBef>
                <a:spcPts val="575"/>
              </a:spcBef>
            </a:pPr>
            <a:r>
              <a:rPr sz="2450" dirty="0">
                <a:latin typeface="Calibri"/>
                <a:cs typeface="Calibri"/>
              </a:rPr>
              <a:t>Esattamente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come </a:t>
            </a:r>
            <a:r>
              <a:rPr sz="2450" spc="15" dirty="0">
                <a:latin typeface="Calibri"/>
                <a:cs typeface="Calibri"/>
              </a:rPr>
              <a:t>accade </a:t>
            </a:r>
            <a:r>
              <a:rPr sz="2450" spc="5" dirty="0">
                <a:latin typeface="Calibri"/>
                <a:cs typeface="Calibri"/>
              </a:rPr>
              <a:t>con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padding, </a:t>
            </a:r>
            <a:r>
              <a:rPr sz="2450" spc="15" dirty="0">
                <a:latin typeface="Calibri"/>
                <a:cs typeface="Calibri"/>
              </a:rPr>
              <a:t>è </a:t>
            </a:r>
            <a:r>
              <a:rPr sz="2450" spc="10" dirty="0">
                <a:latin typeface="Calibri"/>
                <a:cs typeface="Calibri"/>
              </a:rPr>
              <a:t>possibile prevedere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per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margin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quattro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valori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diversi: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Calibri"/>
              <a:cs typeface="Calibri"/>
            </a:endParaRPr>
          </a:p>
          <a:p>
            <a:pPr marL="1905000">
              <a:lnSpc>
                <a:spcPct val="100000"/>
              </a:lnSpc>
            </a:pPr>
            <a:r>
              <a:rPr sz="2450" spc="15" dirty="0">
                <a:latin typeface="Calibri"/>
                <a:cs typeface="Calibri"/>
              </a:rPr>
              <a:t>p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margin: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10px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5px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15px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30px;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950" dirty="0">
              <a:latin typeface="Calibri"/>
              <a:cs typeface="Calibri"/>
            </a:endParaRPr>
          </a:p>
          <a:p>
            <a:pPr marL="12700" marR="2020570">
              <a:lnSpc>
                <a:spcPct val="102600"/>
              </a:lnSpc>
            </a:pPr>
            <a:r>
              <a:rPr sz="2450" dirty="0">
                <a:latin typeface="Calibri"/>
                <a:cs typeface="Calibri"/>
              </a:rPr>
              <a:t>L'ordine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(da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sinistra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verso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destra)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è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seguente: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margine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superiore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10px</a:t>
            </a:r>
            <a:endParaRPr sz="2450" dirty="0">
              <a:latin typeface="Calibri"/>
              <a:cs typeface="Calibri"/>
            </a:endParaRPr>
          </a:p>
          <a:p>
            <a:pPr marL="12700" marR="4906645">
              <a:lnSpc>
                <a:spcPct val="102000"/>
              </a:lnSpc>
              <a:spcBef>
                <a:spcPts val="20"/>
              </a:spcBef>
            </a:pPr>
            <a:r>
              <a:rPr sz="2450" spc="10" dirty="0">
                <a:latin typeface="Calibri"/>
                <a:cs typeface="Calibri"/>
              </a:rPr>
              <a:t>margine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destro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5px 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margine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inferiore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-5" dirty="0">
                <a:latin typeface="Calibri"/>
                <a:cs typeface="Calibri"/>
              </a:rPr>
              <a:t> 15px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margine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sinistro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=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30px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633224"/>
            <a:ext cx="8070215" cy="295148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80"/>
              </a:spcBef>
            </a:pPr>
            <a:r>
              <a:rPr spc="-20" dirty="0"/>
              <a:t>Selettori</a:t>
            </a:r>
          </a:p>
          <a:p>
            <a:pPr marL="12700" marR="5080" algn="just">
              <a:lnSpc>
                <a:spcPct val="100099"/>
              </a:lnSpc>
              <a:spcBef>
                <a:spcPts val="1000"/>
              </a:spcBef>
            </a:pPr>
            <a:r>
              <a:rPr sz="3200" spc="-5" dirty="0"/>
              <a:t>I </a:t>
            </a:r>
            <a:r>
              <a:rPr sz="3200" spc="-15" dirty="0"/>
              <a:t>Selettori… </a:t>
            </a:r>
            <a:r>
              <a:rPr sz="3200" spc="-5" dirty="0"/>
              <a:t>cosa </a:t>
            </a:r>
            <a:r>
              <a:rPr sz="3200" spc="5" dirty="0"/>
              <a:t>sono </a:t>
            </a:r>
            <a:r>
              <a:rPr sz="3200" spc="-5" dirty="0"/>
              <a:t>? </a:t>
            </a:r>
            <a:r>
              <a:rPr sz="3200" spc="15" dirty="0"/>
              <a:t>La </a:t>
            </a:r>
            <a:r>
              <a:rPr sz="3200" spc="-15" dirty="0"/>
              <a:t>parola </a:t>
            </a:r>
            <a:r>
              <a:rPr sz="3200" spc="-5" dirty="0"/>
              <a:t>parla </a:t>
            </a:r>
            <a:r>
              <a:rPr sz="3200" spc="-10" dirty="0"/>
              <a:t>da </a:t>
            </a:r>
            <a:r>
              <a:rPr sz="3200" spc="-5" dirty="0"/>
              <a:t>sé: </a:t>
            </a:r>
            <a:r>
              <a:rPr sz="3200" spc="-15" dirty="0"/>
              <a:t>si </a:t>
            </a:r>
            <a:r>
              <a:rPr sz="3200" spc="-10" dirty="0"/>
              <a:t> </a:t>
            </a:r>
            <a:r>
              <a:rPr sz="3200" spc="-35" dirty="0"/>
              <a:t>tratta </a:t>
            </a:r>
            <a:r>
              <a:rPr sz="3200" spc="-15" dirty="0"/>
              <a:t>di </a:t>
            </a:r>
            <a:r>
              <a:rPr sz="3200" dirty="0"/>
              <a:t>una </a:t>
            </a:r>
            <a:r>
              <a:rPr sz="3200" spc="-5" dirty="0"/>
              <a:t>semplice </a:t>
            </a:r>
            <a:r>
              <a:rPr sz="3200" spc="-10" dirty="0"/>
              <a:t>dichiarazione </a:t>
            </a:r>
            <a:r>
              <a:rPr sz="3200" dirty="0"/>
              <a:t>che </a:t>
            </a:r>
            <a:r>
              <a:rPr sz="3200" spc="-10" dirty="0"/>
              <a:t>serve </a:t>
            </a:r>
            <a:r>
              <a:rPr sz="3200" spc="-5" dirty="0"/>
              <a:t>a </a:t>
            </a:r>
            <a:r>
              <a:rPr sz="3200" dirty="0"/>
              <a:t> </a:t>
            </a:r>
            <a:r>
              <a:rPr sz="3200" spc="-15" dirty="0"/>
              <a:t>selezionare </a:t>
            </a:r>
            <a:r>
              <a:rPr sz="3200" spc="15" dirty="0"/>
              <a:t>la </a:t>
            </a:r>
            <a:r>
              <a:rPr sz="3200" spc="-15" dirty="0"/>
              <a:t>parte </a:t>
            </a:r>
            <a:r>
              <a:rPr sz="3200" spc="-5" dirty="0"/>
              <a:t>o </a:t>
            </a:r>
            <a:r>
              <a:rPr sz="3200" dirty="0"/>
              <a:t>le </a:t>
            </a:r>
            <a:r>
              <a:rPr sz="3200" spc="-5" dirty="0"/>
              <a:t>parti </a:t>
            </a:r>
            <a:r>
              <a:rPr sz="3200" spc="-15" dirty="0"/>
              <a:t>di un </a:t>
            </a:r>
            <a:r>
              <a:rPr sz="3200" spc="-10" dirty="0"/>
              <a:t>documento </a:t>
            </a:r>
            <a:r>
              <a:rPr sz="3200" spc="-5" dirty="0"/>
              <a:t> </a:t>
            </a:r>
            <a:r>
              <a:rPr sz="3200" spc="-25" dirty="0"/>
              <a:t>soggette</a:t>
            </a:r>
            <a:r>
              <a:rPr sz="3200" spc="65" dirty="0"/>
              <a:t> </a:t>
            </a:r>
            <a:r>
              <a:rPr sz="3200" spc="-10" dirty="0"/>
              <a:t>ad</a:t>
            </a:r>
            <a:r>
              <a:rPr sz="3200" spc="10" dirty="0"/>
              <a:t> </a:t>
            </a:r>
            <a:r>
              <a:rPr sz="3200" spc="-15" dirty="0"/>
              <a:t>una</a:t>
            </a:r>
            <a:r>
              <a:rPr sz="3200" spc="50" dirty="0"/>
              <a:t> </a:t>
            </a:r>
            <a:r>
              <a:rPr sz="3200" spc="-10" dirty="0"/>
              <a:t>specifica</a:t>
            </a:r>
            <a:r>
              <a:rPr sz="3200" spc="55" dirty="0"/>
              <a:t> </a:t>
            </a:r>
            <a:r>
              <a:rPr sz="3200" spc="-20" dirty="0"/>
              <a:t>regola.</a:t>
            </a:r>
            <a:endParaRPr sz="3200" dirty="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342" y="4113253"/>
            <a:ext cx="7422186" cy="185657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1860" y="889965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Selettore</a:t>
            </a:r>
            <a:r>
              <a:rPr spc="35" dirty="0"/>
              <a:t> </a:t>
            </a:r>
            <a:r>
              <a:rPr spc="-5" dirty="0"/>
              <a:t>di</a:t>
            </a:r>
            <a:r>
              <a:rPr spc="-15" dirty="0"/>
              <a:t> </a:t>
            </a:r>
            <a:r>
              <a:rPr spc="-5" dirty="0"/>
              <a:t>elementi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27796"/>
            <a:ext cx="8074659" cy="431736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5"/>
              </a:spcBef>
            </a:pP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15" dirty="0">
                <a:latin typeface="Calibri"/>
                <a:cs typeface="Calibri"/>
              </a:rPr>
              <a:t>il </a:t>
            </a:r>
            <a:r>
              <a:rPr sz="2700" spc="-10" dirty="0">
                <a:latin typeface="Calibri"/>
                <a:cs typeface="Calibri"/>
              </a:rPr>
              <a:t>più </a:t>
            </a:r>
            <a:r>
              <a:rPr sz="2700" spc="-5" dirty="0">
                <a:latin typeface="Calibri"/>
                <a:cs typeface="Calibri"/>
              </a:rPr>
              <a:t>semplice dei </a:t>
            </a:r>
            <a:r>
              <a:rPr sz="2700" spc="-10" dirty="0">
                <a:latin typeface="Calibri"/>
                <a:cs typeface="Calibri"/>
              </a:rPr>
              <a:t>selettori.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15" dirty="0">
                <a:latin typeface="Calibri"/>
                <a:cs typeface="Calibri"/>
              </a:rPr>
              <a:t>costituito </a:t>
            </a:r>
            <a:r>
              <a:rPr sz="2700" spc="-10" dirty="0">
                <a:latin typeface="Calibri"/>
                <a:cs typeface="Calibri"/>
              </a:rPr>
              <a:t>dal </a:t>
            </a:r>
            <a:r>
              <a:rPr sz="2700" spc="-5" dirty="0">
                <a:latin typeface="Calibri"/>
                <a:cs typeface="Calibri"/>
              </a:rPr>
              <a:t>nome di uno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specifico</a:t>
            </a:r>
            <a:r>
              <a:rPr sz="2700" spc="-10" dirty="0">
                <a:latin typeface="Calibri"/>
                <a:cs typeface="Calibri"/>
              </a:rPr>
              <a:t> elemento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HTML.</a:t>
            </a:r>
            <a:r>
              <a:rPr sz="2700" spc="-5" dirty="0">
                <a:latin typeface="Calibri"/>
                <a:cs typeface="Calibri"/>
              </a:rPr>
              <a:t> Serve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selezionare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tutti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gli 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elementi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quel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tipo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presenti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5" dirty="0">
                <a:latin typeface="Calibri"/>
                <a:cs typeface="Calibri"/>
              </a:rPr>
              <a:t>documento.</a:t>
            </a:r>
            <a:endParaRPr sz="2700" dirty="0">
              <a:latin typeface="Calibri"/>
              <a:cs typeface="Calibri"/>
            </a:endParaRPr>
          </a:p>
          <a:p>
            <a:pPr marL="12700" algn="just">
              <a:lnSpc>
                <a:spcPts val="3235"/>
              </a:lnSpc>
              <a:spcBef>
                <a:spcPts val="2405"/>
              </a:spcBef>
            </a:pPr>
            <a:r>
              <a:rPr sz="2700" spc="-5" dirty="0">
                <a:latin typeface="Calibri"/>
                <a:cs typeface="Calibri"/>
              </a:rPr>
              <a:t>h1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{color:</a:t>
            </a:r>
            <a:r>
              <a:rPr sz="2700" spc="-5" dirty="0">
                <a:latin typeface="Calibri"/>
                <a:cs typeface="Calibri"/>
              </a:rPr>
              <a:t> green;}</a:t>
            </a:r>
            <a:endParaRPr sz="2700" dirty="0">
              <a:latin typeface="Calibri"/>
              <a:cs typeface="Calibri"/>
            </a:endParaRPr>
          </a:p>
          <a:p>
            <a:pPr marL="12700" algn="just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p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{background-color: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yellow;}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 dirty="0">
              <a:latin typeface="Calibri"/>
              <a:cs typeface="Calibri"/>
            </a:endParaRPr>
          </a:p>
          <a:p>
            <a:pPr marL="12700" marR="5715" algn="just">
              <a:lnSpc>
                <a:spcPct val="80500"/>
              </a:lnSpc>
            </a:pP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10" dirty="0">
                <a:latin typeface="Calibri"/>
                <a:cs typeface="Calibri"/>
              </a:rPr>
              <a:t>possibile </a:t>
            </a:r>
            <a:r>
              <a:rPr sz="2700" spc="-5" dirty="0">
                <a:latin typeface="Calibri"/>
                <a:cs typeface="Calibri"/>
              </a:rPr>
              <a:t>nei </a:t>
            </a:r>
            <a:r>
              <a:rPr sz="2700" dirty="0">
                <a:latin typeface="Calibri"/>
                <a:cs typeface="Calibri"/>
              </a:rPr>
              <a:t>CSS </a:t>
            </a:r>
            <a:r>
              <a:rPr sz="2700" spc="-10" dirty="0">
                <a:latin typeface="Calibri"/>
                <a:cs typeface="Calibri"/>
              </a:rPr>
              <a:t>raggruppare </a:t>
            </a:r>
            <a:r>
              <a:rPr sz="2700" spc="-15" dirty="0">
                <a:latin typeface="Calibri"/>
                <a:cs typeface="Calibri"/>
              </a:rPr>
              <a:t>diversi selettori </a:t>
            </a:r>
            <a:r>
              <a:rPr sz="2700" spc="5" dirty="0">
                <a:latin typeface="Calibri"/>
                <a:cs typeface="Calibri"/>
              </a:rPr>
              <a:t>al </a:t>
            </a:r>
            <a:r>
              <a:rPr sz="2700" spc="-5" dirty="0">
                <a:latin typeface="Calibri"/>
                <a:cs typeface="Calibri"/>
              </a:rPr>
              <a:t>fine di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semplificare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codice.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selettori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raggruppati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vanno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separati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da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virgola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405"/>
              </a:spcBef>
            </a:pPr>
            <a:r>
              <a:rPr sz="2700" dirty="0">
                <a:latin typeface="Calibri"/>
                <a:cs typeface="Calibri"/>
              </a:rPr>
              <a:t>h1,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h2,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h3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{background: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white;}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6217" y="889965"/>
            <a:ext cx="41357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Selettori</a:t>
            </a:r>
            <a:r>
              <a:rPr spc="5" dirty="0"/>
              <a:t> </a:t>
            </a:r>
            <a:r>
              <a:rPr spc="-5" dirty="0"/>
              <a:t>di tipo</a:t>
            </a:r>
            <a:r>
              <a:rPr spc="-10" dirty="0"/>
              <a:t> 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42300"/>
            <a:ext cx="8079740" cy="423545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 algn="just">
              <a:lnSpc>
                <a:spcPct val="79900"/>
              </a:lnSpc>
              <a:spcBef>
                <a:spcPts val="840"/>
              </a:spcBef>
            </a:pPr>
            <a:r>
              <a:rPr sz="3000" b="1" spc="5" dirty="0">
                <a:latin typeface="Calibri"/>
                <a:cs typeface="Calibri"/>
              </a:rPr>
              <a:t>id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10" dirty="0">
                <a:latin typeface="Calibri"/>
                <a:cs typeface="Calibri"/>
              </a:rPr>
              <a:t>un </a:t>
            </a:r>
            <a:r>
              <a:rPr sz="3000" spc="-15" dirty="0">
                <a:latin typeface="Calibri"/>
                <a:cs typeface="Calibri"/>
              </a:rPr>
              <a:t>attributo </a:t>
            </a:r>
            <a:r>
              <a:rPr sz="3000" spc="-10" dirty="0">
                <a:latin typeface="Calibri"/>
                <a:cs typeface="Calibri"/>
              </a:rPr>
              <a:t>universale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spc="5" dirty="0">
                <a:latin typeface="Calibri"/>
                <a:cs typeface="Calibri"/>
              </a:rPr>
              <a:t>HTML. </a:t>
            </a:r>
            <a:r>
              <a:rPr sz="3000" spc="-5" dirty="0">
                <a:latin typeface="Calibri"/>
                <a:cs typeface="Calibri"/>
              </a:rPr>
              <a:t>Significa che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tutti </a:t>
            </a:r>
            <a:r>
              <a:rPr sz="3000" spc="-5" dirty="0">
                <a:latin typeface="Calibri"/>
                <a:cs typeface="Calibri"/>
              </a:rPr>
              <a:t>gli </a:t>
            </a:r>
            <a:r>
              <a:rPr sz="3000" spc="-15" dirty="0">
                <a:latin typeface="Calibri"/>
                <a:cs typeface="Calibri"/>
              </a:rPr>
              <a:t>elementi </a:t>
            </a:r>
            <a:r>
              <a:rPr sz="3000" spc="-10" dirty="0">
                <a:latin typeface="Calibri"/>
                <a:cs typeface="Calibri"/>
              </a:rPr>
              <a:t>presenti nel documento </a:t>
            </a:r>
            <a:r>
              <a:rPr sz="3000" dirty="0">
                <a:latin typeface="Calibri"/>
                <a:cs typeface="Calibri"/>
              </a:rPr>
              <a:t>possono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avere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un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loro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id.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(ID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VINCE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SU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TUTTI)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00" dirty="0">
              <a:latin typeface="Calibri"/>
              <a:cs typeface="Calibri"/>
            </a:endParaRPr>
          </a:p>
          <a:p>
            <a:pPr marL="12700" marR="5715" algn="just">
              <a:lnSpc>
                <a:spcPct val="80300"/>
              </a:lnSpc>
            </a:pPr>
            <a:r>
              <a:rPr sz="3000" dirty="0">
                <a:latin typeface="Calibri"/>
                <a:cs typeface="Calibri"/>
              </a:rPr>
              <a:t>Uno </a:t>
            </a:r>
            <a:r>
              <a:rPr sz="3000" spc="-10" dirty="0">
                <a:latin typeface="Calibri"/>
                <a:cs typeface="Calibri"/>
              </a:rPr>
              <a:t>specifico </a:t>
            </a:r>
            <a:r>
              <a:rPr sz="3000" spc="10" dirty="0">
                <a:latin typeface="Calibri"/>
                <a:cs typeface="Calibri"/>
              </a:rPr>
              <a:t>id </a:t>
            </a:r>
            <a:r>
              <a:rPr sz="3000" dirty="0">
                <a:latin typeface="Calibri"/>
                <a:cs typeface="Calibri"/>
              </a:rPr>
              <a:t>può </a:t>
            </a:r>
            <a:r>
              <a:rPr sz="3000" spc="-5" dirty="0">
                <a:latin typeface="Calibri"/>
                <a:cs typeface="Calibri"/>
              </a:rPr>
              <a:t>essere assegnato solo </a:t>
            </a:r>
            <a:r>
              <a:rPr sz="3000" spc="-10" dirty="0">
                <a:latin typeface="Calibri"/>
                <a:cs typeface="Calibri"/>
              </a:rPr>
              <a:t>ad </a:t>
            </a:r>
            <a:r>
              <a:rPr sz="3000" spc="-20" dirty="0">
                <a:latin typeface="Calibri"/>
                <a:cs typeface="Calibri"/>
              </a:rPr>
              <a:t>un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elemento.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Non</a:t>
            </a:r>
            <a:r>
              <a:rPr sz="3000" spc="7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possiamo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quindi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avere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un 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documento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HTML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una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situazione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genere: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 dirty="0">
              <a:latin typeface="Calibri"/>
              <a:cs typeface="Calibri"/>
            </a:endParaRPr>
          </a:p>
          <a:p>
            <a:pPr marL="12700" algn="just">
              <a:lnSpc>
                <a:spcPts val="3590"/>
              </a:lnSpc>
            </a:pPr>
            <a:r>
              <a:rPr sz="3000" spc="5" dirty="0">
                <a:latin typeface="Calibri"/>
                <a:cs typeface="Calibri"/>
              </a:rPr>
              <a:t>&lt;h1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id="titolo"&gt;&lt;/h1&gt;</a:t>
            </a:r>
          </a:p>
          <a:p>
            <a:pPr marL="12700" algn="just">
              <a:lnSpc>
                <a:spcPts val="3590"/>
              </a:lnSpc>
            </a:pPr>
            <a:r>
              <a:rPr sz="3000" dirty="0">
                <a:latin typeface="Calibri"/>
                <a:cs typeface="Calibri"/>
              </a:rPr>
              <a:t>&lt;p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id="titolo"&gt;&lt;/p&gt;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45311"/>
            <a:ext cx="8074025" cy="49022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algn="just">
              <a:lnSpc>
                <a:spcPct val="81500"/>
              </a:lnSpc>
              <a:spcBef>
                <a:spcPts val="675"/>
              </a:spcBef>
            </a:pPr>
            <a:r>
              <a:rPr sz="2450" spc="10" dirty="0">
                <a:latin typeface="Calibri"/>
                <a:cs typeface="Calibri"/>
              </a:rPr>
              <a:t>Nei</a:t>
            </a:r>
            <a:r>
              <a:rPr sz="2450" spc="15" dirty="0">
                <a:latin typeface="Calibri"/>
                <a:cs typeface="Calibri"/>
              </a:rPr>
              <a:t> CSS, </a:t>
            </a:r>
            <a:r>
              <a:rPr sz="2450" spc="25" dirty="0">
                <a:latin typeface="Calibri"/>
                <a:cs typeface="Calibri"/>
              </a:rPr>
              <a:t>per </a:t>
            </a:r>
            <a:r>
              <a:rPr sz="2450" spc="10" dirty="0">
                <a:latin typeface="Calibri"/>
                <a:cs typeface="Calibri"/>
              </a:rPr>
              <a:t>selezionare </a:t>
            </a:r>
            <a:r>
              <a:rPr sz="2450" spc="15" dirty="0">
                <a:latin typeface="Calibri"/>
                <a:cs typeface="Calibri"/>
              </a:rPr>
              <a:t>un elemento </a:t>
            </a:r>
            <a:r>
              <a:rPr sz="2450" spc="25" dirty="0">
                <a:latin typeface="Calibri"/>
                <a:cs typeface="Calibri"/>
              </a:rPr>
              <a:t>cui </a:t>
            </a:r>
            <a:r>
              <a:rPr sz="2450" spc="15" dirty="0">
                <a:latin typeface="Calibri"/>
                <a:cs typeface="Calibri"/>
              </a:rPr>
              <a:t>sia </a:t>
            </a:r>
            <a:r>
              <a:rPr sz="2450" spc="-10" dirty="0">
                <a:latin typeface="Calibri"/>
                <a:cs typeface="Calibri"/>
              </a:rPr>
              <a:t>stato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assegnato </a:t>
            </a:r>
            <a:r>
              <a:rPr sz="2450" spc="20" dirty="0">
                <a:latin typeface="Calibri"/>
                <a:cs typeface="Calibri"/>
              </a:rPr>
              <a:t> un </a:t>
            </a:r>
            <a:r>
              <a:rPr sz="2450" spc="10" dirty="0">
                <a:latin typeface="Calibri"/>
                <a:cs typeface="Calibri"/>
              </a:rPr>
              <a:t>certo </a:t>
            </a:r>
            <a:r>
              <a:rPr sz="2450" spc="20" dirty="0">
                <a:latin typeface="Calibri"/>
                <a:cs typeface="Calibri"/>
              </a:rPr>
              <a:t>id, </a:t>
            </a:r>
            <a:r>
              <a:rPr sz="2450" dirty="0">
                <a:latin typeface="Calibri"/>
                <a:cs typeface="Calibri"/>
              </a:rPr>
              <a:t>si </a:t>
            </a:r>
            <a:r>
              <a:rPr sz="2450" spc="20" dirty="0">
                <a:latin typeface="Calibri"/>
                <a:cs typeface="Calibri"/>
              </a:rPr>
              <a:t>usa </a:t>
            </a:r>
            <a:r>
              <a:rPr sz="2450" spc="5" dirty="0">
                <a:latin typeface="Calibri"/>
                <a:cs typeface="Calibri"/>
              </a:rPr>
              <a:t>questa sintassi, </a:t>
            </a:r>
            <a:r>
              <a:rPr sz="2450" spc="15" dirty="0">
                <a:latin typeface="Calibri"/>
                <a:cs typeface="Calibri"/>
              </a:rPr>
              <a:t>facendo </a:t>
            </a:r>
            <a:r>
              <a:rPr sz="2450" spc="10" dirty="0">
                <a:latin typeface="Calibri"/>
                <a:cs typeface="Calibri"/>
              </a:rPr>
              <a:t>precedere </a:t>
            </a:r>
            <a:r>
              <a:rPr sz="2450" spc="5" dirty="0">
                <a:latin typeface="Calibri"/>
                <a:cs typeface="Calibri"/>
              </a:rPr>
              <a:t>il valore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dell’id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dal </a:t>
            </a:r>
            <a:r>
              <a:rPr sz="2450" spc="10" dirty="0">
                <a:latin typeface="Calibri"/>
                <a:cs typeface="Calibri"/>
              </a:rPr>
              <a:t>simbolo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del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cancelletto</a:t>
            </a:r>
            <a:r>
              <a:rPr sz="2450" b="1" spc="1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(#):</a:t>
            </a:r>
            <a:endParaRPr sz="24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245"/>
              </a:spcBef>
            </a:pPr>
            <a:r>
              <a:rPr sz="2450" dirty="0">
                <a:latin typeface="Calibri"/>
                <a:cs typeface="Calibri"/>
              </a:rPr>
              <a:t>#titolo</a:t>
            </a:r>
          </a:p>
          <a:p>
            <a:pPr marL="12700">
              <a:lnSpc>
                <a:spcPts val="2675"/>
              </a:lnSpc>
              <a:spcBef>
                <a:spcPts val="2205"/>
              </a:spcBef>
              <a:tabLst>
                <a:tab pos="390525" algn="l"/>
                <a:tab pos="1395730" algn="l"/>
                <a:tab pos="2747645" algn="l"/>
                <a:tab pos="3685540" algn="l"/>
                <a:tab pos="4672330" algn="l"/>
                <a:tab pos="5293995" algn="l"/>
                <a:tab pos="6939280" algn="l"/>
                <a:tab pos="7312659" algn="l"/>
              </a:tabLst>
            </a:pPr>
            <a:r>
              <a:rPr sz="2450" spc="15" dirty="0">
                <a:latin typeface="Calibri"/>
                <a:cs typeface="Calibri"/>
              </a:rPr>
              <a:t>È	</a:t>
            </a:r>
            <a:r>
              <a:rPr sz="2450" spc="20" dirty="0">
                <a:latin typeface="Calibri"/>
                <a:cs typeface="Calibri"/>
              </a:rPr>
              <a:t>anche	</a:t>
            </a:r>
            <a:r>
              <a:rPr sz="2450" spc="15" dirty="0">
                <a:latin typeface="Calibri"/>
                <a:cs typeface="Calibri"/>
              </a:rPr>
              <a:t>possibile	</a:t>
            </a:r>
            <a:r>
              <a:rPr sz="2450" spc="5" dirty="0">
                <a:latin typeface="Calibri"/>
                <a:cs typeface="Calibri"/>
              </a:rPr>
              <a:t>usare	</a:t>
            </a:r>
            <a:r>
              <a:rPr sz="2450" spc="15" dirty="0">
                <a:latin typeface="Calibri"/>
                <a:cs typeface="Calibri"/>
              </a:rPr>
              <a:t>prima	</a:t>
            </a:r>
            <a:r>
              <a:rPr sz="2450" spc="10" dirty="0">
                <a:latin typeface="Calibri"/>
                <a:cs typeface="Calibri"/>
              </a:rPr>
              <a:t>del	</a:t>
            </a:r>
            <a:r>
              <a:rPr sz="2450" spc="5" dirty="0">
                <a:latin typeface="Calibri"/>
                <a:cs typeface="Calibri"/>
              </a:rPr>
              <a:t>cancelletto	</a:t>
            </a:r>
            <a:r>
              <a:rPr sz="2450" spc="20" dirty="0">
                <a:latin typeface="Calibri"/>
                <a:cs typeface="Calibri"/>
              </a:rPr>
              <a:t>il	nome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ts val="2675"/>
              </a:lnSpc>
            </a:pPr>
            <a:r>
              <a:rPr sz="2450" spc="-5" dirty="0">
                <a:latin typeface="Calibri"/>
                <a:cs typeface="Calibri"/>
              </a:rPr>
              <a:t>dell’elemento:</a:t>
            </a:r>
            <a:endParaRPr sz="24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205"/>
              </a:spcBef>
            </a:pPr>
            <a:r>
              <a:rPr sz="2450" dirty="0">
                <a:latin typeface="Calibri"/>
                <a:cs typeface="Calibri"/>
              </a:rPr>
              <a:t>h1#titolo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 dirty="0">
              <a:latin typeface="Calibri"/>
              <a:cs typeface="Calibri"/>
            </a:endParaRPr>
          </a:p>
          <a:p>
            <a:pPr marL="12700" marR="8890">
              <a:lnSpc>
                <a:spcPts val="2380"/>
              </a:lnSpc>
              <a:tabLst>
                <a:tab pos="1819275" algn="l"/>
                <a:tab pos="3329304" algn="l"/>
                <a:tab pos="3959860" algn="l"/>
                <a:tab pos="5600700" algn="l"/>
                <a:tab pos="6294755" algn="l"/>
                <a:tab pos="6583045" algn="l"/>
                <a:tab pos="7371715" algn="l"/>
              </a:tabLst>
            </a:pPr>
            <a:r>
              <a:rPr sz="2450" spc="10" dirty="0">
                <a:latin typeface="Calibri"/>
                <a:cs typeface="Calibri"/>
              </a:rPr>
              <a:t>Nel</a:t>
            </a:r>
            <a:r>
              <a:rPr sz="2450" spc="35" dirty="0">
                <a:latin typeface="Calibri"/>
                <a:cs typeface="Calibri"/>
              </a:rPr>
              <a:t>l</a:t>
            </a:r>
            <a:r>
              <a:rPr sz="2450" spc="-190" dirty="0">
                <a:latin typeface="Calibri"/>
                <a:cs typeface="Calibri"/>
              </a:rPr>
              <a:t>’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35" dirty="0">
                <a:latin typeface="Calibri"/>
                <a:cs typeface="Calibri"/>
              </a:rPr>
              <a:t>s</a:t>
            </a:r>
            <a:r>
              <a:rPr sz="2450" spc="20" dirty="0">
                <a:latin typeface="Calibri"/>
                <a:cs typeface="Calibri"/>
              </a:rPr>
              <a:t>em</a:t>
            </a:r>
            <a:r>
              <a:rPr sz="2450" spc="30" dirty="0">
                <a:latin typeface="Calibri"/>
                <a:cs typeface="Calibri"/>
              </a:rPr>
              <a:t>p</a:t>
            </a:r>
            <a:r>
              <a:rPr sz="2450" spc="10" dirty="0">
                <a:latin typeface="Calibri"/>
                <a:cs typeface="Calibri"/>
              </a:rPr>
              <a:t>io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35" dirty="0">
                <a:latin typeface="Calibri"/>
                <a:cs typeface="Calibri"/>
              </a:rPr>
              <a:t>l</a:t>
            </a:r>
            <a:r>
              <a:rPr sz="2450" spc="-190" dirty="0">
                <a:latin typeface="Calibri"/>
                <a:cs typeface="Calibri"/>
              </a:rPr>
              <a:t>’</a:t>
            </a:r>
            <a:r>
              <a:rPr sz="2450" spc="10" dirty="0">
                <a:latin typeface="Calibri"/>
                <a:cs typeface="Calibri"/>
              </a:rPr>
              <a:t>el</a:t>
            </a:r>
            <a:r>
              <a:rPr sz="2450" spc="55" dirty="0">
                <a:latin typeface="Calibri"/>
                <a:cs typeface="Calibri"/>
              </a:rPr>
              <a:t>e</a:t>
            </a:r>
            <a:r>
              <a:rPr sz="2450" spc="20" dirty="0">
                <a:latin typeface="Calibri"/>
                <a:cs typeface="Calibri"/>
              </a:rPr>
              <a:t>me</a:t>
            </a:r>
            <a:r>
              <a:rPr sz="2450" spc="30" dirty="0">
                <a:latin typeface="Calibri"/>
                <a:cs typeface="Calibri"/>
              </a:rPr>
              <a:t>n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15" dirty="0">
                <a:latin typeface="Calibri"/>
                <a:cs typeface="Calibri"/>
              </a:rPr>
              <a:t>&lt;</a:t>
            </a:r>
            <a:r>
              <a:rPr sz="2450" spc="60" dirty="0">
                <a:latin typeface="Calibri"/>
                <a:cs typeface="Calibri"/>
              </a:rPr>
              <a:t>h</a:t>
            </a:r>
            <a:r>
              <a:rPr sz="2450" spc="15" dirty="0">
                <a:latin typeface="Calibri"/>
                <a:cs typeface="Calibri"/>
              </a:rPr>
              <a:t>1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10" dirty="0">
                <a:latin typeface="Calibri"/>
                <a:cs typeface="Calibri"/>
              </a:rPr>
              <a:t>id</a:t>
            </a:r>
            <a:r>
              <a:rPr sz="2450" spc="20" dirty="0">
                <a:latin typeface="Calibri"/>
                <a:cs typeface="Calibri"/>
              </a:rPr>
              <a:t>=</a:t>
            </a:r>
            <a:r>
              <a:rPr sz="2450" spc="10" dirty="0">
                <a:latin typeface="Calibri"/>
                <a:cs typeface="Calibri"/>
              </a:rPr>
              <a:t>"</a:t>
            </a:r>
            <a:r>
              <a:rPr sz="2450" spc="25" dirty="0">
                <a:latin typeface="Calibri"/>
                <a:cs typeface="Calibri"/>
              </a:rPr>
              <a:t>t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5" dirty="0">
                <a:latin typeface="Calibri"/>
                <a:cs typeface="Calibri"/>
              </a:rPr>
              <a:t>ol</a:t>
            </a:r>
            <a:r>
              <a:rPr sz="2450" spc="50" dirty="0">
                <a:latin typeface="Calibri"/>
                <a:cs typeface="Calibri"/>
              </a:rPr>
              <a:t>o</a:t>
            </a:r>
            <a:r>
              <a:rPr sz="2450" spc="10" dirty="0">
                <a:latin typeface="Calibri"/>
                <a:cs typeface="Calibri"/>
              </a:rPr>
              <a:t>"&gt;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20" dirty="0">
                <a:latin typeface="Calibri"/>
                <a:cs typeface="Calibri"/>
              </a:rPr>
              <a:t>v</a:t>
            </a:r>
            <a:r>
              <a:rPr sz="2450" spc="-40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à</a:t>
            </a:r>
            <a:r>
              <a:rPr sz="2450" dirty="0">
                <a:latin typeface="Calibri"/>
                <a:cs typeface="Calibri"/>
              </a:rPr>
              <a:t>	i</a:t>
            </a:r>
            <a:r>
              <a:rPr sz="2450" spc="5" dirty="0">
                <a:latin typeface="Calibri"/>
                <a:cs typeface="Calibri"/>
              </a:rPr>
              <a:t>l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s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40" dirty="0">
                <a:latin typeface="Calibri"/>
                <a:cs typeface="Calibri"/>
              </a:rPr>
              <a:t>r</a:t>
            </a:r>
            <a:r>
              <a:rPr sz="2450" spc="10" dirty="0">
                <a:latin typeface="Calibri"/>
                <a:cs typeface="Calibri"/>
              </a:rPr>
              <a:t>o</a:t>
            </a:r>
            <a:r>
              <a:rPr sz="2450" spc="35" dirty="0">
                <a:latin typeface="Calibri"/>
                <a:cs typeface="Calibri"/>
              </a:rPr>
              <a:t>s</a:t>
            </a:r>
            <a:r>
              <a:rPr sz="2450" spc="-5" dirty="0">
                <a:latin typeface="Calibri"/>
                <a:cs typeface="Calibri"/>
              </a:rPr>
              <a:t>s</a:t>
            </a:r>
            <a:r>
              <a:rPr sz="2450" spc="10" dirty="0">
                <a:latin typeface="Calibri"/>
                <a:cs typeface="Calibri"/>
              </a:rPr>
              <a:t>o  </a:t>
            </a:r>
            <a:r>
              <a:rPr sz="2450" spc="5" dirty="0">
                <a:latin typeface="Calibri"/>
                <a:cs typeface="Calibri"/>
              </a:rPr>
              <a:t>perché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abbiamo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impostato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questa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regola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CSS: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450" dirty="0">
                <a:latin typeface="Calibri"/>
                <a:cs typeface="Calibri"/>
              </a:rPr>
              <a:t>#titolo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{color: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red}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782" y="889965"/>
            <a:ext cx="49999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Selettori</a:t>
            </a:r>
            <a:r>
              <a:rPr spc="5" dirty="0"/>
              <a:t> </a:t>
            </a:r>
            <a:r>
              <a:rPr spc="-5" dirty="0"/>
              <a:t>di</a:t>
            </a:r>
            <a:r>
              <a:rPr dirty="0"/>
              <a:t> </a:t>
            </a:r>
            <a:r>
              <a:rPr spc="-5" dirty="0"/>
              <a:t>tipo</a:t>
            </a:r>
            <a:r>
              <a:rPr dirty="0"/>
              <a:t> </a:t>
            </a:r>
            <a:r>
              <a:rPr spc="-5" dirty="0"/>
              <a:t>classe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27796"/>
            <a:ext cx="8076565" cy="4222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5"/>
              </a:spcBef>
            </a:pPr>
            <a:r>
              <a:rPr sz="2700" spc="-5" dirty="0">
                <a:latin typeface="Calibri"/>
                <a:cs typeface="Calibri"/>
              </a:rPr>
              <a:t>Ad ogni </a:t>
            </a:r>
            <a:r>
              <a:rPr sz="2700" spc="-15" dirty="0">
                <a:latin typeface="Calibri"/>
                <a:cs typeface="Calibri"/>
              </a:rPr>
              <a:t>elemento </a:t>
            </a:r>
            <a:r>
              <a:rPr sz="2700" spc="-10" dirty="0">
                <a:latin typeface="Calibri"/>
                <a:cs typeface="Calibri"/>
              </a:rPr>
              <a:t>HTML </a:t>
            </a:r>
            <a:r>
              <a:rPr sz="2700" spc="-5" dirty="0">
                <a:latin typeface="Calibri"/>
                <a:cs typeface="Calibri"/>
              </a:rPr>
              <a:t>può </a:t>
            </a:r>
            <a:r>
              <a:rPr sz="2700" dirty="0">
                <a:latin typeface="Calibri"/>
                <a:cs typeface="Calibri"/>
              </a:rPr>
              <a:t>essere </a:t>
            </a:r>
            <a:r>
              <a:rPr sz="2700" spc="-20" dirty="0">
                <a:latin typeface="Calibri"/>
                <a:cs typeface="Calibri"/>
              </a:rPr>
              <a:t>assegnata </a:t>
            </a:r>
            <a:r>
              <a:rPr sz="2700" spc="-5" dirty="0">
                <a:latin typeface="Calibri"/>
                <a:cs typeface="Calibri"/>
              </a:rPr>
              <a:t>una classe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usando </a:t>
            </a:r>
            <a:r>
              <a:rPr sz="2700" spc="-40" dirty="0">
                <a:latin typeface="Calibri"/>
                <a:cs typeface="Calibri"/>
              </a:rPr>
              <a:t>l’attributo </a:t>
            </a:r>
            <a:r>
              <a:rPr sz="2700" spc="-5" dirty="0">
                <a:latin typeface="Calibri"/>
                <a:cs typeface="Calibri"/>
              </a:rPr>
              <a:t>class e </a:t>
            </a:r>
            <a:r>
              <a:rPr sz="2700" spc="-10" dirty="0">
                <a:latin typeface="Calibri"/>
                <a:cs typeface="Calibri"/>
              </a:rPr>
              <a:t>assegnando ad </a:t>
            </a:r>
            <a:r>
              <a:rPr sz="2700" dirty="0">
                <a:latin typeface="Calibri"/>
                <a:cs typeface="Calibri"/>
              </a:rPr>
              <a:t>esso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25" dirty="0">
                <a:latin typeface="Calibri"/>
                <a:cs typeface="Calibri"/>
              </a:rPr>
              <a:t>valore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nostra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scelta: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700" spc="-5" dirty="0">
                <a:latin typeface="Calibri"/>
                <a:cs typeface="Calibri"/>
              </a:rPr>
              <a:t>&lt;h1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class="titolo"&gt;Testo&lt;/h1&gt;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50" dirty="0">
              <a:latin typeface="Calibri"/>
              <a:cs typeface="Calibri"/>
            </a:endParaRPr>
          </a:p>
          <a:p>
            <a:pPr marL="12700" marR="10795" algn="just">
              <a:lnSpc>
                <a:spcPct val="80500"/>
              </a:lnSpc>
            </a:pP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10" dirty="0">
                <a:latin typeface="Calibri"/>
                <a:cs typeface="Calibri"/>
              </a:rPr>
              <a:t>anche possibile assegnare ad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5" dirty="0">
                <a:latin typeface="Calibri"/>
                <a:cs typeface="Calibri"/>
              </a:rPr>
              <a:t>elemento </a:t>
            </a:r>
            <a:r>
              <a:rPr sz="2700" spc="-10" dirty="0">
                <a:latin typeface="Calibri"/>
                <a:cs typeface="Calibri"/>
              </a:rPr>
              <a:t>più </a:t>
            </a:r>
            <a:r>
              <a:rPr sz="2700" spc="-5" dirty="0">
                <a:latin typeface="Calibri"/>
                <a:cs typeface="Calibri"/>
              </a:rPr>
              <a:t>classi. È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sufficiente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definirle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nel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codice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separandole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uno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spazio: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700" spc="-5" dirty="0">
                <a:latin typeface="Calibri"/>
                <a:cs typeface="Calibri"/>
              </a:rPr>
              <a:t>&lt;h1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class="titolo</a:t>
            </a:r>
            <a:r>
              <a:rPr sz="2700" spc="100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testata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rosso"&gt;Testo&lt;/h1&gt;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45311"/>
            <a:ext cx="8070215" cy="47491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spc="15" dirty="0">
                <a:latin typeface="Calibri"/>
                <a:cs typeface="Calibri"/>
              </a:rPr>
              <a:t>Una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singola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classe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può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essere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assegnata</a:t>
            </a:r>
            <a:r>
              <a:rPr sz="2450" spc="10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più </a:t>
            </a:r>
            <a:r>
              <a:rPr sz="2450" spc="10" dirty="0">
                <a:latin typeface="Calibri"/>
                <a:cs typeface="Calibri"/>
              </a:rPr>
              <a:t>di</a:t>
            </a:r>
            <a:r>
              <a:rPr sz="2450" spc="15" dirty="0">
                <a:latin typeface="Calibri"/>
                <a:cs typeface="Calibri"/>
              </a:rPr>
              <a:t> un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elemento: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50" spc="15" dirty="0">
                <a:latin typeface="Calibri"/>
                <a:cs typeface="Calibri"/>
              </a:rPr>
              <a:t>&lt;h1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class="titolo"&gt;Testo&lt;/h1&gt;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450" spc="15" dirty="0">
                <a:latin typeface="Calibri"/>
                <a:cs typeface="Calibri"/>
              </a:rPr>
              <a:t>&lt;h2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class="titolo"&gt;Testo&lt;/h2&gt;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950" dirty="0">
              <a:latin typeface="Calibri"/>
              <a:cs typeface="Calibri"/>
            </a:endParaRPr>
          </a:p>
          <a:p>
            <a:pPr marL="12700" marR="8890">
              <a:lnSpc>
                <a:spcPts val="2380"/>
              </a:lnSpc>
            </a:pPr>
            <a:r>
              <a:rPr sz="2450" spc="10" dirty="0">
                <a:latin typeface="Calibri"/>
                <a:cs typeface="Calibri"/>
              </a:rPr>
              <a:t>Nei</a:t>
            </a:r>
            <a:r>
              <a:rPr sz="2450" spc="2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CSS,</a:t>
            </a:r>
            <a:r>
              <a:rPr sz="2450" spc="180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per</a:t>
            </a:r>
            <a:r>
              <a:rPr sz="2450" spc="18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selezionare</a:t>
            </a:r>
            <a:r>
              <a:rPr sz="2450" spc="204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gli</a:t>
            </a:r>
            <a:r>
              <a:rPr sz="2450" spc="19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elementi</a:t>
            </a:r>
            <a:r>
              <a:rPr sz="2450" spc="20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spc="2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cui</a:t>
            </a:r>
            <a:r>
              <a:rPr sz="2450" spc="23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sia</a:t>
            </a:r>
            <a:r>
              <a:rPr sz="2450" spc="204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stata</a:t>
            </a:r>
            <a:r>
              <a:rPr sz="2450" spc="21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assegnata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classe,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si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utilizza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questa</a:t>
            </a:r>
            <a:r>
              <a:rPr sz="2450" spc="10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sintassi: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50" spc="-10" dirty="0">
                <a:latin typeface="Calibri"/>
                <a:cs typeface="Calibri"/>
              </a:rPr>
              <a:t>.titolo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{color: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red}</a:t>
            </a:r>
          </a:p>
          <a:p>
            <a:pPr>
              <a:lnSpc>
                <a:spcPct val="100000"/>
              </a:lnSpc>
            </a:pPr>
            <a:endParaRPr sz="2950" dirty="0">
              <a:latin typeface="Calibri"/>
              <a:cs typeface="Calibri"/>
            </a:endParaRPr>
          </a:p>
          <a:p>
            <a:pPr marL="12700" marR="5080" algn="just">
              <a:lnSpc>
                <a:spcPct val="81500"/>
              </a:lnSpc>
            </a:pPr>
            <a:r>
              <a:rPr sz="2450" spc="10" dirty="0">
                <a:latin typeface="Calibri"/>
                <a:cs typeface="Calibri"/>
              </a:rPr>
              <a:t>Il </a:t>
            </a:r>
            <a:r>
              <a:rPr sz="2450" spc="20" dirty="0">
                <a:latin typeface="Calibri"/>
                <a:cs typeface="Calibri"/>
              </a:rPr>
              <a:t>nome </a:t>
            </a:r>
            <a:r>
              <a:rPr sz="2450" spc="10" dirty="0">
                <a:latin typeface="Calibri"/>
                <a:cs typeface="Calibri"/>
              </a:rPr>
              <a:t>della </a:t>
            </a:r>
            <a:r>
              <a:rPr sz="2450" spc="15" dirty="0">
                <a:latin typeface="Calibri"/>
                <a:cs typeface="Calibri"/>
              </a:rPr>
              <a:t>classe viene </a:t>
            </a:r>
            <a:r>
              <a:rPr sz="2450" spc="-10" dirty="0">
                <a:latin typeface="Calibri"/>
                <a:cs typeface="Calibri"/>
              </a:rPr>
              <a:t>fatto </a:t>
            </a:r>
            <a:r>
              <a:rPr sz="2450" spc="15" dirty="0">
                <a:latin typeface="Calibri"/>
                <a:cs typeface="Calibri"/>
              </a:rPr>
              <a:t>precedere </a:t>
            </a:r>
            <a:r>
              <a:rPr sz="2450" spc="20" dirty="0">
                <a:latin typeface="Calibri"/>
                <a:cs typeface="Calibri"/>
              </a:rPr>
              <a:t>da un </a:t>
            </a:r>
            <a:r>
              <a:rPr sz="2450" b="1" spc="5" dirty="0">
                <a:latin typeface="Calibri"/>
                <a:cs typeface="Calibri"/>
              </a:rPr>
              <a:t>punto </a:t>
            </a:r>
            <a:r>
              <a:rPr sz="2450" spc="10" dirty="0">
                <a:latin typeface="Calibri"/>
                <a:cs typeface="Calibri"/>
              </a:rPr>
              <a:t>(.) </a:t>
            </a:r>
            <a:r>
              <a:rPr sz="2450" spc="-5" dirty="0">
                <a:latin typeface="Calibri"/>
                <a:cs typeface="Calibri"/>
              </a:rPr>
              <a:t>La 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regola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appena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vista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imposta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colore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rosso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per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tutti  gli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elementi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con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classe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titolo.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3261" y="889965"/>
            <a:ext cx="215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</a:t>
            </a:r>
            <a:r>
              <a:rPr spc="-15" dirty="0"/>
              <a:t>n</a:t>
            </a:r>
            <a:r>
              <a:rPr spc="10" dirty="0"/>
              <a:t>s</a:t>
            </a:r>
            <a:r>
              <a:rPr spc="-5" dirty="0"/>
              <a:t>pe</a:t>
            </a:r>
            <a:r>
              <a:rPr spc="-15" dirty="0"/>
              <a:t>c</a:t>
            </a:r>
            <a:r>
              <a:rPr spc="-25" dirty="0"/>
              <a:t>t</a:t>
            </a:r>
            <a:r>
              <a:rPr spc="-15" dirty="0"/>
              <a:t>o</a:t>
            </a:r>
            <a:r>
              <a:rPr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50326"/>
            <a:ext cx="8072755" cy="40195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7620" algn="just">
              <a:lnSpc>
                <a:spcPct val="90000"/>
              </a:lnSpc>
              <a:spcBef>
                <a:spcPts val="475"/>
              </a:spcBef>
            </a:pPr>
            <a:r>
              <a:rPr sz="3200" dirty="0">
                <a:latin typeface="Calibri"/>
                <a:cs typeface="Calibri"/>
              </a:rPr>
              <a:t>Nella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maggior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parte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dei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browser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sono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disposizione </a:t>
            </a:r>
            <a:r>
              <a:rPr sz="3200" spc="-5" dirty="0">
                <a:latin typeface="Calibri"/>
                <a:cs typeface="Calibri"/>
              </a:rPr>
              <a:t>gli Strumenti </a:t>
            </a:r>
            <a:r>
              <a:rPr sz="3200" spc="-10" dirty="0">
                <a:latin typeface="Calibri"/>
                <a:cs typeface="Calibri"/>
              </a:rPr>
              <a:t>per Sviluppatori, </a:t>
            </a:r>
            <a:r>
              <a:rPr sz="3200" spc="-5" dirty="0">
                <a:latin typeface="Calibri"/>
                <a:cs typeface="Calibri"/>
              </a:rPr>
              <a:t>una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risorsa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veramente</a:t>
            </a:r>
            <a:r>
              <a:rPr sz="3200" spc="-15" dirty="0">
                <a:latin typeface="Calibri"/>
                <a:cs typeface="Calibri"/>
              </a:rPr>
              <a:t> importante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nella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fase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 </a:t>
            </a:r>
            <a:r>
              <a:rPr sz="3200" spc="-15" dirty="0">
                <a:latin typeface="Calibri"/>
                <a:cs typeface="Calibri"/>
              </a:rPr>
              <a:t> sviluppo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spc="-15" dirty="0">
                <a:latin typeface="Calibri"/>
                <a:cs typeface="Calibri"/>
              </a:rPr>
              <a:t>manutenzione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tuo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sito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web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(F12).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50" dirty="0">
              <a:latin typeface="Calibri"/>
              <a:cs typeface="Calibri"/>
            </a:endParaRPr>
          </a:p>
          <a:p>
            <a:pPr marL="12700" marR="5080" algn="just">
              <a:lnSpc>
                <a:spcPct val="90300"/>
              </a:lnSpc>
              <a:spcBef>
                <a:spcPts val="5"/>
              </a:spcBef>
            </a:pPr>
            <a:r>
              <a:rPr sz="3200" spc="-5" dirty="0">
                <a:latin typeface="Calibri"/>
                <a:cs typeface="Calibri"/>
              </a:rPr>
              <a:t>Essendo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20" dirty="0">
                <a:latin typeface="Calibri"/>
                <a:cs typeface="Calibri"/>
              </a:rPr>
              <a:t>browser </a:t>
            </a:r>
            <a:r>
              <a:rPr sz="3200" dirty="0">
                <a:latin typeface="Calibri"/>
                <a:cs typeface="Calibri"/>
              </a:rPr>
              <a:t>la </a:t>
            </a:r>
            <a:r>
              <a:rPr sz="3200" spc="-25" dirty="0">
                <a:latin typeface="Calibri"/>
                <a:cs typeface="Calibri"/>
              </a:rPr>
              <a:t>“casa”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che </a:t>
            </a:r>
            <a:r>
              <a:rPr sz="3200" spc="-5" dirty="0">
                <a:latin typeface="Calibri"/>
                <a:cs typeface="Calibri"/>
              </a:rPr>
              <a:t>ospita </a:t>
            </a:r>
            <a:r>
              <a:rPr sz="3200" dirty="0">
                <a:latin typeface="Calibri"/>
                <a:cs typeface="Calibri"/>
              </a:rPr>
              <a:t>le tue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pagine </a:t>
            </a:r>
            <a:r>
              <a:rPr sz="3200" dirty="0">
                <a:latin typeface="Calibri"/>
                <a:cs typeface="Calibri"/>
              </a:rPr>
              <a:t>HTML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-15" dirty="0">
                <a:latin typeface="Calibri"/>
                <a:cs typeface="Calibri"/>
              </a:rPr>
              <a:t>importante </a:t>
            </a:r>
            <a:r>
              <a:rPr sz="3200" spc="-30" dirty="0">
                <a:latin typeface="Calibri"/>
                <a:cs typeface="Calibri"/>
              </a:rPr>
              <a:t>avere </a:t>
            </a:r>
            <a:r>
              <a:rPr sz="3200" dirty="0">
                <a:latin typeface="Calibri"/>
                <a:cs typeface="Calibri"/>
              </a:rPr>
              <a:t>la </a:t>
            </a:r>
            <a:r>
              <a:rPr sz="3200" spc="-10" dirty="0">
                <a:latin typeface="Calibri"/>
                <a:cs typeface="Calibri"/>
              </a:rPr>
              <a:t>possibilità </a:t>
            </a:r>
            <a:r>
              <a:rPr sz="3200" spc="-20" dirty="0">
                <a:latin typeface="Calibri"/>
                <a:cs typeface="Calibri"/>
              </a:rPr>
              <a:t>di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analizzare</a:t>
            </a:r>
            <a:r>
              <a:rPr sz="3200" spc="-5" dirty="0">
                <a:latin typeface="Calibri"/>
                <a:cs typeface="Calibri"/>
              </a:rPr>
              <a:t> quello</a:t>
            </a:r>
            <a:r>
              <a:rPr sz="3200" dirty="0">
                <a:latin typeface="Calibri"/>
                <a:cs typeface="Calibri"/>
              </a:rPr>
              <a:t> che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succede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oltre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all’aspetto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visivo.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131506"/>
            <a:ext cx="8072755" cy="14903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80"/>
              </a:spcBef>
            </a:pPr>
            <a:r>
              <a:rPr sz="3200" spc="-25" dirty="0"/>
              <a:t>Per </a:t>
            </a:r>
            <a:r>
              <a:rPr sz="3200" spc="-10" dirty="0"/>
              <a:t>selezionare </a:t>
            </a:r>
            <a:r>
              <a:rPr sz="3200" spc="-5" dirty="0"/>
              <a:t>elementi </a:t>
            </a:r>
            <a:r>
              <a:rPr sz="3200" dirty="0"/>
              <a:t>HTML </a:t>
            </a:r>
            <a:r>
              <a:rPr sz="3200" spc="-5" dirty="0"/>
              <a:t>bisogna </a:t>
            </a:r>
            <a:r>
              <a:rPr sz="3200" spc="-20" dirty="0"/>
              <a:t>attivare </a:t>
            </a:r>
            <a:r>
              <a:rPr sz="3200" spc="-15" dirty="0"/>
              <a:t> </a:t>
            </a:r>
            <a:r>
              <a:rPr sz="3200" dirty="0"/>
              <a:t>lo </a:t>
            </a:r>
            <a:r>
              <a:rPr sz="3200" spc="-10" dirty="0"/>
              <a:t>strumento di selezione </a:t>
            </a:r>
            <a:r>
              <a:rPr sz="3200" spc="-5" dirty="0"/>
              <a:t>– </a:t>
            </a:r>
            <a:r>
              <a:rPr sz="3200" i="1" spc="-10" dirty="0">
                <a:latin typeface="Calibri"/>
                <a:cs typeface="Calibri"/>
              </a:rPr>
              <a:t>icone posizionate </a:t>
            </a:r>
            <a:r>
              <a:rPr sz="3200" i="1" spc="-5" dirty="0">
                <a:latin typeface="Calibri"/>
                <a:cs typeface="Calibri"/>
              </a:rPr>
              <a:t>a </a:t>
            </a:r>
            <a:r>
              <a:rPr sz="3200" i="1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sinistra</a:t>
            </a:r>
            <a:r>
              <a:rPr sz="3200" i="1" spc="4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della</a:t>
            </a:r>
            <a:r>
              <a:rPr sz="3200" i="1" spc="1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barra</a:t>
            </a:r>
            <a:r>
              <a:rPr sz="3200" i="1" spc="4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degli</a:t>
            </a:r>
            <a:r>
              <a:rPr sz="3200" i="1" spc="35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strumenti</a:t>
            </a:r>
            <a:r>
              <a:rPr sz="3200" spc="-15" dirty="0"/>
              <a:t>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3867467"/>
            <a:ext cx="8074025" cy="19773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0"/>
              </a:spcBef>
            </a:pPr>
            <a:r>
              <a:rPr sz="3200" spc="-5" dirty="0">
                <a:latin typeface="Calibri"/>
                <a:cs typeface="Calibri"/>
              </a:rPr>
              <a:t>Una </a:t>
            </a:r>
            <a:r>
              <a:rPr sz="3200" spc="-15" dirty="0">
                <a:latin typeface="Calibri"/>
                <a:cs typeface="Calibri"/>
              </a:rPr>
              <a:t>volta </a:t>
            </a:r>
            <a:r>
              <a:rPr sz="3200" spc="-10" dirty="0">
                <a:latin typeface="Calibri"/>
                <a:cs typeface="Calibri"/>
              </a:rPr>
              <a:t>premuta </a:t>
            </a:r>
            <a:r>
              <a:rPr sz="3200" spc="-5" dirty="0">
                <a:latin typeface="Calibri"/>
                <a:cs typeface="Calibri"/>
              </a:rPr>
              <a:t>l’icona </a:t>
            </a:r>
            <a:r>
              <a:rPr sz="3200" spc="10" dirty="0">
                <a:latin typeface="Calibri"/>
                <a:cs typeface="Calibri"/>
              </a:rPr>
              <a:t>ti </a:t>
            </a:r>
            <a:r>
              <a:rPr sz="3200" spc="-5" dirty="0">
                <a:latin typeface="Calibri"/>
                <a:cs typeface="Calibri"/>
              </a:rPr>
              <a:t>puoi </a:t>
            </a:r>
            <a:r>
              <a:rPr sz="3200" spc="-15" dirty="0">
                <a:latin typeface="Calibri"/>
                <a:cs typeface="Calibri"/>
              </a:rPr>
              <a:t>muovere </a:t>
            </a:r>
            <a:r>
              <a:rPr sz="3200" spc="-5" dirty="0">
                <a:latin typeface="Calibri"/>
                <a:cs typeface="Calibri"/>
              </a:rPr>
              <a:t>nella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pagina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lato</a:t>
            </a:r>
            <a:r>
              <a:rPr sz="3200" spc="67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utente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–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quello</a:t>
            </a:r>
            <a:r>
              <a:rPr sz="3200" spc="6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visivo</a:t>
            </a:r>
            <a:r>
              <a:rPr sz="3200" spc="68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–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</a:t>
            </a:r>
            <a:r>
              <a:rPr sz="3200" spc="68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un </a:t>
            </a:r>
            <a:r>
              <a:rPr sz="3200" spc="-7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click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andrai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selezionare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l’elemento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ti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interessa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analizzare.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527" y="2950941"/>
            <a:ext cx="5819775" cy="6561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8914" y="889965"/>
            <a:ext cx="51860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Colore</a:t>
            </a:r>
            <a:r>
              <a:rPr spc="55" dirty="0"/>
              <a:t> </a:t>
            </a:r>
            <a:r>
              <a:rPr spc="-5" dirty="0"/>
              <a:t>del</a:t>
            </a:r>
            <a:r>
              <a:rPr spc="5" dirty="0"/>
              <a:t> </a:t>
            </a:r>
            <a:r>
              <a:rPr spc="-10" dirty="0"/>
              <a:t>testo</a:t>
            </a:r>
            <a:r>
              <a:rPr spc="-10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color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95411"/>
            <a:ext cx="8073390" cy="3735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0"/>
              </a:spcBef>
            </a:pPr>
            <a:r>
              <a:rPr sz="3200" spc="-5" dirty="0">
                <a:latin typeface="Calibri"/>
                <a:cs typeface="Calibri"/>
              </a:rPr>
              <a:t>La </a:t>
            </a:r>
            <a:r>
              <a:rPr sz="3200" spc="-20" dirty="0">
                <a:latin typeface="Calibri"/>
                <a:cs typeface="Calibri"/>
              </a:rPr>
              <a:t>proprietà </a:t>
            </a:r>
            <a:r>
              <a:rPr sz="3200" dirty="0">
                <a:latin typeface="Calibri"/>
                <a:cs typeface="Calibri"/>
              </a:rPr>
              <a:t>CSS </a:t>
            </a:r>
            <a:r>
              <a:rPr sz="3200" b="1" spc="-5" dirty="0">
                <a:latin typeface="Calibri"/>
                <a:cs typeface="Calibri"/>
              </a:rPr>
              <a:t>color </a:t>
            </a:r>
            <a:r>
              <a:rPr sz="3200" spc="-15" dirty="0">
                <a:latin typeface="Calibri"/>
                <a:cs typeface="Calibri"/>
              </a:rPr>
              <a:t>imposta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20" dirty="0">
                <a:latin typeface="Calibri"/>
                <a:cs typeface="Calibri"/>
              </a:rPr>
              <a:t>colore </a:t>
            </a:r>
            <a:r>
              <a:rPr sz="3200" spc="-10" dirty="0">
                <a:latin typeface="Calibri"/>
                <a:cs typeface="Calibri"/>
              </a:rPr>
              <a:t>di </a:t>
            </a:r>
            <a:r>
              <a:rPr sz="3200" spc="-5" dirty="0">
                <a:latin typeface="Calibri"/>
                <a:cs typeface="Calibri"/>
              </a:rPr>
              <a:t>primo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piano </a:t>
            </a:r>
            <a:r>
              <a:rPr sz="3200" spc="-10" dirty="0">
                <a:latin typeface="Calibri"/>
                <a:cs typeface="Calibri"/>
              </a:rPr>
              <a:t>del contenuto testuale di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10" dirty="0">
                <a:latin typeface="Calibri"/>
                <a:cs typeface="Calibri"/>
              </a:rPr>
              <a:t>elemento. </a:t>
            </a:r>
            <a:r>
              <a:rPr sz="3200" spc="-5" dirty="0">
                <a:latin typeface="Calibri"/>
                <a:cs typeface="Calibri"/>
              </a:rPr>
              <a:t>La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proprietà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color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accetta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varie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parole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chiave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valori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numerici.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50" dirty="0">
              <a:latin typeface="Calibri"/>
              <a:cs typeface="Calibri"/>
            </a:endParaRPr>
          </a:p>
          <a:p>
            <a:pPr marL="12700" marR="3841750">
              <a:lnSpc>
                <a:spcPct val="120100"/>
              </a:lnSpc>
            </a:pPr>
            <a:r>
              <a:rPr sz="3200" spc="-10" dirty="0">
                <a:latin typeface="Calibri"/>
                <a:cs typeface="Calibri"/>
              </a:rPr>
              <a:t>element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{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color: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}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element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{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color: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#ff0000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}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5060" y="817956"/>
            <a:ext cx="72199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Dimensione</a:t>
            </a:r>
            <a:r>
              <a:rPr spc="65" dirty="0"/>
              <a:t> </a:t>
            </a:r>
            <a:r>
              <a:rPr spc="-5" dirty="0"/>
              <a:t>del</a:t>
            </a:r>
            <a:r>
              <a:rPr spc="-20" dirty="0"/>
              <a:t> </a:t>
            </a:r>
            <a:r>
              <a:rPr spc="-10" dirty="0"/>
              <a:t>testo</a:t>
            </a:r>
            <a:r>
              <a:rPr spc="-80" dirty="0"/>
              <a:t> </a:t>
            </a:r>
            <a:r>
              <a:rPr dirty="0"/>
              <a:t>:</a:t>
            </a:r>
            <a:r>
              <a:rPr spc="-25" dirty="0"/>
              <a:t> </a:t>
            </a:r>
            <a:r>
              <a:rPr b="1" spc="-25" dirty="0">
                <a:solidFill>
                  <a:srgbClr val="FF0000"/>
                </a:solidFill>
                <a:latin typeface="Calibri"/>
                <a:cs typeface="Calibri"/>
              </a:rPr>
              <a:t>font-size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51304"/>
            <a:ext cx="8078470" cy="4448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algn="just">
              <a:lnSpc>
                <a:spcPct val="79900"/>
              </a:lnSpc>
              <a:spcBef>
                <a:spcPts val="745"/>
              </a:spcBef>
            </a:pPr>
            <a:r>
              <a:rPr sz="2700" b="1" spc="-10" dirty="0">
                <a:latin typeface="Calibri"/>
                <a:cs typeface="Calibri"/>
              </a:rPr>
              <a:t>Unità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pixel</a:t>
            </a:r>
            <a:r>
              <a:rPr sz="2700" b="1" spc="-10" dirty="0">
                <a:latin typeface="Calibri"/>
                <a:cs typeface="Calibri"/>
              </a:rPr>
              <a:t> (px)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pixel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(px)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sono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l’unità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misura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più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semplice </a:t>
            </a:r>
            <a:r>
              <a:rPr sz="2700" spc="-5" dirty="0">
                <a:latin typeface="Calibri"/>
                <a:cs typeface="Calibri"/>
              </a:rPr>
              <a:t>da </a:t>
            </a:r>
            <a:r>
              <a:rPr sz="2700" spc="-10" dirty="0">
                <a:latin typeface="Calibri"/>
                <a:cs typeface="Calibri"/>
              </a:rPr>
              <a:t>usare. </a:t>
            </a:r>
            <a:r>
              <a:rPr sz="2700" spc="-5" dirty="0">
                <a:latin typeface="Calibri"/>
                <a:cs typeface="Calibri"/>
              </a:rPr>
              <a:t>È una </a:t>
            </a:r>
            <a:r>
              <a:rPr sz="2700" spc="-10" dirty="0">
                <a:latin typeface="Calibri"/>
                <a:cs typeface="Calibri"/>
              </a:rPr>
              <a:t>misura </a:t>
            </a:r>
            <a:r>
              <a:rPr sz="2700" dirty="0">
                <a:latin typeface="Calibri"/>
                <a:cs typeface="Calibri"/>
              </a:rPr>
              <a:t>fissa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spc="-15" dirty="0">
                <a:latin typeface="Calibri"/>
                <a:cs typeface="Calibri"/>
              </a:rPr>
              <a:t>definita </a:t>
            </a:r>
            <a:r>
              <a:rPr sz="2700" spc="-5" dirty="0">
                <a:latin typeface="Calibri"/>
                <a:cs typeface="Calibri"/>
              </a:rPr>
              <a:t>che </a:t>
            </a:r>
            <a:r>
              <a:rPr sz="2700" spc="-10" dirty="0">
                <a:latin typeface="Calibri"/>
                <a:cs typeface="Calibri"/>
              </a:rPr>
              <a:t>non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scala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mai,</a:t>
            </a:r>
            <a:r>
              <a:rPr sz="2700" spc="5" dirty="0">
                <a:latin typeface="Calibri"/>
                <a:cs typeface="Calibri"/>
              </a:rPr>
              <a:t> sia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rimpiccioliamo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ingrandiamo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il 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contenitore </a:t>
            </a:r>
            <a:r>
              <a:rPr sz="2700" spc="-5" dirty="0">
                <a:latin typeface="Calibri"/>
                <a:cs typeface="Calibri"/>
              </a:rPr>
              <a:t>di un </a:t>
            </a:r>
            <a:r>
              <a:rPr sz="2700" spc="-15" dirty="0">
                <a:latin typeface="Calibri"/>
                <a:cs typeface="Calibri"/>
              </a:rPr>
              <a:t>elemento </a:t>
            </a:r>
            <a:r>
              <a:rPr sz="2700" spc="-5" dirty="0">
                <a:latin typeface="Calibri"/>
                <a:cs typeface="Calibri"/>
              </a:rPr>
              <a:t>espresso </a:t>
            </a:r>
            <a:r>
              <a:rPr sz="2700" spc="-15" dirty="0">
                <a:latin typeface="Calibri"/>
                <a:cs typeface="Calibri"/>
              </a:rPr>
              <a:t>in </a:t>
            </a:r>
            <a:r>
              <a:rPr sz="2700" spc="-30" dirty="0">
                <a:latin typeface="Calibri"/>
                <a:cs typeface="Calibri"/>
              </a:rPr>
              <a:t>px, </a:t>
            </a:r>
            <a:r>
              <a:rPr sz="2700" spc="-5" dirty="0">
                <a:latin typeface="Calibri"/>
                <a:cs typeface="Calibri"/>
              </a:rPr>
              <a:t>che </a:t>
            </a:r>
            <a:r>
              <a:rPr sz="2700" spc="-15" dirty="0">
                <a:latin typeface="Calibri"/>
                <a:cs typeface="Calibri"/>
              </a:rPr>
              <a:t>la finestra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browser.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 dirty="0">
              <a:latin typeface="Calibri"/>
              <a:cs typeface="Calibri"/>
            </a:endParaRPr>
          </a:p>
          <a:p>
            <a:pPr marL="12700" marR="8255" algn="just">
              <a:lnSpc>
                <a:spcPct val="80100"/>
              </a:lnSpc>
              <a:spcBef>
                <a:spcPts val="5"/>
              </a:spcBef>
            </a:pPr>
            <a:r>
              <a:rPr sz="2700" b="1" spc="-10" dirty="0">
                <a:latin typeface="Calibri"/>
                <a:cs typeface="Calibri"/>
              </a:rPr>
              <a:t>Unità </a:t>
            </a:r>
            <a:r>
              <a:rPr sz="2700" b="1" spc="-5" dirty="0">
                <a:latin typeface="Calibri"/>
                <a:cs typeface="Calibri"/>
              </a:rPr>
              <a:t>flessibili (em) </a:t>
            </a:r>
            <a:r>
              <a:rPr sz="2700" spc="-30" dirty="0">
                <a:latin typeface="Calibri"/>
                <a:cs typeface="Calibri"/>
              </a:rPr>
              <a:t>Vengono </a:t>
            </a:r>
            <a:r>
              <a:rPr sz="2700" dirty="0">
                <a:latin typeface="Calibri"/>
                <a:cs typeface="Calibri"/>
              </a:rPr>
              <a:t>espresse </a:t>
            </a:r>
            <a:r>
              <a:rPr sz="2700" spc="-10" dirty="0">
                <a:latin typeface="Calibri"/>
                <a:cs typeface="Calibri"/>
              </a:rPr>
              <a:t>in </a:t>
            </a:r>
            <a:r>
              <a:rPr sz="2700" dirty="0">
                <a:latin typeface="Calibri"/>
                <a:cs typeface="Calibri"/>
              </a:rPr>
              <a:t>em </a:t>
            </a:r>
            <a:r>
              <a:rPr sz="2700" spc="-5" dirty="0">
                <a:latin typeface="Calibri"/>
                <a:cs typeface="Calibri"/>
              </a:rPr>
              <a:t>e sono </a:t>
            </a:r>
            <a:r>
              <a:rPr sz="2700" spc="-10" dirty="0">
                <a:latin typeface="Calibri"/>
                <a:cs typeface="Calibri"/>
              </a:rPr>
              <a:t>unità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scalabili </a:t>
            </a:r>
            <a:r>
              <a:rPr sz="2700" spc="-25" dirty="0">
                <a:latin typeface="Calibri"/>
                <a:cs typeface="Calibri"/>
              </a:rPr>
              <a:t>tradotte </a:t>
            </a:r>
            <a:r>
              <a:rPr sz="2700" spc="-15" dirty="0">
                <a:latin typeface="Calibri"/>
                <a:cs typeface="Calibri"/>
              </a:rPr>
              <a:t>in </a:t>
            </a:r>
            <a:r>
              <a:rPr sz="2700" spc="-20" dirty="0">
                <a:latin typeface="Calibri"/>
                <a:cs typeface="Calibri"/>
              </a:rPr>
              <a:t>pixel </a:t>
            </a:r>
            <a:r>
              <a:rPr sz="2700" dirty="0">
                <a:latin typeface="Calibri"/>
                <a:cs typeface="Calibri"/>
              </a:rPr>
              <a:t>dal </a:t>
            </a:r>
            <a:r>
              <a:rPr sz="2700" spc="-45" dirty="0">
                <a:latin typeface="Calibri"/>
                <a:cs typeface="Calibri"/>
              </a:rPr>
              <a:t>browser. </a:t>
            </a:r>
            <a:r>
              <a:rPr sz="2700" spc="-10" dirty="0">
                <a:latin typeface="Calibri"/>
                <a:cs typeface="Calibri"/>
              </a:rPr>
              <a:t>Quindi, </a:t>
            </a:r>
            <a:r>
              <a:rPr sz="2700" spc="-15" dirty="0">
                <a:latin typeface="Calibri"/>
                <a:cs typeface="Calibri"/>
              </a:rPr>
              <a:t>mentre </a:t>
            </a:r>
            <a:r>
              <a:rPr sz="2700" spc="-5" dirty="0">
                <a:latin typeface="Calibri"/>
                <a:cs typeface="Calibri"/>
              </a:rPr>
              <a:t>nel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precedente </a:t>
            </a:r>
            <a:r>
              <a:rPr sz="2700" spc="-20" dirty="0">
                <a:latin typeface="Calibri"/>
                <a:cs typeface="Calibri"/>
              </a:rPr>
              <a:t>caso </a:t>
            </a: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spc="-15" dirty="0">
                <a:latin typeface="Calibri"/>
                <a:cs typeface="Calibri"/>
              </a:rPr>
              <a:t>16px </a:t>
            </a:r>
            <a:r>
              <a:rPr sz="2700" spc="-10" dirty="0">
                <a:latin typeface="Calibri"/>
                <a:cs typeface="Calibri"/>
              </a:rPr>
              <a:t>rimanevano 16px, </a:t>
            </a:r>
            <a:r>
              <a:rPr sz="2700" spc="-5" dirty="0">
                <a:latin typeface="Calibri"/>
                <a:cs typeface="Calibri"/>
              </a:rPr>
              <a:t>con </a:t>
            </a:r>
            <a:r>
              <a:rPr sz="2700" spc="-15" dirty="0">
                <a:latin typeface="Calibri"/>
                <a:cs typeface="Calibri"/>
              </a:rPr>
              <a:t>le unità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misura </a:t>
            </a:r>
            <a:r>
              <a:rPr sz="2700" spc="-5" dirty="0">
                <a:latin typeface="Calibri"/>
                <a:cs typeface="Calibri"/>
              </a:rPr>
              <a:t>flessibili </a:t>
            </a:r>
            <a:r>
              <a:rPr sz="2700" dirty="0">
                <a:latin typeface="Calibri"/>
                <a:cs typeface="Calibri"/>
              </a:rPr>
              <a:t>se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20" dirty="0">
                <a:latin typeface="Calibri"/>
                <a:cs typeface="Calibri"/>
              </a:rPr>
              <a:t>utente </a:t>
            </a:r>
            <a:r>
              <a:rPr sz="2700" spc="-5" dirty="0">
                <a:latin typeface="Calibri"/>
                <a:cs typeface="Calibri"/>
              </a:rPr>
              <a:t>ha </a:t>
            </a:r>
            <a:r>
              <a:rPr sz="2700" spc="-15" dirty="0">
                <a:latin typeface="Calibri"/>
                <a:cs typeface="Calibri"/>
              </a:rPr>
              <a:t>il browser </a:t>
            </a:r>
            <a:r>
              <a:rPr sz="2700" spc="-20" dirty="0">
                <a:latin typeface="Calibri"/>
                <a:cs typeface="Calibri"/>
              </a:rPr>
              <a:t>impostato </a:t>
            </a:r>
            <a:r>
              <a:rPr sz="2700" spc="-10" dirty="0">
                <a:latin typeface="Calibri"/>
                <a:cs typeface="Calibri"/>
              </a:rPr>
              <a:t>alla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dimensione</a:t>
            </a:r>
            <a:r>
              <a:rPr sz="2700" spc="-5" dirty="0">
                <a:latin typeface="Calibri"/>
                <a:cs typeface="Calibri"/>
              </a:rPr>
              <a:t> 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carattere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predefinita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5" dirty="0">
                <a:latin typeface="Calibri"/>
                <a:cs typeface="Calibri"/>
              </a:rPr>
              <a:t>di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16px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questi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saranno </a:t>
            </a:r>
            <a:r>
              <a:rPr sz="2700" spc="-10" dirty="0">
                <a:latin typeface="Calibri"/>
                <a:cs typeface="Calibri"/>
              </a:rPr>
              <a:t>moltiplicati </a:t>
            </a:r>
            <a:r>
              <a:rPr sz="2700" spc="-5" dirty="0">
                <a:latin typeface="Calibri"/>
                <a:cs typeface="Calibri"/>
              </a:rPr>
              <a:t>per </a:t>
            </a:r>
            <a:r>
              <a:rPr sz="2700" spc="-15" dirty="0">
                <a:latin typeface="Calibri"/>
                <a:cs typeface="Calibri"/>
              </a:rPr>
              <a:t>la </a:t>
            </a:r>
            <a:r>
              <a:rPr sz="2700" spc="-20" dirty="0">
                <a:latin typeface="Calibri"/>
                <a:cs typeface="Calibri"/>
              </a:rPr>
              <a:t>quantità </a:t>
            </a:r>
            <a:r>
              <a:rPr sz="2700" spc="-10" dirty="0">
                <a:latin typeface="Calibri"/>
                <a:cs typeface="Calibri"/>
              </a:rPr>
              <a:t>espressa </a:t>
            </a:r>
            <a:r>
              <a:rPr sz="2700" spc="-15" dirty="0">
                <a:latin typeface="Calibri"/>
                <a:cs typeface="Calibri"/>
              </a:rPr>
              <a:t>in </a:t>
            </a:r>
            <a:r>
              <a:rPr sz="2700" spc="-5" dirty="0">
                <a:latin typeface="Calibri"/>
                <a:cs typeface="Calibri"/>
              </a:rPr>
              <a:t>em a </a:t>
            </a:r>
            <a:r>
              <a:rPr sz="2700" spc="-15" dirty="0">
                <a:latin typeface="Calibri"/>
                <a:cs typeface="Calibri"/>
              </a:rPr>
              <a:t>loro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assegnata: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h1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{font-size: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1.5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em;}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</a:t>
            </a:r>
            <a:r>
              <a:rPr sz="2700" dirty="0">
                <a:latin typeface="Calibri"/>
                <a:cs typeface="Calibri"/>
              </a:rPr>
              <a:t> (16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x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1.5)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= </a:t>
            </a:r>
            <a:r>
              <a:rPr sz="2700" spc="-30" dirty="0">
                <a:latin typeface="Calibri"/>
                <a:cs typeface="Calibri"/>
              </a:rPr>
              <a:t>24px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9991" y="817956"/>
            <a:ext cx="776033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Allineamento</a:t>
            </a:r>
            <a:r>
              <a:rPr spc="55" dirty="0"/>
              <a:t> </a:t>
            </a:r>
            <a:r>
              <a:rPr spc="-5" dirty="0"/>
              <a:t>del </a:t>
            </a:r>
            <a:r>
              <a:rPr spc="-15" dirty="0"/>
              <a:t>testo</a:t>
            </a:r>
            <a:r>
              <a:rPr spc="-50" dirty="0"/>
              <a:t> </a:t>
            </a:r>
            <a:r>
              <a:rPr dirty="0"/>
              <a:t>:</a:t>
            </a:r>
            <a:r>
              <a:rPr spc="-10" dirty="0"/>
              <a:t> </a:t>
            </a:r>
            <a:r>
              <a:rPr b="1" spc="-25" dirty="0">
                <a:solidFill>
                  <a:srgbClr val="FF0000"/>
                </a:solidFill>
                <a:latin typeface="Calibri"/>
                <a:cs typeface="Calibri"/>
              </a:rPr>
              <a:t>text-align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75"/>
              </a:spcBef>
            </a:pPr>
            <a:r>
              <a:rPr spc="-5" dirty="0"/>
              <a:t>La</a:t>
            </a:r>
            <a:r>
              <a:rPr dirty="0"/>
              <a:t> </a:t>
            </a:r>
            <a:r>
              <a:rPr spc="-20" dirty="0"/>
              <a:t>proprietà</a:t>
            </a:r>
            <a:r>
              <a:rPr spc="-15" dirty="0"/>
              <a:t> </a:t>
            </a:r>
            <a:r>
              <a:rPr spc="-10" dirty="0"/>
              <a:t>text-align</a:t>
            </a:r>
            <a:r>
              <a:rPr spc="-5" dirty="0"/>
              <a:t> indica</a:t>
            </a:r>
            <a:r>
              <a:rPr dirty="0"/>
              <a:t> </a:t>
            </a:r>
            <a:r>
              <a:rPr spc="-20" dirty="0"/>
              <a:t>come</a:t>
            </a:r>
            <a:r>
              <a:rPr spc="-15" dirty="0"/>
              <a:t> </a:t>
            </a:r>
            <a:r>
              <a:rPr dirty="0"/>
              <a:t>le</a:t>
            </a:r>
            <a:r>
              <a:rPr spc="5" dirty="0"/>
              <a:t> </a:t>
            </a:r>
            <a:r>
              <a:rPr spc="-5" dirty="0"/>
              <a:t>linee</a:t>
            </a:r>
            <a:r>
              <a:rPr dirty="0"/>
              <a:t> </a:t>
            </a:r>
            <a:r>
              <a:rPr spc="-20" dirty="0"/>
              <a:t>di </a:t>
            </a:r>
            <a:r>
              <a:rPr spc="-710" dirty="0"/>
              <a:t> </a:t>
            </a:r>
            <a:r>
              <a:rPr spc="-30" dirty="0"/>
              <a:t>testo </a:t>
            </a:r>
            <a:r>
              <a:rPr spc="-5" dirty="0"/>
              <a:t>devono </a:t>
            </a:r>
            <a:r>
              <a:rPr spc="-15" dirty="0"/>
              <a:t>essere </a:t>
            </a:r>
            <a:r>
              <a:rPr spc="-10" dirty="0"/>
              <a:t>allineate </a:t>
            </a:r>
            <a:r>
              <a:rPr spc="-25" dirty="0"/>
              <a:t>tra </a:t>
            </a:r>
            <a:r>
              <a:rPr spc="-15" dirty="0"/>
              <a:t>loro. </a:t>
            </a:r>
            <a:r>
              <a:rPr spc="-10" dirty="0"/>
              <a:t>text-align </a:t>
            </a:r>
            <a:r>
              <a:rPr spc="-5" dirty="0"/>
              <a:t> non</a:t>
            </a:r>
            <a:r>
              <a:rPr dirty="0"/>
              <a:t> </a:t>
            </a:r>
            <a:r>
              <a:rPr spc="-5" dirty="0"/>
              <a:t>influisce</a:t>
            </a:r>
            <a:r>
              <a:rPr dirty="0"/>
              <a:t> </a:t>
            </a:r>
            <a:r>
              <a:rPr spc="-5" dirty="0"/>
              <a:t>sull'allineamento</a:t>
            </a:r>
            <a:r>
              <a:rPr dirty="0"/>
              <a:t> </a:t>
            </a:r>
            <a:r>
              <a:rPr spc="-5" dirty="0"/>
              <a:t>degli</a:t>
            </a:r>
            <a:r>
              <a:rPr dirty="0"/>
              <a:t> </a:t>
            </a:r>
            <a:r>
              <a:rPr spc="-10" dirty="0"/>
              <a:t>altri </a:t>
            </a:r>
            <a:r>
              <a:rPr spc="-5" dirty="0"/>
              <a:t> </a:t>
            </a:r>
            <a:r>
              <a:rPr spc="-10" dirty="0"/>
              <a:t>elementi,</a:t>
            </a:r>
            <a:r>
              <a:rPr spc="15" dirty="0"/>
              <a:t> </a:t>
            </a:r>
            <a:r>
              <a:rPr spc="-10" dirty="0"/>
              <a:t>solo</a:t>
            </a:r>
            <a:r>
              <a:rPr spc="45" dirty="0"/>
              <a:t> </a:t>
            </a:r>
            <a:r>
              <a:rPr spc="-10" dirty="0"/>
              <a:t>del</a:t>
            </a:r>
            <a:r>
              <a:rPr dirty="0"/>
              <a:t> </a:t>
            </a:r>
            <a:r>
              <a:rPr spc="-20" dirty="0"/>
              <a:t>loro</a:t>
            </a:r>
            <a:r>
              <a:rPr spc="45" dirty="0"/>
              <a:t> </a:t>
            </a:r>
            <a:r>
              <a:rPr spc="-30" dirty="0"/>
              <a:t>contenuto.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 dirty="0"/>
          </a:p>
          <a:p>
            <a:pPr marL="12700" marR="5130800">
              <a:lnSpc>
                <a:spcPct val="110000"/>
              </a:lnSpc>
            </a:pPr>
            <a:r>
              <a:rPr spc="-15" dirty="0"/>
              <a:t>text-align:</a:t>
            </a:r>
            <a:r>
              <a:rPr spc="45" dirty="0"/>
              <a:t> </a:t>
            </a:r>
            <a:r>
              <a:rPr spc="-15" dirty="0"/>
              <a:t>left; </a:t>
            </a:r>
            <a:r>
              <a:rPr spc="-10" dirty="0"/>
              <a:t> </a:t>
            </a:r>
            <a:r>
              <a:rPr spc="-15" dirty="0"/>
              <a:t>text-align:</a:t>
            </a:r>
            <a:r>
              <a:rPr spc="40" dirty="0"/>
              <a:t> </a:t>
            </a:r>
            <a:r>
              <a:rPr spc="-15" dirty="0"/>
              <a:t>right; </a:t>
            </a:r>
            <a:r>
              <a:rPr spc="-10" dirty="0"/>
              <a:t> </a:t>
            </a:r>
            <a:r>
              <a:rPr spc="-15" dirty="0"/>
              <a:t>text-align:</a:t>
            </a:r>
            <a:r>
              <a:rPr spc="30" dirty="0"/>
              <a:t> </a:t>
            </a:r>
            <a:r>
              <a:rPr spc="-20" dirty="0"/>
              <a:t>center; </a:t>
            </a:r>
            <a:r>
              <a:rPr spc="-710" dirty="0"/>
              <a:t> </a:t>
            </a:r>
            <a:r>
              <a:rPr spc="-15" dirty="0"/>
              <a:t>text-align:</a:t>
            </a:r>
            <a:r>
              <a:rPr spc="30" dirty="0"/>
              <a:t> </a:t>
            </a:r>
            <a:r>
              <a:rPr spc="-10" dirty="0"/>
              <a:t>justify;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17320"/>
            <a:ext cx="8071484" cy="44430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675"/>
              </a:spcBef>
            </a:pP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text-indent</a:t>
            </a:r>
            <a:r>
              <a:rPr sz="2450" b="1" spc="3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3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definisce</a:t>
            </a:r>
            <a:r>
              <a:rPr sz="2450" spc="3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l'indentazione</a:t>
            </a:r>
            <a:r>
              <a:rPr sz="2450" spc="34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da</a:t>
            </a:r>
            <a:r>
              <a:rPr sz="2450" spc="3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sinistra</a:t>
            </a:r>
            <a:r>
              <a:rPr sz="2450" spc="3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verso</a:t>
            </a:r>
            <a:r>
              <a:rPr sz="2450" spc="33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destra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dell'elemento</a:t>
            </a:r>
            <a:r>
              <a:rPr sz="2450" spc="16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HTML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che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specifica.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 dirty="0">
              <a:latin typeface="Calibri"/>
              <a:cs typeface="Calibri"/>
            </a:endParaRPr>
          </a:p>
          <a:p>
            <a:pPr marL="12700" marR="5080" algn="just">
              <a:lnSpc>
                <a:spcPct val="81500"/>
              </a:lnSpc>
            </a:pPr>
            <a:r>
              <a:rPr sz="2450" b="1" spc="10" dirty="0">
                <a:solidFill>
                  <a:srgbClr val="FF0000"/>
                </a:solidFill>
                <a:latin typeface="Calibri"/>
                <a:cs typeface="Calibri"/>
              </a:rPr>
              <a:t>line-height</a:t>
            </a: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specifica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l’altezza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linea</a:t>
            </a:r>
            <a:r>
              <a:rPr sz="2450" spc="15" dirty="0">
                <a:latin typeface="Calibri"/>
                <a:cs typeface="Calibri"/>
              </a:rPr>
              <a:t> del  </a:t>
            </a:r>
            <a:r>
              <a:rPr sz="2450" spc="-10" dirty="0">
                <a:latin typeface="Calibri"/>
                <a:cs typeface="Calibri"/>
              </a:rPr>
              <a:t>testo,</a:t>
            </a:r>
            <a:r>
              <a:rPr sz="2450" spc="53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definendo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così </a:t>
            </a:r>
            <a:r>
              <a:rPr sz="2450" spc="15" dirty="0">
                <a:latin typeface="Calibri"/>
                <a:cs typeface="Calibri"/>
              </a:rPr>
              <a:t>implicitamente l’interlinea: </a:t>
            </a:r>
            <a:r>
              <a:rPr sz="2450" spc="5" dirty="0">
                <a:latin typeface="Calibri"/>
                <a:cs typeface="Calibri"/>
              </a:rPr>
              <a:t>la spaziatura </a:t>
            </a:r>
            <a:r>
              <a:rPr sz="2450" spc="-10" dirty="0">
                <a:latin typeface="Calibri"/>
                <a:cs typeface="Calibri"/>
              </a:rPr>
              <a:t>tra </a:t>
            </a:r>
            <a:r>
              <a:rPr sz="2450" spc="20" dirty="0">
                <a:latin typeface="Calibri"/>
                <a:cs typeface="Calibri"/>
              </a:rPr>
              <a:t>due linee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testo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successivo.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Calibri"/>
              <a:cs typeface="Calibri"/>
            </a:endParaRPr>
          </a:p>
          <a:p>
            <a:pPr marL="12700" marR="7620">
              <a:lnSpc>
                <a:spcPts val="2410"/>
              </a:lnSpc>
            </a:pP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text-transform</a:t>
            </a:r>
            <a:r>
              <a:rPr sz="2450" b="1" spc="2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30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agisce</a:t>
            </a:r>
            <a:r>
              <a:rPr sz="2450" spc="30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sulle</a:t>
            </a:r>
            <a:r>
              <a:rPr sz="2450" spc="30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lettere</a:t>
            </a:r>
            <a:r>
              <a:rPr sz="2450" spc="30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maiuscole</a:t>
            </a:r>
            <a:r>
              <a:rPr sz="2450" spc="30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e/o</a:t>
            </a:r>
            <a:r>
              <a:rPr sz="2450" spc="30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minuscole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-15" dirty="0">
                <a:latin typeface="Calibri"/>
                <a:cs typeface="Calibri"/>
              </a:rPr>
              <a:t>testo.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i="1" spc="5" dirty="0">
                <a:solidFill>
                  <a:srgbClr val="FF0000"/>
                </a:solidFill>
                <a:latin typeface="Calibri"/>
                <a:cs typeface="Calibri"/>
              </a:rPr>
              <a:t>Lowercase</a:t>
            </a:r>
            <a:r>
              <a:rPr sz="2450" i="1" spc="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trasforma</a:t>
            </a:r>
            <a:r>
              <a:rPr sz="2450" spc="1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minuscolo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tutte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le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lettere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-15" dirty="0">
                <a:latin typeface="Calibri"/>
                <a:cs typeface="Calibri"/>
              </a:rPr>
              <a:t>testo;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450" i="1" spc="10" dirty="0">
                <a:solidFill>
                  <a:srgbClr val="FF0000"/>
                </a:solidFill>
                <a:latin typeface="Calibri"/>
                <a:cs typeface="Calibri"/>
              </a:rPr>
              <a:t>Uppercase</a:t>
            </a:r>
            <a:r>
              <a:rPr sz="2450" i="1" spc="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trasforma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maiuscolo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tutte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lettere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-15" dirty="0">
                <a:latin typeface="Calibri"/>
                <a:cs typeface="Calibri"/>
              </a:rPr>
              <a:t>testo;</a:t>
            </a:r>
            <a:endParaRPr sz="2450" dirty="0">
              <a:latin typeface="Calibri"/>
              <a:cs typeface="Calibri"/>
            </a:endParaRPr>
          </a:p>
          <a:p>
            <a:pPr marL="12700" marR="7620">
              <a:lnSpc>
                <a:spcPts val="2380"/>
              </a:lnSpc>
              <a:spcBef>
                <a:spcPts val="625"/>
              </a:spcBef>
              <a:tabLst>
                <a:tab pos="1395730" algn="l"/>
                <a:tab pos="1630045" algn="l"/>
                <a:tab pos="3027045" algn="l"/>
                <a:tab pos="3797935" algn="l"/>
                <a:tab pos="4167504" algn="l"/>
                <a:tab pos="5163185" algn="l"/>
                <a:tab pos="5537200" algn="l"/>
                <a:tab pos="6010275" algn="l"/>
                <a:tab pos="6799580" algn="l"/>
              </a:tabLst>
            </a:pPr>
            <a:r>
              <a:rPr sz="2450" i="1" spc="2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450" i="1" spc="5" dirty="0">
                <a:solidFill>
                  <a:srgbClr val="FF0000"/>
                </a:solidFill>
                <a:latin typeface="Calibri"/>
                <a:cs typeface="Calibri"/>
              </a:rPr>
              <a:t>api</a:t>
            </a:r>
            <a:r>
              <a:rPr sz="2450" i="1" spc="-5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450" i="1" spc="4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50" i="1" spc="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450" i="1" spc="-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450" i="1" spc="15" dirty="0">
                <a:solidFill>
                  <a:srgbClr val="FF0000"/>
                </a:solidFill>
                <a:latin typeface="Calibri"/>
                <a:cs typeface="Calibri"/>
              </a:rPr>
              <a:t>ze</a:t>
            </a:r>
            <a:r>
              <a:rPr sz="2450" i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50" spc="10" dirty="0">
                <a:latin typeface="Calibri"/>
                <a:cs typeface="Calibri"/>
              </a:rPr>
              <a:t>-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5" dirty="0">
                <a:latin typeface="Calibri"/>
                <a:cs typeface="Calibri"/>
              </a:rPr>
              <a:t>t</a:t>
            </a:r>
            <a:r>
              <a:rPr sz="2450" spc="-40" dirty="0">
                <a:latin typeface="Calibri"/>
                <a:cs typeface="Calibri"/>
              </a:rPr>
              <a:t>r</a:t>
            </a:r>
            <a:r>
              <a:rPr sz="2450" spc="60" dirty="0">
                <a:latin typeface="Calibri"/>
                <a:cs typeface="Calibri"/>
              </a:rPr>
              <a:t>a</a:t>
            </a:r>
            <a:r>
              <a:rPr sz="2450" spc="-40" dirty="0">
                <a:latin typeface="Calibri"/>
                <a:cs typeface="Calibri"/>
              </a:rPr>
              <a:t>sf</a:t>
            </a:r>
            <a:r>
              <a:rPr sz="2450" spc="50" dirty="0">
                <a:latin typeface="Calibri"/>
                <a:cs typeface="Calibri"/>
              </a:rPr>
              <a:t>o</a:t>
            </a:r>
            <a:r>
              <a:rPr sz="2450" spc="-5" dirty="0">
                <a:latin typeface="Calibri"/>
                <a:cs typeface="Calibri"/>
              </a:rPr>
              <a:t>r</a:t>
            </a:r>
            <a:r>
              <a:rPr sz="2450" spc="20" dirty="0">
                <a:latin typeface="Calibri"/>
                <a:cs typeface="Calibri"/>
              </a:rPr>
              <a:t>ma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10" dirty="0">
                <a:latin typeface="Calibri"/>
                <a:cs typeface="Calibri"/>
              </a:rPr>
              <a:t>t</a:t>
            </a:r>
            <a:r>
              <a:rPr sz="2450" spc="50" dirty="0">
                <a:latin typeface="Calibri"/>
                <a:cs typeface="Calibri"/>
              </a:rPr>
              <a:t>u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-10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35" dirty="0">
                <a:latin typeface="Calibri"/>
                <a:cs typeface="Calibri"/>
              </a:rPr>
              <a:t>l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5" dirty="0">
                <a:latin typeface="Calibri"/>
                <a:cs typeface="Calibri"/>
              </a:rPr>
              <a:t>l</a:t>
            </a:r>
            <a:r>
              <a:rPr sz="2450" spc="50" dirty="0">
                <a:latin typeface="Calibri"/>
                <a:cs typeface="Calibri"/>
              </a:rPr>
              <a:t>e</a:t>
            </a:r>
            <a:r>
              <a:rPr sz="2450" spc="-40" dirty="0">
                <a:latin typeface="Calibri"/>
                <a:cs typeface="Calibri"/>
              </a:rPr>
              <a:t>t</a:t>
            </a:r>
            <a:r>
              <a:rPr sz="2450" spc="-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-3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0" dirty="0">
                <a:latin typeface="Calibri"/>
                <a:cs typeface="Calibri"/>
              </a:rPr>
              <a:t>d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0" dirty="0">
                <a:latin typeface="Calibri"/>
                <a:cs typeface="Calibri"/>
              </a:rPr>
              <a:t>u</a:t>
            </a:r>
            <a:r>
              <a:rPr sz="2450" spc="15" dirty="0">
                <a:latin typeface="Calibri"/>
                <a:cs typeface="Calibri"/>
              </a:rPr>
              <a:t>n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10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es</a:t>
            </a:r>
            <a:r>
              <a:rPr sz="2450" spc="-50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4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5" dirty="0">
                <a:latin typeface="Calibri"/>
                <a:cs typeface="Calibri"/>
              </a:rPr>
              <a:t>n</a:t>
            </a:r>
            <a:r>
              <a:rPr sz="2450" spc="50" dirty="0">
                <a:latin typeface="Calibri"/>
                <a:cs typeface="Calibri"/>
              </a:rPr>
              <a:t>d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5" dirty="0">
                <a:latin typeface="Calibri"/>
                <a:cs typeface="Calibri"/>
              </a:rPr>
              <a:t>n</a:t>
            </a:r>
            <a:r>
              <a:rPr sz="2450" spc="10" dirty="0">
                <a:latin typeface="Calibri"/>
                <a:cs typeface="Calibri"/>
              </a:rPr>
              <a:t>do  maiuscole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solo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iniziali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spc="10" dirty="0">
                <a:latin typeface="Calibri"/>
                <a:cs typeface="Calibri"/>
              </a:rPr>
              <a:t>minuscole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altre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lettere.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727" y="817956"/>
            <a:ext cx="2595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Font-family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51304"/>
            <a:ext cx="8076565" cy="44748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7620" algn="just">
              <a:lnSpc>
                <a:spcPct val="79900"/>
              </a:lnSpc>
              <a:spcBef>
                <a:spcPts val="745"/>
              </a:spcBef>
            </a:pP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spc="-25" dirty="0">
                <a:latin typeface="Calibri"/>
                <a:cs typeface="Calibri"/>
              </a:rPr>
              <a:t>font </a:t>
            </a:r>
            <a:r>
              <a:rPr sz="2700" spc="-15" dirty="0">
                <a:latin typeface="Calibri"/>
                <a:cs typeface="Calibri"/>
              </a:rPr>
              <a:t>installati </a:t>
            </a:r>
            <a:r>
              <a:rPr sz="2700" spc="-5" dirty="0">
                <a:latin typeface="Calibri"/>
                <a:cs typeface="Calibri"/>
              </a:rPr>
              <a:t>sui </a:t>
            </a:r>
            <a:r>
              <a:rPr sz="2700" spc="-10" dirty="0">
                <a:latin typeface="Calibri"/>
                <a:cs typeface="Calibri"/>
              </a:rPr>
              <a:t>PC </a:t>
            </a:r>
            <a:r>
              <a:rPr sz="2700" spc="-5" dirty="0">
                <a:latin typeface="Calibri"/>
                <a:cs typeface="Calibri"/>
              </a:rPr>
              <a:t>degli </a:t>
            </a:r>
            <a:r>
              <a:rPr sz="2700" spc="-15" dirty="0">
                <a:latin typeface="Calibri"/>
                <a:cs typeface="Calibri"/>
              </a:rPr>
              <a:t>utenti </a:t>
            </a:r>
            <a:r>
              <a:rPr sz="2700" spc="-10" dirty="0">
                <a:latin typeface="Calibri"/>
                <a:cs typeface="Calibri"/>
              </a:rPr>
              <a:t>non </a:t>
            </a:r>
            <a:r>
              <a:rPr sz="2700" spc="-5" dirty="0">
                <a:latin typeface="Calibri"/>
                <a:cs typeface="Calibri"/>
              </a:rPr>
              <a:t>sono </a:t>
            </a:r>
            <a:r>
              <a:rPr sz="2700" spc="5" dirty="0">
                <a:latin typeface="Calibri"/>
                <a:cs typeface="Calibri"/>
              </a:rPr>
              <a:t>gli </a:t>
            </a:r>
            <a:r>
              <a:rPr sz="2700" spc="-10" dirty="0">
                <a:latin typeface="Calibri"/>
                <a:cs typeface="Calibri"/>
              </a:rPr>
              <a:t>stessi </a:t>
            </a:r>
            <a:r>
              <a:rPr sz="2700" spc="-5" dirty="0">
                <a:latin typeface="Calibri"/>
                <a:cs typeface="Calibri"/>
              </a:rPr>
              <a:t>per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ognuno.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set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caratteri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disposizione</a:t>
            </a:r>
            <a:r>
              <a:rPr sz="2700" spc="-5" dirty="0">
                <a:latin typeface="Calibri"/>
                <a:cs typeface="Calibri"/>
              </a:rPr>
              <a:t> dipende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dal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sistema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operativo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(Windows,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Mac,</a:t>
            </a:r>
            <a:r>
              <a:rPr sz="2700" spc="-5" dirty="0">
                <a:latin typeface="Calibri"/>
                <a:cs typeface="Calibri"/>
              </a:rPr>
              <a:t> Unix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ecc),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eventuali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software </a:t>
            </a:r>
            <a:r>
              <a:rPr sz="2700" spc="-15" dirty="0">
                <a:latin typeface="Calibri"/>
                <a:cs typeface="Calibri"/>
              </a:rPr>
              <a:t>installati </a:t>
            </a:r>
            <a:r>
              <a:rPr sz="2700" spc="-5" dirty="0">
                <a:latin typeface="Calibri"/>
                <a:cs typeface="Calibri"/>
              </a:rPr>
              <a:t>(Office e </a:t>
            </a:r>
            <a:r>
              <a:rPr sz="2700" spc="-20" dirty="0">
                <a:latin typeface="Calibri"/>
                <a:cs typeface="Calibri"/>
              </a:rPr>
              <a:t>pacchetto </a:t>
            </a:r>
            <a:r>
              <a:rPr sz="2700" spc="-5" dirty="0">
                <a:latin typeface="Calibri"/>
                <a:cs typeface="Calibri"/>
              </a:rPr>
              <a:t>Adobe </a:t>
            </a:r>
            <a:r>
              <a:rPr sz="2700" dirty="0">
                <a:latin typeface="Calibri"/>
                <a:cs typeface="Calibri"/>
              </a:rPr>
              <a:t>su </a:t>
            </a:r>
            <a:r>
              <a:rPr sz="2700" spc="-20" dirty="0">
                <a:latin typeface="Calibri"/>
                <a:cs typeface="Calibri"/>
              </a:rPr>
              <a:t>tutti)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caratteri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installati</a:t>
            </a:r>
            <a:r>
              <a:rPr sz="2700" spc="1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manualmente.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 dirty="0">
              <a:latin typeface="Calibri"/>
              <a:cs typeface="Calibri"/>
            </a:endParaRPr>
          </a:p>
          <a:p>
            <a:pPr marL="12700" marR="5080" algn="just">
              <a:lnSpc>
                <a:spcPct val="80000"/>
              </a:lnSpc>
            </a:pPr>
            <a:r>
              <a:rPr sz="2700" spc="-10" dirty="0">
                <a:latin typeface="Calibri"/>
                <a:cs typeface="Calibri"/>
              </a:rPr>
              <a:t>Quando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bisogna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scegliere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carattere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per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pagina,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quindi,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bisogna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tener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conto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che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non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tutti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gli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utenti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avranno </a:t>
            </a:r>
            <a:r>
              <a:rPr sz="2700" spc="-20" dirty="0">
                <a:latin typeface="Calibri"/>
                <a:cs typeface="Calibri"/>
              </a:rPr>
              <a:t>installato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5" dirty="0">
                <a:latin typeface="Calibri"/>
                <a:cs typeface="Calibri"/>
              </a:rPr>
              <a:t>certo </a:t>
            </a:r>
            <a:r>
              <a:rPr sz="2700" spc="-35" dirty="0">
                <a:latin typeface="Calibri"/>
                <a:cs typeface="Calibri"/>
              </a:rPr>
              <a:t>font </a:t>
            </a:r>
            <a:r>
              <a:rPr sz="2700" spc="-5" dirty="0">
                <a:latin typeface="Calibri"/>
                <a:cs typeface="Calibri"/>
              </a:rPr>
              <a:t>sul </a:t>
            </a:r>
            <a:r>
              <a:rPr sz="2700" spc="-10" dirty="0">
                <a:latin typeface="Calibri"/>
                <a:cs typeface="Calibri"/>
              </a:rPr>
              <a:t>proprio </a:t>
            </a:r>
            <a:r>
              <a:rPr sz="2700" spc="-5" dirty="0">
                <a:latin typeface="Calibri"/>
                <a:cs typeface="Calibri"/>
              </a:rPr>
              <a:t>PC. </a:t>
            </a:r>
            <a:r>
              <a:rPr sz="2700" spc="15" dirty="0">
                <a:latin typeface="Calibri"/>
                <a:cs typeface="Calibri"/>
              </a:rPr>
              <a:t>La </a:t>
            </a:r>
            <a:r>
              <a:rPr sz="2700" spc="-5" dirty="0">
                <a:latin typeface="Calibri"/>
                <a:cs typeface="Calibri"/>
              </a:rPr>
              <a:t>prima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soluzione</a:t>
            </a:r>
            <a:r>
              <a:rPr sz="2700" spc="-5" dirty="0">
                <a:latin typeface="Calibri"/>
                <a:cs typeface="Calibri"/>
              </a:rPr>
              <a:t> 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questo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problema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consiste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nell’utilizzare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cosiddetti </a:t>
            </a:r>
            <a:r>
              <a:rPr sz="2700" spc="-25" dirty="0">
                <a:latin typeface="Calibri"/>
                <a:cs typeface="Calibri"/>
              </a:rPr>
              <a:t>caratteri </a:t>
            </a:r>
            <a:r>
              <a:rPr sz="2700" spc="-20" dirty="0">
                <a:latin typeface="Calibri"/>
                <a:cs typeface="Calibri"/>
              </a:rPr>
              <a:t>“web-safe” </a:t>
            </a:r>
            <a:r>
              <a:rPr sz="2700" spc="-25" dirty="0">
                <a:latin typeface="Calibri"/>
                <a:cs typeface="Calibri"/>
              </a:rPr>
              <a:t>(Verdana, </a:t>
            </a:r>
            <a:r>
              <a:rPr sz="2700" spc="-10" dirty="0">
                <a:latin typeface="Calibri"/>
                <a:cs typeface="Calibri"/>
              </a:rPr>
              <a:t>Georgia, </a:t>
            </a:r>
            <a:r>
              <a:rPr sz="2700" spc="-5" dirty="0">
                <a:latin typeface="Calibri"/>
                <a:cs typeface="Calibri"/>
              </a:rPr>
              <a:t>Times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New </a:t>
            </a:r>
            <a:r>
              <a:rPr sz="2700" spc="-20" dirty="0">
                <a:latin typeface="Calibri"/>
                <a:cs typeface="Calibri"/>
              </a:rPr>
              <a:t>Roman, </a:t>
            </a:r>
            <a:r>
              <a:rPr sz="2700" spc="-15" dirty="0">
                <a:latin typeface="Calibri"/>
                <a:cs typeface="Calibri"/>
              </a:rPr>
              <a:t>etc.), ovvero </a:t>
            </a:r>
            <a:r>
              <a:rPr sz="2700" spc="-5" dirty="0">
                <a:latin typeface="Calibri"/>
                <a:cs typeface="Calibri"/>
              </a:rPr>
              <a:t>un set di </a:t>
            </a:r>
            <a:r>
              <a:rPr sz="2700" spc="-25" dirty="0">
                <a:latin typeface="Calibri"/>
                <a:cs typeface="Calibri"/>
              </a:rPr>
              <a:t>caratteri </a:t>
            </a:r>
            <a:r>
              <a:rPr sz="2700" spc="-10" dirty="0">
                <a:latin typeface="Calibri"/>
                <a:cs typeface="Calibri"/>
              </a:rPr>
              <a:t>compatibili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tutti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sistemi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operativi.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00874"/>
            <a:ext cx="8078470" cy="474916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 algn="just">
              <a:lnSpc>
                <a:spcPct val="81700"/>
              </a:lnSpc>
              <a:spcBef>
                <a:spcPts val="670"/>
              </a:spcBef>
            </a:pPr>
            <a:r>
              <a:rPr sz="2450" dirty="0">
                <a:latin typeface="Calibri"/>
                <a:cs typeface="Calibri"/>
              </a:rPr>
              <a:t>Per</a:t>
            </a:r>
            <a:r>
              <a:rPr sz="2450" spc="5" dirty="0">
                <a:latin typeface="Calibri"/>
                <a:cs typeface="Calibri"/>
              </a:rPr>
              <a:t> garantire,</a:t>
            </a:r>
            <a:r>
              <a:rPr sz="2450" spc="10" dirty="0">
                <a:latin typeface="Calibri"/>
                <a:cs typeface="Calibri"/>
              </a:rPr>
              <a:t> invece,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alternative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valide</a:t>
            </a:r>
            <a:r>
              <a:rPr sz="2450" spc="15" dirty="0">
                <a:latin typeface="Calibri"/>
                <a:cs typeface="Calibri"/>
              </a:rPr>
              <a:t> 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tutti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10" dirty="0">
                <a:latin typeface="Calibri"/>
                <a:cs typeface="Calibri"/>
              </a:rPr>
              <a:t> sistemi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in </a:t>
            </a:r>
            <a:r>
              <a:rPr sz="2450" spc="10" dirty="0">
                <a:latin typeface="Calibri"/>
                <a:cs typeface="Calibri"/>
              </a:rPr>
              <a:t> maniera</a:t>
            </a:r>
            <a:r>
              <a:rPr sz="2450" spc="15" dirty="0">
                <a:latin typeface="Calibri"/>
                <a:cs typeface="Calibri"/>
              </a:rPr>
              <a:t> da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rendere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compatibile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la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pagina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qualunque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situazione,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è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consigliato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fare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uso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della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tecnica</a:t>
            </a:r>
            <a:r>
              <a:rPr sz="2450" spc="15" dirty="0">
                <a:latin typeface="Calibri"/>
                <a:cs typeface="Calibri"/>
              </a:rPr>
              <a:t> denominata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font-stack</a:t>
            </a:r>
            <a:r>
              <a:rPr sz="2450" spc="-5" dirty="0"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50" spc="15" dirty="0">
                <a:latin typeface="Calibri"/>
                <a:cs typeface="Calibri"/>
              </a:rPr>
              <a:t>body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</a:t>
            </a:r>
            <a:endParaRPr sz="2450" dirty="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75"/>
              </a:spcBef>
            </a:pPr>
            <a:r>
              <a:rPr sz="2450" dirty="0">
                <a:latin typeface="Calibri"/>
                <a:cs typeface="Calibri"/>
              </a:rPr>
              <a:t>font-family: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"Times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New </a:t>
            </a:r>
            <a:r>
              <a:rPr sz="2450" spc="10" dirty="0">
                <a:latin typeface="Calibri"/>
                <a:cs typeface="Calibri"/>
              </a:rPr>
              <a:t>Roman",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Georgia,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serif;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Calibri"/>
              <a:cs typeface="Calibri"/>
            </a:endParaRPr>
          </a:p>
          <a:p>
            <a:pPr marL="12700" marR="8890" algn="just">
              <a:lnSpc>
                <a:spcPct val="82100"/>
              </a:lnSpc>
            </a:pPr>
            <a:r>
              <a:rPr sz="2450" spc="10" dirty="0">
                <a:latin typeface="Calibri"/>
                <a:cs typeface="Calibri"/>
              </a:rPr>
              <a:t>Nel </a:t>
            </a:r>
            <a:r>
              <a:rPr sz="2450" spc="5" dirty="0">
                <a:latin typeface="Calibri"/>
                <a:cs typeface="Calibri"/>
              </a:rPr>
              <a:t>caso il </a:t>
            </a:r>
            <a:r>
              <a:rPr sz="2450" spc="15" dirty="0">
                <a:latin typeface="Calibri"/>
                <a:cs typeface="Calibri"/>
              </a:rPr>
              <a:t>primo </a:t>
            </a:r>
            <a:r>
              <a:rPr sz="2450" spc="-5" dirty="0">
                <a:latin typeface="Calibri"/>
                <a:cs typeface="Calibri"/>
              </a:rPr>
              <a:t>carattere </a:t>
            </a:r>
            <a:r>
              <a:rPr sz="2450" spc="15" dirty="0">
                <a:latin typeface="Calibri"/>
                <a:cs typeface="Calibri"/>
              </a:rPr>
              <a:t>non </a:t>
            </a:r>
            <a:r>
              <a:rPr sz="2450" spc="-5" dirty="0">
                <a:latin typeface="Calibri"/>
                <a:cs typeface="Calibri"/>
              </a:rPr>
              <a:t>fosse </a:t>
            </a:r>
            <a:r>
              <a:rPr sz="2450" dirty="0">
                <a:latin typeface="Calibri"/>
                <a:cs typeface="Calibri"/>
              </a:rPr>
              <a:t>installato </a:t>
            </a:r>
            <a:r>
              <a:rPr sz="2450" spc="15" dirty="0">
                <a:latin typeface="Calibri"/>
                <a:cs typeface="Calibri"/>
              </a:rPr>
              <a:t>(Times </a:t>
            </a:r>
            <a:r>
              <a:rPr sz="2450" spc="25" dirty="0">
                <a:latin typeface="Calibri"/>
                <a:cs typeface="Calibri"/>
              </a:rPr>
              <a:t>New 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Roman), </a:t>
            </a:r>
            <a:r>
              <a:rPr sz="2450" dirty="0">
                <a:latin typeface="Calibri"/>
                <a:cs typeface="Calibri"/>
              </a:rPr>
              <a:t>verrà </a:t>
            </a:r>
            <a:r>
              <a:rPr sz="2450" spc="5" dirty="0">
                <a:latin typeface="Calibri"/>
                <a:cs typeface="Calibri"/>
              </a:rPr>
              <a:t>utilizzato il </a:t>
            </a:r>
            <a:r>
              <a:rPr sz="2450" spc="15" dirty="0">
                <a:latin typeface="Calibri"/>
                <a:cs typeface="Calibri"/>
              </a:rPr>
              <a:t>secondo e </a:t>
            </a:r>
            <a:r>
              <a:rPr sz="2450" spc="10" dirty="0">
                <a:latin typeface="Calibri"/>
                <a:cs typeface="Calibri"/>
              </a:rPr>
              <a:t>così </a:t>
            </a:r>
            <a:r>
              <a:rPr sz="2450" spc="15" dirty="0">
                <a:latin typeface="Calibri"/>
                <a:cs typeface="Calibri"/>
              </a:rPr>
              <a:t>via </a:t>
            </a:r>
            <a:r>
              <a:rPr sz="2450" spc="20" dirty="0">
                <a:latin typeface="Calibri"/>
                <a:cs typeface="Calibri"/>
              </a:rPr>
              <a:t>creando </a:t>
            </a:r>
            <a:r>
              <a:rPr sz="2450" spc="15" dirty="0">
                <a:latin typeface="Calibri"/>
                <a:cs typeface="Calibri"/>
              </a:rPr>
              <a:t>quindi </a:t>
            </a:r>
            <a:r>
              <a:rPr sz="2450" spc="20" dirty="0">
                <a:latin typeface="Calibri"/>
                <a:cs typeface="Calibri"/>
              </a:rPr>
              <a:t> una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sorta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stack.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Calibri"/>
              <a:cs typeface="Calibri"/>
            </a:endParaRPr>
          </a:p>
          <a:p>
            <a:pPr marL="237490">
              <a:lnSpc>
                <a:spcPct val="100000"/>
              </a:lnSpc>
            </a:pPr>
            <a:r>
              <a:rPr sz="245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https://www.w3schools.com/cssref/css_websafe_fonts.asp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9589" y="889965"/>
            <a:ext cx="30022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Google</a:t>
            </a:r>
            <a:r>
              <a:rPr dirty="0"/>
              <a:t> </a:t>
            </a:r>
            <a:r>
              <a:rPr spc="-25" dirty="0"/>
              <a:t>Fonts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59419"/>
            <a:ext cx="8072120" cy="419163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715" algn="just">
              <a:lnSpc>
                <a:spcPct val="90100"/>
              </a:lnSpc>
              <a:spcBef>
                <a:spcPts val="415"/>
              </a:spcBef>
            </a:pP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molto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facile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oggi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imbattersi</a:t>
            </a:r>
            <a:r>
              <a:rPr sz="2700" spc="-15" dirty="0">
                <a:latin typeface="Calibri"/>
                <a:cs typeface="Calibri"/>
              </a:rPr>
              <a:t> in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siti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dalla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grafica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innovativa, </a:t>
            </a:r>
            <a:r>
              <a:rPr sz="2700" dirty="0">
                <a:latin typeface="Calibri"/>
                <a:cs typeface="Calibri"/>
              </a:rPr>
              <a:t>ricchi </a:t>
            </a:r>
            <a:r>
              <a:rPr sz="2700" spc="15" dirty="0">
                <a:latin typeface="Calibri"/>
                <a:cs typeface="Calibri"/>
              </a:rPr>
              <a:t>di </a:t>
            </a:r>
            <a:r>
              <a:rPr sz="2700" spc="-35" dirty="0">
                <a:latin typeface="Calibri"/>
                <a:cs typeface="Calibri"/>
              </a:rPr>
              <a:t>font </a:t>
            </a:r>
            <a:r>
              <a:rPr sz="2700" spc="-10" dirty="0">
                <a:latin typeface="Calibri"/>
                <a:cs typeface="Calibri"/>
              </a:rPr>
              <a:t>piacevoli </a:t>
            </a:r>
            <a:r>
              <a:rPr sz="2700" spc="-5" dirty="0">
                <a:latin typeface="Calibri"/>
                <a:cs typeface="Calibri"/>
              </a:rPr>
              <a:t>alla </a:t>
            </a:r>
            <a:r>
              <a:rPr sz="2700" spc="-20" dirty="0">
                <a:latin typeface="Calibri"/>
                <a:cs typeface="Calibri"/>
              </a:rPr>
              <a:t>vista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spc="-10" dirty="0">
                <a:latin typeface="Calibri"/>
                <a:cs typeface="Calibri"/>
              </a:rPr>
              <a:t>comodi alla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lettura. </a:t>
            </a:r>
            <a:r>
              <a:rPr sz="2700" spc="-5" dirty="0">
                <a:latin typeface="Calibri"/>
                <a:cs typeface="Calibri"/>
              </a:rPr>
              <a:t>Così </a:t>
            </a:r>
            <a:r>
              <a:rPr sz="2700" spc="-10" dirty="0">
                <a:latin typeface="Calibri"/>
                <a:cs typeface="Calibri"/>
              </a:rPr>
              <a:t>non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30" dirty="0">
                <a:latin typeface="Calibri"/>
                <a:cs typeface="Calibri"/>
              </a:rPr>
              <a:t>stato, </a:t>
            </a:r>
            <a:r>
              <a:rPr sz="2700" spc="-15" dirty="0">
                <a:latin typeface="Calibri"/>
                <a:cs typeface="Calibri"/>
              </a:rPr>
              <a:t>però, fino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spc="-10" dirty="0">
                <a:latin typeface="Calibri"/>
                <a:cs typeface="Calibri"/>
              </a:rPr>
              <a:t>qualche anno fa: </a:t>
            </a:r>
            <a:r>
              <a:rPr sz="2700" spc="-25" dirty="0">
                <a:latin typeface="Calibri"/>
                <a:cs typeface="Calibri"/>
              </a:rPr>
              <a:t>la </a:t>
            </a:r>
            <a:r>
              <a:rPr sz="2700" spc="-20" dirty="0">
                <a:latin typeface="Calibri"/>
                <a:cs typeface="Calibri"/>
              </a:rPr>
              <a:t> carenza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20" dirty="0">
                <a:latin typeface="Calibri"/>
                <a:cs typeface="Calibri"/>
              </a:rPr>
              <a:t>standardizzazione </a:t>
            </a:r>
            <a:r>
              <a:rPr sz="2700" spc="-15" dirty="0">
                <a:latin typeface="Calibri"/>
                <a:cs typeface="Calibri"/>
              </a:rPr>
              <a:t>tipografica, </a:t>
            </a:r>
            <a:r>
              <a:rPr sz="2700" spc="-25" dirty="0">
                <a:latin typeface="Calibri"/>
                <a:cs typeface="Calibri"/>
              </a:rPr>
              <a:t>infatti, </a:t>
            </a:r>
            <a:r>
              <a:rPr sz="2700" spc="-5" dirty="0">
                <a:latin typeface="Calibri"/>
                <a:cs typeface="Calibri"/>
              </a:rPr>
              <a:t>ha reso </a:t>
            </a:r>
            <a:r>
              <a:rPr sz="2700" spc="-25" dirty="0">
                <a:latin typeface="Calibri"/>
                <a:cs typeface="Calibri"/>
              </a:rPr>
              <a:t>le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opzioni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scelta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dei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caratteri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davvero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limitate.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650" dirty="0">
              <a:latin typeface="Calibri"/>
              <a:cs typeface="Calibri"/>
            </a:endParaRPr>
          </a:p>
          <a:p>
            <a:pPr marL="12700" marR="5080" algn="just">
              <a:lnSpc>
                <a:spcPct val="90100"/>
              </a:lnSpc>
            </a:pPr>
            <a:r>
              <a:rPr sz="2700" spc="-30" dirty="0">
                <a:latin typeface="Calibri"/>
                <a:cs typeface="Calibri"/>
              </a:rPr>
              <a:t>Per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questo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motivo,</a:t>
            </a:r>
            <a:r>
              <a:rPr sz="2700" spc="-5" dirty="0">
                <a:latin typeface="Calibri"/>
                <a:cs typeface="Calibri"/>
              </a:rPr>
              <a:t> nel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tempo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sono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sviluppati</a:t>
            </a:r>
            <a:r>
              <a:rPr sz="2700" spc="59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vari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servizi di </a:t>
            </a:r>
            <a:r>
              <a:rPr sz="2700" spc="-35" dirty="0">
                <a:latin typeface="Calibri"/>
                <a:cs typeface="Calibri"/>
              </a:rPr>
              <a:t>Web</a:t>
            </a:r>
            <a:r>
              <a:rPr sz="2700" spc="5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Fonts, ovvero delle famiglie tipografiche </a:t>
            </a:r>
            <a:r>
              <a:rPr sz="2700" spc="-5" dirty="0">
                <a:latin typeface="Calibri"/>
                <a:cs typeface="Calibri"/>
              </a:rPr>
              <a:t> che </a:t>
            </a:r>
            <a:r>
              <a:rPr sz="2700" spc="-20" dirty="0">
                <a:latin typeface="Calibri"/>
                <a:cs typeface="Calibri"/>
              </a:rPr>
              <a:t>fossero </a:t>
            </a:r>
            <a:r>
              <a:rPr sz="2700" spc="-25" dirty="0">
                <a:latin typeface="Calibri"/>
                <a:cs typeface="Calibri"/>
              </a:rPr>
              <a:t>trasversali </a:t>
            </a:r>
            <a:r>
              <a:rPr sz="2700" spc="-10" dirty="0">
                <a:latin typeface="Calibri"/>
                <a:cs typeface="Calibri"/>
              </a:rPr>
              <a:t>alle </a:t>
            </a:r>
            <a:r>
              <a:rPr sz="2700" spc="-5" dirty="0">
                <a:latin typeface="Calibri"/>
                <a:cs typeface="Calibri"/>
              </a:rPr>
              <a:t>macchine e </a:t>
            </a:r>
            <a:r>
              <a:rPr sz="2700" spc="-10" dirty="0">
                <a:latin typeface="Calibri"/>
                <a:cs typeface="Calibri"/>
              </a:rPr>
              <a:t>ai </a:t>
            </a:r>
            <a:r>
              <a:rPr sz="2700" spc="-15" dirty="0">
                <a:latin typeface="Calibri"/>
                <a:cs typeface="Calibri"/>
              </a:rPr>
              <a:t>sistemi operativi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 </a:t>
            </a:r>
            <a:r>
              <a:rPr sz="2700" dirty="0">
                <a:latin typeface="Calibri"/>
                <a:cs typeface="Calibri"/>
              </a:rPr>
              <a:t>uso </a:t>
            </a:r>
            <a:r>
              <a:rPr sz="2700" spc="-5" dirty="0">
                <a:latin typeface="Calibri"/>
                <a:cs typeface="Calibri"/>
              </a:rPr>
              <a:t>per </a:t>
            </a:r>
            <a:r>
              <a:rPr sz="2700" spc="-15" dirty="0">
                <a:latin typeface="Calibri"/>
                <a:cs typeface="Calibri"/>
              </a:rPr>
              <a:t>unificare </a:t>
            </a:r>
            <a:r>
              <a:rPr sz="2700" spc="-20" dirty="0">
                <a:latin typeface="Calibri"/>
                <a:cs typeface="Calibri"/>
              </a:rPr>
              <a:t>l’esperienza </a:t>
            </a:r>
            <a:r>
              <a:rPr sz="2700" spc="-5" dirty="0">
                <a:latin typeface="Calibri"/>
                <a:cs typeface="Calibri"/>
              </a:rPr>
              <a:t>a video </a:t>
            </a:r>
            <a:r>
              <a:rPr sz="2700" spc="-20" dirty="0">
                <a:latin typeface="Calibri"/>
                <a:cs typeface="Calibri"/>
              </a:rPr>
              <a:t>dell’utente. </a:t>
            </a:r>
            <a:r>
              <a:rPr sz="2700" spc="-25" dirty="0">
                <a:latin typeface="Calibri"/>
                <a:cs typeface="Calibri"/>
              </a:rPr>
              <a:t>Fra </a:t>
            </a: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tanti,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punto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riferimento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15" dirty="0">
                <a:latin typeface="Calibri"/>
                <a:cs typeface="Calibri"/>
              </a:rPr>
              <a:t>certamente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Google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Fonts.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03515"/>
            <a:ext cx="8074025" cy="43211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6985" algn="just">
              <a:lnSpc>
                <a:spcPct val="100699"/>
              </a:lnSpc>
              <a:spcBef>
                <a:spcPts val="65"/>
              </a:spcBef>
            </a:pPr>
            <a:r>
              <a:rPr sz="3200" spc="-25" dirty="0">
                <a:latin typeface="Calibri"/>
                <a:cs typeface="Calibri"/>
              </a:rPr>
              <a:t>Per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accedere</a:t>
            </a:r>
            <a:r>
              <a:rPr sz="3200" spc="-5" dirty="0">
                <a:latin typeface="Calibri"/>
                <a:cs typeface="Calibri"/>
              </a:rPr>
              <a:t> ai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Google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Fonts,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sufficiente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collegarsi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all’indirizzo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Web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ufficiale: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400" dirty="0">
              <a:latin typeface="Calibri"/>
              <a:cs typeface="Calibri"/>
            </a:endParaRPr>
          </a:p>
          <a:p>
            <a:pPr marR="635" algn="ctr">
              <a:lnSpc>
                <a:spcPct val="100000"/>
              </a:lnSpc>
            </a:pPr>
            <a:r>
              <a:rPr sz="32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https://fonts.google.com/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350" dirty="0">
              <a:latin typeface="Calibri"/>
              <a:cs typeface="Calibri"/>
            </a:endParaRPr>
          </a:p>
          <a:p>
            <a:pPr marL="12700" marR="5080" algn="just">
              <a:lnSpc>
                <a:spcPct val="100299"/>
              </a:lnSpc>
              <a:spcBef>
                <a:spcPts val="5"/>
              </a:spcBef>
            </a:pPr>
            <a:r>
              <a:rPr sz="3200" spc="-10" dirty="0">
                <a:latin typeface="Calibri"/>
                <a:cs typeface="Calibri"/>
              </a:rPr>
              <a:t>Si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aprirà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immediatamente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l’interfaccia,</a:t>
            </a:r>
            <a:r>
              <a:rPr sz="3200" spc="-10" dirty="0">
                <a:latin typeface="Calibri"/>
                <a:cs typeface="Calibri"/>
              </a:rPr>
              <a:t> senza </a:t>
            </a:r>
            <a:r>
              <a:rPr sz="3200" spc="-5" dirty="0">
                <a:latin typeface="Calibri"/>
                <a:cs typeface="Calibri"/>
              </a:rPr>
              <a:t> nemmeno</a:t>
            </a:r>
            <a:r>
              <a:rPr sz="3200" dirty="0">
                <a:latin typeface="Calibri"/>
                <a:cs typeface="Calibri"/>
              </a:rPr>
              <a:t> la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necessità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inserire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proprie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credenziali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Google.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5109"/>
            <a:ext cx="9143999" cy="514185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15338"/>
            <a:ext cx="9143999" cy="422516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0658" y="817956"/>
            <a:ext cx="2664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font-weight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90636"/>
            <a:ext cx="23190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9620" algn="l"/>
              </a:tabLst>
            </a:pPr>
            <a:r>
              <a:rPr sz="3200" spc="-5" dirty="0">
                <a:latin typeface="Calibri"/>
                <a:cs typeface="Calibri"/>
              </a:rPr>
              <a:t>La	</a:t>
            </a:r>
            <a:r>
              <a:rPr sz="3200" spc="-20" dirty="0">
                <a:latin typeface="Calibri"/>
                <a:cs typeface="Calibri"/>
              </a:rPr>
              <a:t>proprietà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2117" y="1790636"/>
            <a:ext cx="538353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8075" algn="l"/>
                <a:tab pos="3072130" algn="l"/>
                <a:tab pos="4068445" algn="l"/>
              </a:tabLst>
            </a:pPr>
            <a:r>
              <a:rPr sz="3200" b="1" spc="-60" dirty="0">
                <a:latin typeface="Calibri"/>
                <a:cs typeface="Calibri"/>
              </a:rPr>
              <a:t>f</a:t>
            </a:r>
            <a:r>
              <a:rPr sz="3200" b="1" spc="10" dirty="0">
                <a:latin typeface="Calibri"/>
                <a:cs typeface="Calibri"/>
              </a:rPr>
              <a:t>o</a:t>
            </a:r>
            <a:r>
              <a:rPr sz="3200" b="1" spc="-55" dirty="0">
                <a:latin typeface="Calibri"/>
                <a:cs typeface="Calibri"/>
              </a:rPr>
              <a:t>n</a:t>
            </a:r>
            <a:r>
              <a:rPr sz="3200" b="1" spc="-10" dirty="0">
                <a:latin typeface="Calibri"/>
                <a:cs typeface="Calibri"/>
              </a:rPr>
              <a:t>t</a:t>
            </a:r>
            <a:r>
              <a:rPr sz="3200" b="1" spc="10" dirty="0">
                <a:latin typeface="Calibri"/>
                <a:cs typeface="Calibri"/>
              </a:rPr>
              <a:t>-</a:t>
            </a:r>
            <a:r>
              <a:rPr sz="3200" b="1" spc="-10" dirty="0">
                <a:latin typeface="Calibri"/>
                <a:cs typeface="Calibri"/>
              </a:rPr>
              <a:t>we</a:t>
            </a:r>
            <a:r>
              <a:rPr sz="3200" b="1" spc="-20" dirty="0">
                <a:latin typeface="Calibri"/>
                <a:cs typeface="Calibri"/>
              </a:rPr>
              <a:t>i</a:t>
            </a:r>
            <a:r>
              <a:rPr sz="3200" b="1" dirty="0">
                <a:latin typeface="Calibri"/>
                <a:cs typeface="Calibri"/>
              </a:rPr>
              <a:t>g</a:t>
            </a:r>
            <a:r>
              <a:rPr sz="3200" b="1" spc="-15" dirty="0">
                <a:latin typeface="Calibri"/>
                <a:cs typeface="Calibri"/>
              </a:rPr>
              <a:t>h</a:t>
            </a:r>
            <a:r>
              <a:rPr sz="3200" b="1" spc="-5" dirty="0">
                <a:latin typeface="Calibri"/>
                <a:cs typeface="Calibri"/>
              </a:rPr>
              <a:t>t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d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b="1" dirty="0">
                <a:latin typeface="Calibri"/>
                <a:cs typeface="Calibri"/>
              </a:rPr>
              <a:t>C</a:t>
            </a:r>
            <a:r>
              <a:rPr sz="3200" b="1" spc="5" dirty="0">
                <a:latin typeface="Calibri"/>
                <a:cs typeface="Calibri"/>
              </a:rPr>
              <a:t>S</a:t>
            </a:r>
            <a:r>
              <a:rPr sz="3200" b="1" spc="-5" dirty="0">
                <a:latin typeface="Calibri"/>
                <a:cs typeface="Calibri"/>
              </a:rPr>
              <a:t>S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60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spc="-45" dirty="0">
                <a:latin typeface="Calibri"/>
                <a:cs typeface="Calibri"/>
              </a:rPr>
              <a:t>s</a:t>
            </a:r>
            <a:r>
              <a:rPr sz="3200" spc="-5" dirty="0">
                <a:latin typeface="Calibri"/>
                <a:cs typeface="Calibri"/>
              </a:rPr>
              <a:t>tisce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244" y="2281872"/>
            <a:ext cx="8072120" cy="3415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3200" spc="-15" dirty="0">
                <a:latin typeface="Calibri"/>
                <a:cs typeface="Calibri"/>
              </a:rPr>
              <a:t>l'aspetto</a:t>
            </a:r>
            <a:r>
              <a:rPr sz="3200" spc="-10" dirty="0">
                <a:latin typeface="Calibri"/>
                <a:cs typeface="Calibri"/>
              </a:rPr>
              <a:t> 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testo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aumentandone</a:t>
            </a:r>
            <a:r>
              <a:rPr sz="3200" spc="-5" dirty="0">
                <a:latin typeface="Calibri"/>
                <a:cs typeface="Calibri"/>
              </a:rPr>
              <a:t> 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riducendone </a:t>
            </a:r>
            <a:r>
              <a:rPr sz="3200" dirty="0">
                <a:latin typeface="Calibri"/>
                <a:cs typeface="Calibri"/>
              </a:rPr>
              <a:t>lo </a:t>
            </a:r>
            <a:r>
              <a:rPr sz="3200" spc="-10" dirty="0">
                <a:latin typeface="Calibri"/>
                <a:cs typeface="Calibri"/>
              </a:rPr>
              <a:t>spessore. Ad esempio, grazie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questa </a:t>
            </a:r>
            <a:r>
              <a:rPr sz="3200" spc="-10" dirty="0">
                <a:latin typeface="Calibri"/>
                <a:cs typeface="Calibri"/>
              </a:rPr>
              <a:t>proprietà, </a:t>
            </a:r>
            <a:r>
              <a:rPr sz="3200" dirty="0">
                <a:latin typeface="Calibri"/>
                <a:cs typeface="Calibri"/>
              </a:rPr>
              <a:t>possiamo </a:t>
            </a:r>
            <a:r>
              <a:rPr sz="3200" b="1" spc="-15" dirty="0">
                <a:latin typeface="Calibri"/>
                <a:cs typeface="Calibri"/>
              </a:rPr>
              <a:t>gestire </a:t>
            </a:r>
            <a:r>
              <a:rPr sz="3200" b="1" spc="-5" dirty="0">
                <a:latin typeface="Calibri"/>
                <a:cs typeface="Calibri"/>
              </a:rPr>
              <a:t>il bold </a:t>
            </a:r>
            <a:r>
              <a:rPr sz="3200" b="1" spc="-10" dirty="0">
                <a:latin typeface="Calibri"/>
                <a:cs typeface="Calibri"/>
              </a:rPr>
              <a:t>con 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CSS  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ottenendo</a:t>
            </a:r>
            <a:r>
              <a:rPr sz="3200" spc="69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il    medesimo    </a:t>
            </a:r>
            <a:r>
              <a:rPr sz="3200" spc="-35" dirty="0">
                <a:latin typeface="Calibri"/>
                <a:cs typeface="Calibri"/>
              </a:rPr>
              <a:t>effetto</a:t>
            </a:r>
            <a:r>
              <a:rPr sz="3200" spc="650" dirty="0">
                <a:latin typeface="Calibri"/>
                <a:cs typeface="Calibri"/>
              </a:rPr>
              <a:t> </a:t>
            </a:r>
            <a:r>
              <a:rPr sz="3200" spc="6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dei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tag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&lt;b&gt;</a:t>
            </a:r>
            <a:r>
              <a:rPr sz="3200" spc="20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3200" spc="-15" dirty="0">
                <a:latin typeface="Calibri"/>
                <a:cs typeface="Calibri"/>
              </a:rPr>
              <a:t>(bold)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&lt;strong&gt;</a:t>
            </a:r>
            <a:r>
              <a:rPr sz="3200" spc="105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HTML.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3200" spc="-5" dirty="0">
                <a:latin typeface="Calibri"/>
                <a:cs typeface="Calibri"/>
              </a:rPr>
              <a:t>p { </a:t>
            </a:r>
            <a:r>
              <a:rPr sz="3200" spc="-25" dirty="0">
                <a:latin typeface="Calibri"/>
                <a:cs typeface="Calibri"/>
              </a:rPr>
              <a:t>font-weight: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bold;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}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991882"/>
            <a:ext cx="8075930" cy="51111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10795" algn="just">
              <a:lnSpc>
                <a:spcPct val="80000"/>
              </a:lnSpc>
              <a:spcBef>
                <a:spcPts val="745"/>
              </a:spcBef>
            </a:pP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spc="-10" dirty="0">
                <a:latin typeface="Calibri"/>
                <a:cs typeface="Calibri"/>
              </a:rPr>
              <a:t>possibili valori </a:t>
            </a:r>
            <a:r>
              <a:rPr sz="2700" spc="-5" dirty="0">
                <a:latin typeface="Calibri"/>
                <a:cs typeface="Calibri"/>
              </a:rPr>
              <a:t>che può </a:t>
            </a:r>
            <a:r>
              <a:rPr sz="2700" spc="-15" dirty="0">
                <a:latin typeface="Calibri"/>
                <a:cs typeface="Calibri"/>
              </a:rPr>
              <a:t>assumere (oltre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i="1" spc="-5" dirty="0">
                <a:latin typeface="Calibri"/>
                <a:cs typeface="Calibri"/>
              </a:rPr>
              <a:t>initial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i="1" spc="-10" dirty="0">
                <a:latin typeface="Calibri"/>
                <a:cs typeface="Calibri"/>
              </a:rPr>
              <a:t>inherit</a:t>
            </a:r>
            <a:r>
              <a:rPr sz="2700" spc="-10" dirty="0">
                <a:latin typeface="Calibri"/>
                <a:cs typeface="Calibri"/>
              </a:rPr>
              <a:t>)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sono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seguenti: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 dirty="0">
              <a:latin typeface="Calibri"/>
              <a:cs typeface="Calibri"/>
            </a:endParaRPr>
          </a:p>
          <a:p>
            <a:pPr marL="12700" marR="10795">
              <a:lnSpc>
                <a:spcPts val="2590"/>
              </a:lnSpc>
              <a:spcBef>
                <a:spcPts val="5"/>
              </a:spcBef>
              <a:tabLst>
                <a:tab pos="1193165" algn="l"/>
                <a:tab pos="1449705" algn="l"/>
                <a:tab pos="2716530" algn="l"/>
                <a:tab pos="3409950" algn="l"/>
                <a:tab pos="4780280" algn="l"/>
                <a:tab pos="6370955" algn="l"/>
                <a:tab pos="7578725" algn="l"/>
                <a:tab pos="7903209" algn="l"/>
              </a:tabLst>
            </a:pPr>
            <a:r>
              <a:rPr sz="2700" b="1" spc="-5" dirty="0">
                <a:latin typeface="Calibri"/>
                <a:cs typeface="Calibri"/>
              </a:rPr>
              <a:t>n</a:t>
            </a:r>
            <a:r>
              <a:rPr sz="2700" b="1" dirty="0">
                <a:latin typeface="Calibri"/>
                <a:cs typeface="Calibri"/>
              </a:rPr>
              <a:t>o</a:t>
            </a:r>
            <a:r>
              <a:rPr sz="2700" b="1" spc="-10" dirty="0">
                <a:latin typeface="Calibri"/>
                <a:cs typeface="Calibri"/>
              </a:rPr>
              <a:t>rm</a:t>
            </a:r>
            <a:r>
              <a:rPr sz="2700" b="1" spc="10" dirty="0">
                <a:latin typeface="Calibri"/>
                <a:cs typeface="Calibri"/>
              </a:rPr>
              <a:t>a</a:t>
            </a:r>
            <a:r>
              <a:rPr sz="2700" b="1" spc="-5" dirty="0">
                <a:latin typeface="Calibri"/>
                <a:cs typeface="Calibri"/>
              </a:rPr>
              <a:t>l</a:t>
            </a:r>
            <a:r>
              <a:rPr sz="2700" b="1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-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m</a:t>
            </a:r>
            <a:r>
              <a:rPr sz="2700" spc="-10" dirty="0">
                <a:latin typeface="Calibri"/>
                <a:cs typeface="Calibri"/>
              </a:rPr>
              <a:t>po</a:t>
            </a:r>
            <a:r>
              <a:rPr sz="2700" spc="-35" dirty="0">
                <a:latin typeface="Calibri"/>
                <a:cs typeface="Calibri"/>
              </a:rPr>
              <a:t>s</a:t>
            </a:r>
            <a:r>
              <a:rPr sz="2700" spc="-6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uno</a:t>
            </a:r>
            <a:r>
              <a:rPr sz="2700" dirty="0">
                <a:latin typeface="Calibri"/>
                <a:cs typeface="Calibri"/>
              </a:rPr>
              <a:t>	s</a:t>
            </a:r>
            <a:r>
              <a:rPr sz="2700" spc="-10" dirty="0">
                <a:latin typeface="Calibri"/>
                <a:cs typeface="Calibri"/>
              </a:rPr>
              <a:t>pe</a:t>
            </a:r>
            <a:r>
              <a:rPr sz="2700" spc="-25" dirty="0">
                <a:latin typeface="Calibri"/>
                <a:cs typeface="Calibri"/>
              </a:rPr>
              <a:t>s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sz="2700" spc="-10" dirty="0">
                <a:latin typeface="Calibri"/>
                <a:cs typeface="Calibri"/>
              </a:rPr>
              <a:t>o</a:t>
            </a:r>
            <a:r>
              <a:rPr sz="2700" spc="-6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"</a:t>
            </a:r>
            <a:r>
              <a:rPr sz="2700" spc="-10" dirty="0">
                <a:latin typeface="Calibri"/>
                <a:cs typeface="Calibri"/>
              </a:rPr>
              <a:t>no</a:t>
            </a:r>
            <a:r>
              <a:rPr sz="2700" spc="10" dirty="0">
                <a:latin typeface="Calibri"/>
                <a:cs typeface="Calibri"/>
              </a:rPr>
              <a:t>r</a:t>
            </a:r>
            <a:r>
              <a:rPr sz="2700" dirty="0">
                <a:latin typeface="Calibri"/>
                <a:cs typeface="Calibri"/>
              </a:rPr>
              <a:t>m</a:t>
            </a:r>
            <a:r>
              <a:rPr sz="2700" spc="-20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l</a:t>
            </a:r>
            <a:r>
              <a:rPr sz="2700" spc="-5" dirty="0">
                <a:latin typeface="Calibri"/>
                <a:cs typeface="Calibri"/>
              </a:rPr>
              <a:t>e"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(que</a:t>
            </a:r>
            <a:r>
              <a:rPr sz="2700" spc="-25" dirty="0">
                <a:latin typeface="Calibri"/>
                <a:cs typeface="Calibri"/>
              </a:rPr>
              <a:t>s</a:t>
            </a:r>
            <a:r>
              <a:rPr sz="2700" spc="-6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il  valore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default);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  <a:spcBef>
                <a:spcPts val="10"/>
              </a:spcBef>
            </a:pPr>
            <a:r>
              <a:rPr sz="2700" b="1" dirty="0">
                <a:latin typeface="Calibri"/>
                <a:cs typeface="Calibri"/>
              </a:rPr>
              <a:t>bold </a:t>
            </a:r>
            <a:r>
              <a:rPr sz="2700" spc="-5" dirty="0">
                <a:latin typeface="Calibri"/>
                <a:cs typeface="Calibri"/>
              </a:rPr>
              <a:t>-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imposta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grassetto;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b="1" dirty="0">
                <a:latin typeface="Calibri"/>
                <a:cs typeface="Calibri"/>
              </a:rPr>
              <a:t>bolder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-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imposta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grassetto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più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accentuato;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700" b="1" spc="-15" dirty="0">
                <a:latin typeface="Calibri"/>
                <a:cs typeface="Calibri"/>
              </a:rPr>
              <a:t>lighter</a:t>
            </a:r>
            <a:r>
              <a:rPr sz="2700" b="1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-</a:t>
            </a:r>
            <a:r>
              <a:rPr sz="2700" spc="-20" dirty="0">
                <a:latin typeface="Calibri"/>
                <a:cs typeface="Calibri"/>
              </a:rPr>
              <a:t> imposta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spessore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"leggero";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00" dirty="0">
              <a:latin typeface="Calibri"/>
              <a:cs typeface="Calibri"/>
            </a:endParaRPr>
          </a:p>
          <a:p>
            <a:pPr marL="12700" marR="5080" algn="just">
              <a:lnSpc>
                <a:spcPct val="80000"/>
              </a:lnSpc>
            </a:pPr>
            <a:r>
              <a:rPr sz="2700" spc="-5" dirty="0">
                <a:latin typeface="Calibri"/>
                <a:cs typeface="Calibri"/>
              </a:rPr>
              <a:t>E' </a:t>
            </a:r>
            <a:r>
              <a:rPr sz="2700" spc="-10" dirty="0">
                <a:latin typeface="Calibri"/>
                <a:cs typeface="Calibri"/>
              </a:rPr>
              <a:t>possibile anche </a:t>
            </a:r>
            <a:r>
              <a:rPr sz="2700" spc="-25" dirty="0">
                <a:latin typeface="Calibri"/>
                <a:cs typeface="Calibri"/>
              </a:rPr>
              <a:t>settare </a:t>
            </a:r>
            <a:r>
              <a:rPr sz="2700" i="1" spc="-15" dirty="0">
                <a:latin typeface="Calibri"/>
                <a:cs typeface="Calibri"/>
              </a:rPr>
              <a:t>font-weight </a:t>
            </a:r>
            <a:r>
              <a:rPr sz="2700" spc="-20" dirty="0">
                <a:latin typeface="Calibri"/>
                <a:cs typeface="Calibri"/>
              </a:rPr>
              <a:t>con </a:t>
            </a:r>
            <a:r>
              <a:rPr sz="2700" spc="-10" dirty="0">
                <a:latin typeface="Calibri"/>
                <a:cs typeface="Calibri"/>
              </a:rPr>
              <a:t>valori </a:t>
            </a:r>
            <a:r>
              <a:rPr sz="2700" spc="-5" dirty="0">
                <a:latin typeface="Calibri"/>
                <a:cs typeface="Calibri"/>
              </a:rPr>
              <a:t>numerici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(in </a:t>
            </a:r>
            <a:r>
              <a:rPr sz="2700" spc="-15" dirty="0">
                <a:latin typeface="Calibri"/>
                <a:cs typeface="Calibri"/>
              </a:rPr>
              <a:t>centinaia </a:t>
            </a:r>
            <a:r>
              <a:rPr sz="2700" spc="-5" dirty="0">
                <a:latin typeface="Calibri"/>
                <a:cs typeface="Calibri"/>
              </a:rPr>
              <a:t>da </a:t>
            </a:r>
            <a:r>
              <a:rPr sz="2700" spc="5" dirty="0">
                <a:latin typeface="Calibri"/>
                <a:cs typeface="Calibri"/>
              </a:rPr>
              <a:t>100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900) </a:t>
            </a:r>
            <a:r>
              <a:rPr sz="2700" spc="-15" dirty="0">
                <a:latin typeface="Calibri"/>
                <a:cs typeface="Calibri"/>
              </a:rPr>
              <a:t>per </a:t>
            </a:r>
            <a:r>
              <a:rPr sz="2700" spc="-20" dirty="0">
                <a:latin typeface="Calibri"/>
                <a:cs typeface="Calibri"/>
              </a:rPr>
              <a:t>ottenere </a:t>
            </a:r>
            <a:r>
              <a:rPr sz="2700" spc="-15" dirty="0">
                <a:latin typeface="Calibri"/>
                <a:cs typeface="Calibri"/>
              </a:rPr>
              <a:t>diversi </a:t>
            </a:r>
            <a:r>
              <a:rPr sz="2700" spc="-10" dirty="0">
                <a:latin typeface="Calibri"/>
                <a:cs typeface="Calibri"/>
              </a:rPr>
              <a:t>spessori,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dove </a:t>
            </a:r>
            <a:r>
              <a:rPr sz="2700" spc="5" dirty="0">
                <a:latin typeface="Calibri"/>
                <a:cs typeface="Calibri"/>
              </a:rPr>
              <a:t>100 </a:t>
            </a:r>
            <a:r>
              <a:rPr sz="2700" spc="-10" dirty="0">
                <a:latin typeface="Calibri"/>
                <a:cs typeface="Calibri"/>
              </a:rPr>
              <a:t>corrisponde al più sottile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spc="5" dirty="0">
                <a:latin typeface="Calibri"/>
                <a:cs typeface="Calibri"/>
              </a:rPr>
              <a:t>900 il </a:t>
            </a:r>
            <a:r>
              <a:rPr sz="2700" dirty="0">
                <a:latin typeface="Calibri"/>
                <a:cs typeface="Calibri"/>
              </a:rPr>
              <a:t>più spesso.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All'interno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20" dirty="0">
                <a:latin typeface="Calibri"/>
                <a:cs typeface="Calibri"/>
              </a:rPr>
              <a:t>questa </a:t>
            </a:r>
            <a:r>
              <a:rPr sz="2700" spc="-15" dirty="0">
                <a:latin typeface="Calibri"/>
                <a:cs typeface="Calibri"/>
              </a:rPr>
              <a:t>scala, </a:t>
            </a:r>
            <a:r>
              <a:rPr sz="2700" spc="5" dirty="0">
                <a:latin typeface="Calibri"/>
                <a:cs typeface="Calibri"/>
              </a:rPr>
              <a:t>400 </a:t>
            </a:r>
            <a:r>
              <a:rPr sz="2700" spc="-10" dirty="0">
                <a:latin typeface="Calibri"/>
                <a:cs typeface="Calibri"/>
              </a:rPr>
              <a:t>corrisponde </a:t>
            </a:r>
            <a:r>
              <a:rPr sz="2700" spc="-5" dirty="0">
                <a:latin typeface="Calibri"/>
                <a:cs typeface="Calibri"/>
              </a:rPr>
              <a:t>a "normal" 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700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"bold".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9800" y="889965"/>
            <a:ext cx="2186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f</a:t>
            </a:r>
            <a:r>
              <a:rPr spc="-15" dirty="0"/>
              <a:t>o</a:t>
            </a:r>
            <a:r>
              <a:rPr spc="-45" dirty="0"/>
              <a:t>n</a:t>
            </a:r>
            <a:r>
              <a:rPr spc="15" dirty="0"/>
              <a:t>t</a:t>
            </a:r>
            <a:r>
              <a:rPr dirty="0"/>
              <a:t>-</a:t>
            </a:r>
            <a:r>
              <a:rPr spc="-20" dirty="0"/>
              <a:t>s</a:t>
            </a:r>
            <a:r>
              <a:rPr spc="10" dirty="0"/>
              <a:t>t</a:t>
            </a:r>
            <a:r>
              <a:rPr dirty="0"/>
              <a:t>y</a:t>
            </a:r>
            <a:r>
              <a:rPr spc="-25" dirty="0"/>
              <a:t>l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42300"/>
            <a:ext cx="7868920" cy="41452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spc="10" dirty="0">
                <a:latin typeface="Calibri"/>
                <a:cs typeface="Calibri"/>
              </a:rPr>
              <a:t>La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proprietà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font-style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agisce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sull'aspetto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testo.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 dirty="0">
              <a:latin typeface="Calibri"/>
              <a:cs typeface="Calibri"/>
            </a:endParaRPr>
          </a:p>
          <a:p>
            <a:pPr marL="196850" algn="ctr">
              <a:lnSpc>
                <a:spcPct val="100000"/>
              </a:lnSpc>
            </a:pPr>
            <a:r>
              <a:rPr sz="3000" spc="5" dirty="0">
                <a:latin typeface="Calibri"/>
                <a:cs typeface="Calibri"/>
              </a:rPr>
              <a:t>p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{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font-style: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Italic;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}</a:t>
            </a:r>
            <a:endParaRPr sz="3000" dirty="0">
              <a:latin typeface="Calibri"/>
              <a:cs typeface="Calibri"/>
            </a:endParaRPr>
          </a:p>
          <a:p>
            <a:pPr marL="12700" marR="48260">
              <a:lnSpc>
                <a:spcPct val="200100"/>
              </a:lnSpc>
            </a:pPr>
            <a:r>
              <a:rPr sz="3000" dirty="0">
                <a:latin typeface="Calibri"/>
                <a:cs typeface="Calibri"/>
              </a:rPr>
              <a:t>I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possibili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valori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che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può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assumere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sono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seguenti: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Normal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-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testo</a:t>
            </a:r>
            <a:r>
              <a:rPr sz="3000" spc="4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normale;</a:t>
            </a:r>
            <a:endParaRPr sz="3000" dirty="0">
              <a:latin typeface="Calibri"/>
              <a:cs typeface="Calibri"/>
            </a:endParaRPr>
          </a:p>
          <a:p>
            <a:pPr marL="12700" marR="2429510">
              <a:lnSpc>
                <a:spcPts val="3620"/>
              </a:lnSpc>
              <a:spcBef>
                <a:spcPts val="70"/>
              </a:spcBef>
            </a:pPr>
            <a:r>
              <a:rPr sz="3000" spc="-5" dirty="0">
                <a:latin typeface="Calibri"/>
                <a:cs typeface="Calibri"/>
              </a:rPr>
              <a:t>Italic </a:t>
            </a:r>
            <a:r>
              <a:rPr sz="3000" spc="5" dirty="0">
                <a:latin typeface="Calibri"/>
                <a:cs typeface="Calibri"/>
              </a:rPr>
              <a:t>- </a:t>
            </a:r>
            <a:r>
              <a:rPr sz="3000" spc="-5" dirty="0">
                <a:latin typeface="Calibri"/>
                <a:cs typeface="Calibri"/>
              </a:rPr>
              <a:t>imposta </a:t>
            </a:r>
            <a:r>
              <a:rPr sz="3000" spc="-25" dirty="0">
                <a:latin typeface="Calibri"/>
                <a:cs typeface="Calibri"/>
              </a:rPr>
              <a:t>l'effetto </a:t>
            </a:r>
            <a:r>
              <a:rPr sz="3000" spc="5" dirty="0">
                <a:latin typeface="Calibri"/>
                <a:cs typeface="Calibri"/>
              </a:rPr>
              <a:t>italic; </a:t>
            </a:r>
            <a:r>
              <a:rPr sz="3000" spc="10" dirty="0">
                <a:latin typeface="Calibri"/>
                <a:cs typeface="Calibri"/>
              </a:rPr>
              <a:t> Oblique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-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imposta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l'effetto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obliquo.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5788" y="889965"/>
            <a:ext cx="339280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</a:t>
            </a:r>
            <a:r>
              <a:rPr spc="-35" dirty="0"/>
              <a:t> </a:t>
            </a:r>
            <a:r>
              <a:rPr spc="-10" dirty="0"/>
              <a:t>div</a:t>
            </a:r>
            <a:r>
              <a:rPr spc="5" dirty="0"/>
              <a:t> </a:t>
            </a:r>
            <a:r>
              <a:rPr spc="-20" dirty="0"/>
              <a:t>Affiancati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645" y="1831975"/>
            <a:ext cx="8079105" cy="405574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840"/>
              </a:spcBef>
              <a:tabLst>
                <a:tab pos="724535" algn="l"/>
                <a:tab pos="1833245" algn="l"/>
                <a:tab pos="2716530" algn="l"/>
                <a:tab pos="4491990" algn="l"/>
                <a:tab pos="5668010" algn="l"/>
                <a:tab pos="6456680" algn="l"/>
                <a:tab pos="7114540" algn="l"/>
                <a:tab pos="7871459" algn="l"/>
              </a:tabLst>
            </a:pPr>
            <a:r>
              <a:rPr sz="3000" spc="-65" dirty="0">
                <a:latin typeface="Calibri"/>
                <a:cs typeface="Calibri"/>
              </a:rPr>
              <a:t>P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p</a:t>
            </a:r>
            <a:r>
              <a:rPr sz="3000" spc="15" dirty="0">
                <a:latin typeface="Calibri"/>
                <a:cs typeface="Calibri"/>
              </a:rPr>
              <a:t>r</a:t>
            </a:r>
            <a:r>
              <a:rPr sz="3000" spc="-20" dirty="0">
                <a:latin typeface="Calibri"/>
                <a:cs typeface="Calibri"/>
              </a:rPr>
              <a:t>i</a:t>
            </a:r>
            <a:r>
              <a:rPr sz="3000" spc="10" dirty="0">
                <a:latin typeface="Calibri"/>
                <a:cs typeface="Calibri"/>
              </a:rPr>
              <a:t>ma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65" dirty="0">
                <a:latin typeface="Calibri"/>
                <a:cs typeface="Calibri"/>
              </a:rPr>
              <a:t>c</a:t>
            </a:r>
            <a:r>
              <a:rPr sz="3000" dirty="0">
                <a:latin typeface="Calibri"/>
                <a:cs typeface="Calibri"/>
              </a:rPr>
              <a:t>os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" dirty="0">
                <a:latin typeface="Calibri"/>
                <a:cs typeface="Calibri"/>
              </a:rPr>
              <a:t>d</a:t>
            </a:r>
            <a:r>
              <a:rPr sz="3000" dirty="0">
                <a:latin typeface="Calibri"/>
                <a:cs typeface="Calibri"/>
              </a:rPr>
              <a:t>o</a:t>
            </a:r>
            <a:r>
              <a:rPr sz="3000" spc="-15" dirty="0">
                <a:latin typeface="Calibri"/>
                <a:cs typeface="Calibri"/>
              </a:rPr>
              <a:t>b</a:t>
            </a:r>
            <a:r>
              <a:rPr sz="3000" spc="-25" dirty="0">
                <a:latin typeface="Calibri"/>
                <a:cs typeface="Calibri"/>
              </a:rPr>
              <a:t>b</a:t>
            </a:r>
            <a:r>
              <a:rPr sz="3000" spc="10" dirty="0">
                <a:latin typeface="Calibri"/>
                <a:cs typeface="Calibri"/>
              </a:rPr>
              <a:t>i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m</a:t>
            </a:r>
            <a:r>
              <a:rPr sz="3000" spc="5" dirty="0">
                <a:latin typeface="Calibri"/>
                <a:cs typeface="Calibri"/>
              </a:rPr>
              <a:t>o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5" dirty="0">
                <a:latin typeface="Calibri"/>
                <a:cs typeface="Calibri"/>
              </a:rPr>
              <a:t>c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-20" dirty="0">
                <a:latin typeface="Calibri"/>
                <a:cs typeface="Calibri"/>
              </a:rPr>
              <a:t>r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5" dirty="0">
                <a:latin typeface="Calibri"/>
                <a:cs typeface="Calibri"/>
              </a:rPr>
              <a:t>du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d</a:t>
            </a:r>
            <a:r>
              <a:rPr sz="3000" spc="10" dirty="0">
                <a:latin typeface="Calibri"/>
                <a:cs typeface="Calibri"/>
              </a:rPr>
              <a:t>i</a:t>
            </a:r>
            <a:r>
              <a:rPr sz="3000" spc="5" dirty="0">
                <a:latin typeface="Calibri"/>
                <a:cs typeface="Calibri"/>
              </a:rPr>
              <a:t>v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35" dirty="0">
                <a:latin typeface="Calibri"/>
                <a:cs typeface="Calibri"/>
              </a:rPr>
              <a:t>c</a:t>
            </a:r>
            <a:r>
              <a:rPr sz="3000" spc="-30" dirty="0">
                <a:latin typeface="Calibri"/>
                <a:cs typeface="Calibri"/>
              </a:rPr>
              <a:t>o</a:t>
            </a:r>
            <a:r>
              <a:rPr sz="3000" spc="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5" dirty="0">
                <a:latin typeface="Calibri"/>
                <a:cs typeface="Calibri"/>
              </a:rPr>
              <a:t>2  classi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css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riferimento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3000" spc="5" dirty="0">
                <a:latin typeface="Calibri"/>
                <a:cs typeface="Calibri"/>
              </a:rPr>
              <a:t>&lt;div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class=“div1”&gt;</a:t>
            </a:r>
            <a:endParaRPr sz="3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3000" dirty="0">
                <a:latin typeface="Calibri"/>
                <a:cs typeface="Calibri"/>
              </a:rPr>
              <a:t>&lt;/div&gt;</a:t>
            </a:r>
          </a:p>
          <a:p>
            <a:pPr marL="12700">
              <a:lnSpc>
                <a:spcPts val="3590"/>
              </a:lnSpc>
              <a:spcBef>
                <a:spcPts val="2395"/>
              </a:spcBef>
            </a:pPr>
            <a:r>
              <a:rPr sz="3000" spc="5" dirty="0">
                <a:latin typeface="Calibri"/>
                <a:cs typeface="Calibri"/>
              </a:rPr>
              <a:t>&lt;div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class=“div2”&gt;</a:t>
            </a:r>
            <a:endParaRPr sz="3000" dirty="0">
              <a:latin typeface="Calibri"/>
              <a:cs typeface="Calibri"/>
            </a:endParaRPr>
          </a:p>
          <a:p>
            <a:pPr marL="12700">
              <a:lnSpc>
                <a:spcPts val="3590"/>
              </a:lnSpc>
            </a:pPr>
            <a:r>
              <a:rPr sz="3000" dirty="0">
                <a:latin typeface="Calibri"/>
                <a:cs typeface="Calibri"/>
              </a:rPr>
              <a:t>&lt;/div&gt;</a:t>
            </a:r>
          </a:p>
          <a:p>
            <a:pPr marL="12700">
              <a:lnSpc>
                <a:spcPct val="100000"/>
              </a:lnSpc>
              <a:spcBef>
                <a:spcPts val="2435"/>
              </a:spcBef>
            </a:pPr>
            <a:r>
              <a:rPr sz="3000" spc="10" dirty="0">
                <a:latin typeface="Calibri"/>
                <a:cs typeface="Calibri"/>
              </a:rPr>
              <a:t>Andiamo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ora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creare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due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classi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css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136027"/>
            <a:ext cx="80391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-10" dirty="0"/>
              <a:t>.d</a:t>
            </a:r>
            <a:r>
              <a:rPr sz="2700" spc="-30" dirty="0"/>
              <a:t>i</a:t>
            </a:r>
            <a:r>
              <a:rPr sz="2700" spc="-20" dirty="0"/>
              <a:t>v</a:t>
            </a:r>
            <a:r>
              <a:rPr sz="2700" spc="5" dirty="0"/>
              <a:t>1</a:t>
            </a:r>
            <a:r>
              <a:rPr sz="2700" spc="-5" dirty="0"/>
              <a:t>{</a:t>
            </a:r>
            <a:endParaRPr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546402"/>
            <a:ext cx="4492625" cy="414147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927100" marR="1488440">
              <a:lnSpc>
                <a:spcPct val="100800"/>
              </a:lnSpc>
              <a:spcBef>
                <a:spcPts val="70"/>
              </a:spcBef>
            </a:pPr>
            <a:r>
              <a:rPr sz="2700" spc="-10" dirty="0">
                <a:latin typeface="Calibri"/>
                <a:cs typeface="Calibri"/>
              </a:rPr>
              <a:t>height </a:t>
            </a:r>
            <a:r>
              <a:rPr sz="2700" spc="-5" dirty="0">
                <a:latin typeface="Calibri"/>
                <a:cs typeface="Calibri"/>
              </a:rPr>
              <a:t>: </a:t>
            </a:r>
            <a:r>
              <a:rPr sz="2700" spc="-10" dirty="0">
                <a:latin typeface="Calibri"/>
                <a:cs typeface="Calibri"/>
              </a:rPr>
              <a:t>300px; </a:t>
            </a:r>
            <a:r>
              <a:rPr sz="2700" spc="-60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width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r>
              <a:rPr sz="2700" dirty="0">
                <a:latin typeface="Calibri"/>
                <a:cs typeface="Calibri"/>
              </a:rPr>
              <a:t> 50%;</a:t>
            </a:r>
          </a:p>
          <a:p>
            <a:pPr marL="927100">
              <a:lnSpc>
                <a:spcPts val="3225"/>
              </a:lnSpc>
            </a:pPr>
            <a:r>
              <a:rPr sz="2700" spc="-10" dirty="0">
                <a:latin typeface="Calibri"/>
                <a:cs typeface="Calibri"/>
              </a:rPr>
              <a:t>border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5px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solid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orange;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}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 dirty="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10" dirty="0">
                <a:latin typeface="Calibri"/>
                <a:cs typeface="Calibri"/>
              </a:rPr>
              <a:t>.div2{</a:t>
            </a:r>
            <a:endParaRPr sz="2700" dirty="0">
              <a:latin typeface="Calibri"/>
              <a:cs typeface="Calibri"/>
            </a:endParaRPr>
          </a:p>
          <a:p>
            <a:pPr marL="927100" marR="1487805">
              <a:lnSpc>
                <a:spcPts val="3260"/>
              </a:lnSpc>
              <a:spcBef>
                <a:spcPts val="85"/>
              </a:spcBef>
            </a:pPr>
            <a:r>
              <a:rPr sz="2700" spc="-10" dirty="0">
                <a:latin typeface="Calibri"/>
                <a:cs typeface="Calibri"/>
              </a:rPr>
              <a:t>height </a:t>
            </a:r>
            <a:r>
              <a:rPr sz="2700" spc="-5" dirty="0">
                <a:latin typeface="Calibri"/>
                <a:cs typeface="Calibri"/>
              </a:rPr>
              <a:t>: </a:t>
            </a:r>
            <a:r>
              <a:rPr sz="2700" spc="-10" dirty="0">
                <a:latin typeface="Calibri"/>
                <a:cs typeface="Calibri"/>
              </a:rPr>
              <a:t>300px;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width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r>
              <a:rPr sz="2700" dirty="0">
                <a:latin typeface="Calibri"/>
                <a:cs typeface="Calibri"/>
              </a:rPr>
              <a:t> 50%;</a:t>
            </a:r>
          </a:p>
          <a:p>
            <a:pPr marL="927100">
              <a:lnSpc>
                <a:spcPts val="3120"/>
              </a:lnSpc>
            </a:pPr>
            <a:r>
              <a:rPr sz="2700" spc="-10" dirty="0">
                <a:latin typeface="Calibri"/>
                <a:cs typeface="Calibri"/>
              </a:rPr>
              <a:t>border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r>
              <a:rPr sz="2700" spc="-25" dirty="0">
                <a:latin typeface="Calibri"/>
                <a:cs typeface="Calibri"/>
              </a:rPr>
              <a:t> 5px</a:t>
            </a:r>
            <a:r>
              <a:rPr sz="2700" spc="-10" dirty="0">
                <a:latin typeface="Calibri"/>
                <a:cs typeface="Calibri"/>
              </a:rPr>
              <a:t> solid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orange;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}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203515"/>
            <a:ext cx="8068945" cy="149034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65"/>
              </a:spcBef>
            </a:pPr>
            <a:r>
              <a:rPr sz="3200" spc="-15" dirty="0"/>
              <a:t>Se</a:t>
            </a:r>
            <a:r>
              <a:rPr sz="3200" spc="165" dirty="0"/>
              <a:t> </a:t>
            </a:r>
            <a:r>
              <a:rPr sz="3200" spc="-10" dirty="0"/>
              <a:t>proviamo</a:t>
            </a:r>
            <a:r>
              <a:rPr sz="3200" spc="195" dirty="0"/>
              <a:t> </a:t>
            </a:r>
            <a:r>
              <a:rPr sz="3200" spc="10" dirty="0"/>
              <a:t>ad</a:t>
            </a:r>
            <a:r>
              <a:rPr sz="3200" spc="150" dirty="0"/>
              <a:t> </a:t>
            </a:r>
            <a:r>
              <a:rPr sz="3200" spc="-10" dirty="0"/>
              <a:t>eseguire</a:t>
            </a:r>
            <a:r>
              <a:rPr sz="3200" spc="175" dirty="0"/>
              <a:t> </a:t>
            </a:r>
            <a:r>
              <a:rPr sz="3200" dirty="0"/>
              <a:t>il</a:t>
            </a:r>
            <a:r>
              <a:rPr sz="3200" spc="210" dirty="0"/>
              <a:t> </a:t>
            </a:r>
            <a:r>
              <a:rPr sz="3200" spc="-15" dirty="0"/>
              <a:t>codice</a:t>
            </a:r>
            <a:r>
              <a:rPr sz="3200" spc="204" dirty="0"/>
              <a:t> </a:t>
            </a:r>
            <a:r>
              <a:rPr sz="3200" spc="-5" dirty="0"/>
              <a:t>vediamo</a:t>
            </a:r>
            <a:r>
              <a:rPr sz="3200" spc="140" dirty="0"/>
              <a:t> </a:t>
            </a:r>
            <a:r>
              <a:rPr sz="3200" spc="5" dirty="0"/>
              <a:t>che</a:t>
            </a:r>
            <a:r>
              <a:rPr sz="3200" spc="160" dirty="0"/>
              <a:t> </a:t>
            </a:r>
            <a:r>
              <a:rPr sz="3200" spc="-5" dirty="0"/>
              <a:t>i </a:t>
            </a:r>
            <a:r>
              <a:rPr sz="3200" spc="-705" dirty="0"/>
              <a:t> </a:t>
            </a:r>
            <a:r>
              <a:rPr sz="3200" spc="-15" dirty="0"/>
              <a:t>due</a:t>
            </a:r>
            <a:r>
              <a:rPr sz="3200" spc="235" dirty="0"/>
              <a:t> </a:t>
            </a:r>
            <a:r>
              <a:rPr sz="3200" spc="-10" dirty="0"/>
              <a:t>div</a:t>
            </a:r>
            <a:r>
              <a:rPr sz="3200" spc="210" dirty="0"/>
              <a:t> </a:t>
            </a:r>
            <a:r>
              <a:rPr sz="3200" dirty="0"/>
              <a:t>sono</a:t>
            </a:r>
            <a:r>
              <a:rPr sz="3200" spc="185" dirty="0"/>
              <a:t> </a:t>
            </a:r>
            <a:r>
              <a:rPr sz="3200" spc="-5" dirty="0"/>
              <a:t>messi</a:t>
            </a:r>
            <a:r>
              <a:rPr sz="3200" spc="235" dirty="0"/>
              <a:t> </a:t>
            </a:r>
            <a:r>
              <a:rPr sz="3200" spc="-5" dirty="0"/>
              <a:t>uno</a:t>
            </a:r>
            <a:r>
              <a:rPr sz="3200" spc="185" dirty="0"/>
              <a:t> </a:t>
            </a:r>
            <a:r>
              <a:rPr sz="3200" spc="-10" dirty="0"/>
              <a:t>sotto</a:t>
            </a:r>
            <a:r>
              <a:rPr sz="3200" spc="170" dirty="0"/>
              <a:t> </a:t>
            </a:r>
            <a:r>
              <a:rPr sz="3200" spc="-35" dirty="0"/>
              <a:t>l’altro…</a:t>
            </a:r>
            <a:r>
              <a:rPr sz="3200" spc="229" dirty="0"/>
              <a:t> </a:t>
            </a:r>
            <a:r>
              <a:rPr sz="3200" spc="-15" dirty="0"/>
              <a:t>come</a:t>
            </a:r>
            <a:r>
              <a:rPr sz="3200" spc="204" dirty="0"/>
              <a:t> </a:t>
            </a:r>
            <a:r>
              <a:rPr sz="3200" spc="-5" dirty="0"/>
              <a:t>mai</a:t>
            </a:r>
            <a:endParaRPr sz="3200" dirty="0"/>
          </a:p>
          <a:p>
            <a:pPr marL="12700">
              <a:lnSpc>
                <a:spcPts val="3835"/>
              </a:lnSpc>
            </a:pPr>
            <a:r>
              <a:rPr sz="3200" spc="-5" dirty="0"/>
              <a:t>?</a:t>
            </a:r>
            <a:r>
              <a:rPr sz="3200" spc="-10" dirty="0"/>
              <a:t> </a:t>
            </a:r>
            <a:r>
              <a:rPr sz="3200" spc="-5" dirty="0"/>
              <a:t>O</a:t>
            </a:r>
            <a:r>
              <a:rPr sz="3200" spc="35" dirty="0"/>
              <a:t> </a:t>
            </a:r>
            <a:r>
              <a:rPr sz="3200" spc="-5" dirty="0"/>
              <a:t>meglio…</a:t>
            </a:r>
            <a:r>
              <a:rPr sz="3200" spc="10" dirty="0"/>
              <a:t> </a:t>
            </a:r>
            <a:r>
              <a:rPr sz="3200" spc="-20" dirty="0"/>
              <a:t>come</a:t>
            </a:r>
            <a:r>
              <a:rPr sz="3200" spc="60" dirty="0"/>
              <a:t> </a:t>
            </a:r>
            <a:r>
              <a:rPr sz="3200" spc="-20" dirty="0"/>
              <a:t>faccio</a:t>
            </a:r>
            <a:r>
              <a:rPr sz="3200" spc="45" dirty="0"/>
              <a:t> </a:t>
            </a:r>
            <a:r>
              <a:rPr sz="3200" spc="-10" dirty="0"/>
              <a:t>ad</a:t>
            </a:r>
            <a:r>
              <a:rPr sz="3200" spc="5" dirty="0"/>
              <a:t> </a:t>
            </a:r>
            <a:r>
              <a:rPr sz="3200" spc="-20" dirty="0"/>
              <a:t>affiancarli</a:t>
            </a:r>
            <a:r>
              <a:rPr sz="3200" spc="135" dirty="0"/>
              <a:t> </a:t>
            </a:r>
            <a:r>
              <a:rPr sz="3200" spc="-5" dirty="0"/>
              <a:t>?</a:t>
            </a:r>
            <a:endParaRPr sz="3200" dirty="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82" y="3155533"/>
            <a:ext cx="3821306" cy="24629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03515"/>
            <a:ext cx="8072120" cy="4127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0"/>
              </a:spcBef>
            </a:pPr>
            <a:r>
              <a:rPr sz="3200" spc="-15" dirty="0">
                <a:latin typeface="Calibri"/>
                <a:cs typeface="Calibri"/>
              </a:rPr>
              <a:t>Se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facciamo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un “Inspect”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 ogni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div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notiamo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che si sono </a:t>
            </a:r>
            <a:r>
              <a:rPr sz="3200" spc="-20" dirty="0">
                <a:latin typeface="Calibri"/>
                <a:cs typeface="Calibri"/>
              </a:rPr>
              <a:t>presi </a:t>
            </a:r>
            <a:r>
              <a:rPr sz="3200" dirty="0">
                <a:latin typeface="Calibri"/>
                <a:cs typeface="Calibri"/>
              </a:rPr>
              <a:t>ognuno la </a:t>
            </a:r>
            <a:r>
              <a:rPr sz="3200" spc="-15" dirty="0">
                <a:latin typeface="Calibri"/>
                <a:cs typeface="Calibri"/>
              </a:rPr>
              <a:t>larghezza dell’intera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pagina… </a:t>
            </a:r>
            <a:r>
              <a:rPr sz="3200" spc="-15" dirty="0">
                <a:latin typeface="Calibri"/>
                <a:cs typeface="Calibri"/>
              </a:rPr>
              <a:t>perchè? </a:t>
            </a:r>
            <a:r>
              <a:rPr sz="3200" spc="-25" dirty="0">
                <a:latin typeface="Calibri"/>
                <a:cs typeface="Calibri"/>
              </a:rPr>
              <a:t>Perchè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10" dirty="0">
                <a:latin typeface="Calibri"/>
                <a:cs typeface="Calibri"/>
              </a:rPr>
              <a:t>div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10" dirty="0">
                <a:latin typeface="Calibri"/>
                <a:cs typeface="Calibri"/>
              </a:rPr>
              <a:t>tag di </a:t>
            </a:r>
            <a:r>
              <a:rPr sz="3200" dirty="0">
                <a:latin typeface="Calibri"/>
                <a:cs typeface="Calibri"/>
              </a:rPr>
              <a:t>tipo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block.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 dirty="0">
              <a:latin typeface="Calibri"/>
              <a:cs typeface="Calibri"/>
            </a:endParaRPr>
          </a:p>
          <a:p>
            <a:pPr marL="12700" marR="5080" algn="just">
              <a:lnSpc>
                <a:spcPct val="100299"/>
              </a:lnSpc>
            </a:pPr>
            <a:r>
              <a:rPr sz="3200" dirty="0">
                <a:latin typeface="Calibri"/>
                <a:cs typeface="Calibri"/>
              </a:rPr>
              <a:t>In </a:t>
            </a:r>
            <a:r>
              <a:rPr sz="3200" spc="-10" dirty="0">
                <a:latin typeface="Calibri"/>
                <a:cs typeface="Calibri"/>
              </a:rPr>
              <a:t>casi come questi </a:t>
            </a:r>
            <a:r>
              <a:rPr sz="3200" spc="-5" dirty="0">
                <a:latin typeface="Calibri"/>
                <a:cs typeface="Calibri"/>
              </a:rPr>
              <a:t>è possibile </a:t>
            </a:r>
            <a:r>
              <a:rPr sz="3200" spc="-15" dirty="0">
                <a:latin typeface="Calibri"/>
                <a:cs typeface="Calibri"/>
              </a:rPr>
              <a:t>sovrascrivere </a:t>
            </a:r>
            <a:r>
              <a:rPr sz="3200" spc="5" dirty="0">
                <a:latin typeface="Calibri"/>
                <a:cs typeface="Calibri"/>
              </a:rPr>
              <a:t>la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proprietà </a:t>
            </a:r>
            <a:r>
              <a:rPr sz="3200" spc="-15" dirty="0">
                <a:latin typeface="Calibri"/>
                <a:cs typeface="Calibri"/>
              </a:rPr>
              <a:t>“display” </a:t>
            </a:r>
            <a:r>
              <a:rPr sz="3200" spc="-10" dirty="0">
                <a:latin typeface="Calibri"/>
                <a:cs typeface="Calibri"/>
              </a:rPr>
              <a:t>dei </a:t>
            </a:r>
            <a:r>
              <a:rPr sz="3200" spc="10" dirty="0">
                <a:latin typeface="Calibri"/>
                <a:cs typeface="Calibri"/>
              </a:rPr>
              <a:t>due </a:t>
            </a:r>
            <a:r>
              <a:rPr sz="3200" spc="-5" dirty="0">
                <a:latin typeface="Calibri"/>
                <a:cs typeface="Calibri"/>
              </a:rPr>
              <a:t>div… </a:t>
            </a:r>
            <a:r>
              <a:rPr sz="3200" spc="-15" dirty="0">
                <a:latin typeface="Calibri"/>
                <a:cs typeface="Calibri"/>
              </a:rPr>
              <a:t>da </a:t>
            </a:r>
            <a:r>
              <a:rPr sz="3200" spc="-10" dirty="0">
                <a:latin typeface="Calibri"/>
                <a:cs typeface="Calibri"/>
              </a:rPr>
              <a:t>“block” </a:t>
            </a:r>
            <a:r>
              <a:rPr sz="3200" spc="-20" dirty="0">
                <a:latin typeface="Calibri"/>
                <a:cs typeface="Calibri"/>
              </a:rPr>
              <a:t>(di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default)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“inline-block”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298447"/>
            <a:ext cx="6629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5" dirty="0"/>
              <a:t>.d</a:t>
            </a:r>
            <a:r>
              <a:rPr sz="2200" spc="-15" dirty="0"/>
              <a:t>i</a:t>
            </a:r>
            <a:r>
              <a:rPr sz="2200" spc="-5" dirty="0"/>
              <a:t>v</a:t>
            </a:r>
            <a:r>
              <a:rPr sz="2200" spc="-20" dirty="0"/>
              <a:t>1</a:t>
            </a:r>
            <a:r>
              <a:rPr sz="2200" spc="-5" dirty="0"/>
              <a:t>{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631391"/>
            <a:ext cx="3839845" cy="4052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527050">
              <a:lnSpc>
                <a:spcPct val="100200"/>
              </a:lnSpc>
              <a:spcBef>
                <a:spcPts val="95"/>
              </a:spcBef>
            </a:pPr>
            <a:r>
              <a:rPr sz="2200" spc="-5" dirty="0">
                <a:latin typeface="Calibri"/>
                <a:cs typeface="Calibri"/>
              </a:rPr>
              <a:t>display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inline-block;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height</a:t>
            </a:r>
            <a:r>
              <a:rPr sz="2200" spc="4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300px;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width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: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50%;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25"/>
              </a:lnSpc>
            </a:pPr>
            <a:r>
              <a:rPr sz="2200" dirty="0">
                <a:latin typeface="Calibri"/>
                <a:cs typeface="Calibri"/>
              </a:rPr>
              <a:t>border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5px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solid orange;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200" dirty="0">
                <a:latin typeface="Calibri"/>
                <a:cs typeface="Calibri"/>
              </a:rPr>
              <a:t>}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 dirty="0">
              <a:latin typeface="Calibri"/>
              <a:cs typeface="Calibri"/>
            </a:endParaRPr>
          </a:p>
          <a:p>
            <a:pPr marL="12700">
              <a:lnSpc>
                <a:spcPts val="2630"/>
              </a:lnSpc>
            </a:pPr>
            <a:r>
              <a:rPr sz="2200" spc="-5" dirty="0">
                <a:latin typeface="Calibri"/>
                <a:cs typeface="Calibri"/>
              </a:rPr>
              <a:t>.div2{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display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inline-block;</a:t>
            </a:r>
            <a:endParaRPr sz="2200" dirty="0">
              <a:latin typeface="Calibri"/>
              <a:cs typeface="Calibri"/>
            </a:endParaRPr>
          </a:p>
          <a:p>
            <a:pPr marL="927100" marR="1224280">
              <a:lnSpc>
                <a:spcPts val="2630"/>
              </a:lnSpc>
              <a:spcBef>
                <a:spcPts val="120"/>
              </a:spcBef>
            </a:pPr>
            <a:r>
              <a:rPr sz="2200" spc="-5" dirty="0">
                <a:latin typeface="Calibri"/>
                <a:cs typeface="Calibri"/>
              </a:rPr>
              <a:t>height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300px;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width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50%;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540"/>
              </a:lnSpc>
            </a:pPr>
            <a:r>
              <a:rPr sz="2200" dirty="0">
                <a:latin typeface="Calibri"/>
                <a:cs typeface="Calibri"/>
              </a:rPr>
              <a:t>border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5px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solid orange;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200" dirty="0">
                <a:latin typeface="Calibri"/>
                <a:cs typeface="Calibri"/>
              </a:rPr>
              <a:t>}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94549"/>
            <a:ext cx="8081009" cy="469519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 algn="just">
              <a:lnSpc>
                <a:spcPct val="80100"/>
              </a:lnSpc>
              <a:spcBef>
                <a:spcPts val="830"/>
              </a:spcBef>
            </a:pPr>
            <a:r>
              <a:rPr sz="3000" spc="5" dirty="0">
                <a:latin typeface="Calibri"/>
                <a:cs typeface="Calibri"/>
              </a:rPr>
              <a:t>Se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proviamo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codice</a:t>
            </a:r>
            <a:r>
              <a:rPr sz="3000" spc="-5" dirty="0">
                <a:latin typeface="Calibri"/>
                <a:cs typeface="Calibri"/>
              </a:rPr>
              <a:t> notiamo</a:t>
            </a:r>
            <a:r>
              <a:rPr sz="3000" dirty="0">
                <a:latin typeface="Calibri"/>
                <a:cs typeface="Calibri"/>
              </a:rPr>
              <a:t> che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ancora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non </a:t>
            </a:r>
            <a:r>
              <a:rPr sz="3000" dirty="0">
                <a:latin typeface="Calibri"/>
                <a:cs typeface="Calibri"/>
              </a:rPr>
              <a:t> funziona…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problema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sta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nel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45" dirty="0">
                <a:latin typeface="Calibri"/>
                <a:cs typeface="Calibri"/>
              </a:rPr>
              <a:t>fatto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normalmente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20" dirty="0">
                <a:latin typeface="Calibri"/>
                <a:cs typeface="Calibri"/>
              </a:rPr>
              <a:t>grandezza </a:t>
            </a:r>
            <a:r>
              <a:rPr sz="3000" spc="-10" dirty="0">
                <a:latin typeface="Calibri"/>
                <a:cs typeface="Calibri"/>
              </a:rPr>
              <a:t>del bordo </a:t>
            </a:r>
            <a:r>
              <a:rPr sz="3000" dirty="0">
                <a:latin typeface="Calibri"/>
                <a:cs typeface="Calibri"/>
              </a:rPr>
              <a:t>si </a:t>
            </a:r>
            <a:r>
              <a:rPr sz="3000" b="1" dirty="0">
                <a:latin typeface="Calibri"/>
                <a:cs typeface="Calibri"/>
              </a:rPr>
              <a:t>somma </a:t>
            </a:r>
            <a:r>
              <a:rPr sz="3000" spc="-5" dirty="0">
                <a:latin typeface="Calibri"/>
                <a:cs typeface="Calibri"/>
              </a:rPr>
              <a:t>alla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proprietà </a:t>
            </a:r>
            <a:r>
              <a:rPr sz="3000" spc="-5" dirty="0">
                <a:latin typeface="Calibri"/>
                <a:cs typeface="Calibri"/>
              </a:rPr>
              <a:t>width, quindi viene </a:t>
            </a:r>
            <a:r>
              <a:rPr sz="3000" dirty="0">
                <a:latin typeface="Calibri"/>
                <a:cs typeface="Calibri"/>
              </a:rPr>
              <a:t>fuori </a:t>
            </a:r>
            <a:r>
              <a:rPr sz="3000" spc="-10" dirty="0">
                <a:latin typeface="Calibri"/>
                <a:cs typeface="Calibri"/>
              </a:rPr>
              <a:t>il </a:t>
            </a:r>
            <a:r>
              <a:rPr sz="3000" spc="5" dirty="0">
                <a:latin typeface="Calibri"/>
                <a:cs typeface="Calibri"/>
              </a:rPr>
              <a:t>50% + </a:t>
            </a:r>
            <a:r>
              <a:rPr sz="3000" spc="-10" dirty="0">
                <a:latin typeface="Calibri"/>
                <a:cs typeface="Calibri"/>
              </a:rPr>
              <a:t>5px. </a:t>
            </a:r>
            <a:r>
              <a:rPr sz="3000" spc="-15" dirty="0">
                <a:latin typeface="Calibri"/>
                <a:cs typeface="Calibri"/>
              </a:rPr>
              <a:t>In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questo </a:t>
            </a:r>
            <a:r>
              <a:rPr sz="3000" dirty="0">
                <a:latin typeface="Calibri"/>
                <a:cs typeface="Calibri"/>
              </a:rPr>
              <a:t>modo I </a:t>
            </a:r>
            <a:r>
              <a:rPr sz="3000" spc="5" dirty="0">
                <a:latin typeface="Calibri"/>
                <a:cs typeface="Calibri"/>
              </a:rPr>
              <a:t>2 </a:t>
            </a:r>
            <a:r>
              <a:rPr sz="3000" spc="10" dirty="0">
                <a:latin typeface="Calibri"/>
                <a:cs typeface="Calibri"/>
              </a:rPr>
              <a:t>div </a:t>
            </a:r>
            <a:r>
              <a:rPr sz="3000" spc="5" dirty="0">
                <a:latin typeface="Calibri"/>
                <a:cs typeface="Calibri"/>
              </a:rPr>
              <a:t>non </a:t>
            </a:r>
            <a:r>
              <a:rPr sz="3000" dirty="0">
                <a:latin typeface="Calibri"/>
                <a:cs typeface="Calibri"/>
              </a:rPr>
              <a:t>hanno </a:t>
            </a:r>
            <a:r>
              <a:rPr sz="3000" spc="10" dirty="0">
                <a:latin typeface="Calibri"/>
                <a:cs typeface="Calibri"/>
              </a:rPr>
              <a:t>lo </a:t>
            </a:r>
            <a:r>
              <a:rPr sz="3000" spc="-5" dirty="0">
                <a:latin typeface="Calibri"/>
                <a:cs typeface="Calibri"/>
              </a:rPr>
              <a:t>spazio </a:t>
            </a:r>
            <a:r>
              <a:rPr sz="3000" spc="5" dirty="0">
                <a:latin typeface="Calibri"/>
                <a:cs typeface="Calibri"/>
              </a:rPr>
              <a:t>per </a:t>
            </a:r>
            <a:r>
              <a:rPr sz="3000" spc="-20" dirty="0">
                <a:latin typeface="Calibri"/>
                <a:cs typeface="Calibri"/>
              </a:rPr>
              <a:t>stare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affiancati.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0" dirty="0">
              <a:latin typeface="Calibri"/>
              <a:cs typeface="Calibri"/>
            </a:endParaRPr>
          </a:p>
          <a:p>
            <a:pPr marL="12700" marR="5080" algn="just">
              <a:lnSpc>
                <a:spcPct val="80100"/>
              </a:lnSpc>
            </a:pPr>
            <a:r>
              <a:rPr sz="3000" spc="-10" dirty="0">
                <a:latin typeface="Calibri"/>
                <a:cs typeface="Calibri"/>
              </a:rPr>
              <a:t>Il problema </a:t>
            </a:r>
            <a:r>
              <a:rPr sz="3000" dirty="0">
                <a:latin typeface="Calibri"/>
                <a:cs typeface="Calibri"/>
              </a:rPr>
              <a:t>si </a:t>
            </a:r>
            <a:r>
              <a:rPr sz="3000" spc="-10" dirty="0">
                <a:latin typeface="Calibri"/>
                <a:cs typeface="Calibri"/>
              </a:rPr>
              <a:t>risolve </a:t>
            </a:r>
            <a:r>
              <a:rPr sz="3000" spc="-15" dirty="0">
                <a:latin typeface="Calibri"/>
                <a:cs typeface="Calibri"/>
              </a:rPr>
              <a:t>con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proprietà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box-sizing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: </a:t>
            </a:r>
            <a:r>
              <a:rPr sz="3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border-box</a:t>
            </a: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in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questo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modo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stiamo</a:t>
            </a:r>
            <a:r>
              <a:rPr sz="3000" spc="-10" dirty="0">
                <a:latin typeface="Calibri"/>
                <a:cs typeface="Calibri"/>
              </a:rPr>
              <a:t> dicendo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al 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browser</a:t>
            </a:r>
            <a:r>
              <a:rPr sz="3000" spc="-5" dirty="0">
                <a:latin typeface="Calibri"/>
                <a:cs typeface="Calibri"/>
              </a:rPr>
              <a:t> che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il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bordo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deve</a:t>
            </a:r>
            <a:r>
              <a:rPr sz="3000" spc="-5" dirty="0">
                <a:latin typeface="Calibri"/>
                <a:cs typeface="Calibri"/>
              </a:rPr>
              <a:t> essere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compreso</a:t>
            </a:r>
            <a:r>
              <a:rPr sz="3000" spc="-10" dirty="0">
                <a:latin typeface="Calibri"/>
                <a:cs typeface="Calibri"/>
              </a:rPr>
              <a:t> nel </a:t>
            </a:r>
            <a:r>
              <a:rPr sz="3000" spc="-5" dirty="0">
                <a:latin typeface="Calibri"/>
                <a:cs typeface="Calibri"/>
              </a:rPr>
              <a:t> calcolo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del</a:t>
            </a:r>
            <a:r>
              <a:rPr sz="3000" spc="-5" dirty="0">
                <a:latin typeface="Calibri"/>
                <a:cs typeface="Calibri"/>
              </a:rPr>
              <a:t> width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(nel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nostro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caso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gli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stiamo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dicendo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che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quei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5px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fanno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parte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50%)…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208328"/>
            <a:ext cx="8077834" cy="14236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0"/>
              </a:spcBef>
            </a:pPr>
            <a:r>
              <a:rPr sz="2700" spc="-5" dirty="0"/>
              <a:t>Ultima</a:t>
            </a:r>
            <a:r>
              <a:rPr sz="2700" dirty="0"/>
              <a:t> </a:t>
            </a:r>
            <a:r>
              <a:rPr sz="2700" spc="-15" dirty="0"/>
              <a:t>cosa</a:t>
            </a:r>
            <a:r>
              <a:rPr sz="2700" spc="-10" dirty="0"/>
              <a:t> </a:t>
            </a:r>
            <a:r>
              <a:rPr sz="2700" spc="-15" dirty="0"/>
              <a:t>importante</a:t>
            </a:r>
            <a:r>
              <a:rPr sz="2700" spc="-10" dirty="0"/>
              <a:t> </a:t>
            </a:r>
            <a:r>
              <a:rPr sz="2700" b="1" spc="-5" dirty="0">
                <a:latin typeface="Calibri"/>
                <a:cs typeface="Calibri"/>
              </a:rPr>
              <a:t>non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lasciare</a:t>
            </a:r>
            <a:r>
              <a:rPr sz="2700" b="1" spc="-5" dirty="0">
                <a:latin typeface="Calibri"/>
                <a:cs typeface="Calibri"/>
              </a:rPr>
              <a:t> spazi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35" dirty="0">
                <a:latin typeface="Calibri"/>
                <a:cs typeface="Calibri"/>
              </a:rPr>
              <a:t>tra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i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2</a:t>
            </a:r>
            <a:r>
              <a:rPr sz="2700" b="1" dirty="0">
                <a:latin typeface="Calibri"/>
                <a:cs typeface="Calibri"/>
              </a:rPr>
              <a:t> div 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spc="-10" dirty="0"/>
              <a:t>altrimenti</a:t>
            </a:r>
            <a:r>
              <a:rPr sz="2700" spc="-5" dirty="0"/>
              <a:t> </a:t>
            </a:r>
            <a:r>
              <a:rPr sz="2700" spc="-15" dirty="0"/>
              <a:t>il</a:t>
            </a:r>
            <a:r>
              <a:rPr sz="2700" spc="585" dirty="0"/>
              <a:t> </a:t>
            </a:r>
            <a:r>
              <a:rPr sz="2700" spc="-15" dirty="0"/>
              <a:t>browser</a:t>
            </a:r>
            <a:r>
              <a:rPr sz="2700" spc="585" dirty="0"/>
              <a:t> </a:t>
            </a:r>
            <a:r>
              <a:rPr sz="2700" spc="-25" dirty="0"/>
              <a:t>interpreta</a:t>
            </a:r>
            <a:r>
              <a:rPr sz="2700" spc="-20" dirty="0"/>
              <a:t> </a:t>
            </a:r>
            <a:r>
              <a:rPr sz="2700" spc="-15" dirty="0"/>
              <a:t>lo</a:t>
            </a:r>
            <a:r>
              <a:rPr sz="2700" spc="585" dirty="0"/>
              <a:t> </a:t>
            </a:r>
            <a:r>
              <a:rPr sz="2700" spc="-10" dirty="0"/>
              <a:t>spazio</a:t>
            </a:r>
            <a:r>
              <a:rPr sz="2700" spc="-5" dirty="0"/>
              <a:t> </a:t>
            </a:r>
            <a:r>
              <a:rPr sz="2700" spc="-15" dirty="0"/>
              <a:t>come</a:t>
            </a:r>
            <a:r>
              <a:rPr sz="2700" spc="585" dirty="0"/>
              <a:t> </a:t>
            </a:r>
            <a:r>
              <a:rPr sz="2700" spc="-5" dirty="0"/>
              <a:t>una </a:t>
            </a:r>
            <a:r>
              <a:rPr sz="2700" spc="-600" dirty="0"/>
              <a:t> </a:t>
            </a:r>
            <a:r>
              <a:rPr sz="2700" spc="-5" dirty="0"/>
              <a:t>dimensione… </a:t>
            </a:r>
            <a:r>
              <a:rPr sz="2700" dirty="0"/>
              <a:t>se </a:t>
            </a:r>
            <a:r>
              <a:rPr sz="2700" spc="-5" dirty="0"/>
              <a:t>pur </a:t>
            </a:r>
            <a:r>
              <a:rPr sz="2700" spc="-10" dirty="0"/>
              <a:t>piccola… </a:t>
            </a:r>
            <a:r>
              <a:rPr sz="2700" spc="-5" dirty="0"/>
              <a:t>andando </a:t>
            </a:r>
            <a:r>
              <a:rPr sz="2700" spc="-10" dirty="0"/>
              <a:t>oltre </a:t>
            </a:r>
            <a:r>
              <a:rPr sz="2700" spc="-15" dirty="0"/>
              <a:t>il </a:t>
            </a:r>
            <a:r>
              <a:rPr sz="2700" spc="10" dirty="0"/>
              <a:t>100% </a:t>
            </a:r>
            <a:r>
              <a:rPr sz="2700" spc="-10" dirty="0"/>
              <a:t>dello </a:t>
            </a:r>
            <a:r>
              <a:rPr sz="2700" spc="-5" dirty="0"/>
              <a:t> </a:t>
            </a:r>
            <a:r>
              <a:rPr sz="2700" spc="-10" dirty="0"/>
              <a:t>spazio</a:t>
            </a:r>
            <a:r>
              <a:rPr sz="2700" spc="25" dirty="0"/>
              <a:t> </a:t>
            </a:r>
            <a:r>
              <a:rPr sz="2700" spc="-25" dirty="0"/>
              <a:t>totale.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2911614"/>
            <a:ext cx="8072120" cy="7658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725"/>
              </a:spcBef>
              <a:tabLst>
                <a:tab pos="445134" algn="l"/>
                <a:tab pos="1562735" algn="l"/>
                <a:tab pos="2545080" algn="l"/>
                <a:tab pos="4157979" algn="l"/>
                <a:tab pos="4406265" algn="l"/>
                <a:tab pos="4748530" algn="l"/>
                <a:tab pos="5325745" algn="l"/>
                <a:tab pos="6781165" algn="l"/>
                <a:tab pos="7713980" algn="l"/>
              </a:tabLst>
            </a:pPr>
            <a:r>
              <a:rPr sz="2700" spc="-15" dirty="0">
                <a:latin typeface="Calibri"/>
                <a:cs typeface="Calibri"/>
              </a:rPr>
              <a:t>I</a:t>
            </a:r>
            <a:r>
              <a:rPr sz="2700" spc="-5" dirty="0">
                <a:latin typeface="Calibri"/>
                <a:cs typeface="Calibri"/>
              </a:rPr>
              <a:t>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qu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spc="-35" dirty="0">
                <a:latin typeface="Calibri"/>
                <a:cs typeface="Calibri"/>
              </a:rPr>
              <a:t>s</a:t>
            </a:r>
            <a:r>
              <a:rPr sz="2700" spc="-6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m</a:t>
            </a:r>
            <a:r>
              <a:rPr sz="2700" spc="-10" dirty="0">
                <a:latin typeface="Calibri"/>
                <a:cs typeface="Calibri"/>
              </a:rPr>
              <a:t>od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o</a:t>
            </a:r>
            <a:r>
              <a:rPr sz="2700" spc="-65" dirty="0">
                <a:latin typeface="Calibri"/>
                <a:cs typeface="Calibri"/>
              </a:rPr>
              <a:t>t</a:t>
            </a:r>
            <a:r>
              <a:rPr sz="2700" spc="-6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en</a:t>
            </a:r>
            <a:r>
              <a:rPr sz="2700" spc="15" dirty="0">
                <a:latin typeface="Calibri"/>
                <a:cs typeface="Calibri"/>
              </a:rPr>
              <a:t>i</a:t>
            </a:r>
            <a:r>
              <a:rPr sz="2700" spc="-25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mo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2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d</a:t>
            </a:r>
            <a:r>
              <a:rPr sz="2700" spc="-20" dirty="0">
                <a:latin typeface="Calibri"/>
                <a:cs typeface="Calibri"/>
              </a:rPr>
              <a:t>i</a:t>
            </a:r>
            <a:r>
              <a:rPr sz="2700" spc="-5" dirty="0">
                <a:latin typeface="Calibri"/>
                <a:cs typeface="Calibri"/>
              </a:rPr>
              <a:t>v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10" dirty="0">
                <a:latin typeface="Calibri"/>
                <a:cs typeface="Calibri"/>
              </a:rPr>
              <a:t>a</a:t>
            </a:r>
            <a:r>
              <a:rPr sz="2700" spc="-50" dirty="0">
                <a:latin typeface="Calibri"/>
                <a:cs typeface="Calibri"/>
              </a:rPr>
              <a:t>f</a:t>
            </a:r>
            <a:r>
              <a:rPr sz="2700" spc="-10" dirty="0">
                <a:latin typeface="Calibri"/>
                <a:cs typeface="Calibri"/>
              </a:rPr>
              <a:t>f</a:t>
            </a:r>
            <a:r>
              <a:rPr sz="2700" dirty="0">
                <a:latin typeface="Calibri"/>
                <a:cs typeface="Calibri"/>
              </a:rPr>
              <a:t>i</a:t>
            </a:r>
            <a:r>
              <a:rPr sz="2700" spc="-20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nc</a:t>
            </a:r>
            <a:r>
              <a:rPr sz="2700" spc="-60" dirty="0">
                <a:latin typeface="Calibri"/>
                <a:cs typeface="Calibri"/>
              </a:rPr>
              <a:t>a</a:t>
            </a:r>
            <a:r>
              <a:rPr sz="2700" spc="1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0" dirty="0">
                <a:latin typeface="Calibri"/>
                <a:cs typeface="Calibri"/>
              </a:rPr>
              <a:t>c</a:t>
            </a:r>
            <a:r>
              <a:rPr sz="2700" spc="-10" dirty="0">
                <a:latin typeface="Calibri"/>
                <a:cs typeface="Calibri"/>
              </a:rPr>
              <a:t>om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da  </a:t>
            </a:r>
            <a:r>
              <a:rPr sz="2700" spc="-15" dirty="0">
                <a:latin typeface="Calibri"/>
                <a:cs typeface="Calibri"/>
              </a:rPr>
              <a:t>figura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39" y="4208542"/>
            <a:ext cx="9077255" cy="142973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1596" y="889965"/>
            <a:ext cx="24047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Esercizio </a:t>
            </a:r>
            <a:r>
              <a:rPr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801" y="1827796"/>
            <a:ext cx="8081009" cy="4222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8255" algn="just">
              <a:lnSpc>
                <a:spcPct val="80000"/>
              </a:lnSpc>
              <a:spcBef>
                <a:spcPts val="745"/>
              </a:spcBef>
            </a:pPr>
            <a:r>
              <a:rPr sz="2700" spc="-15" dirty="0">
                <a:latin typeface="Calibri"/>
                <a:cs typeface="Calibri"/>
              </a:rPr>
              <a:t>Creare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file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index.html.</a:t>
            </a:r>
            <a:r>
              <a:rPr sz="2700" spc="-5" dirty="0">
                <a:latin typeface="Calibri"/>
                <a:cs typeface="Calibri"/>
              </a:rPr>
              <a:t> Creare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file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css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che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includeremo </a:t>
            </a:r>
            <a:r>
              <a:rPr sz="2700" spc="-5" dirty="0">
                <a:latin typeface="Calibri"/>
                <a:cs typeface="Calibri"/>
              </a:rPr>
              <a:t>nel </a:t>
            </a:r>
            <a:r>
              <a:rPr sz="2700" spc="-20" dirty="0">
                <a:latin typeface="Calibri"/>
                <a:cs typeface="Calibri"/>
              </a:rPr>
              <a:t>nostro </a:t>
            </a:r>
            <a:r>
              <a:rPr sz="2700" spc="-10" dirty="0">
                <a:latin typeface="Calibri"/>
                <a:cs typeface="Calibri"/>
              </a:rPr>
              <a:t>file html,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spc="-15" dirty="0">
                <a:latin typeface="Calibri"/>
                <a:cs typeface="Calibri"/>
              </a:rPr>
              <a:t>faremo in </a:t>
            </a:r>
            <a:r>
              <a:rPr sz="2700" spc="-5" dirty="0">
                <a:latin typeface="Calibri"/>
                <a:cs typeface="Calibri"/>
              </a:rPr>
              <a:t>modo che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ogni </a:t>
            </a:r>
            <a:r>
              <a:rPr sz="2700" spc="-30" dirty="0">
                <a:latin typeface="Calibri"/>
                <a:cs typeface="Calibri"/>
              </a:rPr>
              <a:t>testo </a:t>
            </a:r>
            <a:r>
              <a:rPr sz="2700" spc="-15" dirty="0">
                <a:latin typeface="Calibri"/>
                <a:cs typeface="Calibri"/>
              </a:rPr>
              <a:t>scritto </a:t>
            </a:r>
            <a:r>
              <a:rPr sz="2700" spc="-10" dirty="0">
                <a:latin typeface="Calibri"/>
                <a:cs typeface="Calibri"/>
              </a:rPr>
              <a:t>all’interno </a:t>
            </a:r>
            <a:r>
              <a:rPr sz="2700" spc="-5" dirty="0">
                <a:latin typeface="Calibri"/>
                <a:cs typeface="Calibri"/>
              </a:rPr>
              <a:t>della </a:t>
            </a:r>
            <a:r>
              <a:rPr sz="2700" spc="-10" dirty="0">
                <a:latin typeface="Calibri"/>
                <a:cs typeface="Calibri"/>
              </a:rPr>
              <a:t>pagina </a:t>
            </a:r>
            <a:r>
              <a:rPr sz="2700" spc="-5" dirty="0">
                <a:latin typeface="Calibri"/>
                <a:cs typeface="Calibri"/>
              </a:rPr>
              <a:t>ha </a:t>
            </a:r>
            <a:r>
              <a:rPr sz="2700" spc="-15" dirty="0">
                <a:latin typeface="Calibri"/>
                <a:cs typeface="Calibri"/>
              </a:rPr>
              <a:t>come colore </a:t>
            </a:r>
            <a:r>
              <a:rPr sz="2700" spc="-10" dirty="0">
                <a:latin typeface="Calibri"/>
                <a:cs typeface="Calibri"/>
              </a:rPr>
              <a:t> blu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spc="-20" dirty="0">
                <a:latin typeface="Calibri"/>
                <a:cs typeface="Calibri"/>
              </a:rPr>
              <a:t>grandezza </a:t>
            </a:r>
            <a:r>
              <a:rPr sz="2700" spc="-10" dirty="0">
                <a:latin typeface="Calibri"/>
                <a:cs typeface="Calibri"/>
              </a:rPr>
              <a:t>16px. </a:t>
            </a:r>
            <a:r>
              <a:rPr sz="2700" spc="-15" dirty="0">
                <a:latin typeface="Calibri"/>
                <a:cs typeface="Calibri"/>
              </a:rPr>
              <a:t>Mentre il </a:t>
            </a:r>
            <a:r>
              <a:rPr sz="2700" spc="-20" dirty="0">
                <a:latin typeface="Calibri"/>
                <a:cs typeface="Calibri"/>
              </a:rPr>
              <a:t>contenuto </a:t>
            </a:r>
            <a:r>
              <a:rPr sz="2700" spc="15" dirty="0">
                <a:latin typeface="Calibri"/>
                <a:cs typeface="Calibri"/>
              </a:rPr>
              <a:t>di </a:t>
            </a:r>
            <a:r>
              <a:rPr sz="2700" spc="-30" dirty="0">
                <a:latin typeface="Calibri"/>
                <a:cs typeface="Calibri"/>
              </a:rPr>
              <a:t>tutte </a:t>
            </a:r>
            <a:r>
              <a:rPr sz="2700" spc="-10" dirty="0">
                <a:latin typeface="Calibri"/>
                <a:cs typeface="Calibri"/>
              </a:rPr>
              <a:t>le </a:t>
            </a:r>
            <a:r>
              <a:rPr sz="2700" spc="-5" dirty="0">
                <a:latin typeface="Calibri"/>
                <a:cs typeface="Calibri"/>
              </a:rPr>
              <a:t>celle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della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tabella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sia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allineato</a:t>
            </a:r>
            <a:r>
              <a:rPr sz="2700" spc="1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destra…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provare…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150" dirty="0">
              <a:latin typeface="Calibri"/>
              <a:cs typeface="Calibri"/>
            </a:endParaRPr>
          </a:p>
          <a:p>
            <a:pPr marL="12700" marR="5080" algn="just">
              <a:lnSpc>
                <a:spcPct val="80000"/>
              </a:lnSpc>
              <a:spcBef>
                <a:spcPts val="5"/>
              </a:spcBef>
            </a:pPr>
            <a:r>
              <a:rPr sz="2700" spc="-5" dirty="0">
                <a:latin typeface="Calibri"/>
                <a:cs typeface="Calibri"/>
              </a:rPr>
              <a:t>Dopo </a:t>
            </a:r>
            <a:r>
              <a:rPr sz="2700" spc="-30" dirty="0">
                <a:latin typeface="Calibri"/>
                <a:cs typeface="Calibri"/>
              </a:rPr>
              <a:t>aver </a:t>
            </a:r>
            <a:r>
              <a:rPr sz="2700" spc="-25" dirty="0">
                <a:latin typeface="Calibri"/>
                <a:cs typeface="Calibri"/>
              </a:rPr>
              <a:t>impostato </a:t>
            </a:r>
            <a:r>
              <a:rPr sz="2700" spc="5" dirty="0">
                <a:latin typeface="Calibri"/>
                <a:cs typeface="Calibri"/>
              </a:rPr>
              <a:t>la </a:t>
            </a:r>
            <a:r>
              <a:rPr sz="2700" spc="-10" dirty="0">
                <a:latin typeface="Calibri"/>
                <a:cs typeface="Calibri"/>
              </a:rPr>
              <a:t>pagina, </a:t>
            </a:r>
            <a:r>
              <a:rPr sz="2700" spc="-15" dirty="0">
                <a:latin typeface="Calibri"/>
                <a:cs typeface="Calibri"/>
              </a:rPr>
              <a:t>creare il </a:t>
            </a:r>
            <a:r>
              <a:rPr sz="2700" spc="-20" dirty="0">
                <a:latin typeface="Calibri"/>
                <a:cs typeface="Calibri"/>
              </a:rPr>
              <a:t>contenuto </a:t>
            </a:r>
            <a:r>
              <a:rPr sz="2700" spc="-5" dirty="0">
                <a:latin typeface="Calibri"/>
                <a:cs typeface="Calibri"/>
              </a:rPr>
              <a:t>della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stessa in questo </a:t>
            </a:r>
            <a:r>
              <a:rPr sz="2700" spc="-5" dirty="0">
                <a:latin typeface="Calibri"/>
                <a:cs typeface="Calibri"/>
              </a:rPr>
              <a:t>modo : </a:t>
            </a:r>
            <a:r>
              <a:rPr sz="2700" spc="-10" dirty="0">
                <a:latin typeface="Calibri"/>
                <a:cs typeface="Calibri"/>
              </a:rPr>
              <a:t>inserire il </a:t>
            </a:r>
            <a:r>
              <a:rPr sz="2700" spc="-5" dirty="0">
                <a:latin typeface="Calibri"/>
                <a:cs typeface="Calibri"/>
              </a:rPr>
              <a:t>titolo “Corso </a:t>
            </a:r>
            <a:r>
              <a:rPr sz="2700" spc="-45" dirty="0">
                <a:latin typeface="Calibri"/>
                <a:cs typeface="Calibri"/>
              </a:rPr>
              <a:t>Html”, </a:t>
            </a:r>
            <a:r>
              <a:rPr sz="2700" spc="5" dirty="0">
                <a:latin typeface="Calibri"/>
                <a:cs typeface="Calibri"/>
              </a:rPr>
              <a:t>poi 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30" dirty="0">
                <a:latin typeface="Calibri"/>
                <a:cs typeface="Calibri"/>
              </a:rPr>
              <a:t>testo </a:t>
            </a:r>
            <a:r>
              <a:rPr sz="2700" spc="-20" dirty="0">
                <a:latin typeface="Calibri"/>
                <a:cs typeface="Calibri"/>
              </a:rPr>
              <a:t>introduttivo </a:t>
            </a:r>
            <a:r>
              <a:rPr sz="2700" spc="-5" dirty="0">
                <a:latin typeface="Calibri"/>
                <a:cs typeface="Calibri"/>
              </a:rPr>
              <a:t>che </a:t>
            </a:r>
            <a:r>
              <a:rPr sz="2700" spc="-10" dirty="0">
                <a:latin typeface="Calibri"/>
                <a:cs typeface="Calibri"/>
              </a:rPr>
              <a:t>descrive </a:t>
            </a:r>
            <a:r>
              <a:rPr sz="2700" spc="5" dirty="0">
                <a:latin typeface="Calibri"/>
                <a:cs typeface="Calibri"/>
              </a:rPr>
              <a:t>il </a:t>
            </a:r>
            <a:r>
              <a:rPr sz="2700" spc="-5" dirty="0">
                <a:latin typeface="Calibri"/>
                <a:cs typeface="Calibri"/>
              </a:rPr>
              <a:t>linguaggio html e </a:t>
            </a:r>
            <a:r>
              <a:rPr sz="2700" spc="30" dirty="0">
                <a:latin typeface="Calibri"/>
                <a:cs typeface="Calibri"/>
              </a:rPr>
              <a:t>di 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seguito</a:t>
            </a:r>
            <a:r>
              <a:rPr sz="2700" spc="-5" dirty="0">
                <a:latin typeface="Calibri"/>
                <a:cs typeface="Calibri"/>
              </a:rPr>
              <a:t> una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tabella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due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colonne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dove</a:t>
            </a:r>
            <a:r>
              <a:rPr sz="2700" spc="57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metteremo </a:t>
            </a:r>
            <a:r>
              <a:rPr sz="2700" spc="-10" dirty="0">
                <a:latin typeface="Calibri"/>
                <a:cs typeface="Calibri"/>
              </a:rPr>
              <a:t> nella </a:t>
            </a:r>
            <a:r>
              <a:rPr sz="2700" spc="-5" dirty="0">
                <a:latin typeface="Calibri"/>
                <a:cs typeface="Calibri"/>
              </a:rPr>
              <a:t>prima </a:t>
            </a:r>
            <a:r>
              <a:rPr sz="2700" spc="-10" dirty="0">
                <a:latin typeface="Calibri"/>
                <a:cs typeface="Calibri"/>
              </a:rPr>
              <a:t>colonna </a:t>
            </a: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spc="-15" dirty="0">
                <a:latin typeface="Calibri"/>
                <a:cs typeface="Calibri"/>
              </a:rPr>
              <a:t>tag </a:t>
            </a:r>
            <a:r>
              <a:rPr sz="2700" spc="-10" dirty="0">
                <a:latin typeface="Calibri"/>
                <a:cs typeface="Calibri"/>
              </a:rPr>
              <a:t>principali </a:t>
            </a:r>
            <a:r>
              <a:rPr sz="2700" spc="-5" dirty="0">
                <a:latin typeface="Calibri"/>
                <a:cs typeface="Calibri"/>
              </a:rPr>
              <a:t>html e nella </a:t>
            </a:r>
            <a:r>
              <a:rPr sz="2700" spc="-10" dirty="0">
                <a:latin typeface="Calibri"/>
                <a:cs typeface="Calibri"/>
              </a:rPr>
              <a:t>seconda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colonna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loro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significato.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Esercizio </a:t>
            </a:r>
            <a:r>
              <a:rPr dirty="0"/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145" y="1684642"/>
            <a:ext cx="8819642" cy="44819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Esercizio</a:t>
            </a:r>
            <a:r>
              <a:rPr spc="-30" dirty="0"/>
              <a:t> </a:t>
            </a:r>
            <a:r>
              <a:rPr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79257"/>
            <a:ext cx="8068945" cy="100393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sz="3200" spc="-20" dirty="0">
                <a:latin typeface="Calibri"/>
                <a:cs typeface="Calibri"/>
              </a:rPr>
              <a:t>D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-10" dirty="0">
                <a:latin typeface="Calibri"/>
                <a:cs typeface="Calibri"/>
              </a:rPr>
              <a:t>se</a:t>
            </a:r>
            <a:r>
              <a:rPr sz="3200" spc="10" dirty="0">
                <a:latin typeface="Calibri"/>
                <a:cs typeface="Calibri"/>
              </a:rPr>
              <a:t>g</a:t>
            </a:r>
            <a:r>
              <a:rPr sz="3200" spc="-20" dirty="0">
                <a:latin typeface="Calibri"/>
                <a:cs typeface="Calibri"/>
              </a:rPr>
              <a:t>n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qu</a:t>
            </a:r>
            <a:r>
              <a:rPr sz="3200" spc="-5" dirty="0">
                <a:latin typeface="Calibri"/>
                <a:cs typeface="Calibri"/>
              </a:rPr>
              <a:t>es</a:t>
            </a:r>
            <a:r>
              <a:rPr sz="3200" spc="-50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	i</a:t>
            </a:r>
            <a:r>
              <a:rPr sz="3200" spc="30" dirty="0">
                <a:latin typeface="Calibri"/>
                <a:cs typeface="Calibri"/>
              </a:rPr>
              <a:t>m</a:t>
            </a:r>
            <a:r>
              <a:rPr sz="3200" spc="-5" dirty="0">
                <a:latin typeface="Calibri"/>
                <a:cs typeface="Calibri"/>
              </a:rPr>
              <a:t>m</a:t>
            </a:r>
            <a:r>
              <a:rPr sz="3200" spc="20" dirty="0">
                <a:latin typeface="Calibri"/>
                <a:cs typeface="Calibri"/>
              </a:rPr>
              <a:t>a</a:t>
            </a:r>
            <a:r>
              <a:rPr sz="3200" spc="-20" dirty="0">
                <a:latin typeface="Calibri"/>
                <a:cs typeface="Calibri"/>
              </a:rPr>
              <a:t>g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15" dirty="0">
                <a:latin typeface="Calibri"/>
                <a:cs typeface="Calibri"/>
              </a:rPr>
              <a:t>n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45" dirty="0">
                <a:latin typeface="Calibri"/>
                <a:cs typeface="Calibri"/>
              </a:rPr>
              <a:t>c</a:t>
            </a:r>
            <a:r>
              <a:rPr sz="3200" spc="5" dirty="0">
                <a:latin typeface="Calibri"/>
                <a:cs typeface="Calibri"/>
              </a:rPr>
              <a:t>o</a:t>
            </a:r>
            <a:r>
              <a:rPr sz="3200" spc="-5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5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l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" dirty="0">
                <a:latin typeface="Calibri"/>
                <a:cs typeface="Calibri"/>
              </a:rPr>
              <a:t>c</a:t>
            </a:r>
            <a:r>
              <a:rPr sz="3200" spc="-25" dirty="0">
                <a:latin typeface="Calibri"/>
                <a:cs typeface="Calibri"/>
              </a:rPr>
              <a:t>o</a:t>
            </a:r>
            <a:r>
              <a:rPr sz="3200" spc="-10" dirty="0">
                <a:latin typeface="Calibri"/>
                <a:cs typeface="Calibri"/>
              </a:rPr>
              <a:t>dic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5" dirty="0">
                <a:latin typeface="Calibri"/>
                <a:cs typeface="Calibri"/>
              </a:rPr>
              <a:t>h</a:t>
            </a:r>
            <a:r>
              <a:rPr sz="3200" spc="-5" dirty="0">
                <a:latin typeface="Calibri"/>
                <a:cs typeface="Calibri"/>
              </a:rPr>
              <a:t>tml  </a:t>
            </a:r>
            <a:r>
              <a:rPr sz="3200" spc="-10" dirty="0">
                <a:latin typeface="Calibri"/>
                <a:cs typeface="Calibri"/>
              </a:rPr>
              <a:t>utilizzando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una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tabella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0948" y="3054453"/>
            <a:ext cx="2946279" cy="30223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903016" y="829599"/>
            <a:ext cx="3335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lang="it-IT" spc="-15" dirty="0" err="1"/>
              <a:t>Before</a:t>
            </a:r>
            <a:r>
              <a:rPr lang="it-IT" spc="-15" dirty="0"/>
              <a:t> e After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1609990"/>
            <a:ext cx="8762999" cy="37387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In CSS, </a:t>
            </a:r>
            <a:r>
              <a:rPr lang="it-IT" b="1" spc="-20" dirty="0">
                <a:cs typeface="Calibri"/>
              </a:rPr>
              <a:t>::</a:t>
            </a:r>
            <a:r>
              <a:rPr lang="it-IT" b="1" spc="-20" dirty="0" err="1">
                <a:cs typeface="Calibri"/>
              </a:rPr>
              <a:t>before</a:t>
            </a:r>
            <a:r>
              <a:rPr lang="it-IT" b="1" spc="-20" dirty="0">
                <a:cs typeface="Calibri"/>
              </a:rPr>
              <a:t> e ::</a:t>
            </a:r>
            <a:r>
              <a:rPr lang="it-IT" b="1" spc="-20" dirty="0" err="1">
                <a:cs typeface="Calibri"/>
              </a:rPr>
              <a:t>after</a:t>
            </a:r>
            <a:r>
              <a:rPr lang="it-IT" b="1" spc="-20" dirty="0">
                <a:cs typeface="Calibri"/>
              </a:rPr>
              <a:t> </a:t>
            </a:r>
            <a:r>
              <a:rPr lang="it-IT" spc="-20" dirty="0">
                <a:cs typeface="Calibri"/>
              </a:rPr>
              <a:t>sono pseudo-elementi che permettono di aggiungere contenuti a un elemento HTML senza dover modificare il markup del documento.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endParaRPr lang="it-IT" spc="-20" dirty="0">
              <a:cs typeface="Calibri"/>
            </a:endParaRP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::</a:t>
            </a:r>
            <a:r>
              <a:rPr lang="it-IT" spc="-20" dirty="0" err="1">
                <a:cs typeface="Calibri"/>
              </a:rPr>
              <a:t>before</a:t>
            </a:r>
            <a:r>
              <a:rPr lang="it-IT" spc="-20" dirty="0">
                <a:cs typeface="Calibri"/>
              </a:rPr>
              <a:t> e ::</a:t>
            </a:r>
            <a:r>
              <a:rPr lang="it-IT" spc="-20" dirty="0" err="1">
                <a:cs typeface="Calibri"/>
              </a:rPr>
              <a:t>after</a:t>
            </a:r>
            <a:r>
              <a:rPr lang="it-IT" spc="-20" dirty="0">
                <a:cs typeface="Calibri"/>
              </a:rPr>
              <a:t> funzionano come se fossero figli dell'elemento selezionato, ma non hanno contenuto visibile di default. Possiamo utilizzarli per aggiungere testo, immagini, icone o altri elementi visivi ad un elemento HTML.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endParaRPr lang="it-IT" spc="-20" dirty="0">
              <a:cs typeface="Calibri"/>
            </a:endParaRP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Ecco come utilizzare ::</a:t>
            </a:r>
            <a:r>
              <a:rPr lang="it-IT" spc="-20" dirty="0" err="1">
                <a:cs typeface="Calibri"/>
              </a:rPr>
              <a:t>before</a:t>
            </a:r>
            <a:r>
              <a:rPr lang="it-IT" spc="-20" dirty="0">
                <a:cs typeface="Calibri"/>
              </a:rPr>
              <a:t> e ::</a:t>
            </a:r>
            <a:r>
              <a:rPr lang="it-IT" spc="-20" dirty="0" err="1">
                <a:cs typeface="Calibri"/>
              </a:rPr>
              <a:t>after</a:t>
            </a:r>
            <a:r>
              <a:rPr lang="it-IT" spc="-20" dirty="0">
                <a:cs typeface="Calibri"/>
              </a:rPr>
              <a:t> nei CSS: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endParaRPr lang="it-IT" spc="-20" dirty="0">
              <a:cs typeface="Calibri"/>
            </a:endParaRPr>
          </a:p>
          <a:p>
            <a:pPr marL="355600" marR="5080" indent="-342900">
              <a:lnSpc>
                <a:spcPct val="100699"/>
              </a:lnSpc>
              <a:spcBef>
                <a:spcPts val="65"/>
              </a:spcBef>
              <a:buFont typeface="+mj-lt"/>
              <a:buAutoNum type="arabicPeriod"/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Seleziona l'elemento HTML a cui vuoi aggiungere il contenuto.</a:t>
            </a:r>
          </a:p>
          <a:p>
            <a:pPr marL="355600" marR="5080" indent="-342900">
              <a:lnSpc>
                <a:spcPct val="100699"/>
              </a:lnSpc>
              <a:spcBef>
                <a:spcPts val="65"/>
              </a:spcBef>
              <a:buFont typeface="+mj-lt"/>
              <a:buAutoNum type="arabicPeriod"/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Aggiungi la regola CSS </a:t>
            </a:r>
            <a:r>
              <a:rPr lang="it-IT" spc="-20" dirty="0" err="1">
                <a:cs typeface="Calibri"/>
              </a:rPr>
              <a:t>content</a:t>
            </a:r>
            <a:r>
              <a:rPr lang="it-IT" spc="-20" dirty="0">
                <a:cs typeface="Calibri"/>
              </a:rPr>
              <a:t> al tuo stile per indicare il contenuto che vuoi aggiungere. Il valore della proprietà </a:t>
            </a:r>
            <a:r>
              <a:rPr lang="it-IT" spc="-20" dirty="0" err="1">
                <a:cs typeface="Calibri"/>
              </a:rPr>
              <a:t>content</a:t>
            </a:r>
            <a:r>
              <a:rPr lang="it-IT" spc="-20" dirty="0">
                <a:cs typeface="Calibri"/>
              </a:rPr>
              <a:t> può essere testo, immagini o codice HTML. 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Ad esempio: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361D2E6-F9AB-4E55-87BB-EB578CC38319}"/>
              </a:ext>
            </a:extLst>
          </p:cNvPr>
          <p:cNvSpPr/>
          <p:nvPr/>
        </p:nvSpPr>
        <p:spPr>
          <a:xfrm>
            <a:off x="2565327" y="5665419"/>
            <a:ext cx="4010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latin typeface="Söhne Mono"/>
              </a:rPr>
              <a:t>div</a:t>
            </a:r>
            <a:r>
              <a:rPr lang="it-IT" dirty="0">
                <a:solidFill>
                  <a:srgbClr val="DF3079"/>
                </a:solidFill>
                <a:latin typeface="Söhne Mono"/>
              </a:rPr>
              <a:t>::</a:t>
            </a:r>
            <a:r>
              <a:rPr lang="it-IT" dirty="0" err="1">
                <a:solidFill>
                  <a:srgbClr val="DF3079"/>
                </a:solidFill>
                <a:latin typeface="Söhne Mono"/>
              </a:rPr>
              <a:t>before</a:t>
            </a:r>
            <a:r>
              <a:rPr lang="it-IT" dirty="0">
                <a:latin typeface="Söhne Mono"/>
              </a:rPr>
              <a:t> { </a:t>
            </a:r>
            <a:r>
              <a:rPr lang="it-IT" dirty="0" err="1">
                <a:solidFill>
                  <a:srgbClr val="00A67D"/>
                </a:solidFill>
                <a:latin typeface="Söhne Mono"/>
              </a:rPr>
              <a:t>content</a:t>
            </a:r>
            <a:r>
              <a:rPr lang="it-IT" dirty="0">
                <a:solidFill>
                  <a:srgbClr val="FFFFFF"/>
                </a:solidFill>
                <a:latin typeface="Söhne Mono"/>
              </a:rPr>
              <a:t>: </a:t>
            </a:r>
            <a:r>
              <a:rPr lang="it-IT" dirty="0">
                <a:solidFill>
                  <a:srgbClr val="00A67D"/>
                </a:solidFill>
                <a:latin typeface="Söhne Mono"/>
              </a:rPr>
              <a:t>"Prima del testo"</a:t>
            </a:r>
            <a:r>
              <a:rPr lang="it-IT" dirty="0">
                <a:latin typeface="Söhne Mono"/>
              </a:rPr>
              <a:t>; }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18957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903016" y="829599"/>
            <a:ext cx="3335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lang="it-IT" spc="-15" dirty="0" err="1"/>
              <a:t>Before</a:t>
            </a:r>
            <a:r>
              <a:rPr lang="it-IT" spc="-15" dirty="0"/>
              <a:t> e After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16725" y="1519531"/>
            <a:ext cx="8762999" cy="2288703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In questo esempio, stiamo selezionando tutti gli elementi div e aggiungendo il testo "Prima del testo" prima del loro contenuto.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endParaRPr lang="it-IT" spc="-20" dirty="0">
              <a:cs typeface="Calibri"/>
            </a:endParaRPr>
          </a:p>
          <a:p>
            <a:pPr marL="355600" marR="5080" indent="-342900">
              <a:lnSpc>
                <a:spcPct val="100699"/>
              </a:lnSpc>
              <a:spcBef>
                <a:spcPts val="65"/>
              </a:spcBef>
              <a:buFont typeface="+mj-lt"/>
              <a:buAutoNum type="arabicPeriod"/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Aggiungi altre regole CSS per personalizzare l'aspetto del contenuto aggiunto. È possibile utilizzare tutte le proprietà CSS che normalmente si utilizzano per personalizzare gli elementi HTML, come background, color, font-size, position, </a:t>
            </a:r>
            <a:r>
              <a:rPr lang="it-IT" spc="-20" dirty="0" err="1">
                <a:cs typeface="Calibri"/>
              </a:rPr>
              <a:t>margin</a:t>
            </a:r>
            <a:r>
              <a:rPr lang="it-IT" spc="-20" dirty="0">
                <a:cs typeface="Calibri"/>
              </a:rPr>
              <a:t>, etc.</a:t>
            </a:r>
          </a:p>
          <a:p>
            <a:pPr marL="355600" marR="5080" indent="-342900">
              <a:lnSpc>
                <a:spcPct val="100699"/>
              </a:lnSpc>
              <a:spcBef>
                <a:spcPts val="65"/>
              </a:spcBef>
              <a:buFont typeface="+mj-lt"/>
              <a:buAutoNum type="arabicPeriod"/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Ripeti il processo per l'altro pseudo-elemento ::</a:t>
            </a:r>
            <a:r>
              <a:rPr lang="it-IT" spc="-20" dirty="0" err="1">
                <a:cs typeface="Calibri"/>
              </a:rPr>
              <a:t>after</a:t>
            </a:r>
            <a:r>
              <a:rPr lang="it-IT" spc="-20" dirty="0">
                <a:cs typeface="Calibri"/>
              </a:rPr>
              <a:t>. 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Ad esempio: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361D2E6-F9AB-4E55-87BB-EB578CC38319}"/>
              </a:ext>
            </a:extLst>
          </p:cNvPr>
          <p:cNvSpPr/>
          <p:nvPr/>
        </p:nvSpPr>
        <p:spPr>
          <a:xfrm>
            <a:off x="2551907" y="3889375"/>
            <a:ext cx="4116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latin typeface="Söhne Mono"/>
              </a:rPr>
              <a:t>div</a:t>
            </a:r>
            <a:r>
              <a:rPr lang="it-IT" dirty="0">
                <a:solidFill>
                  <a:srgbClr val="DF3079"/>
                </a:solidFill>
                <a:latin typeface="Söhne Mono"/>
              </a:rPr>
              <a:t>::</a:t>
            </a:r>
            <a:r>
              <a:rPr lang="it-IT" dirty="0" err="1">
                <a:solidFill>
                  <a:srgbClr val="DF3079"/>
                </a:solidFill>
                <a:latin typeface="Söhne Mono"/>
              </a:rPr>
              <a:t>after</a:t>
            </a:r>
            <a:r>
              <a:rPr lang="it-IT" dirty="0">
                <a:latin typeface="Söhne Mono"/>
              </a:rPr>
              <a:t> { </a:t>
            </a:r>
            <a:r>
              <a:rPr lang="it-IT" dirty="0" err="1">
                <a:solidFill>
                  <a:srgbClr val="00A67D"/>
                </a:solidFill>
                <a:latin typeface="Söhne Mono"/>
              </a:rPr>
              <a:t>content</a:t>
            </a:r>
            <a:r>
              <a:rPr lang="it-IT" dirty="0">
                <a:solidFill>
                  <a:srgbClr val="FFFFFF"/>
                </a:solidFill>
                <a:latin typeface="Söhne Mono"/>
              </a:rPr>
              <a:t>: </a:t>
            </a:r>
            <a:r>
              <a:rPr lang="it-IT" dirty="0">
                <a:solidFill>
                  <a:srgbClr val="00A67D"/>
                </a:solidFill>
                <a:latin typeface="Söhne Mono"/>
              </a:rPr>
              <a:t>"Dopo il contenuto"</a:t>
            </a:r>
            <a:r>
              <a:rPr lang="it-IT" dirty="0">
                <a:latin typeface="Söhne Mono"/>
              </a:rPr>
              <a:t>; }</a:t>
            </a:r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0660F67-EB5D-48A7-9046-D1A77AA93388}"/>
              </a:ext>
            </a:extLst>
          </p:cNvPr>
          <p:cNvSpPr/>
          <p:nvPr/>
        </p:nvSpPr>
        <p:spPr>
          <a:xfrm>
            <a:off x="224116" y="4258707"/>
            <a:ext cx="876299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/>
              <a:t>In questo esempio, stiamo aggiungendo il testo "Dopo il testo" dopo il contenuto di tutti gli elementi div.</a:t>
            </a:r>
          </a:p>
          <a:p>
            <a:endParaRPr lang="it-IT" dirty="0"/>
          </a:p>
          <a:p>
            <a:r>
              <a:rPr lang="it-IT" dirty="0"/>
              <a:t>Ecco un esempio completo che utilizza ::</a:t>
            </a:r>
            <a:r>
              <a:rPr lang="it-IT" dirty="0" err="1"/>
              <a:t>before</a:t>
            </a:r>
            <a:r>
              <a:rPr lang="it-IT" dirty="0"/>
              <a:t> e ::</a:t>
            </a:r>
            <a:r>
              <a:rPr lang="it-IT" dirty="0" err="1"/>
              <a:t>after</a:t>
            </a:r>
            <a:r>
              <a:rPr lang="it-IT" dirty="0"/>
              <a:t> per aggiungere degli indicatori a delle liste:</a:t>
            </a:r>
          </a:p>
          <a:p>
            <a:endParaRPr lang="it-IT" dirty="0"/>
          </a:p>
          <a:p>
            <a:r>
              <a:rPr lang="it-IT" dirty="0"/>
              <a:t>HTML:</a:t>
            </a:r>
          </a:p>
        </p:txBody>
      </p:sp>
    </p:spTree>
    <p:extLst>
      <p:ext uri="{BB962C8B-B14F-4D97-AF65-F5344CB8AC3E}">
        <p14:creationId xmlns:p14="http://schemas.microsoft.com/office/powerpoint/2010/main" val="19125658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903016" y="829599"/>
            <a:ext cx="3335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lang="it-IT" spc="-15" dirty="0" err="1"/>
              <a:t>Before</a:t>
            </a:r>
            <a:r>
              <a:rPr lang="it-IT" spc="-15" dirty="0"/>
              <a:t> e After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16725" y="1519531"/>
            <a:ext cx="8762999" cy="1449436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&lt;</a:t>
            </a:r>
            <a:r>
              <a:rPr lang="it-IT" spc="-20" dirty="0" err="1">
                <a:cs typeface="Calibri"/>
              </a:rPr>
              <a:t>ul</a:t>
            </a:r>
            <a:r>
              <a:rPr lang="it-IT" spc="-20" dirty="0">
                <a:cs typeface="Calibri"/>
              </a:rPr>
              <a:t>&gt;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  &lt;li&gt;Primo elemento&lt;/li&gt;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  &lt;li&gt;Secondo elemento&lt;/li&gt;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  &lt;li&gt;Terzo elemento&lt;/li&gt;</a:t>
            </a:r>
          </a:p>
          <a:p>
            <a:pPr marL="12700" marR="5080">
              <a:lnSpc>
                <a:spcPct val="100699"/>
              </a:lnSpc>
              <a:spcBef>
                <a:spcPts val="65"/>
              </a:spcBef>
              <a:tabLst>
                <a:tab pos="1828800" algn="l"/>
                <a:tab pos="3108325" algn="l"/>
                <a:tab pos="4928870" algn="l"/>
                <a:tab pos="5695315" algn="l"/>
                <a:tab pos="6055360" algn="l"/>
                <a:tab pos="7294880" algn="l"/>
              </a:tabLst>
            </a:pPr>
            <a:r>
              <a:rPr lang="it-IT" spc="-20" dirty="0">
                <a:cs typeface="Calibri"/>
              </a:rPr>
              <a:t>&lt;/</a:t>
            </a:r>
            <a:r>
              <a:rPr lang="it-IT" spc="-20" dirty="0" err="1">
                <a:cs typeface="Calibri"/>
              </a:rPr>
              <a:t>ul</a:t>
            </a:r>
            <a:r>
              <a:rPr lang="it-IT" spc="-20" dirty="0">
                <a:cs typeface="Calibri"/>
              </a:rPr>
              <a:t>&gt;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C11398B-505B-43CD-A931-76DB59E25971}"/>
              </a:ext>
            </a:extLst>
          </p:cNvPr>
          <p:cNvSpPr/>
          <p:nvPr/>
        </p:nvSpPr>
        <p:spPr>
          <a:xfrm>
            <a:off x="4698224" y="1515062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 err="1"/>
              <a:t>ul</a:t>
            </a:r>
            <a:r>
              <a:rPr lang="it-IT" dirty="0"/>
              <a:t> {</a:t>
            </a:r>
          </a:p>
          <a:p>
            <a:r>
              <a:rPr lang="it-IT" dirty="0"/>
              <a:t>  list-style: none;</a:t>
            </a:r>
          </a:p>
          <a:p>
            <a:r>
              <a:rPr lang="it-IT" dirty="0"/>
              <a:t>  </a:t>
            </a:r>
            <a:r>
              <a:rPr lang="it-IT" dirty="0" err="1"/>
              <a:t>padding</a:t>
            </a:r>
            <a:r>
              <a:rPr lang="it-IT" dirty="0"/>
              <a:t>: 0;</a:t>
            </a:r>
          </a:p>
          <a:p>
            <a:r>
              <a:rPr lang="it-IT" dirty="0"/>
              <a:t>}</a:t>
            </a:r>
          </a:p>
          <a:p>
            <a:endParaRPr lang="it-IT" dirty="0"/>
          </a:p>
          <a:p>
            <a:r>
              <a:rPr lang="it-IT" dirty="0"/>
              <a:t>li::</a:t>
            </a:r>
            <a:r>
              <a:rPr lang="it-IT" dirty="0" err="1"/>
              <a:t>before</a:t>
            </a:r>
            <a:r>
              <a:rPr lang="it-IT" dirty="0"/>
              <a:t> {</a:t>
            </a:r>
          </a:p>
          <a:p>
            <a:r>
              <a:rPr lang="it-IT" dirty="0"/>
              <a:t>  </a:t>
            </a:r>
            <a:r>
              <a:rPr lang="it-IT" dirty="0" err="1"/>
              <a:t>content</a:t>
            </a:r>
            <a:r>
              <a:rPr lang="it-IT" dirty="0"/>
              <a:t>: "\2022"; /* Utilizziamo un carattere </a:t>
            </a:r>
            <a:r>
              <a:rPr lang="it-IT" dirty="0" err="1"/>
              <a:t>unicode</a:t>
            </a:r>
            <a:r>
              <a:rPr lang="it-IT" dirty="0"/>
              <a:t> per l'indicatore */</a:t>
            </a:r>
          </a:p>
          <a:p>
            <a:r>
              <a:rPr lang="it-IT" dirty="0"/>
              <a:t>  </a:t>
            </a:r>
            <a:r>
              <a:rPr lang="it-IT" dirty="0" err="1"/>
              <a:t>margin</a:t>
            </a:r>
            <a:r>
              <a:rPr lang="it-IT" dirty="0"/>
              <a:t>-right: 0.5em;</a:t>
            </a:r>
          </a:p>
          <a:p>
            <a:r>
              <a:rPr lang="it-IT" dirty="0"/>
              <a:t>}</a:t>
            </a:r>
          </a:p>
          <a:p>
            <a:endParaRPr lang="it-IT" dirty="0"/>
          </a:p>
          <a:p>
            <a:r>
              <a:rPr lang="it-IT" dirty="0"/>
              <a:t>li::</a:t>
            </a:r>
            <a:r>
              <a:rPr lang="it-IT" dirty="0" err="1"/>
              <a:t>after</a:t>
            </a:r>
            <a:r>
              <a:rPr lang="it-IT" dirty="0"/>
              <a:t> {</a:t>
            </a:r>
          </a:p>
          <a:p>
            <a:r>
              <a:rPr lang="it-IT" dirty="0"/>
              <a:t>  </a:t>
            </a:r>
            <a:r>
              <a:rPr lang="it-IT" dirty="0" err="1"/>
              <a:t>content</a:t>
            </a:r>
            <a:r>
              <a:rPr lang="it-IT" dirty="0"/>
              <a:t>: "";</a:t>
            </a:r>
          </a:p>
          <a:p>
            <a:r>
              <a:rPr lang="it-IT" dirty="0"/>
              <a:t>  display: block;</a:t>
            </a:r>
          </a:p>
          <a:p>
            <a:r>
              <a:rPr lang="it-IT" dirty="0"/>
              <a:t>  </a:t>
            </a:r>
            <a:r>
              <a:rPr lang="it-IT" dirty="0" err="1"/>
              <a:t>height</a:t>
            </a:r>
            <a:r>
              <a:rPr lang="it-IT" dirty="0"/>
              <a:t>: 1px;</a:t>
            </a:r>
          </a:p>
          <a:p>
            <a:r>
              <a:rPr lang="it-IT" dirty="0"/>
              <a:t>  background-color: #ccc;</a:t>
            </a:r>
          </a:p>
          <a:p>
            <a:r>
              <a:rPr lang="it-IT" dirty="0"/>
              <a:t>  </a:t>
            </a:r>
            <a:r>
              <a:rPr lang="it-IT" dirty="0" err="1"/>
              <a:t>margin</a:t>
            </a:r>
            <a:r>
              <a:rPr lang="it-IT" dirty="0"/>
              <a:t>-top: 0.5em;</a:t>
            </a:r>
          </a:p>
          <a:p>
            <a:r>
              <a:rPr lang="it-IT" dirty="0"/>
              <a:t>}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EC0754C-52F1-43D3-A079-3867B577337A}"/>
              </a:ext>
            </a:extLst>
          </p:cNvPr>
          <p:cNvSpPr/>
          <p:nvPr/>
        </p:nvSpPr>
        <p:spPr>
          <a:xfrm>
            <a:off x="126224" y="3279775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In questo esempio, stiamo selezionando tutti gli elementi li all'interno dell'elemento </a:t>
            </a:r>
            <a:r>
              <a:rPr lang="it-IT" dirty="0" err="1"/>
              <a:t>ul</a:t>
            </a:r>
            <a:r>
              <a:rPr lang="it-IT" dirty="0"/>
              <a:t>. Stiamo aggiungendo il carattere </a:t>
            </a:r>
            <a:r>
              <a:rPr lang="it-IT" dirty="0" err="1"/>
              <a:t>unicode</a:t>
            </a:r>
            <a:r>
              <a:rPr lang="it-IT" dirty="0"/>
              <a:t> "\2022" come contenuto dell'elemento ::</a:t>
            </a:r>
            <a:r>
              <a:rPr lang="it-IT" dirty="0" err="1"/>
              <a:t>before</a:t>
            </a:r>
            <a:r>
              <a:rPr lang="it-IT" dirty="0"/>
              <a:t> per creare un indicatore a forma di pallino. Stiamo anche utilizzando l'elemento ::</a:t>
            </a:r>
            <a:r>
              <a:rPr lang="it-IT" dirty="0" err="1"/>
              <a:t>after</a:t>
            </a:r>
            <a:r>
              <a:rPr lang="it-IT" dirty="0"/>
              <a:t> per aggiungere una riga orizzontale sotto ogni elemento della lista.</a:t>
            </a:r>
          </a:p>
        </p:txBody>
      </p:sp>
    </p:spTree>
    <p:extLst>
      <p:ext uri="{BB962C8B-B14F-4D97-AF65-F5344CB8AC3E}">
        <p14:creationId xmlns:p14="http://schemas.microsoft.com/office/powerpoint/2010/main" val="1429842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1195</TotalTime>
  <Words>4526</Words>
  <Application>Microsoft Office PowerPoint</Application>
  <PresentationFormat>Personalizzato</PresentationFormat>
  <Paragraphs>464</Paragraphs>
  <Slides>65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65</vt:i4>
      </vt:variant>
    </vt:vector>
  </HeadingPairs>
  <TitlesOfParts>
    <vt:vector size="68" baseType="lpstr">
      <vt:lpstr>Calibri</vt:lpstr>
      <vt:lpstr>Söhne Mono</vt:lpstr>
      <vt:lpstr>Office Theme</vt:lpstr>
      <vt:lpstr>Presentazione standard di PowerPoint</vt:lpstr>
      <vt:lpstr>C.S.S.</vt:lpstr>
      <vt:lpstr>Presentazione standard di PowerPoint</vt:lpstr>
      <vt:lpstr>Attributo style</vt:lpstr>
      <vt:lpstr>Sintassi</vt:lpstr>
      <vt:lpstr>Presentazione standard di PowerPoint</vt:lpstr>
      <vt:lpstr>Esempio CSS… a cascata</vt:lpstr>
      <vt:lpstr>CSS inline – incorporati - esterni</vt:lpstr>
      <vt:lpstr>CSS incorporati</vt:lpstr>
      <vt:lpstr>Presentazione standard di PowerPoint</vt:lpstr>
      <vt:lpstr>Inline prevale su incorporati</vt:lpstr>
      <vt:lpstr>Presentazione standard di PowerPoint</vt:lpstr>
      <vt:lpstr>Colori</vt:lpstr>
      <vt:lpstr>Presentazione standard di PowerPoint</vt:lpstr>
      <vt:lpstr>Presentazione standard di PowerPoint</vt:lpstr>
      <vt:lpstr>background</vt:lpstr>
      <vt:lpstr>background-color</vt:lpstr>
      <vt:lpstr>background-image</vt:lpstr>
      <vt:lpstr>background-repeat</vt:lpstr>
      <vt:lpstr>background-attachment</vt:lpstr>
      <vt:lpstr>background-position</vt:lpstr>
      <vt:lpstr>Presentazione standard di PowerPoint</vt:lpstr>
      <vt:lpstr>border</vt:lpstr>
      <vt:lpstr>Presentazione standard di PowerPoint</vt:lpstr>
      <vt:lpstr>Presentazione standard di PowerPoint</vt:lpstr>
      <vt:lpstr>Presentazione standard di PowerPoint</vt:lpstr>
      <vt:lpstr>padding</vt:lpstr>
      <vt:lpstr>Presentazione standard di PowerPoint</vt:lpstr>
      <vt:lpstr>Presentazione standard di PowerPoint</vt:lpstr>
      <vt:lpstr>margin</vt:lpstr>
      <vt:lpstr>Presentazione standard di PowerPoint</vt:lpstr>
      <vt:lpstr>Selettori I Selettori… cosa sono ? La parola parla da sé: si  tratta di una semplice dichiarazione che serve a  selezionare la parte o le parti di un documento  soggette ad una specifica regola.</vt:lpstr>
      <vt:lpstr>Selettore di elementi</vt:lpstr>
      <vt:lpstr>Selettori di tipo ID</vt:lpstr>
      <vt:lpstr>Presentazione standard di PowerPoint</vt:lpstr>
      <vt:lpstr>Selettori di tipo classe</vt:lpstr>
      <vt:lpstr>Presentazione standard di PowerPoint</vt:lpstr>
      <vt:lpstr>Inspector</vt:lpstr>
      <vt:lpstr>Per selezionare elementi HTML bisogna attivare  lo strumento di selezione – icone posizionate a  sinistra della barra degli strumenti.</vt:lpstr>
      <vt:lpstr>Colore del testo : color</vt:lpstr>
      <vt:lpstr>Dimensione del testo : font-size</vt:lpstr>
      <vt:lpstr>Allineamento del testo : text-align</vt:lpstr>
      <vt:lpstr>Presentazione standard di PowerPoint</vt:lpstr>
      <vt:lpstr>Font-family</vt:lpstr>
      <vt:lpstr>Presentazione standard di PowerPoint</vt:lpstr>
      <vt:lpstr>Google Fonts</vt:lpstr>
      <vt:lpstr>Presentazione standard di PowerPoint</vt:lpstr>
      <vt:lpstr>Presentazione standard di PowerPoint</vt:lpstr>
      <vt:lpstr>Presentazione standard di PowerPoint</vt:lpstr>
      <vt:lpstr>font-weight</vt:lpstr>
      <vt:lpstr>Presentazione standard di PowerPoint</vt:lpstr>
      <vt:lpstr>font-style</vt:lpstr>
      <vt:lpstr>2 div Affiancati</vt:lpstr>
      <vt:lpstr>.div1{</vt:lpstr>
      <vt:lpstr>Se proviamo ad eseguire il codice vediamo che i  due div sono messi uno sotto l’altro… come mai ? O meglio… come faccio ad affiancarli ?</vt:lpstr>
      <vt:lpstr>Presentazione standard di PowerPoint</vt:lpstr>
      <vt:lpstr>.div1{</vt:lpstr>
      <vt:lpstr>Presentazione standard di PowerPoint</vt:lpstr>
      <vt:lpstr>Ultima cosa importante non lasciare spazi tra i 2 div  altrimenti il browser interpreta lo spazio come una  dimensione… se pur piccola… andando oltre il 100% dello  spazio totale.</vt:lpstr>
      <vt:lpstr>Esercizio 1</vt:lpstr>
      <vt:lpstr>Esercizio 2</vt:lpstr>
      <vt:lpstr>Esercizio 3</vt:lpstr>
      <vt:lpstr>Before e After</vt:lpstr>
      <vt:lpstr>Before e After</vt:lpstr>
      <vt:lpstr>Before e After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3</dc:title>
  <dc:creator>Riccardo</dc:creator>
  <cp:lastModifiedBy>Roberto -</cp:lastModifiedBy>
  <cp:revision>6</cp:revision>
  <dcterms:created xsi:type="dcterms:W3CDTF">2022-06-08T11:45:16Z</dcterms:created>
  <dcterms:modified xsi:type="dcterms:W3CDTF">2023-03-14T04:55:16Z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2022-06-08T00:00:00Z</vt:filetime>
  </property>
</Properties>
</file>