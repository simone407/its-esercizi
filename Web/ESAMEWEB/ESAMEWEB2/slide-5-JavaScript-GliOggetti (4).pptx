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8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9" r:id="rId25"/>
    <p:sldId id="290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8" r:id="rId35"/>
  </p:sldIdLst>
  <p:sldSz cx="9144000" cy="6864350"/>
  <p:notesSz cx="9144000" cy="68643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>
      <p:cViewPr varScale="1">
        <p:scale>
          <a:sx n="98" d="100"/>
          <a:sy n="98" d="100"/>
        </p:scale>
        <p:origin x="188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7948"/>
            <a:ext cx="7772400" cy="1441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4036"/>
            <a:ext cx="6400800" cy="1716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7347" y="817956"/>
            <a:ext cx="282930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3022409"/>
            <a:ext cx="8075295" cy="2806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6725" y="6330324"/>
            <a:ext cx="639444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mario.rossi@html.it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"/>
            <a:ext cx="9144000" cy="3189605"/>
          </a:xfrm>
          <a:custGeom>
            <a:avLst/>
            <a:gdLst/>
            <a:ahLst/>
            <a:cxnLst/>
            <a:rect l="l" t="t" r="r" b="b"/>
            <a:pathLst>
              <a:path w="9144000" h="3189605">
                <a:moveTo>
                  <a:pt x="9144000" y="0"/>
                </a:moveTo>
                <a:lnTo>
                  <a:pt x="0" y="0"/>
                </a:lnTo>
                <a:lnTo>
                  <a:pt x="0" y="3189097"/>
                </a:lnTo>
                <a:lnTo>
                  <a:pt x="9144000" y="318909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4342" y="2483053"/>
            <a:ext cx="2664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JAVASCRIPT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65017" y="3894772"/>
            <a:ext cx="301752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3200" spc="-10" dirty="0">
                <a:solidFill>
                  <a:srgbClr val="888888"/>
                </a:solidFill>
                <a:latin typeface="Calibri"/>
                <a:cs typeface="Calibri"/>
              </a:rPr>
              <a:t>Gli oggetti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0329" y="4504435"/>
            <a:ext cx="1819782" cy="20622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3" y="825144"/>
            <a:ext cx="1851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</a:t>
            </a:r>
            <a:r>
              <a:rPr spc="5" dirty="0"/>
              <a:t>g</a:t>
            </a:r>
            <a:r>
              <a:rPr spc="-55" dirty="0"/>
              <a:t>g</a:t>
            </a:r>
            <a:r>
              <a:rPr spc="-30" dirty="0"/>
              <a:t>e</a:t>
            </a:r>
            <a:r>
              <a:rPr spc="-60" dirty="0"/>
              <a:t>t</a:t>
            </a:r>
            <a:r>
              <a:rPr spc="-25" dirty="0"/>
              <a:t>t</a:t>
            </a:r>
            <a:r>
              <a:rPr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581472"/>
            <a:ext cx="8072120" cy="39065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65" dirty="0">
                <a:latin typeface="Calibri"/>
                <a:cs typeface="Calibri"/>
              </a:rPr>
              <a:t>L’oggetto </a:t>
            </a:r>
            <a:r>
              <a:rPr sz="3200" spc="-5" dirty="0">
                <a:latin typeface="Calibri"/>
                <a:cs typeface="Calibri"/>
              </a:rPr>
              <a:t>è una variabile. </a:t>
            </a:r>
            <a:r>
              <a:rPr sz="3200" dirty="0">
                <a:latin typeface="Calibri"/>
                <a:cs typeface="Calibri"/>
              </a:rPr>
              <a:t>Una </a:t>
            </a:r>
            <a:r>
              <a:rPr sz="3200" spc="-5" dirty="0">
                <a:latin typeface="Calibri"/>
                <a:cs typeface="Calibri"/>
              </a:rPr>
              <a:t>variabile </a:t>
            </a:r>
            <a:r>
              <a:rPr sz="3200" spc="-10" dirty="0">
                <a:latin typeface="Calibri"/>
                <a:cs typeface="Calibri"/>
              </a:rPr>
              <a:t>specifica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più</a:t>
            </a:r>
            <a:r>
              <a:rPr sz="3200" spc="-5" dirty="0">
                <a:latin typeface="Calibri"/>
                <a:cs typeface="Calibri"/>
              </a:rPr>
              <a:t> complessa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quelle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viste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finora.</a:t>
            </a:r>
            <a:r>
              <a:rPr sz="3200" spc="6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Ogni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oggetto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15" dirty="0">
                <a:latin typeface="Calibri"/>
                <a:cs typeface="Calibri"/>
              </a:rPr>
              <a:t>composto </a:t>
            </a:r>
            <a:r>
              <a:rPr sz="3200" spc="-10" dirty="0">
                <a:latin typeface="Calibri"/>
                <a:cs typeface="Calibri"/>
              </a:rPr>
              <a:t>da </a:t>
            </a:r>
            <a:r>
              <a:rPr sz="3200" spc="-5" dirty="0">
                <a:latin typeface="Calibri"/>
                <a:cs typeface="Calibri"/>
              </a:rPr>
              <a:t>una o </a:t>
            </a:r>
            <a:r>
              <a:rPr sz="3200" spc="-10" dirty="0">
                <a:latin typeface="Calibri"/>
                <a:cs typeface="Calibri"/>
              </a:rPr>
              <a:t>più proprietà, </a:t>
            </a:r>
            <a:r>
              <a:rPr sz="3200" dirty="0">
                <a:latin typeface="Calibri"/>
                <a:cs typeface="Calibri"/>
              </a:rPr>
              <a:t>ed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ogni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ha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valore.</a:t>
            </a:r>
            <a:r>
              <a:rPr sz="3200" spc="-10" dirty="0">
                <a:latin typeface="Calibri"/>
                <a:cs typeface="Calibri"/>
              </a:rPr>
              <a:t> Ad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</a:t>
            </a:r>
            <a:r>
              <a:rPr sz="3200" spc="5" dirty="0">
                <a:latin typeface="Calibri"/>
                <a:cs typeface="Calibri"/>
              </a:rPr>
              <a:t> il </a:t>
            </a:r>
            <a:r>
              <a:rPr sz="3200" spc="-7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modo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creare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semplice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oggetto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 dirty="0">
              <a:latin typeface="Calibri"/>
              <a:cs typeface="Calibri"/>
            </a:endParaRPr>
          </a:p>
          <a:p>
            <a:pPr marL="12700" algn="just">
              <a:lnSpc>
                <a:spcPts val="3835"/>
              </a:lnSpc>
              <a:spcBef>
                <a:spcPts val="5"/>
              </a:spcBef>
            </a:pPr>
            <a:r>
              <a:rPr sz="3200" spc="-15" dirty="0">
                <a:latin typeface="Calibri"/>
                <a:cs typeface="Calibri"/>
              </a:rPr>
              <a:t>var</a:t>
            </a:r>
            <a:r>
              <a:rPr sz="3200" spc="10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automobile</a:t>
            </a:r>
            <a:r>
              <a:rPr sz="3200" spc="11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spc="10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{</a:t>
            </a:r>
            <a:r>
              <a:rPr sz="3200" spc="-20" dirty="0" err="1">
                <a:latin typeface="Calibri"/>
                <a:cs typeface="Calibri"/>
              </a:rPr>
              <a:t>marca</a:t>
            </a:r>
            <a:r>
              <a:rPr sz="3200" spc="11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r>
              <a:rPr lang="it-IT" sz="3200" spc="1090" dirty="0">
                <a:latin typeface="Calibri"/>
                <a:cs typeface="Calibri"/>
              </a:rPr>
              <a:t>"</a:t>
            </a:r>
            <a:r>
              <a:rPr sz="3200" spc="-30" dirty="0">
                <a:latin typeface="Calibri"/>
                <a:cs typeface="Calibri"/>
              </a:rPr>
              <a:t>Fiat</a:t>
            </a:r>
            <a:r>
              <a:rPr lang="it-IT" sz="3200" spc="-30" dirty="0">
                <a:latin typeface="Calibri"/>
                <a:cs typeface="Calibri"/>
              </a:rPr>
              <a:t>"</a:t>
            </a:r>
            <a:r>
              <a:rPr sz="3200" spc="-30" dirty="0">
                <a:latin typeface="Calibri"/>
                <a:cs typeface="Calibri"/>
              </a:rPr>
              <a:t>,</a:t>
            </a:r>
            <a:r>
              <a:rPr sz="3200" spc="1090" dirty="0">
                <a:latin typeface="Calibri"/>
                <a:cs typeface="Calibri"/>
              </a:rPr>
              <a:t> </a:t>
            </a:r>
            <a:r>
              <a:rPr sz="3200" spc="-5" dirty="0" err="1">
                <a:latin typeface="Calibri"/>
                <a:cs typeface="Calibri"/>
              </a:rPr>
              <a:t>modello</a:t>
            </a:r>
            <a:r>
              <a:rPr sz="3200" spc="11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12700" algn="just">
              <a:lnSpc>
                <a:spcPts val="3835"/>
              </a:lnSpc>
            </a:pPr>
            <a:r>
              <a:rPr lang="it-IT" sz="3200" spc="-50" dirty="0">
                <a:latin typeface="Calibri"/>
                <a:cs typeface="Calibri"/>
              </a:rPr>
              <a:t>"</a:t>
            </a:r>
            <a:r>
              <a:rPr sz="3200" spc="-50" dirty="0">
                <a:latin typeface="Calibri"/>
                <a:cs typeface="Calibri"/>
              </a:rPr>
              <a:t>500</a:t>
            </a:r>
            <a:r>
              <a:rPr lang="it-IT" sz="3200" spc="-50" dirty="0">
                <a:latin typeface="Calibri"/>
                <a:cs typeface="Calibri"/>
              </a:rPr>
              <a:t>"</a:t>
            </a:r>
            <a:r>
              <a:rPr sz="3200" spc="-50" dirty="0">
                <a:latin typeface="Calibri"/>
                <a:cs typeface="Calibri"/>
              </a:rPr>
              <a:t>,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25" dirty="0" err="1">
                <a:latin typeface="Calibri"/>
                <a:cs typeface="Calibri"/>
              </a:rPr>
              <a:t>colore</a:t>
            </a:r>
            <a:r>
              <a:rPr lang="it-IT" sz="3200" spc="-25" dirty="0">
                <a:cs typeface="Calibri"/>
              </a:rPr>
              <a:t>: " </a:t>
            </a:r>
            <a:r>
              <a:rPr sz="3200" spc="-25" dirty="0">
                <a:latin typeface="Calibri"/>
                <a:cs typeface="Calibri"/>
              </a:rPr>
              <a:t>Rosso</a:t>
            </a:r>
            <a:r>
              <a:rPr lang="it-IT" sz="3200" spc="-25" dirty="0">
                <a:latin typeface="Calibri"/>
                <a:cs typeface="Calibri"/>
              </a:rPr>
              <a:t>"</a:t>
            </a:r>
            <a:r>
              <a:rPr sz="3200" spc="-25" dirty="0">
                <a:latin typeface="Calibri"/>
                <a:cs typeface="Calibri"/>
              </a:rPr>
              <a:t>}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654" y="817956"/>
            <a:ext cx="42716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Prime</a:t>
            </a:r>
            <a:r>
              <a:rPr spc="-20" dirty="0"/>
              <a:t> </a:t>
            </a:r>
            <a:r>
              <a:rPr spc="-10" dirty="0"/>
              <a:t>osservazioni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79257"/>
            <a:ext cx="8074025" cy="4127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15" dirty="0">
                <a:latin typeface="Calibri"/>
                <a:cs typeface="Calibri"/>
              </a:rPr>
              <a:t>Possiamo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subito </a:t>
            </a:r>
            <a:r>
              <a:rPr sz="3200" spc="-15" dirty="0">
                <a:latin typeface="Calibri"/>
                <a:cs typeface="Calibri"/>
              </a:rPr>
              <a:t>notare </a:t>
            </a:r>
            <a:r>
              <a:rPr sz="3200" spc="10" dirty="0">
                <a:latin typeface="Calibri"/>
                <a:cs typeface="Calibri"/>
              </a:rPr>
              <a:t>che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oggetto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non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altro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variabile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delle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ognuna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separata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una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virgola.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 dirty="0">
              <a:latin typeface="Calibri"/>
              <a:cs typeface="Calibri"/>
            </a:endParaRPr>
          </a:p>
          <a:p>
            <a:pPr marL="12700" marR="9525" algn="just">
              <a:lnSpc>
                <a:spcPct val="100099"/>
              </a:lnSpc>
            </a:pP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0" dirty="0">
                <a:latin typeface="Calibri"/>
                <a:cs typeface="Calibri"/>
              </a:rPr>
              <a:t>ad </a:t>
            </a:r>
            <a:r>
              <a:rPr sz="3200" spc="-5" dirty="0">
                <a:latin typeface="Calibri"/>
                <a:cs typeface="Calibri"/>
              </a:rPr>
              <a:t>ogni </a:t>
            </a:r>
            <a:r>
              <a:rPr sz="3200" spc="-20" dirty="0">
                <a:latin typeface="Calibri"/>
                <a:cs typeface="Calibri"/>
              </a:rPr>
              <a:t>proprietà </a:t>
            </a:r>
            <a:r>
              <a:rPr sz="3200" dirty="0">
                <a:latin typeface="Calibri"/>
                <a:cs typeface="Calibri"/>
              </a:rPr>
              <a:t>viene </a:t>
            </a:r>
            <a:r>
              <a:rPr sz="3200" spc="-15" dirty="0">
                <a:latin typeface="Calibri"/>
                <a:cs typeface="Calibri"/>
              </a:rPr>
              <a:t>assegnato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valore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tramite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due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punti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r>
              <a:rPr sz="3200" dirty="0">
                <a:latin typeface="Calibri"/>
                <a:cs typeface="Calibri"/>
              </a:rPr>
              <a:t> 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tutto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racchiuso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parentesi </a:t>
            </a:r>
            <a:r>
              <a:rPr sz="3200" spc="-40" dirty="0">
                <a:latin typeface="Calibri"/>
                <a:cs typeface="Calibri"/>
              </a:rPr>
              <a:t>graffe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5" dirty="0">
                <a:latin typeface="Calibri"/>
                <a:cs typeface="Calibri"/>
              </a:rPr>
              <a:t>terminate </a:t>
            </a:r>
            <a:r>
              <a:rPr sz="3200" spc="-20" dirty="0">
                <a:latin typeface="Calibri"/>
                <a:cs typeface="Calibri"/>
              </a:rPr>
              <a:t>con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0" dirty="0">
                <a:latin typeface="Calibri"/>
                <a:cs typeface="Calibri"/>
              </a:rPr>
              <a:t>solito </a:t>
            </a:r>
            <a:r>
              <a:rPr sz="3200" spc="-5" dirty="0">
                <a:latin typeface="Calibri"/>
                <a:cs typeface="Calibri"/>
              </a:rPr>
              <a:t>punto 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virgola.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15"/>
            <a:ext cx="8075295" cy="4127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6350" algn="just">
              <a:lnSpc>
                <a:spcPct val="100299"/>
              </a:lnSpc>
              <a:spcBef>
                <a:spcPts val="80"/>
              </a:spcBef>
            </a:pPr>
            <a:r>
              <a:rPr sz="3200" spc="-25" dirty="0">
                <a:latin typeface="Calibri"/>
                <a:cs typeface="Calibri"/>
              </a:rPr>
              <a:t>Per </a:t>
            </a:r>
            <a:r>
              <a:rPr sz="3200" spc="-10" dirty="0">
                <a:latin typeface="Calibri"/>
                <a:cs typeface="Calibri"/>
              </a:rPr>
              <a:t>accedere </a:t>
            </a:r>
            <a:r>
              <a:rPr sz="3200" spc="10" dirty="0">
                <a:latin typeface="Calibri"/>
                <a:cs typeface="Calibri"/>
              </a:rPr>
              <a:t>ad </a:t>
            </a:r>
            <a:r>
              <a:rPr sz="3200" spc="-10" dirty="0">
                <a:latin typeface="Calibri"/>
                <a:cs typeface="Calibri"/>
              </a:rPr>
              <a:t>una </a:t>
            </a:r>
            <a:r>
              <a:rPr sz="3200" spc="-15" dirty="0">
                <a:latin typeface="Calibri"/>
                <a:cs typeface="Calibri"/>
              </a:rPr>
              <a:t>proprietà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oggetto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sufficiente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richiamare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5" dirty="0">
                <a:latin typeface="Calibri"/>
                <a:cs typeface="Calibri"/>
              </a:rPr>
              <a:t>nome </a:t>
            </a:r>
            <a:r>
              <a:rPr sz="3200" spc="-5" dirty="0">
                <a:latin typeface="Calibri"/>
                <a:cs typeface="Calibri"/>
              </a:rPr>
              <a:t>della variabile 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tramite</a:t>
            </a:r>
            <a:r>
              <a:rPr sz="3200" spc="880" dirty="0">
                <a:latin typeface="Calibri"/>
                <a:cs typeface="Calibri"/>
              </a:rPr>
              <a:t>  </a:t>
            </a:r>
            <a:r>
              <a:rPr sz="3200" spc="-40" dirty="0">
                <a:latin typeface="Calibri"/>
                <a:cs typeface="Calibri"/>
              </a:rPr>
              <a:t>l’operatore</a:t>
            </a:r>
            <a:r>
              <a:rPr sz="3200" spc="885" dirty="0">
                <a:latin typeface="Calibri"/>
                <a:cs typeface="Calibri"/>
              </a:rPr>
              <a:t>  </a:t>
            </a:r>
            <a:r>
              <a:rPr sz="3200" spc="-5" dirty="0">
                <a:latin typeface="Calibri"/>
                <a:cs typeface="Calibri"/>
              </a:rPr>
              <a:t>dot</a:t>
            </a:r>
            <a:r>
              <a:rPr sz="3200" spc="885" dirty="0">
                <a:latin typeface="Calibri"/>
                <a:cs typeface="Calibri"/>
              </a:rPr>
              <a:t> </a:t>
            </a:r>
            <a:r>
              <a:rPr sz="3200" spc="89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(</a:t>
            </a:r>
            <a:r>
              <a:rPr sz="3200" b="1" spc="5" dirty="0">
                <a:solidFill>
                  <a:srgbClr val="FF0000"/>
                </a:solidFill>
                <a:latin typeface="Calibri"/>
                <a:cs typeface="Calibri"/>
              </a:rPr>
              <a:t>il   </a:t>
            </a:r>
            <a:r>
              <a:rPr sz="3200" b="1" spc="3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punto</a:t>
            </a:r>
            <a:r>
              <a:rPr sz="3200" spc="-15" dirty="0">
                <a:latin typeface="Calibri"/>
                <a:cs typeface="Calibri"/>
              </a:rPr>
              <a:t>)</a:t>
            </a:r>
            <a:r>
              <a:rPr sz="3200" spc="885" dirty="0">
                <a:latin typeface="Calibri"/>
                <a:cs typeface="Calibri"/>
              </a:rPr>
              <a:t>  </a:t>
            </a:r>
            <a:r>
              <a:rPr sz="3200" spc="-5" dirty="0">
                <a:latin typeface="Calibri"/>
                <a:cs typeface="Calibri"/>
              </a:rPr>
              <a:t>posso</a:t>
            </a:r>
            <a:endParaRPr sz="3200" dirty="0">
              <a:latin typeface="Calibri"/>
              <a:cs typeface="Calibri"/>
            </a:endParaRPr>
          </a:p>
          <a:p>
            <a:pPr marL="12700" algn="just">
              <a:lnSpc>
                <a:spcPts val="3835"/>
              </a:lnSpc>
            </a:pPr>
            <a:r>
              <a:rPr sz="3200" spc="-25" dirty="0">
                <a:latin typeface="Calibri"/>
                <a:cs typeface="Calibri"/>
              </a:rPr>
              <a:t>«entrare»</a:t>
            </a:r>
            <a:r>
              <a:rPr sz="3200" spc="21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nell’oggetto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richiamare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proprietà.</a:t>
            </a:r>
            <a:endParaRPr sz="32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30"/>
              </a:spcBef>
            </a:pPr>
            <a:r>
              <a:rPr sz="3200" spc="-5" dirty="0">
                <a:latin typeface="Calibri"/>
                <a:cs typeface="Calibri"/>
              </a:rPr>
              <a:t>Nel </a:t>
            </a:r>
            <a:r>
              <a:rPr sz="3200" spc="-15" dirty="0">
                <a:latin typeface="Calibri"/>
                <a:cs typeface="Calibri"/>
              </a:rPr>
              <a:t>nostro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 </a:t>
            </a:r>
            <a:r>
              <a:rPr sz="3200" spc="-10" dirty="0">
                <a:latin typeface="Calibri"/>
                <a:cs typeface="Calibri"/>
              </a:rPr>
              <a:t>se </a:t>
            </a:r>
            <a:r>
              <a:rPr sz="3200" dirty="0">
                <a:latin typeface="Calibri"/>
                <a:cs typeface="Calibri"/>
              </a:rPr>
              <a:t>voglio </a:t>
            </a:r>
            <a:r>
              <a:rPr sz="3200" spc="-15" dirty="0">
                <a:latin typeface="Calibri"/>
                <a:cs typeface="Calibri"/>
              </a:rPr>
              <a:t>stampare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video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marca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dell’oggetto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automobile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posso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scrivere: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spc="-15" dirty="0">
                <a:latin typeface="Calibri"/>
                <a:cs typeface="Calibri"/>
              </a:rPr>
              <a:t>document.write(automobile.marca);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8430"/>
            <a:ext cx="8072120" cy="47091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440"/>
              </a:lnSpc>
              <a:spcBef>
                <a:spcPts val="540"/>
              </a:spcBef>
              <a:tabLst>
                <a:tab pos="720090" algn="l"/>
                <a:tab pos="1729739" algn="l"/>
                <a:tab pos="2932430" algn="l"/>
                <a:tab pos="4965065" algn="l"/>
                <a:tab pos="5758180" algn="l"/>
                <a:tab pos="7642225" algn="l"/>
              </a:tabLst>
            </a:pPr>
            <a:r>
              <a:rPr sz="3200" dirty="0">
                <a:latin typeface="Calibri"/>
                <a:cs typeface="Calibri"/>
              </a:rPr>
              <a:t>U</a:t>
            </a:r>
            <a:r>
              <a:rPr sz="3200" spc="-5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" dirty="0">
                <a:latin typeface="Calibri"/>
                <a:cs typeface="Calibri"/>
              </a:rPr>
              <a:t>alt</a:t>
            </a:r>
            <a:r>
              <a:rPr sz="3200" spc="-25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m</a:t>
            </a:r>
            <a:r>
              <a:rPr sz="3200" spc="-25" dirty="0">
                <a:latin typeface="Calibri"/>
                <a:cs typeface="Calibri"/>
              </a:rPr>
              <a:t>o</a:t>
            </a:r>
            <a:r>
              <a:rPr sz="3200" spc="15" dirty="0">
                <a:latin typeface="Calibri"/>
                <a:cs typeface="Calibri"/>
              </a:rPr>
              <a:t>d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l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30" dirty="0">
                <a:latin typeface="Calibri"/>
                <a:cs typeface="Calibri"/>
              </a:rPr>
              <a:t>e</a:t>
            </a:r>
            <a:r>
              <a:rPr sz="3200" spc="-20" dirty="0">
                <a:latin typeface="Calibri"/>
                <a:cs typeface="Calibri"/>
              </a:rPr>
              <a:t>r</a:t>
            </a:r>
            <a:r>
              <a:rPr sz="3200" spc="15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ti</a:t>
            </a:r>
            <a:r>
              <a:rPr sz="3200" spc="10" dirty="0">
                <a:latin typeface="Calibri"/>
                <a:cs typeface="Calibri"/>
              </a:rPr>
              <a:t>v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p</a:t>
            </a:r>
            <a:r>
              <a:rPr sz="3200" spc="30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20" dirty="0">
                <a:latin typeface="Calibri"/>
                <a:cs typeface="Calibri"/>
              </a:rPr>
              <a:t>c</a:t>
            </a:r>
            <a:r>
              <a:rPr sz="3200" spc="-20" dirty="0">
                <a:latin typeface="Calibri"/>
                <a:cs typeface="Calibri"/>
              </a:rPr>
              <a:t>h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ed  </a:t>
            </a:r>
            <a:r>
              <a:rPr sz="3200" spc="-20" dirty="0">
                <a:latin typeface="Calibri"/>
                <a:cs typeface="Calibri"/>
              </a:rPr>
              <a:t>istanziare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oggetto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-10" dirty="0">
                <a:latin typeface="Calibri"/>
                <a:cs typeface="Calibri"/>
              </a:rPr>
              <a:t> nel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seguente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modo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400" dirty="0">
              <a:latin typeface="Calibri"/>
              <a:cs typeface="Calibri"/>
            </a:endParaRPr>
          </a:p>
          <a:p>
            <a:pPr marL="12700" marR="2921000">
              <a:lnSpc>
                <a:spcPct val="110300"/>
              </a:lnSpc>
            </a:pPr>
            <a:r>
              <a:rPr sz="3200" spc="-15" dirty="0">
                <a:latin typeface="Calibri"/>
                <a:cs typeface="Calibri"/>
              </a:rPr>
              <a:t>var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automobile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new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Object();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automobile.marca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‘’Fiat’’;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automobile.modello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‘’500’’;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automobile.colore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‘’Rosso’’;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15" dirty="0">
                <a:latin typeface="Calibri"/>
                <a:cs typeface="Calibri"/>
              </a:rPr>
              <a:t>Document.write(automobile.marca);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2842" y="817956"/>
            <a:ext cx="3800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Oggetti</a:t>
            </a:r>
            <a:r>
              <a:rPr spc="-30" dirty="0"/>
              <a:t> </a:t>
            </a:r>
            <a:r>
              <a:rPr spc="-15" dirty="0"/>
              <a:t>Innestati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68729"/>
            <a:ext cx="8077200" cy="425132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630"/>
              </a:spcBef>
            </a:pPr>
            <a:r>
              <a:rPr sz="2200" spc="-10" dirty="0">
                <a:latin typeface="Calibri"/>
                <a:cs typeface="Calibri"/>
              </a:rPr>
              <a:t>E’ </a:t>
            </a:r>
            <a:r>
              <a:rPr sz="2200" spc="-5" dirty="0">
                <a:latin typeface="Calibri"/>
                <a:cs typeface="Calibri"/>
              </a:rPr>
              <a:t>possibile </a:t>
            </a:r>
            <a:r>
              <a:rPr sz="2200" spc="-20" dirty="0">
                <a:latin typeface="Calibri"/>
                <a:cs typeface="Calibri"/>
              </a:rPr>
              <a:t>avere </a:t>
            </a:r>
            <a:r>
              <a:rPr sz="2200" spc="-25" dirty="0">
                <a:latin typeface="Calibri"/>
                <a:cs typeface="Calibri"/>
              </a:rPr>
              <a:t>l’esigenza </a:t>
            </a:r>
            <a:r>
              <a:rPr sz="2200" spc="5" dirty="0">
                <a:latin typeface="Calibri"/>
                <a:cs typeface="Calibri"/>
              </a:rPr>
              <a:t>di </a:t>
            </a:r>
            <a:r>
              <a:rPr sz="2200" spc="-5" dirty="0">
                <a:latin typeface="Calibri"/>
                <a:cs typeface="Calibri"/>
              </a:rPr>
              <a:t>inserire </a:t>
            </a:r>
            <a:r>
              <a:rPr sz="2200" spc="5" dirty="0">
                <a:latin typeface="Calibri"/>
                <a:cs typeface="Calibri"/>
              </a:rPr>
              <a:t>un </a:t>
            </a:r>
            <a:r>
              <a:rPr sz="2200" spc="-10" dirty="0">
                <a:latin typeface="Calibri"/>
                <a:cs typeface="Calibri"/>
              </a:rPr>
              <a:t>oggetto all’interno </a:t>
            </a:r>
            <a:r>
              <a:rPr sz="2200" spc="5" dirty="0">
                <a:latin typeface="Calibri"/>
                <a:cs typeface="Calibri"/>
              </a:rPr>
              <a:t>di un </a:t>
            </a:r>
            <a:r>
              <a:rPr sz="2200" spc="-10" dirty="0">
                <a:latin typeface="Calibri"/>
                <a:cs typeface="Calibri"/>
              </a:rPr>
              <a:t>altro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oggetto,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altre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parole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di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innestare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un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oggetto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all’interno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di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un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altro.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E’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possibile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farlo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tramite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seguente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sintassi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sz="2200" spc="-15" dirty="0">
                <a:latin typeface="Calibri"/>
                <a:cs typeface="Calibri"/>
              </a:rPr>
              <a:t>var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persona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{</a:t>
            </a:r>
          </a:p>
          <a:p>
            <a:pPr marL="927100">
              <a:lnSpc>
                <a:spcPts val="2625"/>
              </a:lnSpc>
            </a:pPr>
            <a:r>
              <a:rPr sz="2200" spc="5" dirty="0">
                <a:latin typeface="Calibri"/>
                <a:cs typeface="Calibri"/>
              </a:rPr>
              <a:t>nome: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lang="it-IT" sz="2200" spc="-30" dirty="0">
                <a:latin typeface="Calibri"/>
                <a:cs typeface="Calibri"/>
              </a:rPr>
              <a:t>'</a:t>
            </a:r>
            <a:r>
              <a:rPr sz="2200" spc="-30" dirty="0">
                <a:latin typeface="Calibri"/>
                <a:cs typeface="Calibri"/>
              </a:rPr>
              <a:t>Mario</a:t>
            </a:r>
            <a:r>
              <a:rPr lang="it-IT" sz="2200" spc="-30" dirty="0">
                <a:latin typeface="Calibri"/>
                <a:cs typeface="Calibri"/>
              </a:rPr>
              <a:t>'</a:t>
            </a:r>
            <a:r>
              <a:rPr sz="2200" spc="-30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dirty="0">
                <a:latin typeface="Calibri"/>
                <a:cs typeface="Calibri"/>
              </a:rPr>
              <a:t>cognome: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lang="it-IT" sz="2200" spc="-35" dirty="0">
                <a:latin typeface="Calibri"/>
                <a:cs typeface="Calibri"/>
              </a:rPr>
              <a:t>'</a:t>
            </a:r>
            <a:r>
              <a:rPr sz="2200" spc="-35" dirty="0">
                <a:latin typeface="Calibri"/>
                <a:cs typeface="Calibri"/>
              </a:rPr>
              <a:t>Rossi</a:t>
            </a:r>
            <a:r>
              <a:rPr lang="it-IT" sz="2200" spc="-35" dirty="0">
                <a:latin typeface="Calibri"/>
                <a:cs typeface="Calibri"/>
              </a:rPr>
              <a:t>'</a:t>
            </a:r>
            <a:r>
              <a:rPr sz="2200" spc="-35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927100" marR="5972175">
              <a:lnSpc>
                <a:spcPts val="2630"/>
              </a:lnSpc>
              <a:spcBef>
                <a:spcPts val="114"/>
              </a:spcBef>
            </a:pPr>
            <a:r>
              <a:rPr sz="2200" spc="-5" dirty="0">
                <a:latin typeface="Calibri"/>
                <a:cs typeface="Calibri"/>
              </a:rPr>
              <a:t>eta: </a:t>
            </a:r>
            <a:r>
              <a:rPr sz="2200" spc="-15" dirty="0">
                <a:latin typeface="Calibri"/>
                <a:cs typeface="Calibri"/>
              </a:rPr>
              <a:t>30, </a:t>
            </a:r>
            <a:r>
              <a:rPr sz="2200" spc="-10" dirty="0">
                <a:latin typeface="Calibri"/>
                <a:cs typeface="Calibri"/>
              </a:rPr>
              <a:t> indirizzo: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{</a:t>
            </a:r>
          </a:p>
          <a:p>
            <a:pPr marL="1842135" marR="4201160">
              <a:lnSpc>
                <a:spcPts val="2630"/>
              </a:lnSpc>
              <a:spcBef>
                <a:spcPts val="30"/>
              </a:spcBef>
            </a:pPr>
            <a:r>
              <a:rPr sz="2200" spc="-5" dirty="0">
                <a:latin typeface="Calibri"/>
                <a:cs typeface="Calibri"/>
              </a:rPr>
              <a:t>via: </a:t>
            </a:r>
            <a:r>
              <a:rPr lang="it-IT" sz="2200" spc="-15" dirty="0">
                <a:latin typeface="Calibri"/>
                <a:cs typeface="Calibri"/>
              </a:rPr>
              <a:t>'</a:t>
            </a:r>
            <a:r>
              <a:rPr sz="2200" spc="-15" dirty="0">
                <a:latin typeface="Calibri"/>
                <a:cs typeface="Calibri"/>
              </a:rPr>
              <a:t>Via </a:t>
            </a:r>
            <a:r>
              <a:rPr sz="2200" spc="-30" dirty="0" err="1">
                <a:latin typeface="Calibri"/>
                <a:cs typeface="Calibri"/>
              </a:rPr>
              <a:t>casilina</a:t>
            </a:r>
            <a:r>
              <a:rPr lang="it-IT" sz="2200" spc="-30" dirty="0">
                <a:latin typeface="Calibri"/>
                <a:cs typeface="Calibri"/>
              </a:rPr>
              <a:t>'</a:t>
            </a:r>
            <a:r>
              <a:rPr sz="2200" spc="-30" dirty="0">
                <a:latin typeface="Calibri"/>
                <a:cs typeface="Calibri"/>
              </a:rPr>
              <a:t>,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civico: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23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565"/>
              </a:lnSpc>
            </a:pPr>
            <a:r>
              <a:rPr sz="22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ts val="2635"/>
              </a:lnSpc>
            </a:pPr>
            <a:r>
              <a:rPr sz="2200" dirty="0">
                <a:latin typeface="Calibri"/>
                <a:cs typeface="Calibri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30566"/>
            <a:ext cx="8071484" cy="44157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ts val="3440"/>
              </a:lnSpc>
              <a:spcBef>
                <a:spcPts val="540"/>
              </a:spcBef>
            </a:pPr>
            <a:r>
              <a:rPr sz="3200" spc="-25" dirty="0">
                <a:latin typeface="Calibri"/>
                <a:cs typeface="Calibri"/>
              </a:rPr>
              <a:t>Per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richiamare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</a:t>
            </a:r>
            <a:r>
              <a:rPr sz="3200" spc="-10" dirty="0">
                <a:latin typeface="Calibri"/>
                <a:cs typeface="Calibri"/>
              </a:rPr>
              <a:t> 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oggetto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innestato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15" dirty="0">
                <a:latin typeface="Calibri"/>
                <a:cs typeface="Calibri"/>
              </a:rPr>
              <a:t>sufficiente usare sempre </a:t>
            </a:r>
            <a:r>
              <a:rPr sz="3200" spc="-40" dirty="0">
                <a:latin typeface="Calibri"/>
                <a:cs typeface="Calibri"/>
              </a:rPr>
              <a:t>l’operatore 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dot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partendo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sempre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dalla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principale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 dirty="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</a:pPr>
            <a:r>
              <a:rPr sz="3200" spc="-20" dirty="0">
                <a:latin typeface="Calibri"/>
                <a:cs typeface="Calibri"/>
              </a:rPr>
              <a:t>document.write(persona.indirizzo.via);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 dirty="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invece</a:t>
            </a:r>
            <a:r>
              <a:rPr sz="3200" spc="-15" dirty="0">
                <a:latin typeface="Calibri"/>
                <a:cs typeface="Calibri"/>
              </a:rPr>
              <a:t> di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indirizzo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voglio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la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possibilità </a:t>
            </a:r>
            <a:r>
              <a:rPr sz="3200" spc="-15" dirty="0">
                <a:latin typeface="Calibri"/>
                <a:cs typeface="Calibri"/>
              </a:rPr>
              <a:t>di </a:t>
            </a:r>
            <a:r>
              <a:rPr sz="3200" spc="-10" dirty="0">
                <a:latin typeface="Calibri"/>
                <a:cs typeface="Calibri"/>
              </a:rPr>
              <a:t>inserire </a:t>
            </a:r>
            <a:r>
              <a:rPr sz="3200" spc="-15" dirty="0">
                <a:latin typeface="Calibri"/>
                <a:cs typeface="Calibri"/>
              </a:rPr>
              <a:t>due </a:t>
            </a:r>
            <a:r>
              <a:rPr sz="3200" spc="-5" dirty="0">
                <a:latin typeface="Calibri"/>
                <a:cs typeface="Calibri"/>
              </a:rPr>
              <a:t>o </a:t>
            </a:r>
            <a:r>
              <a:rPr sz="3200" spc="-10" dirty="0">
                <a:latin typeface="Calibri"/>
                <a:cs typeface="Calibri"/>
              </a:rPr>
              <a:t>più </a:t>
            </a:r>
            <a:r>
              <a:rPr sz="3200" dirty="0">
                <a:latin typeface="Calibri"/>
                <a:cs typeface="Calibri"/>
              </a:rPr>
              <a:t>indirizzi? </a:t>
            </a:r>
            <a:r>
              <a:rPr sz="3200" spc="-20" dirty="0">
                <a:latin typeface="Calibri"/>
                <a:cs typeface="Calibri"/>
              </a:rPr>
              <a:t>Posso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usare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array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come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già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sappiamo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82166"/>
            <a:ext cx="4714875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200" spc="-15" dirty="0">
                <a:latin typeface="Calibri"/>
                <a:cs typeface="Calibri"/>
              </a:rPr>
              <a:t>var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persona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=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{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0"/>
              </a:lnSpc>
            </a:pPr>
            <a:r>
              <a:rPr sz="2200" spc="5" dirty="0">
                <a:latin typeface="Calibri"/>
                <a:cs typeface="Calibri"/>
              </a:rPr>
              <a:t>nome: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‘’Mario’’,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cognome: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‘’Rossi’’,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25"/>
              </a:lnSpc>
            </a:pPr>
            <a:r>
              <a:rPr sz="2200" spc="-5" dirty="0">
                <a:latin typeface="Calibri"/>
                <a:cs typeface="Calibri"/>
              </a:rPr>
              <a:t>eta: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30,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10" dirty="0">
                <a:latin typeface="Calibri"/>
                <a:cs typeface="Calibri"/>
              </a:rPr>
              <a:t>indirizzo: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[{</a:t>
            </a:r>
            <a:endParaRPr sz="2200" dirty="0">
              <a:latin typeface="Calibri"/>
              <a:cs typeface="Calibri"/>
            </a:endParaRPr>
          </a:p>
          <a:p>
            <a:pPr marL="1842135" marR="838835">
              <a:lnSpc>
                <a:spcPts val="2630"/>
              </a:lnSpc>
              <a:spcBef>
                <a:spcPts val="114"/>
              </a:spcBef>
            </a:pPr>
            <a:r>
              <a:rPr sz="2200" spc="-5" dirty="0">
                <a:latin typeface="Calibri"/>
                <a:cs typeface="Calibri"/>
              </a:rPr>
              <a:t>via: </a:t>
            </a:r>
            <a:r>
              <a:rPr sz="2200" spc="-15" dirty="0">
                <a:latin typeface="Calibri"/>
                <a:cs typeface="Calibri"/>
              </a:rPr>
              <a:t>‘’Via </a:t>
            </a:r>
            <a:r>
              <a:rPr sz="2200" spc="-30" dirty="0">
                <a:latin typeface="Calibri"/>
                <a:cs typeface="Calibri"/>
              </a:rPr>
              <a:t>casilina’’,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civico: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23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565"/>
              </a:lnSpc>
            </a:pPr>
            <a:r>
              <a:rPr sz="2200" spc="-5" dirty="0">
                <a:latin typeface="Calibri"/>
                <a:cs typeface="Calibri"/>
              </a:rPr>
              <a:t>},{</a:t>
            </a:r>
            <a:endParaRPr sz="2200" dirty="0">
              <a:latin typeface="Calibri"/>
              <a:cs typeface="Calibri"/>
            </a:endParaRPr>
          </a:p>
          <a:p>
            <a:pPr marL="1842135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via: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‘’Via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prenestina’’,</a:t>
            </a:r>
            <a:endParaRPr sz="2200" dirty="0">
              <a:latin typeface="Calibri"/>
              <a:cs typeface="Calibri"/>
            </a:endParaRPr>
          </a:p>
          <a:p>
            <a:pPr marL="1842135">
              <a:lnSpc>
                <a:spcPts val="2635"/>
              </a:lnSpc>
              <a:spcBef>
                <a:spcPts val="20"/>
              </a:spcBef>
            </a:pPr>
            <a:r>
              <a:rPr sz="2200" spc="-10" dirty="0">
                <a:latin typeface="Calibri"/>
                <a:cs typeface="Calibri"/>
              </a:rPr>
              <a:t>civico: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110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25"/>
              </a:lnSpc>
            </a:pPr>
            <a:r>
              <a:rPr sz="2200" spc="15" dirty="0">
                <a:latin typeface="Calibri"/>
                <a:cs typeface="Calibri"/>
              </a:rPr>
              <a:t>}]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}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document.write(persona.indirizzo[1].via);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4339" y="817956"/>
            <a:ext cx="47358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Funzioni</a:t>
            </a:r>
            <a:r>
              <a:rPr dirty="0"/>
              <a:t> </a:t>
            </a:r>
            <a:r>
              <a:rPr spc="-45" dirty="0"/>
              <a:t>nell’oggetto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79257"/>
            <a:ext cx="8074659" cy="4127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20" dirty="0">
                <a:latin typeface="Calibri"/>
                <a:cs typeface="Calibri"/>
              </a:rPr>
              <a:t>Naturalmente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ogni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linguaggio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programmazione,</a:t>
            </a:r>
            <a:r>
              <a:rPr sz="3200" spc="-5" dirty="0">
                <a:latin typeface="Calibri"/>
                <a:cs typeface="Calibri"/>
              </a:rPr>
              <a:t> gli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oggetti,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oltre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avere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le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proprietà,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ha</a:t>
            </a:r>
            <a:r>
              <a:rPr lang="it-IT" sz="3200" spc="-15" dirty="0" err="1">
                <a:latin typeface="Calibri"/>
                <a:cs typeface="Calibri"/>
              </a:rPr>
              <a:t>nno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anche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funzioni.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 dirty="0">
              <a:latin typeface="Calibri"/>
              <a:cs typeface="Calibri"/>
            </a:endParaRPr>
          </a:p>
          <a:p>
            <a:pPr marL="12700" marR="6350" algn="just">
              <a:lnSpc>
                <a:spcPct val="100099"/>
              </a:lnSpc>
            </a:pPr>
            <a:r>
              <a:rPr sz="3200" spc="-25" dirty="0">
                <a:latin typeface="Calibri"/>
                <a:cs typeface="Calibri"/>
              </a:rPr>
              <a:t>Per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scrivere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funzione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all’interno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un 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oggetto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15" dirty="0">
                <a:latin typeface="Calibri"/>
                <a:cs typeface="Calibri"/>
              </a:rPr>
              <a:t>sufficiente dare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5" dirty="0">
                <a:latin typeface="Calibri"/>
                <a:cs typeface="Calibri"/>
              </a:rPr>
              <a:t>nome </a:t>
            </a:r>
            <a:r>
              <a:rPr sz="3200" dirty="0">
                <a:latin typeface="Calibri"/>
                <a:cs typeface="Calibri"/>
              </a:rPr>
              <a:t>alla </a:t>
            </a:r>
            <a:r>
              <a:rPr sz="3200" spc="-5" dirty="0">
                <a:latin typeface="Calibri"/>
                <a:cs typeface="Calibri"/>
              </a:rPr>
              <a:t>funzione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seguito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dai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dalla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parola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chiave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seguita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dalle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parentesi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tonde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()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51623"/>
            <a:ext cx="5666105" cy="4966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45"/>
              </a:lnSpc>
              <a:spcBef>
                <a:spcPts val="105"/>
              </a:spcBef>
            </a:pPr>
            <a:r>
              <a:rPr sz="1800" spc="-15" dirty="0">
                <a:latin typeface="Calibri"/>
                <a:cs typeface="Calibri"/>
              </a:rPr>
              <a:t>var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persona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</a:p>
          <a:p>
            <a:pPr marL="927100">
              <a:lnSpc>
                <a:spcPts val="2145"/>
              </a:lnSpc>
            </a:pPr>
            <a:r>
              <a:rPr sz="1800" dirty="0">
                <a:latin typeface="Calibri"/>
                <a:cs typeface="Calibri"/>
              </a:rPr>
              <a:t>nome: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lang="it-IT" sz="1800" spc="-25" dirty="0">
                <a:latin typeface="Calibri"/>
                <a:cs typeface="Calibri"/>
              </a:rPr>
              <a:t>'</a:t>
            </a:r>
            <a:r>
              <a:rPr lang="it-IT" sz="1800" spc="-15" dirty="0">
                <a:latin typeface="Calibri"/>
                <a:cs typeface="Calibri"/>
              </a:rPr>
              <a:t>Mario’</a:t>
            </a:r>
            <a:r>
              <a:rPr sz="1800" spc="-15" dirty="0">
                <a:latin typeface="Calibri"/>
                <a:cs typeface="Calibri"/>
              </a:rPr>
              <a:t>,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spc="5" dirty="0">
                <a:latin typeface="Calibri"/>
                <a:cs typeface="Calibri"/>
              </a:rPr>
              <a:t>cognome: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lang="it-IT" spc="-20" dirty="0">
                <a:latin typeface="Calibri"/>
                <a:cs typeface="Calibri"/>
              </a:rPr>
              <a:t>'</a:t>
            </a:r>
            <a:r>
              <a:rPr sz="1800" spc="-20" dirty="0">
                <a:latin typeface="Calibri"/>
                <a:cs typeface="Calibri"/>
              </a:rPr>
              <a:t>Rossi</a:t>
            </a:r>
            <a:r>
              <a:rPr lang="it-IT" sz="1800" spc="-20" dirty="0">
                <a:latin typeface="Calibri"/>
                <a:cs typeface="Calibri"/>
              </a:rPr>
              <a:t>'</a:t>
            </a:r>
            <a:r>
              <a:rPr sz="1800" spc="-20" dirty="0">
                <a:latin typeface="Calibri"/>
                <a:cs typeface="Calibri"/>
              </a:rPr>
              <a:t>,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Calibri"/>
                <a:cs typeface="Calibri"/>
              </a:rPr>
              <a:t>eta: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30,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spc="5" dirty="0">
                <a:latin typeface="Calibri"/>
                <a:cs typeface="Calibri"/>
              </a:rPr>
              <a:t>indi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z</a:t>
            </a:r>
            <a:r>
              <a:rPr sz="1800" spc="-45" dirty="0">
                <a:latin typeface="Calibri"/>
                <a:cs typeface="Calibri"/>
              </a:rPr>
              <a:t>z</a:t>
            </a:r>
            <a:r>
              <a:rPr sz="1800" spc="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[{</a:t>
            </a:r>
            <a:endParaRPr sz="1800" dirty="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via: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lang="it-IT" spc="5" dirty="0">
                <a:latin typeface="Calibri"/>
                <a:cs typeface="Calibri"/>
              </a:rPr>
              <a:t>'</a:t>
            </a:r>
            <a:r>
              <a:rPr sz="1800" spc="5" dirty="0">
                <a:latin typeface="Calibri"/>
                <a:cs typeface="Calibri"/>
              </a:rPr>
              <a:t>Via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5" dirty="0" err="1">
                <a:latin typeface="Calibri"/>
                <a:cs typeface="Calibri"/>
              </a:rPr>
              <a:t>casilina</a:t>
            </a:r>
            <a:r>
              <a:rPr lang="it-IT" spc="-15" dirty="0">
                <a:latin typeface="Calibri"/>
                <a:cs typeface="Calibri"/>
              </a:rPr>
              <a:t>'</a:t>
            </a:r>
            <a:r>
              <a:rPr sz="1800" spc="-15" dirty="0">
                <a:latin typeface="Calibri"/>
                <a:cs typeface="Calibri"/>
              </a:rPr>
              <a:t>,</a:t>
            </a:r>
            <a:endParaRPr sz="1800" dirty="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</a:pPr>
            <a:r>
              <a:rPr sz="1800" spc="10" dirty="0">
                <a:latin typeface="Calibri"/>
                <a:cs typeface="Calibri"/>
              </a:rPr>
              <a:t>c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vi</a:t>
            </a:r>
            <a:r>
              <a:rPr sz="1800" spc="15" dirty="0">
                <a:latin typeface="Calibri"/>
                <a:cs typeface="Calibri"/>
              </a:rPr>
              <a:t>co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23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},{</a:t>
            </a:r>
          </a:p>
          <a:p>
            <a:pPr marL="184213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via: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‘’Via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prenestina’’,</a:t>
            </a:r>
            <a:endParaRPr sz="1800" dirty="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</a:pPr>
            <a:r>
              <a:rPr sz="1800" spc="10" dirty="0">
                <a:latin typeface="Calibri"/>
                <a:cs typeface="Calibri"/>
              </a:rPr>
              <a:t>c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vi</a:t>
            </a:r>
            <a:r>
              <a:rPr sz="1800" spc="15" dirty="0">
                <a:latin typeface="Calibri"/>
                <a:cs typeface="Calibri"/>
              </a:rPr>
              <a:t>co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110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}],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Calibri"/>
              <a:cs typeface="Calibri"/>
            </a:endParaRPr>
          </a:p>
          <a:p>
            <a:pPr marL="1842135" marR="5080" indent="-915035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stampa: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function(nome,cognome){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document.write(nome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lang="it-IT" spc="5" dirty="0">
                <a:latin typeface="Calibri"/>
                <a:cs typeface="Calibri"/>
              </a:rPr>
              <a:t>'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lang="it-IT" spc="-10" dirty="0">
                <a:latin typeface="Calibri"/>
                <a:cs typeface="Calibri"/>
              </a:rPr>
              <a:t>'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 cognome);</a:t>
            </a: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persona.stampa("Riccardo","Cattaneo");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5F9A4CF-A994-4108-9A05-C2C3DA84EB0F}"/>
              </a:ext>
            </a:extLst>
          </p:cNvPr>
          <p:cNvSpPr txBox="1">
            <a:spLocks/>
          </p:cNvSpPr>
          <p:nvPr/>
        </p:nvSpPr>
        <p:spPr>
          <a:xfrm>
            <a:off x="2680446" y="739140"/>
            <a:ext cx="379655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it-IT" sz="4400" kern="0" spc="-10" dirty="0">
                <a:solidFill>
                  <a:sysClr val="windowText" lastClr="000000"/>
                </a:solidFill>
              </a:rPr>
              <a:t>Array Associativi</a:t>
            </a:r>
            <a:endParaRPr lang="it-IT" sz="4400" kern="0" spc="-20" dirty="0">
              <a:solidFill>
                <a:sysClr val="windowText" lastClr="000000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F752588-E22F-4A0B-94C7-B9332318E68B}"/>
              </a:ext>
            </a:extLst>
          </p:cNvPr>
          <p:cNvSpPr txBox="1"/>
          <p:nvPr/>
        </p:nvSpPr>
        <p:spPr>
          <a:xfrm>
            <a:off x="531176" y="1393318"/>
            <a:ext cx="8081645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3000" spc="-15" dirty="0">
                <a:latin typeface="Calibri"/>
                <a:cs typeface="Calibri"/>
              </a:rPr>
              <a:t>Vediamo un altro esempio di oggetto.</a:t>
            </a:r>
            <a:endParaRPr sz="3000" dirty="0">
              <a:latin typeface="Calibri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B1EE5D8-DEF2-45B2-B32B-4799E3E77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47" y="1924989"/>
            <a:ext cx="3743847" cy="21434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8F4E4F0C-F87F-4F22-8B8F-A1746DBE8556}"/>
              </a:ext>
            </a:extLst>
          </p:cNvPr>
          <p:cNvSpPr txBox="1"/>
          <p:nvPr/>
        </p:nvSpPr>
        <p:spPr>
          <a:xfrm>
            <a:off x="457200" y="4156874"/>
            <a:ext cx="8081645" cy="139910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3000" spc="-15" dirty="0">
                <a:latin typeface="Calibri"/>
                <a:cs typeface="Calibri"/>
              </a:rPr>
              <a:t>Possiamo notare che alcuni attributo dell’oggetto sono con spazi e tra apici. In questo caso per richiamarli dobbiamo usare la seguente istruzione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A678ECD-5EAC-438F-9530-D66BAE456BD7}"/>
              </a:ext>
            </a:extLst>
          </p:cNvPr>
          <p:cNvSpPr/>
          <p:nvPr/>
        </p:nvSpPr>
        <p:spPr>
          <a:xfrm>
            <a:off x="2631165" y="5555975"/>
            <a:ext cx="3733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dirty="0">
                <a:latin typeface="Consolas" panose="020B0609020204030204" pitchFamily="49" charset="0"/>
              </a:rPr>
              <a:t>book</a:t>
            </a:r>
            <a:r>
              <a:rPr lang="it-IT" sz="2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it-IT" sz="2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2800" dirty="0" err="1">
                <a:solidFill>
                  <a:srgbClr val="CE9178"/>
                </a:solidFill>
                <a:latin typeface="Consolas" panose="020B0609020204030204" pitchFamily="49" charset="0"/>
              </a:rPr>
              <a:t>main</a:t>
            </a:r>
            <a:r>
              <a:rPr lang="it-IT" sz="28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it-IT" sz="2800" dirty="0" err="1">
                <a:solidFill>
                  <a:srgbClr val="CE9178"/>
                </a:solidFill>
                <a:latin typeface="Consolas" panose="020B0609020204030204" pitchFamily="49" charset="0"/>
              </a:rPr>
              <a:t>title</a:t>
            </a:r>
            <a:r>
              <a:rPr lang="it-IT" sz="2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2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endParaRPr lang="it-IT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3296237-BE0E-4945-A207-E5ED7DE57CA0}"/>
              </a:ext>
            </a:extLst>
          </p:cNvPr>
          <p:cNvSpPr/>
          <p:nvPr/>
        </p:nvSpPr>
        <p:spPr>
          <a:xfrm>
            <a:off x="4778299" y="2083250"/>
            <a:ext cx="35791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u="sng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book</a:t>
            </a:r>
            <a:r>
              <a:rPr lang="it-IT" sz="1200" u="sng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main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title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"Libro 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Javascript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sub-t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itle"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"Linguaggio potente"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it-IT" sz="1200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for: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"Developer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it-IT" sz="1200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author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it-IT" sz="1200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firtname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 err="1">
                <a:solidFill>
                  <a:srgbClr val="CE9178"/>
                </a:solidFill>
                <a:latin typeface="Consolas" panose="020B0609020204030204" pitchFamily="49" charset="0"/>
              </a:rPr>
              <a:t>Rob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it-IT" sz="1200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lastname</a:t>
            </a:r>
            <a:r>
              <a:rPr lang="it-IT" sz="1200" u="sng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it-IT" sz="1200" u="sng" dirty="0">
                <a:solidFill>
                  <a:srgbClr val="CE9178"/>
                </a:solidFill>
                <a:latin typeface="Consolas" panose="020B0609020204030204" pitchFamily="49" charset="0"/>
              </a:rPr>
              <a:t>"Del"</a:t>
            </a:r>
            <a:endParaRPr lang="it-IT" sz="1200" u="sng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it-IT" sz="1200" u="sng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it-IT" sz="1200" b="0" u="sng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8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5F9A4CF-A994-4108-9A05-C2C3DA84EB0F}"/>
              </a:ext>
            </a:extLst>
          </p:cNvPr>
          <p:cNvSpPr txBox="1">
            <a:spLocks/>
          </p:cNvSpPr>
          <p:nvPr/>
        </p:nvSpPr>
        <p:spPr>
          <a:xfrm>
            <a:off x="2667000" y="739140"/>
            <a:ext cx="3810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it-IT" sz="4400" kern="0" spc="-10" dirty="0">
                <a:solidFill>
                  <a:sysClr val="windowText" lastClr="000000"/>
                </a:solidFill>
              </a:rPr>
              <a:t>Array Associativi</a:t>
            </a:r>
            <a:endParaRPr lang="it-IT" sz="4400" kern="0" spc="-20" dirty="0">
              <a:solidFill>
                <a:sysClr val="windowText" lastClr="000000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F752588-E22F-4A0B-94C7-B9332318E68B}"/>
              </a:ext>
            </a:extLst>
          </p:cNvPr>
          <p:cNvSpPr txBox="1"/>
          <p:nvPr/>
        </p:nvSpPr>
        <p:spPr>
          <a:xfrm>
            <a:off x="531176" y="1393318"/>
            <a:ext cx="808164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2000" spc="-15" dirty="0">
                <a:latin typeface="Calibri"/>
                <a:cs typeface="Calibri"/>
              </a:rPr>
              <a:t>Per spiegare il caso precedente facciamo un ulteriore esempio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7924449-9E1B-42E1-81FE-4E983A371DE4}"/>
              </a:ext>
            </a:extLst>
          </p:cNvPr>
          <p:cNvSpPr/>
          <p:nvPr/>
        </p:nvSpPr>
        <p:spPr>
          <a:xfrm>
            <a:off x="2285998" y="18450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 err="1">
                <a:solidFill>
                  <a:srgbClr val="000089"/>
                </a:solidFill>
                <a:latin typeface="UbuntuMono-Regular"/>
              </a:rPr>
              <a:t>object</a:t>
            </a:r>
            <a:r>
              <a:rPr lang="it-IT" dirty="0" err="1">
                <a:solidFill>
                  <a:srgbClr val="000000"/>
                </a:solidFill>
                <a:latin typeface="UbuntuMono-Regular"/>
              </a:rPr>
              <a:t>.</a:t>
            </a:r>
            <a:r>
              <a:rPr lang="it-IT" dirty="0" err="1">
                <a:solidFill>
                  <a:srgbClr val="000089"/>
                </a:solidFill>
                <a:latin typeface="UbuntuMono-Regular"/>
              </a:rPr>
              <a:t>property</a:t>
            </a:r>
            <a:endParaRPr lang="it-IT" dirty="0">
              <a:solidFill>
                <a:srgbClr val="000089"/>
              </a:solidFill>
              <a:latin typeface="UbuntuMono-Regular"/>
            </a:endParaRPr>
          </a:p>
          <a:p>
            <a:r>
              <a:rPr lang="it-IT" dirty="0">
                <a:solidFill>
                  <a:srgbClr val="000089"/>
                </a:solidFill>
                <a:latin typeface="UbuntuMono-Regular"/>
              </a:rPr>
              <a:t>object</a:t>
            </a:r>
            <a:r>
              <a:rPr lang="it-IT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it-IT" dirty="0">
                <a:solidFill>
                  <a:srgbClr val="CD3300"/>
                </a:solidFill>
                <a:latin typeface="UbuntuMono-Regular"/>
              </a:rPr>
              <a:t>"property"</a:t>
            </a:r>
            <a:r>
              <a:rPr lang="it-IT" dirty="0">
                <a:solidFill>
                  <a:srgbClr val="000000"/>
                </a:solidFill>
                <a:latin typeface="UbuntuMono-Regular"/>
              </a:rPr>
              <a:t>]</a:t>
            </a:r>
            <a:endParaRPr lang="it-IT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AD6A60EA-F91D-4CCA-9CC9-F6B3F1AA784A}"/>
              </a:ext>
            </a:extLst>
          </p:cNvPr>
          <p:cNvSpPr txBox="1"/>
          <p:nvPr/>
        </p:nvSpPr>
        <p:spPr>
          <a:xfrm>
            <a:off x="526694" y="2701471"/>
            <a:ext cx="8081645" cy="25147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2000" spc="-15" dirty="0">
                <a:cs typeface="Calibri"/>
              </a:rPr>
              <a:t>La prima sintassi, che utilizza il punto e un identificatore, è simile alla sintassi utilizzata per accedere a un campo statico di una </a:t>
            </a:r>
            <a:r>
              <a:rPr lang="it-IT" sz="2000" spc="-15" dirty="0" err="1">
                <a:cs typeface="Calibri"/>
              </a:rPr>
              <a:t>struct</a:t>
            </a:r>
            <a:r>
              <a:rPr lang="it-IT" sz="2000" spc="-15" dirty="0">
                <a:cs typeface="Calibri"/>
              </a:rPr>
              <a:t> o di un oggetto in C o Java.</a:t>
            </a:r>
          </a:p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2000" spc="-15" dirty="0">
                <a:cs typeface="Calibri"/>
              </a:rPr>
              <a:t>La seconda sintassi, che usa le parentesi quadre e una stringa, assomiglia all'accesso a un array, ma a un array indicizzato da stringhe anziché da numeri.</a:t>
            </a:r>
          </a:p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2000" spc="-15" dirty="0">
                <a:cs typeface="Calibri"/>
              </a:rPr>
              <a:t>Questo tipo di array è noto come array associativo (o </a:t>
            </a:r>
            <a:r>
              <a:rPr lang="it-IT" sz="2000" spc="-15" dirty="0" err="1">
                <a:cs typeface="Calibri"/>
              </a:rPr>
              <a:t>hash</a:t>
            </a:r>
            <a:r>
              <a:rPr lang="it-IT" sz="2000" spc="-15" dirty="0">
                <a:cs typeface="Calibri"/>
              </a:rPr>
              <a:t> o mappa o dizionario).</a:t>
            </a:r>
          </a:p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lang="it-IT" sz="2000" spc="-15" dirty="0">
                <a:cs typeface="Calibri"/>
              </a:rPr>
              <a:t>Gli oggetti JavaScript sono array associativi.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184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748" y="817956"/>
            <a:ext cx="40341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Modello</a:t>
            </a:r>
            <a:r>
              <a:rPr spc="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20" dirty="0"/>
              <a:t>oggetti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79181"/>
            <a:ext cx="8081645" cy="41452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sz="3000" spc="-15" dirty="0">
                <a:latin typeface="Calibri"/>
                <a:cs typeface="Calibri"/>
              </a:rPr>
              <a:t>JavaScript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linguaggio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oggetti</a:t>
            </a:r>
            <a:r>
              <a:rPr sz="3000" spc="-10" dirty="0">
                <a:latin typeface="Calibri"/>
                <a:cs typeface="Calibri"/>
              </a:rPr>
              <a:t> basato</a:t>
            </a:r>
            <a:r>
              <a:rPr sz="3000" spc="-5" dirty="0">
                <a:latin typeface="Calibri"/>
                <a:cs typeface="Calibri"/>
              </a:rPr>
              <a:t> su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prototipi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piuttosto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sulle</a:t>
            </a:r>
            <a:r>
              <a:rPr sz="3000" spc="-5" dirty="0">
                <a:latin typeface="Calibri"/>
                <a:cs typeface="Calibri"/>
              </a:rPr>
              <a:t> classi.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causa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di 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questa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diversa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base,</a:t>
            </a:r>
            <a:r>
              <a:rPr sz="3000" dirty="0">
                <a:latin typeface="Calibri"/>
                <a:cs typeface="Calibri"/>
              </a:rPr>
              <a:t> può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essere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meno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evidente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JavaScript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permette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creare</a:t>
            </a:r>
            <a:r>
              <a:rPr sz="3000" spc="-15" dirty="0">
                <a:latin typeface="Calibri"/>
                <a:cs typeface="Calibri"/>
              </a:rPr>
              <a:t> gerarchie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oggetti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25" dirty="0">
                <a:latin typeface="Calibri"/>
                <a:cs typeface="Calibri"/>
              </a:rPr>
              <a:t>avere </a:t>
            </a:r>
            <a:r>
              <a:rPr sz="3000" spc="-15" dirty="0">
                <a:latin typeface="Calibri"/>
                <a:cs typeface="Calibri"/>
              </a:rPr>
              <a:t>l'ereditarietà </a:t>
            </a:r>
            <a:r>
              <a:rPr sz="3000" dirty="0">
                <a:latin typeface="Calibri"/>
                <a:cs typeface="Calibri"/>
              </a:rPr>
              <a:t>delle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10" dirty="0">
                <a:latin typeface="Calibri"/>
                <a:cs typeface="Calibri"/>
              </a:rPr>
              <a:t>dei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loro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valori.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alibri"/>
              <a:cs typeface="Calibri"/>
            </a:endParaRPr>
          </a:p>
          <a:p>
            <a:pPr marL="12700" marR="15240" algn="just">
              <a:lnSpc>
                <a:spcPts val="3590"/>
              </a:lnSpc>
            </a:pPr>
            <a:r>
              <a:rPr sz="3000" dirty="0">
                <a:latin typeface="Calibri"/>
                <a:cs typeface="Calibri"/>
              </a:rPr>
              <a:t>I linguaggi </a:t>
            </a:r>
            <a:r>
              <a:rPr sz="3000" spc="-10" dirty="0">
                <a:latin typeface="Calibri"/>
                <a:cs typeface="Calibri"/>
              </a:rPr>
              <a:t>ad </a:t>
            </a:r>
            <a:r>
              <a:rPr sz="3000" spc="-20" dirty="0">
                <a:latin typeface="Calibri"/>
                <a:cs typeface="Calibri"/>
              </a:rPr>
              <a:t>oggetti </a:t>
            </a:r>
            <a:r>
              <a:rPr sz="3000" spc="-10" dirty="0">
                <a:latin typeface="Calibri"/>
                <a:cs typeface="Calibri"/>
              </a:rPr>
              <a:t>basati </a:t>
            </a:r>
            <a:r>
              <a:rPr sz="3000" dirty="0">
                <a:latin typeface="Calibri"/>
                <a:cs typeface="Calibri"/>
              </a:rPr>
              <a:t>su </a:t>
            </a:r>
            <a:r>
              <a:rPr sz="3000" spc="-5" dirty="0">
                <a:latin typeface="Calibri"/>
                <a:cs typeface="Calibri"/>
              </a:rPr>
              <a:t>classi, </a:t>
            </a:r>
            <a:r>
              <a:rPr sz="3000" spc="-10" dirty="0">
                <a:latin typeface="Calibri"/>
                <a:cs typeface="Calibri"/>
              </a:rPr>
              <a:t>come </a:t>
            </a:r>
            <a:r>
              <a:rPr sz="3000" b="1" spc="-20" dirty="0">
                <a:latin typeface="Calibri"/>
                <a:cs typeface="Calibri"/>
              </a:rPr>
              <a:t>Java</a:t>
            </a:r>
            <a:r>
              <a:rPr sz="3000" spc="-20" dirty="0">
                <a:latin typeface="Calibri"/>
                <a:cs typeface="Calibri"/>
              </a:rPr>
              <a:t>, </a:t>
            </a:r>
            <a:r>
              <a:rPr sz="3000" spc="-40" dirty="0">
                <a:latin typeface="Calibri"/>
                <a:cs typeface="Calibri"/>
              </a:rPr>
              <a:t>si 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basano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due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entità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distinte: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classi</a:t>
            </a:r>
            <a:r>
              <a:rPr sz="3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istanze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67523"/>
            <a:ext cx="8081009" cy="46780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415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Una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classe </a:t>
            </a:r>
            <a:r>
              <a:rPr sz="2700" spc="-5" dirty="0">
                <a:latin typeface="Calibri"/>
                <a:cs typeface="Calibri"/>
              </a:rPr>
              <a:t>definisce </a:t>
            </a:r>
            <a:r>
              <a:rPr sz="2700" spc="-20" dirty="0">
                <a:latin typeface="Calibri"/>
                <a:cs typeface="Calibri"/>
              </a:rPr>
              <a:t>tutte </a:t>
            </a:r>
            <a:r>
              <a:rPr sz="2700" spc="-15" dirty="0">
                <a:latin typeface="Calibri"/>
                <a:cs typeface="Calibri"/>
              </a:rPr>
              <a:t>le </a:t>
            </a:r>
            <a:r>
              <a:rPr sz="2700" spc="-10" dirty="0">
                <a:latin typeface="Calibri"/>
                <a:cs typeface="Calibri"/>
              </a:rPr>
              <a:t>proprietà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20" dirty="0">
                <a:latin typeface="Calibri"/>
                <a:cs typeface="Calibri"/>
              </a:rPr>
              <a:t>caratterizzano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determinata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collezione</a:t>
            </a:r>
            <a:r>
              <a:rPr sz="2700" spc="-5" dirty="0">
                <a:latin typeface="Calibri"/>
                <a:cs typeface="Calibri"/>
              </a:rPr>
              <a:t> 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oggetti.</a:t>
            </a:r>
            <a:r>
              <a:rPr sz="2700" spc="-5" dirty="0">
                <a:latin typeface="Calibri"/>
                <a:cs typeface="Calibri"/>
              </a:rPr>
              <a:t> 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classe</a:t>
            </a:r>
            <a:r>
              <a:rPr sz="2700" spc="-5" dirty="0">
                <a:latin typeface="Calibri"/>
                <a:cs typeface="Calibri"/>
              </a:rPr>
              <a:t> è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un'entità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astratta,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più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membro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gruppo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oggetti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descrive.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Per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esempio,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la  </a:t>
            </a:r>
            <a:r>
              <a:rPr sz="2700" spc="-5" dirty="0">
                <a:latin typeface="Calibri"/>
                <a:cs typeface="Calibri"/>
              </a:rPr>
              <a:t>classe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Impiegato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può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rappresentare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gruppo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tutti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dipendenti.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50" dirty="0">
              <a:latin typeface="Calibri"/>
              <a:cs typeface="Calibri"/>
            </a:endParaRPr>
          </a:p>
          <a:p>
            <a:pPr marL="12700" marR="6985" algn="just">
              <a:lnSpc>
                <a:spcPct val="90000"/>
              </a:lnSpc>
            </a:pP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Un'istanza</a:t>
            </a:r>
            <a:r>
              <a:rPr sz="2700" spc="-10" dirty="0">
                <a:latin typeface="Calibri"/>
                <a:cs typeface="Calibri"/>
              </a:rPr>
              <a:t>, </a:t>
            </a:r>
            <a:r>
              <a:rPr sz="2700" spc="-20" dirty="0">
                <a:latin typeface="Calibri"/>
                <a:cs typeface="Calibri"/>
              </a:rPr>
              <a:t>d'altra </a:t>
            </a:r>
            <a:r>
              <a:rPr sz="2700" spc="-15" dirty="0">
                <a:latin typeface="Calibri"/>
                <a:cs typeface="Calibri"/>
              </a:rPr>
              <a:t>parte,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0" dirty="0">
                <a:latin typeface="Calibri"/>
                <a:cs typeface="Calibri"/>
              </a:rPr>
              <a:t>l'istanziazione </a:t>
            </a:r>
            <a:r>
              <a:rPr sz="2700" spc="-5" dirty="0">
                <a:latin typeface="Calibri"/>
                <a:cs typeface="Calibri"/>
              </a:rPr>
              <a:t>di una </a:t>
            </a:r>
            <a:r>
              <a:rPr sz="2700" dirty="0">
                <a:latin typeface="Calibri"/>
                <a:cs typeface="Calibri"/>
              </a:rPr>
              <a:t>classe;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cioè </a:t>
            </a:r>
            <a:r>
              <a:rPr sz="2700" spc="-5" dirty="0">
                <a:latin typeface="Calibri"/>
                <a:cs typeface="Calibri"/>
              </a:rPr>
              <a:t>uno dei </a:t>
            </a:r>
            <a:r>
              <a:rPr sz="2700" spc="5" dirty="0">
                <a:latin typeface="Calibri"/>
                <a:cs typeface="Calibri"/>
              </a:rPr>
              <a:t>suoi </a:t>
            </a:r>
            <a:r>
              <a:rPr sz="2700" dirty="0">
                <a:latin typeface="Calibri"/>
                <a:cs typeface="Calibri"/>
              </a:rPr>
              <a:t>membri. </a:t>
            </a:r>
            <a:r>
              <a:rPr sz="2700" spc="-30" dirty="0">
                <a:latin typeface="Calibri"/>
                <a:cs typeface="Calibri"/>
              </a:rPr>
              <a:t>Per </a:t>
            </a:r>
            <a:r>
              <a:rPr sz="2700" spc="-5" dirty="0">
                <a:latin typeface="Calibri"/>
                <a:cs typeface="Calibri"/>
              </a:rPr>
              <a:t>esempio </a:t>
            </a:r>
            <a:r>
              <a:rPr sz="2700" spc="-15" dirty="0">
                <a:latin typeface="Calibri"/>
                <a:cs typeface="Calibri"/>
              </a:rPr>
              <a:t>Luca </a:t>
            </a:r>
            <a:r>
              <a:rPr sz="2700" spc="-5" dirty="0">
                <a:latin typeface="Calibri"/>
                <a:cs typeface="Calibri"/>
              </a:rPr>
              <a:t>può essere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un'istanza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della</a:t>
            </a:r>
            <a:r>
              <a:rPr sz="2700" spc="-5" dirty="0">
                <a:latin typeface="Calibri"/>
                <a:cs typeface="Calibri"/>
              </a:rPr>
              <a:t> classe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Impiegato,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rappresenta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particolare </a:t>
            </a:r>
            <a:r>
              <a:rPr sz="2700" spc="-5" dirty="0">
                <a:latin typeface="Calibri"/>
                <a:cs typeface="Calibri"/>
              </a:rPr>
              <a:t>individuo </a:t>
            </a:r>
            <a:r>
              <a:rPr sz="2700" spc="-15" dirty="0">
                <a:latin typeface="Calibri"/>
                <a:cs typeface="Calibri"/>
              </a:rPr>
              <a:t>come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dipendente. </a:t>
            </a:r>
            <a:r>
              <a:rPr sz="2700" spc="-15" dirty="0">
                <a:latin typeface="Calibri"/>
                <a:cs typeface="Calibri"/>
              </a:rPr>
              <a:t>Un'istanza </a:t>
            </a:r>
            <a:r>
              <a:rPr sz="2700" spc="-5" dirty="0">
                <a:latin typeface="Calibri"/>
                <a:cs typeface="Calibri"/>
              </a:rPr>
              <a:t>ha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esattamente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stesse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proprietà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della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classe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cui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appartiene.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94549"/>
            <a:ext cx="8079740" cy="46951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 algn="just">
              <a:lnSpc>
                <a:spcPct val="80100"/>
              </a:lnSpc>
              <a:spcBef>
                <a:spcPts val="830"/>
              </a:spcBef>
            </a:pPr>
            <a:r>
              <a:rPr sz="3000" spc="15" dirty="0">
                <a:latin typeface="Calibri"/>
                <a:cs typeface="Calibri"/>
              </a:rPr>
              <a:t>Un </a:t>
            </a:r>
            <a:r>
              <a:rPr sz="3000" dirty="0">
                <a:latin typeface="Calibri"/>
                <a:cs typeface="Calibri"/>
              </a:rPr>
              <a:t>linguaggio </a:t>
            </a:r>
            <a:r>
              <a:rPr sz="3000" spc="-15" dirty="0">
                <a:latin typeface="Calibri"/>
                <a:cs typeface="Calibri"/>
              </a:rPr>
              <a:t>basato </a:t>
            </a:r>
            <a:r>
              <a:rPr sz="3000" dirty="0">
                <a:latin typeface="Calibri"/>
                <a:cs typeface="Calibri"/>
              </a:rPr>
              <a:t>su </a:t>
            </a:r>
            <a:r>
              <a:rPr sz="3000" spc="-15" dirty="0">
                <a:latin typeface="Calibri"/>
                <a:cs typeface="Calibri"/>
              </a:rPr>
              <a:t>prototipi, </a:t>
            </a:r>
            <a:r>
              <a:rPr sz="3000" dirty="0">
                <a:latin typeface="Calibri"/>
                <a:cs typeface="Calibri"/>
              </a:rPr>
              <a:t>come </a:t>
            </a:r>
            <a:r>
              <a:rPr sz="3000" spc="-15" dirty="0">
                <a:latin typeface="Calibri"/>
                <a:cs typeface="Calibri"/>
              </a:rPr>
              <a:t>JavaScript,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non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fa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questa</a:t>
            </a:r>
            <a:r>
              <a:rPr sz="3000" spc="-10" dirty="0">
                <a:latin typeface="Calibri"/>
                <a:cs typeface="Calibri"/>
              </a:rPr>
              <a:t> distinzione: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spc="10" dirty="0">
                <a:solidFill>
                  <a:srgbClr val="FF0000"/>
                </a:solidFill>
                <a:latin typeface="Calibri"/>
                <a:cs typeface="Calibri"/>
              </a:rPr>
              <a:t>ha</a:t>
            </a:r>
            <a:r>
              <a:rPr sz="3000" b="1" spc="7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solo</a:t>
            </a:r>
            <a:r>
              <a:rPr sz="3000" b="1" spc="6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oggetti</a:t>
            </a:r>
            <a:r>
              <a:rPr sz="3000" spc="-10" dirty="0">
                <a:latin typeface="Calibri"/>
                <a:cs typeface="Calibri"/>
              </a:rPr>
              <a:t>.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Introduce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nozione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-10" dirty="0">
                <a:latin typeface="Calibri"/>
                <a:cs typeface="Calibri"/>
              </a:rPr>
              <a:t> prototipo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(prototypical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object),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usato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come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modello </a:t>
            </a:r>
            <a:r>
              <a:rPr sz="3000" spc="-5" dirty="0">
                <a:latin typeface="Calibri"/>
                <a:cs typeface="Calibri"/>
              </a:rPr>
              <a:t>da cui </a:t>
            </a:r>
            <a:r>
              <a:rPr sz="3000" spc="-15" dirty="0">
                <a:latin typeface="Calibri"/>
                <a:cs typeface="Calibri"/>
              </a:rPr>
              <a:t>prendere </a:t>
            </a:r>
            <a:r>
              <a:rPr sz="3000" spc="10" dirty="0">
                <a:latin typeface="Calibri"/>
                <a:cs typeface="Calibri"/>
              </a:rPr>
              <a:t>le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-5" dirty="0">
                <a:latin typeface="Calibri"/>
                <a:cs typeface="Calibri"/>
              </a:rPr>
              <a:t>iniziali </a:t>
            </a:r>
            <a:r>
              <a:rPr sz="3000" spc="-10" dirty="0">
                <a:latin typeface="Calibri"/>
                <a:cs typeface="Calibri"/>
              </a:rPr>
              <a:t>per </a:t>
            </a:r>
            <a:r>
              <a:rPr sz="3000" spc="-2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nuovo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oggetto.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 dirty="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</a:pPr>
            <a:r>
              <a:rPr sz="3000" spc="5" dirty="0">
                <a:latin typeface="Calibri"/>
                <a:cs typeface="Calibri"/>
              </a:rPr>
              <a:t>Ogni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può </a:t>
            </a:r>
            <a:r>
              <a:rPr sz="3000" spc="-10" dirty="0">
                <a:latin typeface="Calibri"/>
                <a:cs typeface="Calibri"/>
              </a:rPr>
              <a:t>specificare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proprietà,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anche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quando </a:t>
            </a:r>
            <a:r>
              <a:rPr sz="3000" spc="-5" dirty="0">
                <a:latin typeface="Calibri"/>
                <a:cs typeface="Calibri"/>
              </a:rPr>
              <a:t>viene </a:t>
            </a:r>
            <a:r>
              <a:rPr sz="3000" spc="-20" dirty="0">
                <a:latin typeface="Calibri"/>
                <a:cs typeface="Calibri"/>
              </a:rPr>
              <a:t>creato </a:t>
            </a:r>
            <a:r>
              <a:rPr sz="3000" spc="5" dirty="0">
                <a:latin typeface="Calibri"/>
                <a:cs typeface="Calibri"/>
              </a:rPr>
              <a:t>o </a:t>
            </a:r>
            <a:r>
              <a:rPr sz="3000" spc="10" dirty="0">
                <a:latin typeface="Calibri"/>
                <a:cs typeface="Calibri"/>
              </a:rPr>
              <a:t>in </a:t>
            </a:r>
            <a:r>
              <a:rPr sz="3000" spc="-15" dirty="0">
                <a:latin typeface="Calibri"/>
                <a:cs typeface="Calibri"/>
              </a:rPr>
              <a:t>fase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dirty="0">
                <a:latin typeface="Calibri"/>
                <a:cs typeface="Calibri"/>
              </a:rPr>
              <a:t>esecuzione. </a:t>
            </a:r>
            <a:r>
              <a:rPr sz="3000" spc="-10" dirty="0">
                <a:latin typeface="Calibri"/>
                <a:cs typeface="Calibri"/>
              </a:rPr>
              <a:t>Inoltre,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ogni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può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essere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associato</a:t>
            </a:r>
            <a:r>
              <a:rPr sz="3000" spc="-5" dirty="0">
                <a:latin typeface="Calibri"/>
                <a:cs typeface="Calibri"/>
              </a:rPr>
              <a:t> ad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altro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prototipo,</a:t>
            </a:r>
            <a:r>
              <a:rPr sz="3000" spc="-10" dirty="0">
                <a:latin typeface="Calibri"/>
                <a:cs typeface="Calibri"/>
              </a:rPr>
              <a:t> consentendo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</a:t>
            </a:r>
            <a:r>
              <a:rPr sz="3000" spc="-5" dirty="0">
                <a:latin typeface="Calibri"/>
                <a:cs typeface="Calibri"/>
              </a:rPr>
              <a:t> secondo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condividere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proprietà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del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primo.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73175"/>
            <a:ext cx="8072755" cy="47972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algn="just">
              <a:lnSpc>
                <a:spcPct val="81700"/>
              </a:lnSpc>
              <a:spcBef>
                <a:spcPts val="670"/>
              </a:spcBef>
            </a:pPr>
            <a:r>
              <a:rPr sz="2450" spc="10" dirty="0">
                <a:latin typeface="Calibri"/>
                <a:cs typeface="Calibri"/>
              </a:rPr>
              <a:t>Nei</a:t>
            </a:r>
            <a:r>
              <a:rPr sz="2450" spc="15" dirty="0">
                <a:latin typeface="Calibri"/>
                <a:cs typeface="Calibri"/>
              </a:rPr>
              <a:t> linguaggi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basati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</a:t>
            </a:r>
            <a:r>
              <a:rPr sz="2450" spc="10" dirty="0">
                <a:latin typeface="Calibri"/>
                <a:cs typeface="Calibri"/>
              </a:rPr>
              <a:t> classi,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le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classi</a:t>
            </a:r>
            <a:r>
              <a:rPr sz="2450" spc="15" dirty="0">
                <a:latin typeface="Calibri"/>
                <a:cs typeface="Calibri"/>
              </a:rPr>
              <a:t> vengono  </a:t>
            </a:r>
            <a:r>
              <a:rPr sz="2450" spc="10" dirty="0">
                <a:latin typeface="Calibri"/>
                <a:cs typeface="Calibri"/>
              </a:rPr>
              <a:t>definite  </a:t>
            </a:r>
            <a:r>
              <a:rPr sz="2450" spc="5" dirty="0">
                <a:latin typeface="Calibri"/>
                <a:cs typeface="Calibri"/>
              </a:rPr>
              <a:t>in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classi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separate.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queste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definizioni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possibile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specificare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metodi </a:t>
            </a:r>
            <a:r>
              <a:rPr sz="2450" spc="15" dirty="0">
                <a:latin typeface="Calibri"/>
                <a:cs typeface="Calibri"/>
              </a:rPr>
              <a:t>speciali, </a:t>
            </a:r>
            <a:r>
              <a:rPr sz="2450" spc="10" dirty="0">
                <a:latin typeface="Calibri"/>
                <a:cs typeface="Calibri"/>
              </a:rPr>
              <a:t>chiamati </a:t>
            </a:r>
            <a:r>
              <a:rPr sz="2450" spc="5" dirty="0">
                <a:latin typeface="Calibri"/>
                <a:cs typeface="Calibri"/>
              </a:rPr>
              <a:t>costruttori, </a:t>
            </a:r>
            <a:r>
              <a:rPr sz="2450" spc="15" dirty="0">
                <a:latin typeface="Calibri"/>
                <a:cs typeface="Calibri"/>
              </a:rPr>
              <a:t>per </a:t>
            </a:r>
            <a:r>
              <a:rPr sz="2450" spc="5" dirty="0">
                <a:latin typeface="Calibri"/>
                <a:cs typeface="Calibri"/>
              </a:rPr>
              <a:t>creare </a:t>
            </a:r>
            <a:r>
              <a:rPr sz="2450" spc="-5" dirty="0">
                <a:latin typeface="Calibri"/>
                <a:cs typeface="Calibri"/>
              </a:rPr>
              <a:t>istanze </a:t>
            </a:r>
            <a:r>
              <a:rPr sz="2450" spc="15" dirty="0">
                <a:latin typeface="Calibri"/>
                <a:cs typeface="Calibri"/>
              </a:rPr>
              <a:t>della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classe.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dirty="0">
                <a:latin typeface="Calibri"/>
                <a:cs typeface="Calibri"/>
              </a:rPr>
              <a:t>costruttore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può </a:t>
            </a:r>
            <a:r>
              <a:rPr sz="2450" spc="10" dirty="0">
                <a:latin typeface="Calibri"/>
                <a:cs typeface="Calibri"/>
              </a:rPr>
              <a:t>specificare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valori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iniziali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30" dirty="0">
                <a:latin typeface="Calibri"/>
                <a:cs typeface="Calibri"/>
              </a:rPr>
              <a:t>per </a:t>
            </a:r>
            <a:r>
              <a:rPr sz="2450" spc="5" dirty="0">
                <a:latin typeface="Calibri"/>
                <a:cs typeface="Calibri"/>
              </a:rPr>
              <a:t>le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proprietà </a:t>
            </a:r>
            <a:r>
              <a:rPr sz="2450" spc="5" dirty="0">
                <a:latin typeface="Calibri"/>
                <a:cs typeface="Calibri"/>
              </a:rPr>
              <a:t>dell'istanza </a:t>
            </a:r>
            <a:r>
              <a:rPr sz="2450" spc="20" dirty="0">
                <a:latin typeface="Calibri"/>
                <a:cs typeface="Calibri"/>
              </a:rPr>
              <a:t>ed </a:t>
            </a:r>
            <a:r>
              <a:rPr sz="2450" spc="15" dirty="0">
                <a:latin typeface="Calibri"/>
                <a:cs typeface="Calibri"/>
              </a:rPr>
              <a:t>eseguire </a:t>
            </a:r>
            <a:r>
              <a:rPr sz="2450" spc="5" dirty="0">
                <a:latin typeface="Calibri"/>
                <a:cs typeface="Calibri"/>
              </a:rPr>
              <a:t>altre </a:t>
            </a:r>
            <a:r>
              <a:rPr sz="2450" spc="10" dirty="0">
                <a:latin typeface="Calibri"/>
                <a:cs typeface="Calibri"/>
              </a:rPr>
              <a:t>elaborazioni </a:t>
            </a:r>
            <a:r>
              <a:rPr sz="2450" spc="5" dirty="0">
                <a:latin typeface="Calibri"/>
                <a:cs typeface="Calibri"/>
              </a:rPr>
              <a:t>adatte </a:t>
            </a:r>
            <a:r>
              <a:rPr sz="2450" spc="25" dirty="0">
                <a:latin typeface="Calibri"/>
                <a:cs typeface="Calibri"/>
              </a:rPr>
              <a:t>al 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momento </a:t>
            </a:r>
            <a:r>
              <a:rPr sz="2450" spc="20" dirty="0">
                <a:latin typeface="Calibri"/>
                <a:cs typeface="Calibri"/>
              </a:rPr>
              <a:t>della </a:t>
            </a:r>
            <a:r>
              <a:rPr sz="2450" spc="15" dirty="0">
                <a:latin typeface="Calibri"/>
                <a:cs typeface="Calibri"/>
              </a:rPr>
              <a:t>creazione. </a:t>
            </a:r>
            <a:r>
              <a:rPr sz="2450" spc="10" dirty="0">
                <a:latin typeface="Calibri"/>
                <a:cs typeface="Calibri"/>
              </a:rPr>
              <a:t>Per creare le </a:t>
            </a:r>
            <a:r>
              <a:rPr sz="2450" dirty="0">
                <a:latin typeface="Calibri"/>
                <a:cs typeface="Calibri"/>
              </a:rPr>
              <a:t>istanze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una </a:t>
            </a:r>
            <a:r>
              <a:rPr sz="2450" spc="15" dirty="0">
                <a:latin typeface="Calibri"/>
                <a:cs typeface="Calibri"/>
              </a:rPr>
              <a:t>classe </a:t>
            </a:r>
            <a:r>
              <a:rPr sz="2450" spc="30" dirty="0">
                <a:latin typeface="Calibri"/>
                <a:cs typeface="Calibri"/>
              </a:rPr>
              <a:t>si 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utilizza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l'operatore</a:t>
            </a:r>
            <a:r>
              <a:rPr sz="2450" spc="1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new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associato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metodo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costruttore.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50" dirty="0">
              <a:latin typeface="Calibri"/>
              <a:cs typeface="Calibri"/>
            </a:endParaRPr>
          </a:p>
          <a:p>
            <a:pPr marL="12700" marR="5080" algn="just">
              <a:lnSpc>
                <a:spcPct val="81700"/>
              </a:lnSpc>
            </a:pPr>
            <a:r>
              <a:rPr sz="2450" spc="5" dirty="0">
                <a:latin typeface="Calibri"/>
                <a:cs typeface="Calibri"/>
              </a:rPr>
              <a:t>JavaScript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segue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modello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simile,</a:t>
            </a:r>
            <a:r>
              <a:rPr sz="2450" spc="20" dirty="0">
                <a:latin typeface="Calibri"/>
                <a:cs typeface="Calibri"/>
              </a:rPr>
              <a:t> ma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non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prevede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la 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definizione 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della 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classe 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separata dal c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ostruttore</a:t>
            </a:r>
            <a:r>
              <a:rPr sz="2450" spc="5" dirty="0">
                <a:latin typeface="Calibri"/>
                <a:cs typeface="Calibri"/>
              </a:rPr>
              <a:t>. </a:t>
            </a:r>
            <a:r>
              <a:rPr sz="2450" spc="10" dirty="0">
                <a:latin typeface="Calibri"/>
                <a:cs typeface="Calibri"/>
              </a:rPr>
              <a:t>Invece, </a:t>
            </a:r>
            <a:r>
              <a:rPr sz="2450" spc="15" dirty="0">
                <a:latin typeface="Calibri"/>
                <a:cs typeface="Calibri"/>
              </a:rPr>
              <a:t>per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creare </a:t>
            </a:r>
            <a:r>
              <a:rPr sz="2450" spc="10" dirty="0">
                <a:latin typeface="Calibri"/>
                <a:cs typeface="Calibri"/>
              </a:rPr>
              <a:t>oggetti </a:t>
            </a:r>
            <a:r>
              <a:rPr sz="2450" spc="5" dirty="0">
                <a:latin typeface="Calibri"/>
                <a:cs typeface="Calibri"/>
              </a:rPr>
              <a:t>con </a:t>
            </a:r>
            <a:r>
              <a:rPr sz="2450" spc="15" dirty="0">
                <a:latin typeface="Calibri"/>
                <a:cs typeface="Calibri"/>
              </a:rPr>
              <a:t>un </a:t>
            </a:r>
            <a:r>
              <a:rPr sz="2450" spc="10" dirty="0">
                <a:latin typeface="Calibri"/>
                <a:cs typeface="Calibri"/>
              </a:rPr>
              <a:t>particolare </a:t>
            </a:r>
            <a:r>
              <a:rPr sz="2450" spc="5" dirty="0">
                <a:latin typeface="Calibri"/>
                <a:cs typeface="Calibri"/>
              </a:rPr>
              <a:t>set </a:t>
            </a:r>
            <a:r>
              <a:rPr sz="2450" spc="10" dirty="0">
                <a:latin typeface="Calibri"/>
                <a:cs typeface="Calibri"/>
              </a:rPr>
              <a:t>di proprietà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valori </a:t>
            </a:r>
            <a:r>
              <a:rPr sz="2450" spc="30" dirty="0">
                <a:latin typeface="Calibri"/>
                <a:cs typeface="Calibri"/>
              </a:rPr>
              <a:t>si 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definisce </a:t>
            </a:r>
            <a:r>
              <a:rPr sz="2450" spc="20" dirty="0">
                <a:latin typeface="Calibri"/>
                <a:cs typeface="Calibri"/>
              </a:rPr>
              <a:t>una 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funzione 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costruttore</a:t>
            </a:r>
            <a:r>
              <a:rPr sz="2450" spc="5" dirty="0">
                <a:latin typeface="Calibri"/>
                <a:cs typeface="Calibri"/>
              </a:rPr>
              <a:t>. </a:t>
            </a:r>
            <a:r>
              <a:rPr sz="2450" b="1" spc="15" dirty="0">
                <a:latin typeface="Calibri"/>
                <a:cs typeface="Calibri"/>
              </a:rPr>
              <a:t>Ogni </a:t>
            </a:r>
            <a:r>
              <a:rPr sz="2450" b="1" spc="10" dirty="0">
                <a:latin typeface="Calibri"/>
                <a:cs typeface="Calibri"/>
              </a:rPr>
              <a:t>funzione JavaScript 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b="1" spc="20" dirty="0">
                <a:latin typeface="Calibri"/>
                <a:cs typeface="Calibri"/>
              </a:rPr>
              <a:t>può</a:t>
            </a:r>
            <a:r>
              <a:rPr sz="2450" b="1" spc="25" dirty="0">
                <a:latin typeface="Calibri"/>
                <a:cs typeface="Calibri"/>
              </a:rPr>
              <a:t> </a:t>
            </a:r>
            <a:r>
              <a:rPr sz="2450" b="1" spc="5" dirty="0">
                <a:latin typeface="Calibri"/>
                <a:cs typeface="Calibri"/>
              </a:rPr>
              <a:t>essere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5" dirty="0">
                <a:latin typeface="Calibri"/>
                <a:cs typeface="Calibri"/>
              </a:rPr>
              <a:t>usata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20" dirty="0">
                <a:latin typeface="Calibri"/>
                <a:cs typeface="Calibri"/>
              </a:rPr>
              <a:t>come</a:t>
            </a:r>
            <a:r>
              <a:rPr sz="2450" b="1" spc="2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costruttore</a:t>
            </a:r>
            <a:r>
              <a:rPr sz="2450" dirty="0">
                <a:latin typeface="Calibri"/>
                <a:cs typeface="Calibri"/>
              </a:rPr>
              <a:t>.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Per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creare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nuovo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oggetto si </a:t>
            </a:r>
            <a:r>
              <a:rPr sz="2450" spc="10" dirty="0">
                <a:latin typeface="Calibri"/>
                <a:cs typeface="Calibri"/>
              </a:rPr>
              <a:t>utilizza </a:t>
            </a:r>
            <a:r>
              <a:rPr sz="2450" dirty="0">
                <a:latin typeface="Calibri"/>
                <a:cs typeface="Calibri"/>
              </a:rPr>
              <a:t>l'operatore </a:t>
            </a:r>
            <a:r>
              <a:rPr sz="2450" spc="30" dirty="0">
                <a:latin typeface="Calibri"/>
                <a:cs typeface="Calibri"/>
              </a:rPr>
              <a:t>new </a:t>
            </a:r>
            <a:r>
              <a:rPr sz="2450" spc="5" dirty="0">
                <a:latin typeface="Calibri"/>
                <a:cs typeface="Calibri"/>
              </a:rPr>
              <a:t>associato </a:t>
            </a:r>
            <a:r>
              <a:rPr sz="2450" spc="15" dirty="0">
                <a:latin typeface="Calibri"/>
                <a:cs typeface="Calibri"/>
              </a:rPr>
              <a:t>a </a:t>
            </a:r>
            <a:r>
              <a:rPr sz="2450" spc="20" dirty="0">
                <a:latin typeface="Calibri"/>
                <a:cs typeface="Calibri"/>
              </a:rPr>
              <a:t>una </a:t>
            </a:r>
            <a:r>
              <a:rPr sz="2450" spc="15" dirty="0">
                <a:latin typeface="Calibri"/>
                <a:cs typeface="Calibri"/>
              </a:rPr>
              <a:t>funzione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costruttore.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8692" y="817956"/>
            <a:ext cx="2630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</a:t>
            </a:r>
            <a:r>
              <a:rPr spc="-15" dirty="0"/>
              <a:t>o</a:t>
            </a:r>
            <a:r>
              <a:rPr spc="-20" dirty="0"/>
              <a:t>s</a:t>
            </a:r>
            <a:r>
              <a:rPr spc="10" dirty="0"/>
              <a:t>t</a:t>
            </a:r>
            <a:r>
              <a:rPr dirty="0"/>
              <a:t>ru</a:t>
            </a:r>
            <a:r>
              <a:rPr spc="-60" dirty="0"/>
              <a:t>t</a:t>
            </a:r>
            <a:r>
              <a:rPr spc="-20" dirty="0"/>
              <a:t>t</a:t>
            </a:r>
            <a:r>
              <a:rPr spc="-5" dirty="0"/>
              <a:t>o</a:t>
            </a:r>
            <a:r>
              <a:rPr spc="-95" dirty="0"/>
              <a:t>r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34172"/>
            <a:ext cx="8074025" cy="42176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80"/>
              </a:spcBef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Javascript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85" dirty="0">
                <a:latin typeface="Calibri"/>
                <a:cs typeface="Calibri"/>
              </a:rPr>
              <a:t>c’è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bisogno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definire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classe </a:t>
            </a:r>
            <a:r>
              <a:rPr sz="3200" spc="10" dirty="0">
                <a:latin typeface="Calibri"/>
                <a:cs typeface="Calibri"/>
              </a:rPr>
              <a:t>ma </a:t>
            </a:r>
            <a:r>
              <a:rPr sz="3200" spc="-5" dirty="0">
                <a:latin typeface="Calibri"/>
                <a:cs typeface="Calibri"/>
              </a:rPr>
              <a:t>definiamo </a:t>
            </a:r>
            <a:r>
              <a:rPr sz="3200" spc="-20" dirty="0">
                <a:latin typeface="Calibri"/>
                <a:cs typeface="Calibri"/>
              </a:rPr>
              <a:t>direttamente </a:t>
            </a:r>
            <a:r>
              <a:rPr sz="3200" spc="-35" dirty="0">
                <a:latin typeface="Calibri"/>
                <a:cs typeface="Calibri"/>
              </a:rPr>
              <a:t>l’oggetto </a:t>
            </a:r>
            <a:r>
              <a:rPr sz="3200" spc="-10" dirty="0">
                <a:latin typeface="Calibri"/>
                <a:cs typeface="Calibri"/>
              </a:rPr>
              <a:t>così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serve</a:t>
            </a:r>
            <a:r>
              <a:rPr sz="3200" spc="-5" dirty="0">
                <a:latin typeface="Calibri"/>
                <a:cs typeface="Calibri"/>
              </a:rPr>
              <a:t> 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momento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eventualmente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possiamo </a:t>
            </a:r>
            <a:r>
              <a:rPr sz="3200" spc="-10" dirty="0">
                <a:latin typeface="Calibri"/>
                <a:cs typeface="Calibri"/>
              </a:rPr>
              <a:t>modificare </a:t>
            </a:r>
            <a:r>
              <a:rPr sz="3200" dirty="0">
                <a:latin typeface="Calibri"/>
                <a:cs typeface="Calibri"/>
              </a:rPr>
              <a:t>la </a:t>
            </a:r>
            <a:r>
              <a:rPr sz="3200" spc="10" dirty="0">
                <a:latin typeface="Calibri"/>
                <a:cs typeface="Calibri"/>
              </a:rPr>
              <a:t>sua </a:t>
            </a:r>
            <a:r>
              <a:rPr sz="3200" spc="-20" dirty="0">
                <a:latin typeface="Calibri"/>
                <a:cs typeface="Calibri"/>
              </a:rPr>
              <a:t>struttura </a:t>
            </a:r>
            <a:r>
              <a:rPr sz="3200" spc="-10" dirty="0">
                <a:latin typeface="Calibri"/>
                <a:cs typeface="Calibri"/>
              </a:rPr>
              <a:t>nel </a:t>
            </a:r>
            <a:r>
              <a:rPr sz="3200" spc="-25" dirty="0">
                <a:latin typeface="Calibri"/>
                <a:cs typeface="Calibri"/>
              </a:rPr>
              <a:t>corso </a:t>
            </a:r>
            <a:r>
              <a:rPr sz="3200" spc="-20" dirty="0">
                <a:latin typeface="Calibri"/>
                <a:cs typeface="Calibri"/>
              </a:rPr>
              <a:t> dell’esecuzione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nostro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script.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50">
              <a:latin typeface="Calibri"/>
              <a:cs typeface="Calibri"/>
            </a:endParaRPr>
          </a:p>
          <a:p>
            <a:pPr marL="12700" marR="5715" algn="just">
              <a:lnSpc>
                <a:spcPts val="3440"/>
              </a:lnSpc>
            </a:pPr>
            <a:r>
              <a:rPr sz="3200" dirty="0">
                <a:latin typeface="Calibri"/>
                <a:cs typeface="Calibri"/>
              </a:rPr>
              <a:t>Immaginiamo </a:t>
            </a:r>
            <a:r>
              <a:rPr sz="3200" spc="-20" dirty="0">
                <a:latin typeface="Calibri"/>
                <a:cs typeface="Calibri"/>
              </a:rPr>
              <a:t>però </a:t>
            </a:r>
            <a:r>
              <a:rPr sz="3200" spc="-15" dirty="0">
                <a:latin typeface="Calibri"/>
                <a:cs typeface="Calibri"/>
              </a:rPr>
              <a:t>di </a:t>
            </a:r>
            <a:r>
              <a:rPr sz="3200" spc="-20" dirty="0">
                <a:latin typeface="Calibri"/>
                <a:cs typeface="Calibri"/>
              </a:rPr>
              <a:t>aver </a:t>
            </a:r>
            <a:r>
              <a:rPr sz="3200" spc="-5" dirty="0">
                <a:latin typeface="Calibri"/>
                <a:cs typeface="Calibri"/>
              </a:rPr>
              <a:t>bisogno </a:t>
            </a:r>
            <a:r>
              <a:rPr sz="3200" spc="-15" dirty="0">
                <a:latin typeface="Calibri"/>
                <a:cs typeface="Calibri"/>
              </a:rPr>
              <a:t>di </a:t>
            </a:r>
            <a:r>
              <a:rPr sz="3200" spc="-10" dirty="0">
                <a:latin typeface="Calibri"/>
                <a:cs typeface="Calibri"/>
              </a:rPr>
              <a:t>più </a:t>
            </a:r>
            <a:r>
              <a:rPr sz="3200" spc="-15" dirty="0">
                <a:latin typeface="Calibri"/>
                <a:cs typeface="Calibri"/>
              </a:rPr>
              <a:t>oggetti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dello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stesso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tipo,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più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oggetti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persona,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condividono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stessa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struttura: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73175"/>
            <a:ext cx="6047105" cy="3072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5" dirty="0">
                <a:latin typeface="Calibri"/>
                <a:cs typeface="Calibri"/>
              </a:rPr>
              <a:t>var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persona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endParaRPr sz="2450" dirty="0">
              <a:latin typeface="Calibri"/>
              <a:cs typeface="Calibri"/>
            </a:endParaRPr>
          </a:p>
          <a:p>
            <a:pPr marL="927100" marR="2776855">
              <a:lnSpc>
                <a:spcPts val="3010"/>
              </a:lnSpc>
              <a:spcBef>
                <a:spcPts val="85"/>
              </a:spcBef>
            </a:pPr>
            <a:r>
              <a:rPr sz="2450" spc="15" dirty="0">
                <a:latin typeface="Calibri"/>
                <a:cs typeface="Calibri"/>
              </a:rPr>
              <a:t>nome: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"Mario",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cognome:</a:t>
            </a:r>
            <a:r>
              <a:rPr sz="2450" spc="5" dirty="0">
                <a:latin typeface="Calibri"/>
                <a:cs typeface="Calibri"/>
              </a:rPr>
              <a:t> "Rossi",</a:t>
            </a:r>
            <a:endParaRPr sz="2450" dirty="0">
              <a:latin typeface="Calibri"/>
              <a:cs typeface="Calibri"/>
            </a:endParaRPr>
          </a:p>
          <a:p>
            <a:pPr marL="927100" marR="449580">
              <a:lnSpc>
                <a:spcPts val="2980"/>
              </a:lnSpc>
              <a:spcBef>
                <a:spcPts val="35"/>
              </a:spcBef>
            </a:pPr>
            <a:r>
              <a:rPr sz="2450" spc="5" dirty="0">
                <a:latin typeface="Calibri"/>
                <a:cs typeface="Calibri"/>
              </a:rPr>
              <a:t>indirizzo: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"Via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Garibaldi,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50</a:t>
            </a:r>
            <a:r>
              <a:rPr sz="2450" spc="10" dirty="0">
                <a:latin typeface="Calibri"/>
                <a:cs typeface="Calibri"/>
              </a:rPr>
              <a:t> -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Roma",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email: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  <a:hlinkClick r:id="rId2"/>
              </a:rPr>
              <a:t>"ma</a:t>
            </a:r>
            <a:r>
              <a:rPr sz="2450" spc="5" dirty="0">
                <a:latin typeface="Calibri"/>
                <a:cs typeface="Calibri"/>
              </a:rPr>
              <a:t>r</a:t>
            </a:r>
            <a:r>
              <a:rPr sz="2450" spc="5" dirty="0">
                <a:latin typeface="Calibri"/>
                <a:cs typeface="Calibri"/>
                <a:hlinkClick r:id="rId2"/>
              </a:rPr>
              <a:t>io.rossi@html.it</a:t>
            </a:r>
            <a:r>
              <a:rPr sz="2450" spc="5" dirty="0">
                <a:latin typeface="Calibri"/>
                <a:cs typeface="Calibri"/>
              </a:rPr>
              <a:t>",</a:t>
            </a:r>
            <a:endParaRPr sz="2450" dirty="0">
              <a:latin typeface="Calibri"/>
              <a:cs typeface="Calibri"/>
            </a:endParaRPr>
          </a:p>
          <a:p>
            <a:pPr marL="927100" marR="5080">
              <a:lnSpc>
                <a:spcPts val="2980"/>
              </a:lnSpc>
              <a:spcBef>
                <a:spcPts val="40"/>
              </a:spcBef>
            </a:pPr>
            <a:r>
              <a:rPr sz="2450" spc="5" dirty="0">
                <a:latin typeface="Calibri"/>
                <a:cs typeface="Calibri"/>
              </a:rPr>
              <a:t>mostraNomeCompleto: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function()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 ...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},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calcolaCodiceFiscale:</a:t>
            </a:r>
            <a:r>
              <a:rPr sz="2450" spc="15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function()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...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ts val="2910"/>
              </a:lnSpc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4412729"/>
            <a:ext cx="633349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93545" algn="l"/>
                <a:tab pos="2175510" algn="l"/>
                <a:tab pos="3739515" algn="l"/>
                <a:tab pos="5104765" algn="l"/>
              </a:tabLst>
            </a:pPr>
            <a:r>
              <a:rPr sz="2450" spc="20" dirty="0">
                <a:latin typeface="Calibri"/>
                <a:cs typeface="Calibri"/>
              </a:rPr>
              <a:t>U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-5" dirty="0">
                <a:latin typeface="Calibri"/>
                <a:cs typeface="Calibri"/>
              </a:rPr>
              <a:t>l</a:t>
            </a:r>
            <a:r>
              <a:rPr sz="2450" spc="10" dirty="0">
                <a:latin typeface="Calibri"/>
                <a:cs typeface="Calibri"/>
              </a:rPr>
              <a:t>iz</a:t>
            </a:r>
            <a:r>
              <a:rPr sz="2450" spc="-10" dirty="0">
                <a:latin typeface="Calibri"/>
                <a:cs typeface="Calibri"/>
              </a:rPr>
              <a:t>z</a:t>
            </a:r>
            <a:r>
              <a:rPr sz="2450" spc="25" dirty="0">
                <a:latin typeface="Calibri"/>
                <a:cs typeface="Calibri"/>
              </a:rPr>
              <a:t>a</a:t>
            </a:r>
            <a:r>
              <a:rPr sz="2450" spc="15" dirty="0">
                <a:latin typeface="Calibri"/>
                <a:cs typeface="Calibri"/>
              </a:rPr>
              <a:t>ndo</a:t>
            </a:r>
            <a:r>
              <a:rPr sz="2450" dirty="0">
                <a:latin typeface="Calibri"/>
                <a:cs typeface="Calibri"/>
              </a:rPr>
              <a:t>	l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450" b="1" spc="-4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zi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450" b="1" spc="3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450" b="1" spc="-4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te</a:t>
            </a:r>
            <a:r>
              <a:rPr sz="2450" b="1" spc="-6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450" b="1" spc="6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s</a:t>
            </a:r>
            <a:r>
              <a:rPr sz="2450" spc="60" dirty="0">
                <a:latin typeface="Calibri"/>
                <a:cs typeface="Calibri"/>
              </a:rPr>
              <a:t>a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60" dirty="0">
                <a:latin typeface="Calibri"/>
                <a:cs typeface="Calibri"/>
              </a:rPr>
              <a:t>m</a:t>
            </a:r>
            <a:r>
              <a:rPr sz="2450" spc="20" dirty="0">
                <a:latin typeface="Calibri"/>
                <a:cs typeface="Calibri"/>
              </a:rPr>
              <a:t>mo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2220" y="4412729"/>
            <a:ext cx="1501775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37310" algn="l"/>
              </a:tabLst>
            </a:pPr>
            <a:r>
              <a:rPr sz="2450" spc="-15" dirty="0">
                <a:latin typeface="Calibri"/>
                <a:cs typeface="Calibri"/>
              </a:rPr>
              <a:t>c</a:t>
            </a:r>
            <a:r>
              <a:rPr sz="2450" spc="45" dirty="0">
                <a:latin typeface="Calibri"/>
                <a:cs typeface="Calibri"/>
              </a:rPr>
              <a:t>o</a:t>
            </a:r>
            <a:r>
              <a:rPr sz="2450" spc="-40" dirty="0">
                <a:latin typeface="Calibri"/>
                <a:cs typeface="Calibri"/>
              </a:rPr>
              <a:t>s</a:t>
            </a:r>
            <a:r>
              <a:rPr sz="2450" spc="25" dirty="0">
                <a:latin typeface="Calibri"/>
                <a:cs typeface="Calibri"/>
              </a:rPr>
              <a:t>t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a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4715154"/>
            <a:ext cx="8072755" cy="13188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algn="just">
              <a:lnSpc>
                <a:spcPct val="81700"/>
              </a:lnSpc>
              <a:spcBef>
                <a:spcPts val="670"/>
              </a:spcBef>
            </a:pPr>
            <a:r>
              <a:rPr sz="2450" spc="5" dirty="0">
                <a:latin typeface="Calibri"/>
                <a:cs typeface="Calibri"/>
              </a:rPr>
              <a:t>ripetere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definizione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ciascun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oggetto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vogliamo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creare. </a:t>
            </a:r>
            <a:r>
              <a:rPr sz="2450" spc="15" dirty="0">
                <a:latin typeface="Calibri"/>
                <a:cs typeface="Calibri"/>
              </a:rPr>
              <a:t>In </a:t>
            </a:r>
            <a:r>
              <a:rPr sz="2450" dirty="0">
                <a:latin typeface="Calibri"/>
                <a:cs typeface="Calibri"/>
              </a:rPr>
              <a:t>altre </a:t>
            </a:r>
            <a:r>
              <a:rPr sz="2450" spc="10" dirty="0">
                <a:latin typeface="Calibri"/>
                <a:cs typeface="Calibri"/>
              </a:rPr>
              <a:t>parole, ricorrendo </a:t>
            </a:r>
            <a:r>
              <a:rPr sz="2450" spc="20" dirty="0">
                <a:latin typeface="Calibri"/>
                <a:cs typeface="Calibri"/>
              </a:rPr>
              <a:t>alla </a:t>
            </a:r>
            <a:r>
              <a:rPr sz="2450" spc="10" dirty="0">
                <a:latin typeface="Calibri"/>
                <a:cs typeface="Calibri"/>
              </a:rPr>
              <a:t>notazione </a:t>
            </a:r>
            <a:r>
              <a:rPr sz="2450" dirty="0">
                <a:latin typeface="Calibri"/>
                <a:cs typeface="Calibri"/>
              </a:rPr>
              <a:t>letterale </a:t>
            </a:r>
            <a:r>
              <a:rPr sz="2450" spc="10" dirty="0">
                <a:latin typeface="Calibri"/>
                <a:cs typeface="Calibri"/>
              </a:rPr>
              <a:t>nella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definizione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degli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oggetti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otteniamo</a:t>
            </a:r>
            <a:r>
              <a:rPr sz="2450" spc="20" dirty="0">
                <a:latin typeface="Calibri"/>
                <a:cs typeface="Calibri"/>
              </a:rPr>
              <a:t> 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risultato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non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riutilizzabile.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987" y="841375"/>
            <a:ext cx="8074025" cy="53581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just">
              <a:lnSpc>
                <a:spcPct val="81600"/>
              </a:lnSpc>
              <a:spcBef>
                <a:spcPts val="675"/>
              </a:spcBef>
            </a:pPr>
            <a:r>
              <a:rPr sz="2450" dirty="0">
                <a:latin typeface="Calibri"/>
                <a:cs typeface="Calibri"/>
              </a:rPr>
              <a:t>Per</a:t>
            </a:r>
            <a:r>
              <a:rPr sz="2450" spc="5" dirty="0">
                <a:latin typeface="Calibri"/>
                <a:cs typeface="Calibri"/>
              </a:rPr>
              <a:t> evitare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quindi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dover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ridefinire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da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zero</a:t>
            </a:r>
            <a:r>
              <a:rPr sz="2450" spc="5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oggetti  </a:t>
            </a:r>
            <a:r>
              <a:rPr sz="2450" spc="20" dirty="0">
                <a:latin typeface="Calibri"/>
                <a:cs typeface="Calibri"/>
              </a:rPr>
              <a:t>che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hanno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stessa</a:t>
            </a:r>
            <a:r>
              <a:rPr sz="2450" dirty="0">
                <a:latin typeface="Calibri"/>
                <a:cs typeface="Calibri"/>
              </a:rPr>
              <a:t> struttura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possiamo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ricorrere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ad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costruttore.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costruttore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altro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normale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funzione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JavaScript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invocata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mediante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l’operatore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new. 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Vediamo </a:t>
            </a:r>
            <a:r>
              <a:rPr sz="2450" spc="20" dirty="0">
                <a:latin typeface="Calibri"/>
                <a:cs typeface="Calibri"/>
              </a:rPr>
              <a:t>ad esempio </a:t>
            </a:r>
            <a:r>
              <a:rPr sz="2450" spc="10" dirty="0">
                <a:latin typeface="Calibri"/>
                <a:cs typeface="Calibri"/>
              </a:rPr>
              <a:t>come </a:t>
            </a:r>
            <a:r>
              <a:rPr sz="2450" spc="5" dirty="0">
                <a:latin typeface="Calibri"/>
                <a:cs typeface="Calibri"/>
              </a:rPr>
              <a:t>creare </a:t>
            </a:r>
            <a:r>
              <a:rPr sz="2450" spc="15" dirty="0">
                <a:latin typeface="Calibri"/>
                <a:cs typeface="Calibri"/>
              </a:rPr>
              <a:t>un </a:t>
            </a:r>
            <a:r>
              <a:rPr sz="2450" dirty="0">
                <a:latin typeface="Calibri"/>
                <a:cs typeface="Calibri"/>
              </a:rPr>
              <a:t>costruttore </a:t>
            </a:r>
            <a:r>
              <a:rPr sz="2450" spc="15" dirty="0">
                <a:latin typeface="Calibri"/>
                <a:cs typeface="Calibri"/>
              </a:rPr>
              <a:t>per </a:t>
            </a:r>
            <a:r>
              <a:rPr sz="2450" spc="-15" dirty="0">
                <a:latin typeface="Calibri"/>
                <a:cs typeface="Calibri"/>
              </a:rPr>
              <a:t>l’oggetto 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persona: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10" dirty="0">
                <a:latin typeface="Calibri"/>
                <a:cs typeface="Calibri"/>
              </a:rPr>
              <a:t>function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persona()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endParaRPr sz="2450" dirty="0">
              <a:latin typeface="Calibri"/>
              <a:cs typeface="Calibri"/>
            </a:endParaRPr>
          </a:p>
          <a:p>
            <a:pPr marL="927100" marR="4755515">
              <a:lnSpc>
                <a:spcPct val="102200"/>
              </a:lnSpc>
              <a:spcBef>
                <a:spcPts val="15"/>
              </a:spcBef>
            </a:pPr>
            <a:r>
              <a:rPr sz="2450" spc="10" dirty="0">
                <a:latin typeface="Calibri"/>
                <a:cs typeface="Calibri"/>
              </a:rPr>
              <a:t>this.nome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""; </a:t>
            </a:r>
            <a:r>
              <a:rPr sz="2450" spc="10" dirty="0">
                <a:latin typeface="Calibri"/>
                <a:cs typeface="Calibri"/>
              </a:rPr>
              <a:t> this.cognome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"";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this.indirizzo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""; </a:t>
            </a:r>
            <a:r>
              <a:rPr sz="2450" spc="10" dirty="0">
                <a:latin typeface="Calibri"/>
                <a:cs typeface="Calibri"/>
              </a:rPr>
              <a:t> this.email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"";</a:t>
            </a:r>
            <a:endParaRPr sz="2450" dirty="0">
              <a:latin typeface="Calibri"/>
              <a:cs typeface="Calibri"/>
            </a:endParaRPr>
          </a:p>
          <a:p>
            <a:pPr marL="927100" marR="1470660">
              <a:lnSpc>
                <a:spcPts val="3020"/>
              </a:lnSpc>
              <a:spcBef>
                <a:spcPts val="75"/>
              </a:spcBef>
            </a:pPr>
            <a:r>
              <a:rPr sz="2450" spc="5" dirty="0">
                <a:latin typeface="Calibri"/>
                <a:cs typeface="Calibri"/>
              </a:rPr>
              <a:t>this.mostraNomeCompleto</a:t>
            </a:r>
            <a:r>
              <a:rPr sz="2450" spc="21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function()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{...};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this.calcolaCodiceFiscale</a:t>
            </a:r>
            <a:r>
              <a:rPr sz="2450" spc="21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function()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{...};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717" y="1014095"/>
            <a:ext cx="8076565" cy="48361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20" dirty="0">
                <a:latin typeface="Calibri"/>
                <a:cs typeface="Calibri"/>
              </a:rPr>
              <a:t>Questa </a:t>
            </a:r>
            <a:r>
              <a:rPr sz="2700" spc="-10" dirty="0">
                <a:latin typeface="Calibri"/>
                <a:cs typeface="Calibri"/>
              </a:rPr>
              <a:t>funzione definisce </a:t>
            </a:r>
            <a:r>
              <a:rPr sz="2700" spc="-15" dirty="0">
                <a:latin typeface="Calibri"/>
                <a:cs typeface="Calibri"/>
              </a:rPr>
              <a:t>le </a:t>
            </a:r>
            <a:r>
              <a:rPr sz="2700" spc="-10" dirty="0">
                <a:latin typeface="Calibri"/>
                <a:cs typeface="Calibri"/>
              </a:rPr>
              <a:t>proprietà </a:t>
            </a:r>
            <a:r>
              <a:rPr sz="2700" spc="-5" dirty="0">
                <a:latin typeface="Calibri"/>
                <a:cs typeface="Calibri"/>
              </a:rPr>
              <a:t>del </a:t>
            </a:r>
            <a:r>
              <a:rPr sz="2700" spc="-15" dirty="0">
                <a:latin typeface="Calibri"/>
                <a:cs typeface="Calibri"/>
              </a:rPr>
              <a:t>nostro </a:t>
            </a:r>
            <a:r>
              <a:rPr sz="2700" spc="-20" dirty="0">
                <a:latin typeface="Calibri"/>
                <a:cs typeface="Calibri"/>
              </a:rPr>
              <a:t>oggetto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assegnandole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se </a:t>
            </a:r>
            <a:r>
              <a:rPr sz="2700" spc="-20" dirty="0">
                <a:latin typeface="Calibri"/>
                <a:cs typeface="Calibri"/>
              </a:rPr>
              <a:t>stessa </a:t>
            </a:r>
            <a:r>
              <a:rPr sz="2700" spc="-5" dirty="0">
                <a:latin typeface="Calibri"/>
                <a:cs typeface="Calibri"/>
              </a:rPr>
              <a:t>(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700" spc="-5" dirty="0">
                <a:latin typeface="Calibri"/>
                <a:cs typeface="Calibri"/>
              </a:rPr>
              <a:t>) </a:t>
            </a:r>
            <a:r>
              <a:rPr sz="2700" spc="-15" dirty="0">
                <a:latin typeface="Calibri"/>
                <a:cs typeface="Calibri"/>
              </a:rPr>
              <a:t>in qualità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oggetto </a:t>
            </a:r>
            <a:r>
              <a:rPr sz="2700" dirty="0">
                <a:latin typeface="Calibri"/>
                <a:cs typeface="Calibri"/>
              </a:rPr>
              <a:t>ed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impostando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0" dirty="0">
                <a:latin typeface="Calibri"/>
                <a:cs typeface="Calibri"/>
              </a:rPr>
              <a:t>valori predefiniti. </a:t>
            </a:r>
            <a:r>
              <a:rPr sz="2700" spc="-30" dirty="0">
                <a:latin typeface="Calibri"/>
                <a:cs typeface="Calibri"/>
              </a:rPr>
              <a:t>Per </a:t>
            </a:r>
            <a:r>
              <a:rPr sz="2700" spc="-15" dirty="0">
                <a:latin typeface="Calibri"/>
                <a:cs typeface="Calibri"/>
              </a:rPr>
              <a:t>creare </a:t>
            </a:r>
            <a:r>
              <a:rPr sz="2700" spc="-20" dirty="0">
                <a:latin typeface="Calibri"/>
                <a:cs typeface="Calibri"/>
              </a:rPr>
              <a:t>un oggetto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tipo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persona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dovremo</a:t>
            </a:r>
            <a:r>
              <a:rPr sz="2700" spc="-5" dirty="0">
                <a:latin typeface="Calibri"/>
                <a:cs typeface="Calibri"/>
              </a:rPr>
              <a:t> 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questo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punto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invocare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funzione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premettendo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l’operatore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  <a:p>
            <a:pPr marL="12700" marR="3599179">
              <a:lnSpc>
                <a:spcPct val="100200"/>
              </a:lnSpc>
              <a:spcBef>
                <a:spcPts val="2395"/>
              </a:spcBef>
            </a:pPr>
            <a:r>
              <a:rPr sz="2700" spc="-25" dirty="0">
                <a:latin typeface="Calibri"/>
                <a:cs typeface="Calibri"/>
              </a:rPr>
              <a:t>var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marioRossi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new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persona();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marioRossi.nome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 </a:t>
            </a:r>
            <a:r>
              <a:rPr sz="2700" spc="-15" dirty="0">
                <a:latin typeface="Calibri"/>
                <a:cs typeface="Calibri"/>
              </a:rPr>
              <a:t>"Mario";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marioRossi.cognome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"Rossi";</a:t>
            </a:r>
            <a:endParaRPr sz="2700" dirty="0">
              <a:latin typeface="Calibri"/>
              <a:cs typeface="Calibri"/>
            </a:endParaRPr>
          </a:p>
          <a:p>
            <a:pPr marL="12700" marR="3148965" algn="just">
              <a:lnSpc>
                <a:spcPct val="100200"/>
              </a:lnSpc>
              <a:spcBef>
                <a:spcPts val="2400"/>
              </a:spcBef>
            </a:pPr>
            <a:r>
              <a:rPr sz="2700" spc="-25" dirty="0">
                <a:latin typeface="Calibri"/>
                <a:cs typeface="Calibri"/>
              </a:rPr>
              <a:t>var </a:t>
            </a:r>
            <a:r>
              <a:rPr sz="2700" spc="-20" dirty="0">
                <a:latin typeface="Calibri"/>
                <a:cs typeface="Calibri"/>
              </a:rPr>
              <a:t>giuseppeVerdi </a:t>
            </a:r>
            <a:r>
              <a:rPr sz="2700" spc="-5" dirty="0">
                <a:latin typeface="Calibri"/>
                <a:cs typeface="Calibri"/>
              </a:rPr>
              <a:t>= new </a:t>
            </a:r>
            <a:r>
              <a:rPr sz="2700" spc="-10" dirty="0">
                <a:latin typeface="Calibri"/>
                <a:cs typeface="Calibri"/>
              </a:rPr>
              <a:t>persona();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giuseppeVerdi.nome </a:t>
            </a:r>
            <a:r>
              <a:rPr sz="2700" spc="-5" dirty="0">
                <a:latin typeface="Calibri"/>
                <a:cs typeface="Calibri"/>
              </a:rPr>
              <a:t>= </a:t>
            </a:r>
            <a:r>
              <a:rPr sz="2700" spc="-10" dirty="0">
                <a:latin typeface="Calibri"/>
                <a:cs typeface="Calibri"/>
              </a:rPr>
              <a:t>"Giuseppe";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giuseppeVerdi.cognome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"Verdi";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66"/>
            <a:ext cx="8077834" cy="4785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715" algn="just">
              <a:lnSpc>
                <a:spcPct val="100200"/>
              </a:lnSpc>
              <a:spcBef>
                <a:spcPts val="110"/>
              </a:spcBef>
            </a:pP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15" dirty="0">
                <a:latin typeface="Calibri"/>
                <a:cs typeface="Calibri"/>
              </a:rPr>
              <a:t>questo </a:t>
            </a:r>
            <a:r>
              <a:rPr sz="3000" spc="5" dirty="0">
                <a:latin typeface="Calibri"/>
                <a:cs typeface="Calibri"/>
              </a:rPr>
              <a:t>modo </a:t>
            </a:r>
            <a:r>
              <a:rPr sz="3000" dirty="0">
                <a:latin typeface="Calibri"/>
                <a:cs typeface="Calibri"/>
              </a:rPr>
              <a:t>nella </a:t>
            </a:r>
            <a:r>
              <a:rPr sz="3000" spc="-5" dirty="0">
                <a:latin typeface="Calibri"/>
                <a:cs typeface="Calibri"/>
              </a:rPr>
              <a:t>creazione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dirty="0">
                <a:latin typeface="Calibri"/>
                <a:cs typeface="Calibri"/>
              </a:rPr>
              <a:t>più </a:t>
            </a:r>
            <a:r>
              <a:rPr sz="3000" spc="-15" dirty="0">
                <a:latin typeface="Calibri"/>
                <a:cs typeface="Calibri"/>
              </a:rPr>
              <a:t>oggetti </a:t>
            </a:r>
            <a:r>
              <a:rPr sz="3000" spc="-20" dirty="0">
                <a:latin typeface="Calibri"/>
                <a:cs typeface="Calibri"/>
              </a:rPr>
              <a:t>con </a:t>
            </a:r>
            <a:r>
              <a:rPr sz="3000" spc="-15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stessa</a:t>
            </a:r>
            <a:r>
              <a:rPr sz="3000" spc="-15" dirty="0">
                <a:latin typeface="Calibri"/>
                <a:cs typeface="Calibri"/>
              </a:rPr>
              <a:t> struttura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limiteremo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impostare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soli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valori</a:t>
            </a:r>
            <a:r>
              <a:rPr sz="3000" spc="-5" dirty="0">
                <a:latin typeface="Calibri"/>
                <a:cs typeface="Calibri"/>
              </a:rPr>
              <a:t> specifici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differenziano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oggetto </a:t>
            </a:r>
            <a:r>
              <a:rPr sz="3000" spc="-15" dirty="0">
                <a:latin typeface="Calibri"/>
                <a:cs typeface="Calibri"/>
              </a:rPr>
              <a:t> dall’altro.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00" dirty="0">
              <a:latin typeface="Calibri"/>
              <a:cs typeface="Calibri"/>
            </a:endParaRPr>
          </a:p>
          <a:p>
            <a:pPr marL="12700" marR="5080" algn="just">
              <a:lnSpc>
                <a:spcPct val="100099"/>
              </a:lnSpc>
              <a:spcBef>
                <a:spcPts val="5"/>
              </a:spcBef>
            </a:pPr>
            <a:r>
              <a:rPr sz="3000" dirty="0">
                <a:latin typeface="Calibri"/>
                <a:cs typeface="Calibri"/>
              </a:rPr>
              <a:t>Nella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definizione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costruttore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possiamo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prevedere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presenza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parametri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dirty="0">
                <a:latin typeface="Calibri"/>
                <a:cs typeface="Calibri"/>
              </a:rPr>
              <a:t>possiamo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utilizzare</a:t>
            </a:r>
            <a:r>
              <a:rPr sz="3000" spc="-5" dirty="0">
                <a:latin typeface="Calibri"/>
                <a:cs typeface="Calibri"/>
              </a:rPr>
              <a:t> nell’inizializzazione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del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nostro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oggetto.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Consideriamo </a:t>
            </a:r>
            <a:r>
              <a:rPr sz="3000" spc="-10" dirty="0">
                <a:latin typeface="Calibri"/>
                <a:cs typeface="Calibri"/>
              </a:rPr>
              <a:t>ad </a:t>
            </a:r>
            <a:r>
              <a:rPr sz="3000" spc="-5" dirty="0">
                <a:latin typeface="Calibri"/>
                <a:cs typeface="Calibri"/>
              </a:rPr>
              <a:t>esempio la </a:t>
            </a:r>
            <a:r>
              <a:rPr sz="3000" spc="-10" dirty="0">
                <a:latin typeface="Calibri"/>
                <a:cs typeface="Calibri"/>
              </a:rPr>
              <a:t>seguente </a:t>
            </a:r>
            <a:r>
              <a:rPr sz="3000" spc="-5" dirty="0">
                <a:latin typeface="Calibri"/>
                <a:cs typeface="Calibri"/>
              </a:rPr>
              <a:t>definizione </a:t>
            </a:r>
            <a:r>
              <a:rPr sz="3000" dirty="0">
                <a:latin typeface="Calibri"/>
                <a:cs typeface="Calibri"/>
              </a:rPr>
              <a:t> del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costruttore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dell’oggetto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persona: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23515"/>
            <a:ext cx="8074025" cy="4929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7100" marR="3044825" indent="-915035">
              <a:lnSpc>
                <a:spcPct val="110300"/>
              </a:lnSpc>
              <a:spcBef>
                <a:spcPts val="110"/>
              </a:spcBef>
            </a:pPr>
            <a:r>
              <a:rPr sz="2700" spc="-10" dirty="0">
                <a:latin typeface="Calibri"/>
                <a:cs typeface="Calibri"/>
              </a:rPr>
              <a:t>function persona(nome, cognome) </a:t>
            </a:r>
            <a:r>
              <a:rPr sz="2700" spc="-5" dirty="0">
                <a:latin typeface="Calibri"/>
                <a:cs typeface="Calibri"/>
              </a:rPr>
              <a:t>{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this.nome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nome;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this.cognome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cognome;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this.indirizzo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"";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9"/>
              </a:spcBef>
            </a:pPr>
            <a:r>
              <a:rPr sz="2700" spc="-10" dirty="0">
                <a:latin typeface="Calibri"/>
                <a:cs typeface="Calibri"/>
              </a:rPr>
              <a:t>this.email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"";</a:t>
            </a:r>
            <a:endParaRPr sz="2700" dirty="0">
              <a:latin typeface="Calibri"/>
              <a:cs typeface="Calibri"/>
            </a:endParaRPr>
          </a:p>
          <a:p>
            <a:pPr marL="927100" marR="1027430">
              <a:lnSpc>
                <a:spcPct val="109500"/>
              </a:lnSpc>
              <a:spcBef>
                <a:spcPts val="35"/>
              </a:spcBef>
            </a:pPr>
            <a:r>
              <a:rPr sz="2700" spc="-10" dirty="0">
                <a:latin typeface="Calibri"/>
                <a:cs typeface="Calibri"/>
              </a:rPr>
              <a:t>this.mostraNomeCompleto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function()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{...};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this.calcolaCodiceFiscale</a:t>
            </a:r>
            <a:r>
              <a:rPr sz="2700" spc="17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function()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{...};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Calibri"/>
              <a:cs typeface="Calibri"/>
            </a:endParaRPr>
          </a:p>
          <a:p>
            <a:pPr marL="12700" marR="5080">
              <a:lnSpc>
                <a:spcPts val="2950"/>
              </a:lnSpc>
              <a:spcBef>
                <a:spcPts val="5"/>
              </a:spcBef>
              <a:tabLst>
                <a:tab pos="810260" algn="l"/>
                <a:tab pos="1210945" algn="l"/>
                <a:tab pos="2653030" algn="l"/>
                <a:tab pos="3090545" algn="l"/>
                <a:tab pos="4153535" algn="l"/>
                <a:tab pos="4681220" algn="l"/>
                <a:tab pos="6447790" algn="l"/>
                <a:tab pos="6988809" algn="l"/>
              </a:tabLst>
            </a:pPr>
            <a:r>
              <a:rPr sz="2700" spc="-10" dirty="0">
                <a:latin typeface="Calibri"/>
                <a:cs typeface="Calibri"/>
              </a:rPr>
              <a:t>Es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5" dirty="0">
                <a:latin typeface="Calibri"/>
                <a:cs typeface="Calibri"/>
              </a:rPr>
              <a:t>c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0" dirty="0">
                <a:latin typeface="Calibri"/>
                <a:cs typeface="Calibri"/>
              </a:rPr>
              <a:t>c</a:t>
            </a:r>
            <a:r>
              <a:rPr sz="2700" spc="-10" dirty="0">
                <a:latin typeface="Calibri"/>
                <a:cs typeface="Calibri"/>
              </a:rPr>
              <a:t>on</a:t>
            </a:r>
            <a:r>
              <a:rPr sz="2700" spc="-5" dirty="0">
                <a:latin typeface="Calibri"/>
                <a:cs typeface="Calibri"/>
              </a:rPr>
              <a:t>se</a:t>
            </a:r>
            <a:r>
              <a:rPr sz="2700" spc="-35" dirty="0">
                <a:latin typeface="Calibri"/>
                <a:cs typeface="Calibri"/>
              </a:rPr>
              <a:t>n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c</a:t>
            </a:r>
            <a:r>
              <a:rPr sz="2700" spc="-3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-1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e</a:t>
            </a:r>
            <a:r>
              <a:rPr sz="2700" spc="-5" dirty="0">
                <a:latin typeface="Calibri"/>
                <a:cs typeface="Calibri"/>
              </a:rPr>
              <a:t>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25" dirty="0">
                <a:latin typeface="Calibri"/>
                <a:cs typeface="Calibri"/>
              </a:rPr>
              <a:t>z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li</a:t>
            </a:r>
            <a:r>
              <a:rPr sz="2700" spc="-10" dirty="0">
                <a:latin typeface="Calibri"/>
                <a:cs typeface="Calibri"/>
              </a:rPr>
              <a:t>z</a:t>
            </a:r>
            <a:r>
              <a:rPr sz="2700" spc="-45" dirty="0">
                <a:latin typeface="Calibri"/>
                <a:cs typeface="Calibri"/>
              </a:rPr>
              <a:t>z</a:t>
            </a:r>
            <a:r>
              <a:rPr sz="2700" spc="-25" dirty="0">
                <a:latin typeface="Calibri"/>
                <a:cs typeface="Calibri"/>
              </a:rPr>
              <a:t>ar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25" dirty="0">
                <a:latin typeface="Calibri"/>
                <a:cs typeface="Calibri"/>
              </a:rPr>
              <a:t>g</a:t>
            </a:r>
            <a:r>
              <a:rPr sz="2700" spc="-35" dirty="0">
                <a:latin typeface="Calibri"/>
                <a:cs typeface="Calibri"/>
              </a:rPr>
              <a:t>g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-55" dirty="0">
                <a:latin typeface="Calibri"/>
                <a:cs typeface="Calibri"/>
              </a:rPr>
              <a:t>t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o  </a:t>
            </a:r>
            <a:r>
              <a:rPr sz="2700" spc="-15" dirty="0">
                <a:latin typeface="Calibri"/>
                <a:cs typeface="Calibri"/>
              </a:rPr>
              <a:t>specificando</a:t>
            </a:r>
            <a:r>
              <a:rPr sz="2700" spc="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valori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nella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chiamata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costruttore: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17320"/>
            <a:ext cx="8074025" cy="4902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5" dirty="0">
                <a:latin typeface="Calibri"/>
                <a:cs typeface="Calibri"/>
              </a:rPr>
              <a:t>var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marioRossi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 </a:t>
            </a:r>
            <a:r>
              <a:rPr sz="2450" spc="20" dirty="0">
                <a:latin typeface="Calibri"/>
                <a:cs typeface="Calibri"/>
              </a:rPr>
              <a:t>new</a:t>
            </a:r>
            <a:r>
              <a:rPr sz="2450" spc="10" dirty="0">
                <a:latin typeface="Calibri"/>
                <a:cs typeface="Calibri"/>
              </a:rPr>
              <a:t> persona("Mario",</a:t>
            </a:r>
            <a:r>
              <a:rPr sz="2450" spc="1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"Rossi");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50" spc="5" dirty="0">
                <a:latin typeface="Calibri"/>
                <a:cs typeface="Calibri"/>
              </a:rPr>
              <a:t>var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giuseppeVerdi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 </a:t>
            </a:r>
            <a:r>
              <a:rPr sz="2450" spc="20" dirty="0">
                <a:latin typeface="Calibri"/>
                <a:cs typeface="Calibri"/>
              </a:rPr>
              <a:t>new</a:t>
            </a:r>
            <a:r>
              <a:rPr sz="2450" spc="10" dirty="0">
                <a:latin typeface="Calibri"/>
                <a:cs typeface="Calibri"/>
              </a:rPr>
              <a:t> persona("Giuseppe",</a:t>
            </a:r>
            <a:r>
              <a:rPr sz="2450" spc="1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"Verdi");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 dirty="0">
              <a:latin typeface="Calibri"/>
              <a:cs typeface="Calibri"/>
            </a:endParaRPr>
          </a:p>
          <a:p>
            <a:pPr marL="12700" marR="5080" algn="just">
              <a:lnSpc>
                <a:spcPct val="81600"/>
              </a:lnSpc>
            </a:pPr>
            <a:r>
              <a:rPr sz="2450" spc="15" dirty="0">
                <a:latin typeface="Calibri"/>
                <a:cs typeface="Calibri"/>
              </a:rPr>
              <a:t>È </a:t>
            </a:r>
            <a:r>
              <a:rPr sz="2450" spc="10" dirty="0">
                <a:latin typeface="Calibri"/>
                <a:cs typeface="Calibri"/>
              </a:rPr>
              <a:t>fondamentale utilizzare </a:t>
            </a:r>
            <a:r>
              <a:rPr sz="2450" spc="-10" dirty="0">
                <a:latin typeface="Calibri"/>
                <a:cs typeface="Calibri"/>
              </a:rPr>
              <a:t>l’operatore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new </a:t>
            </a:r>
            <a:r>
              <a:rPr sz="2450" spc="15" dirty="0">
                <a:latin typeface="Calibri"/>
                <a:cs typeface="Calibri"/>
              </a:rPr>
              <a:t>nella </a:t>
            </a:r>
            <a:r>
              <a:rPr sz="2450" spc="10" dirty="0">
                <a:latin typeface="Calibri"/>
                <a:cs typeface="Calibri"/>
              </a:rPr>
              <a:t>creazione 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un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oggetto</a:t>
            </a:r>
            <a:r>
              <a:rPr sz="2450" spc="5" dirty="0">
                <a:latin typeface="Calibri"/>
                <a:cs typeface="Calibri"/>
              </a:rPr>
              <a:t> tramite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costruttore.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Infatti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</a:t>
            </a:r>
            <a:r>
              <a:rPr sz="2450" spc="56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 omettiamo,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magari </a:t>
            </a:r>
            <a:r>
              <a:rPr sz="2450" spc="15" dirty="0">
                <a:latin typeface="Calibri"/>
                <a:cs typeface="Calibri"/>
              </a:rPr>
              <a:t>per dimenticanza, quello </a:t>
            </a:r>
            <a:r>
              <a:rPr sz="2450" spc="30" dirty="0">
                <a:latin typeface="Calibri"/>
                <a:cs typeface="Calibri"/>
              </a:rPr>
              <a:t>che </a:t>
            </a:r>
            <a:r>
              <a:rPr sz="2450" spc="5" dirty="0">
                <a:latin typeface="Calibri"/>
                <a:cs typeface="Calibri"/>
              </a:rPr>
              <a:t>otterremo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non </a:t>
            </a:r>
            <a:r>
              <a:rPr sz="2450" spc="-5" dirty="0">
                <a:latin typeface="Calibri"/>
                <a:cs typeface="Calibri"/>
              </a:rPr>
              <a:t>sarà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 </a:t>
            </a:r>
            <a:r>
              <a:rPr sz="2450" spc="10" dirty="0">
                <a:latin typeface="Calibri"/>
                <a:cs typeface="Calibri"/>
              </a:rPr>
              <a:t> creazione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10" dirty="0">
                <a:latin typeface="Calibri"/>
                <a:cs typeface="Calibri"/>
              </a:rPr>
              <a:t>oggetto </a:t>
            </a:r>
            <a:r>
              <a:rPr sz="2450" spc="20" dirty="0">
                <a:latin typeface="Calibri"/>
                <a:cs typeface="Calibri"/>
              </a:rPr>
              <a:t>ma </a:t>
            </a:r>
            <a:r>
              <a:rPr sz="2450" dirty="0">
                <a:latin typeface="Calibri"/>
                <a:cs typeface="Calibri"/>
              </a:rPr>
              <a:t>l’esecuzione </a:t>
            </a:r>
            <a:r>
              <a:rPr sz="2450" spc="10" dirty="0">
                <a:latin typeface="Calibri"/>
                <a:cs typeface="Calibri"/>
              </a:rPr>
              <a:t>della </a:t>
            </a:r>
            <a:r>
              <a:rPr sz="2450" spc="15" dirty="0">
                <a:latin typeface="Calibri"/>
                <a:cs typeface="Calibri"/>
              </a:rPr>
              <a:t>funzione, </a:t>
            </a:r>
            <a:r>
              <a:rPr sz="2450" spc="5" dirty="0">
                <a:latin typeface="Calibri"/>
                <a:cs typeface="Calibri"/>
              </a:rPr>
              <a:t>con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risultati </a:t>
            </a:r>
            <a:r>
              <a:rPr sz="2450" spc="10" dirty="0">
                <a:latin typeface="Calibri"/>
                <a:cs typeface="Calibri"/>
              </a:rPr>
              <a:t>imprevedibili. </a:t>
            </a:r>
            <a:r>
              <a:rPr sz="2450" spc="25" dirty="0">
                <a:latin typeface="Calibri"/>
                <a:cs typeface="Calibri"/>
              </a:rPr>
              <a:t>Ad </a:t>
            </a:r>
            <a:r>
              <a:rPr sz="2450" spc="20" dirty="0">
                <a:latin typeface="Calibri"/>
                <a:cs typeface="Calibri"/>
              </a:rPr>
              <a:t>esempio, </a:t>
            </a:r>
            <a:r>
              <a:rPr sz="2450" spc="5" dirty="0">
                <a:latin typeface="Calibri"/>
                <a:cs typeface="Calibri"/>
              </a:rPr>
              <a:t>se tentiamo </a:t>
            </a:r>
            <a:r>
              <a:rPr sz="2450" spc="10" dirty="0">
                <a:latin typeface="Calibri"/>
                <a:cs typeface="Calibri"/>
              </a:rPr>
              <a:t>di creare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oggetto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persona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omettendo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l’operatore</a:t>
            </a:r>
            <a:r>
              <a:rPr sz="2450" spc="1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new:</a:t>
            </a:r>
            <a:endParaRPr sz="24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55"/>
              </a:spcBef>
            </a:pP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var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marioRossi</a:t>
            </a:r>
            <a:r>
              <a:rPr sz="2450" b="1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persona();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 dirty="0">
              <a:latin typeface="Calibri"/>
              <a:cs typeface="Calibri"/>
            </a:endParaRPr>
          </a:p>
          <a:p>
            <a:pPr marL="12700" marR="5715" algn="just">
              <a:lnSpc>
                <a:spcPct val="81500"/>
              </a:lnSpc>
              <a:spcBef>
                <a:spcPts val="5"/>
              </a:spcBef>
            </a:pP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della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variabile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marioRossi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sarà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undefined</a:t>
            </a:r>
            <a:r>
              <a:rPr sz="2450" spc="20" dirty="0">
                <a:latin typeface="Calibri"/>
                <a:cs typeface="Calibri"/>
              </a:rPr>
              <a:t>,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dal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momento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funzione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persona()</a:t>
            </a:r>
            <a:r>
              <a:rPr sz="2450" spc="15" dirty="0">
                <a:latin typeface="Calibri"/>
                <a:cs typeface="Calibri"/>
              </a:rPr>
              <a:t> non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restituisce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alcun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6447" y="1069975"/>
            <a:ext cx="8074025" cy="4633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it-IT" sz="4000" dirty="0"/>
              <a:t>Un altro modo per creare oggetti è utilizzare le classi. Una classe funge da "progetto" per creare oggetti.</a:t>
            </a:r>
          </a:p>
          <a:p>
            <a:r>
              <a:rPr lang="it-IT" dirty="0"/>
              <a:t>class Utente {</a:t>
            </a:r>
          </a:p>
          <a:p>
            <a:r>
              <a:rPr lang="it-IT" dirty="0"/>
              <a:t>  </a:t>
            </a:r>
            <a:r>
              <a:rPr lang="it-IT" dirty="0" err="1"/>
              <a:t>constructor</a:t>
            </a:r>
            <a:r>
              <a:rPr lang="it-IT" dirty="0"/>
              <a:t>(nome, </a:t>
            </a:r>
            <a:r>
              <a:rPr lang="it-IT" dirty="0" err="1"/>
              <a:t>eta</a:t>
            </a:r>
            <a:r>
              <a:rPr lang="it-IT" dirty="0"/>
              <a:t>) {</a:t>
            </a:r>
          </a:p>
          <a:p>
            <a:r>
              <a:rPr lang="it-IT" dirty="0"/>
              <a:t>    </a:t>
            </a:r>
            <a:r>
              <a:rPr lang="it-IT" dirty="0" err="1"/>
              <a:t>this.nome</a:t>
            </a:r>
            <a:r>
              <a:rPr lang="it-IT" dirty="0"/>
              <a:t> = nome;</a:t>
            </a:r>
          </a:p>
          <a:p>
            <a:r>
              <a:rPr lang="it-IT" dirty="0"/>
              <a:t>    </a:t>
            </a:r>
            <a:r>
              <a:rPr lang="it-IT" dirty="0" err="1"/>
              <a:t>this.eta</a:t>
            </a:r>
            <a:r>
              <a:rPr lang="it-IT" dirty="0"/>
              <a:t> = </a:t>
            </a:r>
            <a:r>
              <a:rPr lang="it-IT" dirty="0" err="1"/>
              <a:t>eta</a:t>
            </a:r>
            <a:r>
              <a:rPr lang="it-IT" dirty="0"/>
              <a:t>;</a:t>
            </a:r>
          </a:p>
          <a:p>
            <a:r>
              <a:rPr lang="it-IT" dirty="0"/>
              <a:t>  }</a:t>
            </a:r>
          </a:p>
          <a:p>
            <a:r>
              <a:rPr lang="it-IT" dirty="0"/>
              <a:t>  saluta() {</a:t>
            </a:r>
          </a:p>
          <a:p>
            <a:r>
              <a:rPr lang="it-IT" dirty="0"/>
              <a:t>    console.log('Ciao! ‘ + </a:t>
            </a:r>
            <a:r>
              <a:rPr lang="it-IT" dirty="0" err="1"/>
              <a:t>this.nome</a:t>
            </a:r>
            <a:r>
              <a:rPr lang="it-IT" dirty="0"/>
              <a:t>);</a:t>
            </a:r>
          </a:p>
          <a:p>
            <a:r>
              <a:rPr lang="it-IT" dirty="0"/>
              <a:t>  }</a:t>
            </a:r>
          </a:p>
          <a:p>
            <a:r>
              <a:rPr lang="it-IT" dirty="0"/>
              <a:t>}</a:t>
            </a:r>
          </a:p>
          <a:p>
            <a:r>
              <a:rPr lang="it-IT" dirty="0" err="1"/>
              <a:t>const</a:t>
            </a:r>
            <a:r>
              <a:rPr lang="it-IT" dirty="0"/>
              <a:t> </a:t>
            </a:r>
            <a:r>
              <a:rPr lang="it-IT" dirty="0" err="1"/>
              <a:t>utenteUno</a:t>
            </a:r>
            <a:r>
              <a:rPr lang="it-IT" dirty="0"/>
              <a:t> = new Utente('Manuel', 35);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  <p:extLst>
      <p:ext uri="{BB962C8B-B14F-4D97-AF65-F5344CB8AC3E}">
        <p14:creationId xmlns:p14="http://schemas.microsoft.com/office/powerpoint/2010/main" val="72859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987" y="1484847"/>
            <a:ext cx="8074025" cy="38946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it-IT" sz="3600" dirty="0"/>
              <a:t>Qui, `</a:t>
            </a:r>
            <a:r>
              <a:rPr lang="it-IT" sz="3600" dirty="0" err="1"/>
              <a:t>utenteUno</a:t>
            </a:r>
            <a:r>
              <a:rPr lang="it-IT" sz="3600" dirty="0"/>
              <a:t>` è un'istanza della classe `Utente` e ha accesso al metodo `saluta`.</a:t>
            </a:r>
          </a:p>
          <a:p>
            <a:endParaRPr lang="it-IT" sz="3600" dirty="0"/>
          </a:p>
          <a:p>
            <a:r>
              <a:rPr lang="it-IT" sz="3600" dirty="0"/>
              <a:t>In questo corso, non ci concentreremo troppo sull'uso delle classi, ma è un concetto utile da conoscere. Ora possiamo passare al prossimo argomento.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  <p:extLst>
      <p:ext uri="{BB962C8B-B14F-4D97-AF65-F5344CB8AC3E}">
        <p14:creationId xmlns:p14="http://schemas.microsoft.com/office/powerpoint/2010/main" val="2053604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0142" y="817956"/>
            <a:ext cx="22828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</a:t>
            </a:r>
            <a:r>
              <a:rPr spc="-90" dirty="0"/>
              <a:t>r</a:t>
            </a:r>
            <a:r>
              <a:rPr spc="-15" dirty="0"/>
              <a:t>o</a:t>
            </a:r>
            <a:r>
              <a:rPr spc="-25" dirty="0"/>
              <a:t>t</a:t>
            </a:r>
            <a:r>
              <a:rPr spc="-15" dirty="0"/>
              <a:t>o</a:t>
            </a:r>
            <a:r>
              <a:rPr spc="10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63306"/>
            <a:ext cx="8074025" cy="42170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80"/>
              </a:spcBef>
            </a:pPr>
            <a:r>
              <a:rPr sz="3200" spc="-5" dirty="0">
                <a:latin typeface="Calibri"/>
                <a:cs typeface="Calibri"/>
              </a:rPr>
              <a:t>La flessibilità </a:t>
            </a:r>
            <a:r>
              <a:rPr sz="3200" spc="-10" dirty="0">
                <a:latin typeface="Calibri"/>
                <a:cs typeface="Calibri"/>
              </a:rPr>
              <a:t>degli oggetti </a:t>
            </a:r>
            <a:r>
              <a:rPr sz="3200" spc="-15" dirty="0">
                <a:latin typeface="Calibri"/>
                <a:cs typeface="Calibri"/>
              </a:rPr>
              <a:t>JavaScript </a:t>
            </a:r>
            <a:r>
              <a:rPr sz="3200" spc="-10" dirty="0">
                <a:latin typeface="Calibri"/>
                <a:cs typeface="Calibri"/>
              </a:rPr>
              <a:t>si </a:t>
            </a:r>
            <a:r>
              <a:rPr sz="3200" spc="-5" dirty="0">
                <a:latin typeface="Calibri"/>
                <a:cs typeface="Calibri"/>
              </a:rPr>
              <a:t>esprime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principalmente </a:t>
            </a:r>
            <a:r>
              <a:rPr sz="3200" spc="-5" dirty="0">
                <a:latin typeface="Calibri"/>
                <a:cs typeface="Calibri"/>
              </a:rPr>
              <a:t>nella </a:t>
            </a:r>
            <a:r>
              <a:rPr sz="3200" spc="-10" dirty="0">
                <a:latin typeface="Calibri"/>
                <a:cs typeface="Calibri"/>
              </a:rPr>
              <a:t>possibilità di </a:t>
            </a:r>
            <a:r>
              <a:rPr sz="3200" b="1" spc="-10" dirty="0">
                <a:latin typeface="Calibri"/>
                <a:cs typeface="Calibri"/>
              </a:rPr>
              <a:t>modificare </a:t>
            </a:r>
            <a:r>
              <a:rPr sz="3200" b="1" spc="5" dirty="0">
                <a:latin typeface="Calibri"/>
                <a:cs typeface="Calibri"/>
              </a:rPr>
              <a:t>la </a:t>
            </a:r>
            <a:r>
              <a:rPr sz="3200" b="1" spc="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struttura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anche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dopo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spc="15" dirty="0">
                <a:latin typeface="Calibri"/>
                <a:cs typeface="Calibri"/>
              </a:rPr>
              <a:t>la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creazione</a:t>
            </a:r>
            <a:r>
              <a:rPr sz="3200" spc="-10" dirty="0">
                <a:latin typeface="Calibri"/>
                <a:cs typeface="Calibri"/>
              </a:rPr>
              <a:t>.</a:t>
            </a:r>
            <a:r>
              <a:rPr sz="3200" spc="-5" dirty="0">
                <a:latin typeface="Calibri"/>
                <a:cs typeface="Calibri"/>
              </a:rPr>
              <a:t> Anche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utilizzando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20" dirty="0">
                <a:latin typeface="Calibri"/>
                <a:cs typeface="Calibri"/>
              </a:rPr>
              <a:t>costruttore </a:t>
            </a:r>
            <a:r>
              <a:rPr sz="3200" dirty="0">
                <a:latin typeface="Calibri"/>
                <a:cs typeface="Calibri"/>
              </a:rPr>
              <a:t>per </a:t>
            </a:r>
            <a:r>
              <a:rPr sz="3200" spc="-20" dirty="0">
                <a:latin typeface="Calibri"/>
                <a:cs typeface="Calibri"/>
              </a:rPr>
              <a:t>creare </a:t>
            </a:r>
            <a:r>
              <a:rPr sz="3200" spc="-15" dirty="0">
                <a:latin typeface="Calibri"/>
                <a:cs typeface="Calibri"/>
              </a:rPr>
              <a:t>un </a:t>
            </a:r>
            <a:r>
              <a:rPr sz="3200" spc="-20" dirty="0">
                <a:latin typeface="Calibri"/>
                <a:cs typeface="Calibri"/>
              </a:rPr>
              <a:t>oggetto,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continuiamo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disporre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spc="-25" dirty="0">
                <a:latin typeface="Calibri"/>
                <a:cs typeface="Calibri"/>
              </a:rPr>
              <a:t>questa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possibilità.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50" dirty="0">
              <a:latin typeface="Calibri"/>
              <a:cs typeface="Calibri"/>
            </a:endParaRPr>
          </a:p>
          <a:p>
            <a:pPr marL="12700" marR="6985" algn="just">
              <a:lnSpc>
                <a:spcPts val="3440"/>
              </a:lnSpc>
            </a:pPr>
            <a:r>
              <a:rPr sz="3200" spc="-10" dirty="0">
                <a:latin typeface="Calibri"/>
                <a:cs typeface="Calibri"/>
              </a:rPr>
              <a:t>Riprendendo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costruttore</a:t>
            </a:r>
            <a:r>
              <a:rPr sz="3200" spc="-20" dirty="0">
                <a:latin typeface="Calibri"/>
                <a:cs typeface="Calibri"/>
              </a:rPr>
              <a:t> creato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nelle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lezioni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precedenti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(persona),</a:t>
            </a:r>
            <a:r>
              <a:rPr sz="3200" spc="-5" dirty="0">
                <a:latin typeface="Calibri"/>
                <a:cs typeface="Calibri"/>
              </a:rPr>
              <a:t> possiamo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scrivere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seguente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codice: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67660"/>
            <a:ext cx="8074025" cy="46005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700" spc="-25" dirty="0">
                <a:latin typeface="Calibri"/>
                <a:cs typeface="Calibri"/>
              </a:rPr>
              <a:t>var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marioRossi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new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persona("Mario",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"Rossi");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700" spc="-25" dirty="0">
                <a:latin typeface="Calibri"/>
                <a:cs typeface="Calibri"/>
              </a:rPr>
              <a:t>var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giuseppeVerdi </a:t>
            </a:r>
            <a:r>
              <a:rPr sz="2700" spc="-5" dirty="0">
                <a:latin typeface="Calibri"/>
                <a:cs typeface="Calibri"/>
              </a:rPr>
              <a:t>= new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persona("Giuseppe",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"Verdi");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00" spc="-25" dirty="0">
                <a:latin typeface="Calibri"/>
                <a:cs typeface="Calibri"/>
              </a:rPr>
              <a:t>marioRossi.telefono</a:t>
            </a:r>
            <a:r>
              <a:rPr sz="2700" spc="1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"0612345678";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 dirty="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</a:pPr>
            <a:r>
              <a:rPr sz="2700" spc="-10" dirty="0">
                <a:latin typeface="Calibri"/>
                <a:cs typeface="Calibri"/>
              </a:rPr>
              <a:t>Creando</a:t>
            </a:r>
            <a:r>
              <a:rPr sz="2700" spc="-5" dirty="0">
                <a:latin typeface="Calibri"/>
                <a:cs typeface="Calibri"/>
              </a:rPr>
              <a:t> 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nuova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proprietà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telefono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spc="605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l’oggetto 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Mario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Rossi,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senza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influenzare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struttura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Giuseppe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Verdi.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sostanza,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nella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creazione</a:t>
            </a:r>
            <a:r>
              <a:rPr sz="2700" spc="-5" dirty="0">
                <a:latin typeface="Calibri"/>
                <a:cs typeface="Calibri"/>
              </a:rPr>
              <a:t> 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oggetti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possiamo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partire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struttura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comune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definita</a:t>
            </a:r>
            <a:r>
              <a:rPr sz="2700" spc="5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</a:t>
            </a:r>
            <a:r>
              <a:rPr sz="2700" spc="60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costruttore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poi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personalizzarla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base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nostre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esigenze.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30617"/>
            <a:ext cx="807593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10" dirty="0">
                <a:latin typeface="Calibri"/>
                <a:cs typeface="Calibri"/>
              </a:rPr>
              <a:t>Ma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spc="17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fare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</a:t>
            </a:r>
            <a:r>
              <a:rPr sz="3000" spc="1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modificare</a:t>
            </a:r>
            <a:r>
              <a:rPr sz="3000" spc="13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struttura</a:t>
            </a:r>
            <a:r>
              <a:rPr sz="3000" spc="1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1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tutti</a:t>
            </a:r>
            <a:r>
              <a:rPr sz="3000" spc="1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gli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055482"/>
            <a:ext cx="7336155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93545" algn="l"/>
                <a:tab pos="2770505" algn="l"/>
                <a:tab pos="3707765" algn="l"/>
                <a:tab pos="4960620" algn="l"/>
                <a:tab pos="6240780" algn="l"/>
              </a:tabLst>
            </a:pP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5" dirty="0">
                <a:latin typeface="Calibri"/>
                <a:cs typeface="Calibri"/>
              </a:rPr>
              <a:t>s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10" dirty="0">
                <a:latin typeface="Calibri"/>
                <a:cs typeface="Calibri"/>
              </a:rPr>
              <a:t>m</a:t>
            </a:r>
            <a:r>
              <a:rPr sz="3000" spc="-20" dirty="0">
                <a:latin typeface="Calibri"/>
                <a:cs typeface="Calibri"/>
              </a:rPr>
              <a:t>p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-6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,	</a:t>
            </a:r>
            <a:r>
              <a:rPr sz="3000" spc="10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p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v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spc="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35" dirty="0">
                <a:latin typeface="Calibri"/>
                <a:cs typeface="Calibri"/>
              </a:rPr>
              <a:t>c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50" dirty="0">
                <a:latin typeface="Calibri"/>
                <a:cs typeface="Calibri"/>
              </a:rPr>
              <a:t>v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45" dirty="0">
                <a:latin typeface="Calibri"/>
                <a:cs typeface="Calibri"/>
              </a:rPr>
              <a:t>s</a:t>
            </a:r>
            <a:r>
              <a:rPr sz="3000" dirty="0">
                <a:latin typeface="Calibri"/>
                <a:cs typeface="Calibri"/>
              </a:rPr>
              <a:t>i	o</a:t>
            </a:r>
            <a:r>
              <a:rPr sz="3000" spc="40" dirty="0">
                <a:latin typeface="Calibri"/>
                <a:cs typeface="Calibri"/>
              </a:rPr>
              <a:t>g</a:t>
            </a:r>
            <a:r>
              <a:rPr sz="3000" spc="-35" dirty="0">
                <a:latin typeface="Calibri"/>
                <a:cs typeface="Calibri"/>
              </a:rPr>
              <a:t>g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50" dirty="0">
                <a:latin typeface="Calibri"/>
                <a:cs typeface="Calibri"/>
              </a:rPr>
              <a:t>tt</a:t>
            </a:r>
            <a:r>
              <a:rPr sz="3000" dirty="0">
                <a:latin typeface="Calibri"/>
                <a:cs typeface="Calibri"/>
              </a:rPr>
              <a:t>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1640827"/>
            <a:ext cx="8076565" cy="9004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6985" algn="r">
              <a:lnSpc>
                <a:spcPts val="3429"/>
              </a:lnSpc>
              <a:spcBef>
                <a:spcPts val="114"/>
              </a:spcBef>
              <a:tabLst>
                <a:tab pos="1405890" algn="l"/>
                <a:tab pos="2590800" algn="l"/>
                <a:tab pos="4046220" algn="l"/>
                <a:tab pos="4763135" algn="l"/>
                <a:tab pos="6989445" algn="l"/>
                <a:tab pos="7669530" algn="l"/>
              </a:tabLst>
            </a:pPr>
            <a:r>
              <a:rPr sz="3000" dirty="0">
                <a:latin typeface="Calibri"/>
                <a:cs typeface="Calibri"/>
              </a:rPr>
              <a:t>o</a:t>
            </a:r>
            <a:r>
              <a:rPr sz="3000" spc="40" dirty="0">
                <a:latin typeface="Calibri"/>
                <a:cs typeface="Calibri"/>
              </a:rPr>
              <a:t>g</a:t>
            </a:r>
            <a:r>
              <a:rPr sz="3000" spc="-35" dirty="0">
                <a:latin typeface="Calibri"/>
                <a:cs typeface="Calibri"/>
              </a:rPr>
              <a:t>g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-35" dirty="0">
                <a:latin typeface="Calibri"/>
                <a:cs typeface="Calibri"/>
              </a:rPr>
              <a:t>c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spc="-55" dirty="0">
                <a:latin typeface="Calibri"/>
                <a:cs typeface="Calibri"/>
              </a:rPr>
              <a:t>r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m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5" dirty="0">
                <a:latin typeface="Calibri"/>
                <a:cs typeface="Calibri"/>
              </a:rPr>
              <a:t>u</a:t>
            </a:r>
            <a:r>
              <a:rPr sz="3000" spc="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30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30" dirty="0">
                <a:latin typeface="Calibri"/>
                <a:cs typeface="Calibri"/>
              </a:rPr>
              <a:t>s</a:t>
            </a:r>
            <a:r>
              <a:rPr sz="3000" spc="-10" dirty="0">
                <a:latin typeface="Calibri"/>
                <a:cs typeface="Calibri"/>
              </a:rPr>
              <a:t>t</a:t>
            </a:r>
            <a:r>
              <a:rPr sz="3000" spc="15" dirty="0">
                <a:latin typeface="Calibri"/>
                <a:cs typeface="Calibri"/>
              </a:rPr>
              <a:t>ru</a:t>
            </a:r>
            <a:r>
              <a:rPr sz="3000" spc="-50" dirty="0">
                <a:latin typeface="Calibri"/>
                <a:cs typeface="Calibri"/>
              </a:rPr>
              <a:t>tt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r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spc="5" dirty="0">
                <a:latin typeface="Calibri"/>
                <a:cs typeface="Calibri"/>
              </a:rPr>
              <a:t>?</a:t>
            </a:r>
            <a:r>
              <a:rPr sz="3000" dirty="0">
                <a:latin typeface="Calibri"/>
                <a:cs typeface="Calibri"/>
              </a:rPr>
              <a:t>	S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ad</a:t>
            </a:r>
            <a:endParaRPr sz="3000" dirty="0">
              <a:latin typeface="Calibri"/>
              <a:cs typeface="Calibri"/>
            </a:endParaRPr>
          </a:p>
          <a:p>
            <a:pPr marR="5080" algn="r">
              <a:lnSpc>
                <a:spcPts val="3429"/>
              </a:lnSpc>
            </a:pPr>
            <a:r>
              <a:rPr sz="3000" spc="-15" dirty="0">
                <a:latin typeface="Calibri"/>
                <a:cs typeface="Calibri"/>
              </a:rPr>
              <a:t>dal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2465984"/>
            <a:ext cx="8080375" cy="8953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30"/>
              </a:spcBef>
              <a:tabLst>
                <a:tab pos="417830" algn="l"/>
                <a:tab pos="1995170" algn="l"/>
                <a:tab pos="3509010" algn="l"/>
                <a:tab pos="5122545" algn="l"/>
                <a:tab pos="6591934" algn="l"/>
                <a:tab pos="7308215" algn="l"/>
              </a:tabLst>
            </a:pPr>
            <a:r>
              <a:rPr sz="3000" spc="-15" dirty="0">
                <a:latin typeface="Calibri"/>
                <a:cs typeface="Calibri"/>
              </a:rPr>
              <a:t>costruttore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persona()</a:t>
            </a:r>
            <a:r>
              <a:rPr sz="3000" spc="1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vogliamo</a:t>
            </a:r>
            <a:r>
              <a:rPr sz="3000" spc="1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aggiungere</a:t>
            </a:r>
            <a:r>
              <a:rPr sz="3000" spc="1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1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tutti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l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p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30" dirty="0">
                <a:latin typeface="Calibri"/>
                <a:cs typeface="Calibri"/>
              </a:rPr>
              <a:t>o</a:t>
            </a:r>
            <a:r>
              <a:rPr sz="3000" spc="10" dirty="0">
                <a:latin typeface="Calibri"/>
                <a:cs typeface="Calibri"/>
              </a:rPr>
              <a:t>p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85" dirty="0">
                <a:latin typeface="Calibri"/>
                <a:cs typeface="Calibri"/>
              </a:rPr>
              <a:t>t</a:t>
            </a:r>
            <a:r>
              <a:rPr sz="3000" spc="5" dirty="0">
                <a:latin typeface="Calibri"/>
                <a:cs typeface="Calibri"/>
              </a:rPr>
              <a:t>à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10" dirty="0">
                <a:latin typeface="Calibri"/>
                <a:cs typeface="Calibri"/>
              </a:rPr>
              <a:t>l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spc="-65" dirty="0">
                <a:latin typeface="Calibri"/>
                <a:cs typeface="Calibri"/>
              </a:rPr>
              <a:t>f</a:t>
            </a:r>
            <a:r>
              <a:rPr sz="3000" spc="-30" dirty="0">
                <a:latin typeface="Calibri"/>
                <a:cs typeface="Calibri"/>
              </a:rPr>
              <a:t>o</a:t>
            </a:r>
            <a:r>
              <a:rPr sz="3000" spc="10" dirty="0">
                <a:latin typeface="Calibri"/>
                <a:cs typeface="Calibri"/>
              </a:rPr>
              <a:t>n</a:t>
            </a:r>
            <a:r>
              <a:rPr sz="3000" spc="-6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,	</a:t>
            </a:r>
            <a:r>
              <a:rPr sz="3000" spc="15" dirty="0">
                <a:latin typeface="Calibri"/>
                <a:cs typeface="Calibri"/>
              </a:rPr>
              <a:t>p</a:t>
            </a:r>
            <a:r>
              <a:rPr sz="3000" dirty="0">
                <a:latin typeface="Calibri"/>
                <a:cs typeface="Calibri"/>
              </a:rPr>
              <a:t>oss</a:t>
            </a:r>
            <a:r>
              <a:rPr sz="3000" spc="-30" dirty="0">
                <a:latin typeface="Calibri"/>
                <a:cs typeface="Calibri"/>
              </a:rPr>
              <a:t>i</a:t>
            </a:r>
            <a:r>
              <a:rPr sz="3000" spc="-20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mo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45" dirty="0">
                <a:latin typeface="Calibri"/>
                <a:cs typeface="Calibri"/>
              </a:rPr>
              <a:t>s</a:t>
            </a:r>
            <a:r>
              <a:rPr sz="3000" dirty="0">
                <a:latin typeface="Calibri"/>
                <a:cs typeface="Calibri"/>
              </a:rPr>
              <a:t>f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10" dirty="0">
                <a:latin typeface="Calibri"/>
                <a:cs typeface="Calibri"/>
              </a:rPr>
              <a:t>u</a:t>
            </a:r>
            <a:r>
              <a:rPr sz="3000" spc="-50" dirty="0">
                <a:latin typeface="Calibri"/>
                <a:cs typeface="Calibri"/>
              </a:rPr>
              <a:t>tt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5" dirty="0">
                <a:latin typeface="Calibri"/>
                <a:cs typeface="Calibri"/>
              </a:rPr>
              <a:t>u</a:t>
            </a:r>
            <a:r>
              <a:rPr sz="3000" spc="-20" dirty="0">
                <a:latin typeface="Calibri"/>
                <a:cs typeface="Calibri"/>
              </a:rPr>
              <a:t>n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5" dirty="0">
                <a:latin typeface="Calibri"/>
                <a:cs typeface="Calibri"/>
              </a:rPr>
              <a:t>d</a:t>
            </a:r>
            <a:r>
              <a:rPr sz="3000" spc="-40" dirty="0">
                <a:latin typeface="Calibri"/>
                <a:cs typeface="Calibri"/>
              </a:rPr>
              <a:t>e</a:t>
            </a:r>
            <a:r>
              <a:rPr sz="3000" spc="15" dirty="0">
                <a:latin typeface="Calibri"/>
                <a:cs typeface="Calibri"/>
              </a:rPr>
              <a:t>ll</a:t>
            </a:r>
            <a:r>
              <a:rPr sz="3000" spc="5" dirty="0">
                <a:latin typeface="Calibri"/>
                <a:cs typeface="Calibri"/>
              </a:rPr>
              <a:t>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3290303"/>
            <a:ext cx="2665095" cy="8959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30"/>
              </a:spcBef>
            </a:pPr>
            <a:r>
              <a:rPr sz="3000" spc="-20" dirty="0">
                <a:latin typeface="Calibri"/>
                <a:cs typeface="Calibri"/>
              </a:rPr>
              <a:t>caratteristiche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p</a:t>
            </a:r>
            <a:r>
              <a:rPr sz="3000" spc="-5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og</a:t>
            </a:r>
            <a:r>
              <a:rPr sz="3000" spc="-55" dirty="0">
                <a:latin typeface="Calibri"/>
                <a:cs typeface="Calibri"/>
              </a:rPr>
              <a:t>r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m</a:t>
            </a:r>
            <a:r>
              <a:rPr sz="3000" spc="-25" dirty="0">
                <a:latin typeface="Calibri"/>
                <a:cs typeface="Calibri"/>
              </a:rPr>
              <a:t>m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z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spc="5" dirty="0">
                <a:latin typeface="Calibri"/>
                <a:cs typeface="Calibri"/>
              </a:rPr>
              <a:t>e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244" y="4110723"/>
            <a:ext cx="7284084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08505" algn="l"/>
                <a:tab pos="2851150" algn="l"/>
                <a:tab pos="4171950" algn="l"/>
                <a:tab pos="5177155" algn="l"/>
              </a:tabLst>
            </a:pP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prototype</a:t>
            </a:r>
            <a:r>
              <a:rPr sz="3000" spc="-5" dirty="0">
                <a:latin typeface="Calibri"/>
                <a:cs typeface="Calibri"/>
              </a:rPr>
              <a:t>.	</a:t>
            </a:r>
            <a:r>
              <a:rPr sz="3000" dirty="0">
                <a:latin typeface="Calibri"/>
                <a:cs typeface="Calibri"/>
              </a:rPr>
              <a:t>Nel	</a:t>
            </a:r>
            <a:r>
              <a:rPr sz="3000" spc="-10" dirty="0">
                <a:latin typeface="Calibri"/>
                <a:cs typeface="Calibri"/>
              </a:rPr>
              <a:t>nostro	caso	procederemo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6728" y="3290303"/>
            <a:ext cx="5067935" cy="13061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indent="134620" algn="r">
              <a:lnSpc>
                <a:spcPts val="3229"/>
              </a:lnSpc>
              <a:spcBef>
                <a:spcPts val="530"/>
              </a:spcBef>
              <a:tabLst>
                <a:tab pos="764540" algn="l"/>
                <a:tab pos="1567180" algn="l"/>
                <a:tab pos="2220595" algn="l"/>
                <a:tab pos="2882900" algn="l"/>
                <a:tab pos="4306570" algn="l"/>
                <a:tab pos="4879340" algn="l"/>
              </a:tabLst>
            </a:pPr>
            <a:r>
              <a:rPr sz="3000" spc="-25" dirty="0">
                <a:latin typeface="Calibri"/>
                <a:cs typeface="Calibri"/>
              </a:rPr>
              <a:t>p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ù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n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5" dirty="0">
                <a:latin typeface="Calibri"/>
                <a:cs typeface="Calibri"/>
              </a:rPr>
              <a:t>s</a:t>
            </a:r>
            <a:r>
              <a:rPr sz="3000" spc="-45" dirty="0">
                <a:latin typeface="Calibri"/>
                <a:cs typeface="Calibri"/>
              </a:rPr>
              <a:t>s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nt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15" dirty="0">
                <a:latin typeface="Calibri"/>
                <a:cs typeface="Calibri"/>
              </a:rPr>
              <a:t>d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ll</a:t>
            </a:r>
            <a:r>
              <a:rPr sz="3000" spc="5" dirty="0">
                <a:latin typeface="Calibri"/>
                <a:cs typeface="Calibri"/>
              </a:rPr>
              <a:t>a  </a:t>
            </a:r>
            <a:r>
              <a:rPr sz="3000" spc="1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	o</a:t>
            </a:r>
            <a:r>
              <a:rPr sz="3000" spc="40" dirty="0">
                <a:latin typeface="Calibri"/>
                <a:cs typeface="Calibri"/>
              </a:rPr>
              <a:t>g</a:t>
            </a:r>
            <a:r>
              <a:rPr sz="3000" spc="-35" dirty="0">
                <a:latin typeface="Calibri"/>
                <a:cs typeface="Calibri"/>
              </a:rPr>
              <a:t>g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15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-35" dirty="0">
                <a:latin typeface="Calibri"/>
                <a:cs typeface="Calibri"/>
              </a:rPr>
              <a:t>J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85" dirty="0">
                <a:latin typeface="Calibri"/>
                <a:cs typeface="Calibri"/>
              </a:rPr>
              <a:t>v</a:t>
            </a:r>
            <a:r>
              <a:rPr sz="3000" spc="5" dirty="0">
                <a:latin typeface="Calibri"/>
                <a:cs typeface="Calibri"/>
              </a:rPr>
              <a:t>aS</a:t>
            </a:r>
            <a:r>
              <a:rPr sz="3000" spc="-25" dirty="0">
                <a:latin typeface="Calibri"/>
                <a:cs typeface="Calibri"/>
              </a:rPr>
              <a:t>c</a:t>
            </a:r>
            <a:r>
              <a:rPr sz="3000" spc="15" dirty="0">
                <a:latin typeface="Calibri"/>
                <a:cs typeface="Calibri"/>
              </a:rPr>
              <a:t>r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spc="10" dirty="0">
                <a:latin typeface="Calibri"/>
                <a:cs typeface="Calibri"/>
              </a:rPr>
              <a:t>p</a:t>
            </a:r>
            <a:r>
              <a:rPr sz="3000" spc="-3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:	</a:t>
            </a:r>
            <a:r>
              <a:rPr sz="3000" spc="-20" dirty="0">
                <a:latin typeface="Calibri"/>
                <a:cs typeface="Calibri"/>
              </a:rPr>
              <a:t>il</a:t>
            </a:r>
            <a:endParaRPr sz="3000" dirty="0">
              <a:latin typeface="Calibri"/>
              <a:cs typeface="Calibri"/>
            </a:endParaRPr>
          </a:p>
          <a:p>
            <a:pPr marR="6985" algn="r">
              <a:lnSpc>
                <a:spcPts val="3185"/>
              </a:lnSpc>
            </a:pPr>
            <a:r>
              <a:rPr sz="3000" spc="-10" dirty="0">
                <a:latin typeface="Calibri"/>
                <a:cs typeface="Calibri"/>
              </a:rPr>
              <a:t>nel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244" y="4525378"/>
            <a:ext cx="7225665" cy="14903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-10" dirty="0">
                <a:latin typeface="Calibri"/>
                <a:cs typeface="Calibri"/>
              </a:rPr>
              <a:t>seguente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modo: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0" dirty="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</a:pPr>
            <a:r>
              <a:rPr sz="3000" b="1" spc="-10" dirty="0" err="1">
                <a:solidFill>
                  <a:srgbClr val="FF0000"/>
                </a:solidFill>
                <a:latin typeface="Calibri"/>
                <a:cs typeface="Calibri"/>
              </a:rPr>
              <a:t>persona.prototype.telefono</a:t>
            </a:r>
            <a:r>
              <a:rPr sz="3000" b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"123456";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30617"/>
            <a:ext cx="8080375" cy="47853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000" spc="-15" dirty="0">
                <a:latin typeface="Calibri"/>
                <a:cs typeface="Calibri"/>
              </a:rPr>
              <a:t>Questo</a:t>
            </a:r>
            <a:r>
              <a:rPr sz="3000" spc="-10" dirty="0">
                <a:latin typeface="Calibri"/>
                <a:cs typeface="Calibri"/>
              </a:rPr>
              <a:t> assegnamento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fa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sì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che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FF0000"/>
                </a:solidFill>
                <a:latin typeface="Calibri"/>
                <a:cs typeface="Calibri"/>
              </a:rPr>
              <a:t>tutti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gli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FF0000"/>
                </a:solidFill>
                <a:latin typeface="Calibri"/>
                <a:cs typeface="Calibri"/>
              </a:rPr>
              <a:t>oggetti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 creati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Calibri"/>
                <a:cs typeface="Calibri"/>
              </a:rPr>
              <a:t>tramite</a:t>
            </a:r>
            <a:r>
              <a:rPr sz="3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il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FF0000"/>
                </a:solidFill>
                <a:latin typeface="Calibri"/>
                <a:cs typeface="Calibri"/>
              </a:rPr>
              <a:t>costruttore</a:t>
            </a:r>
            <a:r>
              <a:rPr sz="3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persona()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abbiano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istantaneamente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loro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anche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la 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proprietà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telefono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valorizzata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valore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indicato.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800" dirty="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000" dirty="0">
                <a:latin typeface="Calibri"/>
                <a:cs typeface="Calibri"/>
              </a:rPr>
              <a:t>Ad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essere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precisi,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spc="10" dirty="0">
                <a:latin typeface="Calibri"/>
                <a:cs typeface="Calibri"/>
              </a:rPr>
              <a:t>la</a:t>
            </a:r>
            <a:r>
              <a:rPr sz="3000" b="1" spc="700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nuova</a:t>
            </a:r>
            <a:r>
              <a:rPr sz="3000" b="1" spc="65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proprietà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non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5" dirty="0">
                <a:latin typeface="Calibri"/>
                <a:cs typeface="Calibri"/>
              </a:rPr>
              <a:t>è 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direttamente</a:t>
            </a:r>
            <a:r>
              <a:rPr sz="3000" b="1" spc="-15" dirty="0">
                <a:latin typeface="Calibri"/>
                <a:cs typeface="Calibri"/>
              </a:rPr>
              <a:t> agganciata</a:t>
            </a:r>
            <a:r>
              <a:rPr sz="3000" b="1" spc="650" dirty="0">
                <a:latin typeface="Calibri"/>
                <a:cs typeface="Calibri"/>
              </a:rPr>
              <a:t> </a:t>
            </a:r>
            <a:r>
              <a:rPr sz="3000" b="1" spc="5" dirty="0">
                <a:latin typeface="Calibri"/>
                <a:cs typeface="Calibri"/>
              </a:rPr>
              <a:t>a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ciascun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oggetto,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10" dirty="0">
                <a:latin typeface="Calibri"/>
                <a:cs typeface="Calibri"/>
              </a:rPr>
              <a:t>ma </a:t>
            </a:r>
            <a:r>
              <a:rPr sz="3000" b="1" spc="1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accessibile </a:t>
            </a:r>
            <a:r>
              <a:rPr sz="3000" b="1" spc="-10" dirty="0">
                <a:latin typeface="Calibri"/>
                <a:cs typeface="Calibri"/>
              </a:rPr>
              <a:t>come </a:t>
            </a:r>
            <a:r>
              <a:rPr sz="3000" b="1" dirty="0">
                <a:latin typeface="Calibri"/>
                <a:cs typeface="Calibri"/>
              </a:rPr>
              <a:t>se </a:t>
            </a:r>
            <a:r>
              <a:rPr sz="3000" b="1" spc="-15" dirty="0">
                <a:latin typeface="Calibri"/>
                <a:cs typeface="Calibri"/>
              </a:rPr>
              <a:t>fosse </a:t>
            </a:r>
            <a:r>
              <a:rPr sz="3000" b="1" dirty="0">
                <a:latin typeface="Calibri"/>
                <a:cs typeface="Calibri"/>
              </a:rPr>
              <a:t>una sua </a:t>
            </a:r>
            <a:r>
              <a:rPr sz="3000" b="1" spc="-15" dirty="0">
                <a:latin typeface="Calibri"/>
                <a:cs typeface="Calibri"/>
              </a:rPr>
              <a:t>proprietà</a:t>
            </a:r>
            <a:r>
              <a:rPr sz="3000" spc="-15" dirty="0">
                <a:latin typeface="Calibri"/>
                <a:cs typeface="Calibri"/>
              </a:rPr>
              <a:t>. </a:t>
            </a:r>
            <a:r>
              <a:rPr sz="3000" spc="-20" dirty="0">
                <a:latin typeface="Calibri"/>
                <a:cs typeface="Calibri"/>
              </a:rPr>
              <a:t>Questo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grazie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</a:t>
            </a:r>
            <a:r>
              <a:rPr sz="3000" spc="-5" dirty="0">
                <a:latin typeface="Calibri"/>
                <a:cs typeface="Calibri"/>
              </a:rPr>
              <a:t> meccanismo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prototyping</a:t>
            </a:r>
            <a:r>
              <a:rPr sz="3000" spc="-5" dirty="0">
                <a:latin typeface="Calibri"/>
                <a:cs typeface="Calibri"/>
              </a:rPr>
              <a:t> 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sta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alla </a:t>
            </a:r>
            <a:r>
              <a:rPr sz="3000" spc="5" dirty="0">
                <a:latin typeface="Calibri"/>
                <a:cs typeface="Calibri"/>
              </a:rPr>
              <a:t> base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dell’ereditarietà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nella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programmazione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ad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oggetti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JavaScript.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8957" y="817956"/>
            <a:ext cx="50012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Metodi</a:t>
            </a:r>
            <a:r>
              <a:rPr spc="-5" dirty="0"/>
              <a:t> </a:t>
            </a:r>
            <a:r>
              <a:rPr spc="-10" dirty="0"/>
              <a:t>apply()</a:t>
            </a:r>
            <a:r>
              <a:rPr spc="2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spc="-20" dirty="0"/>
              <a:t>call()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48625"/>
            <a:ext cx="137795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5" dirty="0">
                <a:latin typeface="Calibri"/>
                <a:cs typeface="Calibri"/>
              </a:rPr>
              <a:t>JavaScript,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1910" y="1548625"/>
            <a:ext cx="652399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3765" algn="l"/>
                <a:tab pos="1481455" algn="l"/>
                <a:tab pos="3004820" algn="l"/>
                <a:tab pos="4442460" algn="l"/>
                <a:tab pos="5276215" algn="l"/>
                <a:tab pos="6177280" algn="l"/>
              </a:tabLst>
            </a:pPr>
            <a:r>
              <a:rPr sz="2450" spc="-10" dirty="0">
                <a:latin typeface="Calibri"/>
                <a:cs typeface="Calibri"/>
              </a:rPr>
              <a:t>c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20" dirty="0">
                <a:latin typeface="Calibri"/>
                <a:cs typeface="Calibri"/>
              </a:rPr>
              <a:t>me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0" dirty="0">
                <a:latin typeface="Calibri"/>
                <a:cs typeface="Calibri"/>
              </a:rPr>
              <a:t>già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s</a:t>
            </a:r>
            <a:r>
              <a:rPr sz="2450" spc="25" dirty="0">
                <a:latin typeface="Calibri"/>
                <a:cs typeface="Calibri"/>
              </a:rPr>
              <a:t>a</a:t>
            </a:r>
            <a:r>
              <a:rPr sz="2450" spc="15" dirty="0">
                <a:latin typeface="Calibri"/>
                <a:cs typeface="Calibri"/>
              </a:rPr>
              <a:t>ppi</a:t>
            </a:r>
            <a:r>
              <a:rPr sz="2450" spc="25" dirty="0">
                <a:latin typeface="Calibri"/>
                <a:cs typeface="Calibri"/>
              </a:rPr>
              <a:t>a</a:t>
            </a:r>
            <a:r>
              <a:rPr sz="2450" spc="15" dirty="0">
                <a:latin typeface="Calibri"/>
                <a:cs typeface="Calibri"/>
              </a:rPr>
              <a:t>mo,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5" dirty="0">
                <a:latin typeface="Calibri"/>
                <a:cs typeface="Calibri"/>
              </a:rPr>
              <a:t>c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20" dirty="0">
                <a:latin typeface="Calibri"/>
                <a:cs typeface="Calibri"/>
              </a:rPr>
              <a:t>n</a:t>
            </a:r>
            <a:r>
              <a:rPr sz="2450" spc="-10" dirty="0">
                <a:latin typeface="Calibri"/>
                <a:cs typeface="Calibri"/>
              </a:rPr>
              <a:t>s</a:t>
            </a:r>
            <a:r>
              <a:rPr sz="2450" spc="10" dirty="0">
                <a:latin typeface="Calibri"/>
                <a:cs typeface="Calibri"/>
              </a:rPr>
              <a:t>id</a:t>
            </a:r>
            <a:r>
              <a:rPr sz="2450" spc="55" dirty="0">
                <a:latin typeface="Calibri"/>
                <a:cs typeface="Calibri"/>
              </a:rPr>
              <a:t>e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20" dirty="0">
                <a:latin typeface="Calibri"/>
                <a:cs typeface="Calibri"/>
              </a:rPr>
              <a:t>u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5" dirty="0">
                <a:latin typeface="Calibri"/>
                <a:cs typeface="Calibri"/>
              </a:rPr>
              <a:t>c</a:t>
            </a:r>
            <a:r>
              <a:rPr sz="2450" spc="15" dirty="0">
                <a:latin typeface="Calibri"/>
                <a:cs typeface="Calibri"/>
              </a:rPr>
              <a:t>ome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un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1850923"/>
            <a:ext cx="8079740" cy="421703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 algn="just">
              <a:lnSpc>
                <a:spcPct val="81800"/>
              </a:lnSpc>
              <a:spcBef>
                <a:spcPts val="665"/>
              </a:spcBef>
            </a:pPr>
            <a:r>
              <a:rPr sz="2450" dirty="0">
                <a:latin typeface="Calibri"/>
                <a:cs typeface="Calibri"/>
              </a:rPr>
              <a:t>oggetto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quindi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rappresenta</a:t>
            </a:r>
            <a:r>
              <a:rPr sz="2450" spc="5" dirty="0">
                <a:latin typeface="Calibri"/>
                <a:cs typeface="Calibri"/>
              </a:rPr>
              <a:t> 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questo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modo  anche  </a:t>
            </a:r>
            <a:r>
              <a:rPr sz="2450" spc="5" dirty="0">
                <a:latin typeface="Calibri"/>
                <a:cs typeface="Calibri"/>
              </a:rPr>
              <a:t>le </a:t>
            </a:r>
            <a:r>
              <a:rPr sz="2450" spc="10" dirty="0">
                <a:latin typeface="Calibri"/>
                <a:cs typeface="Calibri"/>
              </a:rPr>
              <a:t> funzioni </a:t>
            </a:r>
            <a:r>
              <a:rPr sz="2450" spc="25" dirty="0">
                <a:latin typeface="Calibri"/>
                <a:cs typeface="Calibri"/>
              </a:rPr>
              <a:t>(e </a:t>
            </a:r>
            <a:r>
              <a:rPr sz="2450" spc="15" dirty="0">
                <a:latin typeface="Calibri"/>
                <a:cs typeface="Calibri"/>
              </a:rPr>
              <a:t>quindi </a:t>
            </a:r>
            <a:r>
              <a:rPr sz="2450" spc="5" dirty="0">
                <a:latin typeface="Calibri"/>
                <a:cs typeface="Calibri"/>
              </a:rPr>
              <a:t>i </a:t>
            </a:r>
            <a:r>
              <a:rPr sz="2450" spc="15" dirty="0">
                <a:latin typeface="Calibri"/>
                <a:cs typeface="Calibri"/>
              </a:rPr>
              <a:t>metodi). </a:t>
            </a:r>
            <a:r>
              <a:rPr sz="2450" spc="20" dirty="0">
                <a:latin typeface="Calibri"/>
                <a:cs typeface="Calibri"/>
              </a:rPr>
              <a:t>Ciascuna </a:t>
            </a:r>
            <a:r>
              <a:rPr sz="2450" spc="10" dirty="0">
                <a:latin typeface="Calibri"/>
                <a:cs typeface="Calibri"/>
              </a:rPr>
              <a:t>funzione presenta </a:t>
            </a:r>
            <a:r>
              <a:rPr sz="2450" spc="-5" dirty="0">
                <a:latin typeface="Calibri"/>
                <a:cs typeface="Calibri"/>
              </a:rPr>
              <a:t>infatti </a:t>
            </a:r>
            <a:r>
              <a:rPr sz="2450" dirty="0">
                <a:latin typeface="Calibri"/>
                <a:cs typeface="Calibri"/>
              </a:rPr>
              <a:t> proprietà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metodi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proprio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come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normale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oggetto.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Il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prototipo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dell’oggetto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Function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presenta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due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metodi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0" dirty="0">
                <a:latin typeface="Calibri"/>
                <a:cs typeface="Calibri"/>
              </a:rPr>
              <a:t>di 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fondamentale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importanza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 </a:t>
            </a:r>
            <a:r>
              <a:rPr sz="2450" spc="10" dirty="0">
                <a:latin typeface="Calibri"/>
                <a:cs typeface="Calibri"/>
              </a:rPr>
              <a:t>sono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apply()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call()</a:t>
            </a:r>
            <a:r>
              <a:rPr sz="2450" spc="5" dirty="0"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 dirty="0">
              <a:latin typeface="Calibri"/>
              <a:cs typeface="Calibri"/>
            </a:endParaRPr>
          </a:p>
          <a:p>
            <a:pPr marL="12700" marR="11430" algn="just">
              <a:lnSpc>
                <a:spcPct val="81700"/>
              </a:lnSpc>
              <a:spcBef>
                <a:spcPts val="5"/>
              </a:spcBef>
            </a:pPr>
            <a:r>
              <a:rPr sz="2450" spc="10" dirty="0">
                <a:latin typeface="Calibri"/>
                <a:cs typeface="Calibri"/>
              </a:rPr>
              <a:t>Il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loro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comportamento</a:t>
            </a:r>
            <a:r>
              <a:rPr sz="2450" spc="15" dirty="0">
                <a:latin typeface="Calibri"/>
                <a:cs typeface="Calibri"/>
              </a:rPr>
              <a:t> è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simile,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presentano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semplice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differenza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nella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gestione</a:t>
            </a:r>
            <a:r>
              <a:rPr sz="2450" spc="10" dirty="0">
                <a:latin typeface="Calibri"/>
                <a:cs typeface="Calibri"/>
              </a:rPr>
              <a:t> dei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parametri.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Essi</a:t>
            </a:r>
            <a:r>
              <a:rPr sz="2450" spc="10" dirty="0">
                <a:latin typeface="Calibri"/>
                <a:cs typeface="Calibri"/>
              </a:rPr>
              <a:t> permettono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infatti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dirty="0">
                <a:latin typeface="Calibri"/>
                <a:cs typeface="Calibri"/>
              </a:rPr>
              <a:t>invocare </a:t>
            </a:r>
            <a:r>
              <a:rPr sz="2450" spc="20" dirty="0">
                <a:latin typeface="Calibri"/>
                <a:cs typeface="Calibri"/>
              </a:rPr>
              <a:t>una </a:t>
            </a:r>
            <a:r>
              <a:rPr sz="2450" spc="5" dirty="0">
                <a:latin typeface="Calibri"/>
                <a:cs typeface="Calibri"/>
              </a:rPr>
              <a:t>determinata </a:t>
            </a:r>
            <a:r>
              <a:rPr sz="2450" spc="15" dirty="0">
                <a:latin typeface="Calibri"/>
                <a:cs typeface="Calibri"/>
              </a:rPr>
              <a:t>funzione definendo quale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sarà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suo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scope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passandoglielo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come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primo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parametro.</a:t>
            </a:r>
            <a:r>
              <a:rPr sz="2450" spc="15" dirty="0">
                <a:latin typeface="Calibri"/>
                <a:cs typeface="Calibri"/>
              </a:rPr>
              <a:t> È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possibile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inoltre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fornire</a:t>
            </a:r>
            <a:r>
              <a:rPr sz="2450" spc="10" dirty="0">
                <a:latin typeface="Calibri"/>
                <a:cs typeface="Calibri"/>
              </a:rPr>
              <a:t> ulteriori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parametri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verranno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qualche</a:t>
            </a:r>
            <a:r>
              <a:rPr sz="2450" spc="20" dirty="0">
                <a:latin typeface="Calibri"/>
                <a:cs typeface="Calibri"/>
              </a:rPr>
              <a:t> modo</a:t>
            </a:r>
            <a:r>
              <a:rPr sz="2450" spc="59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“passati”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alla</a:t>
            </a:r>
            <a:r>
              <a:rPr sz="2450" spc="15" dirty="0">
                <a:latin typeface="Calibri"/>
                <a:cs typeface="Calibri"/>
              </a:rPr>
              <a:t> funzione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oggetto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dell’invocazione.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10158"/>
            <a:ext cx="8076565" cy="49225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625"/>
              </a:spcBef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20" dirty="0">
                <a:latin typeface="Calibri"/>
                <a:cs typeface="Calibri"/>
              </a:rPr>
              <a:t>differenza tra </a:t>
            </a:r>
            <a:r>
              <a:rPr sz="2200" spc="-15" dirty="0">
                <a:latin typeface="Calibri"/>
                <a:cs typeface="Calibri"/>
              </a:rPr>
              <a:t>apply </a:t>
            </a:r>
            <a:r>
              <a:rPr sz="2200" spc="-5" dirty="0">
                <a:latin typeface="Calibri"/>
                <a:cs typeface="Calibri"/>
              </a:rPr>
              <a:t>e </a:t>
            </a:r>
            <a:r>
              <a:rPr sz="2200" spc="-15" dirty="0">
                <a:latin typeface="Calibri"/>
                <a:cs typeface="Calibri"/>
              </a:rPr>
              <a:t>call </a:t>
            </a:r>
            <a:r>
              <a:rPr sz="2200" spc="-5" dirty="0">
                <a:latin typeface="Calibri"/>
                <a:cs typeface="Calibri"/>
              </a:rPr>
              <a:t>è </a:t>
            </a:r>
            <a:r>
              <a:rPr sz="2200" spc="-10" dirty="0">
                <a:latin typeface="Calibri"/>
                <a:cs typeface="Calibri"/>
              </a:rPr>
              <a:t>proprio </a:t>
            </a:r>
            <a:r>
              <a:rPr sz="2200" spc="-15" dirty="0">
                <a:latin typeface="Calibri"/>
                <a:cs typeface="Calibri"/>
              </a:rPr>
              <a:t>questa: </a:t>
            </a:r>
            <a:r>
              <a:rPr sz="2200" spc="-10" dirty="0">
                <a:latin typeface="Calibri"/>
                <a:cs typeface="Calibri"/>
              </a:rPr>
              <a:t>apply() oltre </a:t>
            </a:r>
            <a:r>
              <a:rPr sz="2200" spc="-25" dirty="0">
                <a:latin typeface="Calibri"/>
                <a:cs typeface="Calibri"/>
              </a:rPr>
              <a:t>all’oggetto 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scope accetta </a:t>
            </a:r>
            <a:r>
              <a:rPr sz="2200" spc="5" dirty="0">
                <a:latin typeface="Calibri"/>
                <a:cs typeface="Calibri"/>
              </a:rPr>
              <a:t>un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array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di parametri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mentre </a:t>
            </a:r>
            <a:r>
              <a:rPr sz="2200" spc="-10" dirty="0">
                <a:latin typeface="Calibri"/>
                <a:cs typeface="Calibri"/>
              </a:rPr>
              <a:t>call() accetta </a:t>
            </a:r>
            <a:r>
              <a:rPr sz="2200" spc="5" dirty="0">
                <a:latin typeface="Calibri"/>
                <a:cs typeface="Calibri"/>
              </a:rPr>
              <a:t>un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numero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indefinito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di parametri</a:t>
            </a:r>
            <a:r>
              <a:rPr sz="2200" spc="-10" dirty="0">
                <a:latin typeface="Calibri"/>
                <a:cs typeface="Calibri"/>
              </a:rPr>
              <a:t>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Passiamo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all’esempio: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00" dirty="0">
              <a:latin typeface="Calibri"/>
              <a:cs typeface="Calibri"/>
            </a:endParaRPr>
          </a:p>
          <a:p>
            <a:pPr marL="264795" marR="4976495" indent="-252729">
              <a:lnSpc>
                <a:spcPts val="263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myFunction(a,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b)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{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return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 *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b;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540"/>
              </a:lnSpc>
            </a:pPr>
            <a:r>
              <a:rPr sz="2200" spc="-5" dirty="0">
                <a:latin typeface="Calibri"/>
                <a:cs typeface="Calibri"/>
              </a:rPr>
              <a:t>}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myObject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=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myFunction.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call</a:t>
            </a:r>
            <a:r>
              <a:rPr sz="2200" spc="-5" dirty="0">
                <a:latin typeface="Calibri"/>
                <a:cs typeface="Calibri"/>
              </a:rPr>
              <a:t>(myObject,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10,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2);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Calibri"/>
              <a:cs typeface="Calibri"/>
            </a:endParaRPr>
          </a:p>
          <a:p>
            <a:pPr marL="264795" marR="4977130" indent="-252729">
              <a:lnSpc>
                <a:spcPct val="100800"/>
              </a:lnSpc>
            </a:pP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myFunction(a,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b)</a:t>
            </a:r>
            <a:r>
              <a:rPr sz="2200" spc="-5" dirty="0">
                <a:latin typeface="Calibri"/>
                <a:cs typeface="Calibri"/>
              </a:rPr>
              <a:t> {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return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* </a:t>
            </a:r>
            <a:r>
              <a:rPr sz="2200" spc="5" dirty="0">
                <a:latin typeface="Calibri"/>
                <a:cs typeface="Calibri"/>
              </a:rPr>
              <a:t>b;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625"/>
              </a:lnSpc>
            </a:pPr>
            <a:r>
              <a:rPr sz="22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ts val="2635"/>
              </a:lnSpc>
              <a:spcBef>
                <a:spcPts val="20"/>
              </a:spcBef>
            </a:pPr>
            <a:r>
              <a:rPr sz="2200" spc="-10" dirty="0">
                <a:latin typeface="Calibri"/>
                <a:cs typeface="Calibri"/>
              </a:rPr>
              <a:t>myArray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[10,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2];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myObject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=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myFunction.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apply</a:t>
            </a:r>
            <a:r>
              <a:rPr sz="2200" spc="-5" dirty="0">
                <a:latin typeface="Calibri"/>
                <a:cs typeface="Calibri"/>
              </a:rPr>
              <a:t>(myObject,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myArray);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</a:t>
            </a:r>
            <a:r>
              <a:rPr spc="-30" dirty="0"/>
              <a:t> </a:t>
            </a:r>
            <a:r>
              <a:rPr dirty="0"/>
              <a:t>3.1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51266"/>
            <a:ext cx="8073390" cy="39293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30" dirty="0">
                <a:latin typeface="Calibri"/>
                <a:cs typeface="Calibri"/>
              </a:rPr>
              <a:t>Progettare </a:t>
            </a:r>
            <a:r>
              <a:rPr sz="3200" spc="-35" dirty="0">
                <a:latin typeface="Calibri"/>
                <a:cs typeface="Calibri"/>
              </a:rPr>
              <a:t>l’oggetto </a:t>
            </a:r>
            <a:r>
              <a:rPr sz="3200" spc="-15" dirty="0">
                <a:latin typeface="Calibri"/>
                <a:cs typeface="Calibri"/>
              </a:rPr>
              <a:t>canzoni </a:t>
            </a:r>
            <a:r>
              <a:rPr sz="3200" dirty="0">
                <a:latin typeface="Calibri"/>
                <a:cs typeface="Calibri"/>
              </a:rPr>
              <a:t>che </a:t>
            </a:r>
            <a:r>
              <a:rPr sz="3200" spc="-10" dirty="0">
                <a:latin typeface="Calibri"/>
                <a:cs typeface="Calibri"/>
              </a:rPr>
              <a:t>contiene </a:t>
            </a:r>
            <a:r>
              <a:rPr sz="3200" spc="-5" dirty="0">
                <a:latin typeface="Calibri"/>
                <a:cs typeface="Calibri"/>
              </a:rPr>
              <a:t>delle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proprietà: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canzone1,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canzone2,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ecc…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Queste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proprietà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sua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volta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sono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degli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oggetti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 </a:t>
            </a:r>
            <a:r>
              <a:rPr sz="3200" spc="-5" dirty="0">
                <a:latin typeface="Calibri"/>
                <a:cs typeface="Calibri"/>
              </a:rPr>
              <a:t> hanno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altre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proprietà: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titolo,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nomeCantante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anno.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Inserire</a:t>
            </a:r>
            <a:r>
              <a:rPr sz="3200" spc="-5" dirty="0">
                <a:latin typeface="Calibri"/>
                <a:cs typeface="Calibri"/>
              </a:rPr>
              <a:t> poi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alcuni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dati</a:t>
            </a:r>
            <a:r>
              <a:rPr sz="3200" spc="-5" dirty="0">
                <a:latin typeface="Calibri"/>
                <a:cs typeface="Calibri"/>
              </a:rPr>
              <a:t> 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piacere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visualizzarli.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Dopo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fare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inserire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all’utente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delle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nuove canzoni </a:t>
            </a:r>
            <a:r>
              <a:rPr sz="3200" spc="-35" dirty="0">
                <a:latin typeface="Calibri"/>
                <a:cs typeface="Calibri"/>
              </a:rPr>
              <a:t>attraverso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5" dirty="0">
                <a:latin typeface="Calibri"/>
                <a:cs typeface="Calibri"/>
              </a:rPr>
              <a:t>prompt </a:t>
            </a:r>
            <a:r>
              <a:rPr sz="3200" spc="-10" dirty="0">
                <a:latin typeface="Calibri"/>
                <a:cs typeface="Calibri"/>
              </a:rPr>
              <a:t>dei </a:t>
            </a:r>
            <a:r>
              <a:rPr sz="3200" spc="-5" dirty="0">
                <a:latin typeface="Calibri"/>
                <a:cs typeface="Calibri"/>
              </a:rPr>
              <a:t>comandi.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Visualizzare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nuovo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oggetto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così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costruito.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</a:t>
            </a:r>
            <a:r>
              <a:rPr spc="-30" dirty="0"/>
              <a:t> </a:t>
            </a:r>
            <a:r>
              <a:rPr dirty="0"/>
              <a:t>3.2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534351" y="1513243"/>
            <a:ext cx="8075295" cy="417793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pc="-10" dirty="0"/>
              <a:t>Progettare	un oggetto	rubrica che ha come proprietà	gli utenti.	Dopo, per ogni utente specificare altre	proprietà:	utente, nome, cognome, telefono e indirizzo. Dove indirizzo è a  sua volta un altro oggetto contenente altre  proprietà.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pc="-10" dirty="0"/>
              <a:t>Quindi popolare la rubrica con dei dati a piacere.  Dopo eliminare l’ultimo elemento e visualizzare  nuovamente la rubrica così ottenuta.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345" y="698351"/>
            <a:ext cx="2829305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5" dirty="0" err="1"/>
              <a:t>Esercizio</a:t>
            </a:r>
            <a:r>
              <a:rPr spc="-30" dirty="0"/>
              <a:t> </a:t>
            </a:r>
            <a:r>
              <a:rPr dirty="0"/>
              <a:t>3.</a:t>
            </a:r>
            <a:r>
              <a:rPr lang="it-IT" dirty="0"/>
              <a:t>3</a:t>
            </a:r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534349" y="1469799"/>
            <a:ext cx="8075295" cy="47083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1. Definisci un oggetto "studente" con le seguenti proprietà: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 - nome: una stringa con il nome dello studente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 - cognome: una stringa con il cognome dello studente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 - voto: un numero che rappresenta il voto dello studente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2. Aggiungi un metodo all'oggetto "studente" chiamato "</a:t>
            </a:r>
            <a:r>
              <a:rPr lang="it-IT" sz="1400" spc="-10" dirty="0" err="1"/>
              <a:t>calcolaMedia</a:t>
            </a:r>
            <a:r>
              <a:rPr lang="it-IT" sz="1400" spc="-10" dirty="0"/>
              <a:t>" che calcola la media di due voti passati come argomenti e restituisce il risultato.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3. Crea un nuovo oggetto "studente1" utilizzando l'oggetto "studente" come modello. Assegna valori alle proprietà "nome", "cognome" e "voto".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4. Chiama il metodo "</a:t>
            </a:r>
            <a:r>
              <a:rPr lang="it-IT" sz="1400" spc="-10" dirty="0" err="1"/>
              <a:t>calcolaMedia</a:t>
            </a:r>
            <a:r>
              <a:rPr lang="it-IT" sz="1400" spc="-10" dirty="0"/>
              <a:t>" sull'oggetto "studente1" passando due voti come argomenti. Stampa il risultato.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5. Crea un altro oggetto "studente2" utilizzando l'oggetto "studente" come modello. Assegna valori alle proprietà "nome", "cognome" e "voto".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6. Chiama il metodo "</a:t>
            </a:r>
            <a:r>
              <a:rPr lang="it-IT" sz="1400" spc="-10" dirty="0" err="1"/>
              <a:t>calcolaMedia</a:t>
            </a:r>
            <a:r>
              <a:rPr lang="it-IT" sz="1400" spc="-10" dirty="0"/>
              <a:t>" sull'oggetto "studente2" passando due voti come argomenti. Stampa il risultato.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7. Confronta i voti dei due studenti ("studente1" e "studente2") e stampa un messaggio che indica quale studente ha ottenuto un voto più alto.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8. Modifica il voto dello "studente1" e del "studente2" assegnando nuovi valori alla proprietà "voto".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9. Chiama nuovamente il metodo "</a:t>
            </a:r>
            <a:r>
              <a:rPr lang="it-IT" sz="1400" spc="-10" dirty="0" err="1"/>
              <a:t>calcolaMedia</a:t>
            </a:r>
            <a:r>
              <a:rPr lang="it-IT" sz="1400" spc="-10" dirty="0"/>
              <a:t>" sui due studenti con i nuovi voti. Stampa i nuovi risultati.</a:t>
            </a:r>
          </a:p>
          <a:p>
            <a:pPr marL="12700" marR="9525" algn="l">
              <a:lnSpc>
                <a:spcPct val="90100"/>
              </a:lnSpc>
              <a:spcBef>
                <a:spcPts val="475"/>
              </a:spcBef>
            </a:pPr>
            <a:r>
              <a:rPr lang="it-IT" sz="1400" spc="-10" dirty="0"/>
              <a:t>10. Confronta i nuovi voti dei due studenti e stampa un messaggio che indica quale studente ha ottenuto un voto più alto.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5" dirty="0"/>
              <a:t>J</a:t>
            </a:r>
            <a:r>
              <a:rPr spc="-50" dirty="0"/>
              <a:t>a</a:t>
            </a:r>
            <a:r>
              <a:rPr spc="-15" dirty="0"/>
              <a:t>v</a:t>
            </a:r>
            <a:r>
              <a:rPr spc="-10" dirty="0"/>
              <a:t>a</a:t>
            </a:r>
            <a:r>
              <a:rPr spc="10" dirty="0"/>
              <a:t>S</a:t>
            </a:r>
            <a:r>
              <a:rPr spc="-15" dirty="0"/>
              <a:t>c</a:t>
            </a:r>
            <a:r>
              <a:rPr dirty="0"/>
              <a:t>r</a:t>
            </a:r>
            <a:r>
              <a:rPr spc="5" dirty="0"/>
              <a:t>i</a:t>
            </a:r>
            <a:r>
              <a:rPr dirty="0"/>
              <a:t>pt</a:t>
            </a:r>
          </a:p>
        </p:txBody>
      </p:sp>
    </p:spTree>
    <p:extLst>
      <p:ext uri="{BB962C8B-B14F-4D97-AF65-F5344CB8AC3E}">
        <p14:creationId xmlns:p14="http://schemas.microsoft.com/office/powerpoint/2010/main" val="348233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4817</TotalTime>
  <Words>2766</Words>
  <Application>Microsoft Office PowerPoint</Application>
  <PresentationFormat>Personalizzato</PresentationFormat>
  <Paragraphs>249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8" baseType="lpstr">
      <vt:lpstr>Calibri</vt:lpstr>
      <vt:lpstr>Consolas</vt:lpstr>
      <vt:lpstr>UbuntuMono-Regular</vt:lpstr>
      <vt:lpstr>Office Theme</vt:lpstr>
      <vt:lpstr>JAVASCRIPT</vt:lpstr>
      <vt:lpstr>Oggetto</vt:lpstr>
      <vt:lpstr>Prime osservazioni</vt:lpstr>
      <vt:lpstr>Presentazione standard di PowerPoint</vt:lpstr>
      <vt:lpstr>Presentazione standard di PowerPoint</vt:lpstr>
      <vt:lpstr>Oggetti Innestati</vt:lpstr>
      <vt:lpstr>Presentazione standard di PowerPoint</vt:lpstr>
      <vt:lpstr>Presentazione standard di PowerPoint</vt:lpstr>
      <vt:lpstr>Funzioni nell’oggetto</vt:lpstr>
      <vt:lpstr>Presentazione standard di PowerPoint</vt:lpstr>
      <vt:lpstr>Presentazione standard di PowerPoint</vt:lpstr>
      <vt:lpstr>Presentazione standard di PowerPoint</vt:lpstr>
      <vt:lpstr>Modello a oggetti</vt:lpstr>
      <vt:lpstr>Presentazione standard di PowerPoint</vt:lpstr>
      <vt:lpstr>Presentazione standard di PowerPoint</vt:lpstr>
      <vt:lpstr>Presentazione standard di PowerPoint</vt:lpstr>
      <vt:lpstr>Costruttore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Prototype</vt:lpstr>
      <vt:lpstr>Presentazione standard di PowerPoint</vt:lpstr>
      <vt:lpstr>Presentazione standard di PowerPoint</vt:lpstr>
      <vt:lpstr>Presentazione standard di PowerPoint</vt:lpstr>
      <vt:lpstr>Metodi apply() e call()</vt:lpstr>
      <vt:lpstr>Presentazione standard di PowerPoint</vt:lpstr>
      <vt:lpstr>Esercizio 3.1</vt:lpstr>
      <vt:lpstr>Esercizio 3.2</vt:lpstr>
      <vt:lpstr>Esercizio 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Riccardo</dc:creator>
  <cp:lastModifiedBy>Admin</cp:lastModifiedBy>
  <cp:revision>42</cp:revision>
  <dcterms:created xsi:type="dcterms:W3CDTF">2022-07-25T13:20:48Z</dcterms:created>
  <dcterms:modified xsi:type="dcterms:W3CDTF">2025-04-02T12:39:57Z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2022-07-25T00:00:00Z</vt:filetime>
  </property>
</Properties>
</file>