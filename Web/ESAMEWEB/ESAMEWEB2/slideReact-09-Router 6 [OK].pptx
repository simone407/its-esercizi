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8" r:id="rId5"/>
    <p:sldId id="279" r:id="rId6"/>
    <p:sldId id="280" r:id="rId7"/>
    <p:sldId id="281" r:id="rId8"/>
    <p:sldId id="282" r:id="rId9"/>
    <p:sldId id="261" r:id="rId10"/>
    <p:sldId id="262" r:id="rId11"/>
    <p:sldId id="263" r:id="rId12"/>
    <p:sldId id="264" r:id="rId13"/>
    <p:sldId id="265" r:id="rId14"/>
    <p:sldId id="284" r:id="rId15"/>
    <p:sldId id="283" r:id="rId16"/>
    <p:sldId id="266" r:id="rId17"/>
    <p:sldId id="269" r:id="rId18"/>
    <p:sldId id="270" r:id="rId19"/>
    <p:sldId id="285" r:id="rId20"/>
    <p:sldId id="287" r:id="rId21"/>
    <p:sldId id="288" r:id="rId22"/>
    <p:sldId id="289" r:id="rId23"/>
    <p:sldId id="290" r:id="rId24"/>
    <p:sldId id="292" r:id="rId25"/>
  </p:sldIdLst>
  <p:sldSz cx="9144000" cy="6864350"/>
  <p:notesSz cx="9144000" cy="686435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p:cViewPr>
        <p:scale>
          <a:sx n="124" d="100"/>
          <a:sy n="124" d="100"/>
        </p:scale>
        <p:origin x="60" y="-1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26"/>
            <a:ext cx="9144000" cy="3189605"/>
          </a:xfrm>
          <a:custGeom>
            <a:avLst/>
            <a:gdLst/>
            <a:ahLst/>
            <a:cxnLst/>
            <a:rect l="l" t="t" r="r" b="b"/>
            <a:pathLst>
              <a:path w="9144000" h="3189605">
                <a:moveTo>
                  <a:pt x="9144000" y="0"/>
                </a:moveTo>
                <a:lnTo>
                  <a:pt x="0" y="0"/>
                </a:lnTo>
                <a:lnTo>
                  <a:pt x="0" y="3189097"/>
                </a:lnTo>
                <a:lnTo>
                  <a:pt x="9144000" y="3189097"/>
                </a:lnTo>
                <a:lnTo>
                  <a:pt x="9144000" y="0"/>
                </a:lnTo>
                <a:close/>
              </a:path>
            </a:pathLst>
          </a:custGeom>
          <a:solidFill>
            <a:srgbClr val="C0504D"/>
          </a:solidFill>
        </p:spPr>
        <p:txBody>
          <a:bodyPr wrap="square" lIns="0" tIns="0" rIns="0" bIns="0" rtlCol="0"/>
          <a:lstStyle/>
          <a:p>
            <a:endParaRPr/>
          </a:p>
        </p:txBody>
      </p:sp>
      <p:sp>
        <p:nvSpPr>
          <p:cNvPr id="2" name="Holder 2"/>
          <p:cNvSpPr>
            <a:spLocks noGrp="1"/>
          </p:cNvSpPr>
          <p:nvPr>
            <p:ph type="ctrTitle"/>
          </p:nvPr>
        </p:nvSpPr>
        <p:spPr>
          <a:xfrm>
            <a:off x="3929253" y="2483053"/>
            <a:ext cx="1285493" cy="696594"/>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4036"/>
            <a:ext cx="6400800" cy="17160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Calibri"/>
                <a:cs typeface="Calibri"/>
              </a:defRPr>
            </a:lvl1pPr>
          </a:lstStyle>
          <a:p>
            <a:pPr marL="12700">
              <a:lnSpc>
                <a:spcPts val="1245"/>
              </a:lnSpc>
            </a:pPr>
            <a:r>
              <a:rPr spc="-55" dirty="0"/>
              <a:t>R</a:t>
            </a:r>
            <a:r>
              <a:rPr dirty="0"/>
              <a:t>e</a:t>
            </a:r>
            <a:r>
              <a:rPr spc="-10" dirty="0"/>
              <a:t>a</a:t>
            </a:r>
            <a:r>
              <a:rPr spc="-15" dirty="0"/>
              <a:t>c</a:t>
            </a:r>
            <a:r>
              <a:rPr dirty="0"/>
              <a:t>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Calibri"/>
                <a:cs typeface="Calibri"/>
              </a:defRPr>
            </a:lvl1pPr>
          </a:lstStyle>
          <a:p>
            <a:pPr marL="12700">
              <a:lnSpc>
                <a:spcPts val="1245"/>
              </a:lnSpc>
            </a:pPr>
            <a:r>
              <a:rPr spc="-55" dirty="0"/>
              <a:t>R</a:t>
            </a:r>
            <a:r>
              <a:rPr dirty="0"/>
              <a:t>e</a:t>
            </a:r>
            <a:r>
              <a:rPr spc="-10" dirty="0"/>
              <a:t>a</a:t>
            </a:r>
            <a:r>
              <a:rPr spc="-15" dirty="0"/>
              <a:t>c</a:t>
            </a:r>
            <a:r>
              <a:rPr dirty="0"/>
              <a:t>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578800"/>
            <a:ext cx="3977640" cy="45304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8800"/>
            <a:ext cx="3977640" cy="45304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Calibri"/>
                <a:cs typeface="Calibri"/>
              </a:defRPr>
            </a:lvl1pPr>
          </a:lstStyle>
          <a:p>
            <a:pPr marL="12700">
              <a:lnSpc>
                <a:spcPts val="1245"/>
              </a:lnSpc>
            </a:pPr>
            <a:r>
              <a:rPr spc="-55" dirty="0"/>
              <a:t>R</a:t>
            </a:r>
            <a:r>
              <a:rPr dirty="0"/>
              <a:t>e</a:t>
            </a:r>
            <a:r>
              <a:rPr spc="-10" dirty="0"/>
              <a:t>a</a:t>
            </a:r>
            <a:r>
              <a:rPr spc="-15" dirty="0"/>
              <a:t>c</a:t>
            </a:r>
            <a:r>
              <a:rPr dirty="0"/>
              <a:t>t</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Calibri"/>
                <a:cs typeface="Calibri"/>
              </a:defRPr>
            </a:lvl1pPr>
          </a:lstStyle>
          <a:p>
            <a:pPr marL="12700">
              <a:lnSpc>
                <a:spcPts val="1245"/>
              </a:lnSpc>
            </a:pPr>
            <a:r>
              <a:rPr spc="-55" dirty="0"/>
              <a:t>R</a:t>
            </a:r>
            <a:r>
              <a:rPr dirty="0"/>
              <a:t>e</a:t>
            </a:r>
            <a:r>
              <a:rPr spc="-10" dirty="0"/>
              <a:t>a</a:t>
            </a:r>
            <a:r>
              <a:rPr spc="-15" dirty="0"/>
              <a:t>c</a:t>
            </a:r>
            <a:r>
              <a:rPr dirty="0"/>
              <a:t>t</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200" b="0" i="0">
                <a:solidFill>
                  <a:schemeClr val="tx1"/>
                </a:solidFill>
                <a:latin typeface="Calibri"/>
                <a:cs typeface="Calibri"/>
              </a:defRPr>
            </a:lvl1pPr>
          </a:lstStyle>
          <a:p>
            <a:pPr marL="12700">
              <a:lnSpc>
                <a:spcPts val="1245"/>
              </a:lnSpc>
            </a:pPr>
            <a:r>
              <a:rPr spc="-55" dirty="0"/>
              <a:t>R</a:t>
            </a:r>
            <a:r>
              <a:rPr dirty="0"/>
              <a:t>e</a:t>
            </a:r>
            <a:r>
              <a:rPr spc="-10" dirty="0"/>
              <a:t>a</a:t>
            </a:r>
            <a:r>
              <a:rPr spc="-15" dirty="0"/>
              <a:t>c</a:t>
            </a:r>
            <a:r>
              <a:rPr dirty="0"/>
              <a:t>t</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28015" y="762114"/>
            <a:ext cx="8087969" cy="850900"/>
          </a:xfrm>
          <a:prstGeom prst="rect">
            <a:avLst/>
          </a:prstGeom>
        </p:spPr>
        <p:txBody>
          <a:bodyPr wrap="square" lIns="0" tIns="0" rIns="0" bIns="0">
            <a:spAutoFit/>
          </a:bodyPr>
          <a:lstStyle>
            <a:lvl1pPr>
              <a:defRPr sz="3000" b="0" i="0">
                <a:solidFill>
                  <a:schemeClr val="tx1"/>
                </a:solidFill>
                <a:latin typeface="Calibri"/>
                <a:cs typeface="Calibri"/>
              </a:defRPr>
            </a:lvl1pPr>
          </a:lstStyle>
          <a:p>
            <a:endParaRPr/>
          </a:p>
        </p:txBody>
      </p:sp>
      <p:sp>
        <p:nvSpPr>
          <p:cNvPr id="3" name="Holder 3"/>
          <p:cNvSpPr>
            <a:spLocks noGrp="1"/>
          </p:cNvSpPr>
          <p:nvPr>
            <p:ph type="body" idx="1"/>
          </p:nvPr>
        </p:nvSpPr>
        <p:spPr>
          <a:xfrm>
            <a:off x="531825" y="1607121"/>
            <a:ext cx="8080349" cy="44208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6725" y="6330324"/>
            <a:ext cx="365759" cy="179070"/>
          </a:xfrm>
          <a:prstGeom prst="rect">
            <a:avLst/>
          </a:prstGeom>
        </p:spPr>
        <p:txBody>
          <a:bodyPr wrap="square" lIns="0" tIns="0" rIns="0" bIns="0">
            <a:spAutoFit/>
          </a:bodyPr>
          <a:lstStyle>
            <a:lvl1pPr>
              <a:defRPr sz="1200" b="0" i="0">
                <a:solidFill>
                  <a:schemeClr val="tx1"/>
                </a:solidFill>
                <a:latin typeface="Calibri"/>
                <a:cs typeface="Calibri"/>
              </a:defRPr>
            </a:lvl1pPr>
          </a:lstStyle>
          <a:p>
            <a:pPr marL="12700">
              <a:lnSpc>
                <a:spcPts val="1245"/>
              </a:lnSpc>
            </a:pPr>
            <a:r>
              <a:rPr spc="-55" dirty="0"/>
              <a:t>R</a:t>
            </a:r>
            <a:r>
              <a:rPr dirty="0"/>
              <a:t>e</a:t>
            </a:r>
            <a:r>
              <a:rPr spc="-10" dirty="0"/>
              <a:t>a</a:t>
            </a:r>
            <a:r>
              <a:rPr spc="-15" dirty="0"/>
              <a:t>c</a:t>
            </a:r>
            <a:r>
              <a:rPr dirty="0"/>
              <a:t>t</a:t>
            </a:r>
          </a:p>
        </p:txBody>
      </p:sp>
      <p:sp>
        <p:nvSpPr>
          <p:cNvPr id="5" name="Holder 5"/>
          <p:cNvSpPr>
            <a:spLocks noGrp="1"/>
          </p:cNvSpPr>
          <p:nvPr>
            <p:ph type="dt" sz="half" idx="6"/>
          </p:nvPr>
        </p:nvSpPr>
        <p:spPr>
          <a:xfrm>
            <a:off x="457200" y="6383845"/>
            <a:ext cx="2103120" cy="34321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10/8/2025</a:t>
            </a:fld>
            <a:endParaRPr lang="en-US"/>
          </a:p>
        </p:txBody>
      </p:sp>
      <p:sp>
        <p:nvSpPr>
          <p:cNvPr id="6" name="Holder 6"/>
          <p:cNvSpPr>
            <a:spLocks noGrp="1"/>
          </p:cNvSpPr>
          <p:nvPr>
            <p:ph type="sldNum" sz="quarter" idx="7"/>
          </p:nvPr>
        </p:nvSpPr>
        <p:spPr>
          <a:xfrm>
            <a:off x="6583680" y="6383845"/>
            <a:ext cx="2103120" cy="34321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29253" y="2483053"/>
            <a:ext cx="1285240" cy="696595"/>
          </a:xfrm>
          <a:prstGeom prst="rect">
            <a:avLst/>
          </a:prstGeom>
        </p:spPr>
        <p:txBody>
          <a:bodyPr vert="horz" wrap="square" lIns="0" tIns="12700" rIns="0" bIns="0" rtlCol="0">
            <a:spAutoFit/>
          </a:bodyPr>
          <a:lstStyle/>
          <a:p>
            <a:pPr marL="12700">
              <a:lnSpc>
                <a:spcPct val="100000"/>
              </a:lnSpc>
              <a:spcBef>
                <a:spcPts val="100"/>
              </a:spcBef>
            </a:pPr>
            <a:r>
              <a:rPr sz="4400" spc="-85" dirty="0">
                <a:latin typeface="Calibri"/>
                <a:cs typeface="Calibri"/>
              </a:rPr>
              <a:t>R</a:t>
            </a:r>
            <a:r>
              <a:rPr sz="4400" dirty="0">
                <a:latin typeface="Calibri"/>
                <a:cs typeface="Calibri"/>
              </a:rPr>
              <a:t>ea</a:t>
            </a:r>
            <a:r>
              <a:rPr sz="4400" spc="-25" dirty="0">
                <a:latin typeface="Calibri"/>
                <a:cs typeface="Calibri"/>
              </a:rPr>
              <a:t>c</a:t>
            </a:r>
            <a:r>
              <a:rPr sz="4400" dirty="0">
                <a:latin typeface="Calibri"/>
                <a:cs typeface="Calibri"/>
              </a:rPr>
              <a:t>t</a:t>
            </a:r>
            <a:endParaRPr sz="4400">
              <a:latin typeface="Calibri"/>
              <a:cs typeface="Calibri"/>
            </a:endParaRPr>
          </a:p>
        </p:txBody>
      </p:sp>
      <p:pic>
        <p:nvPicPr>
          <p:cNvPr id="4" name="object 4"/>
          <p:cNvPicPr/>
          <p:nvPr/>
        </p:nvPicPr>
        <p:blipFill>
          <a:blip r:embed="rId2" cstate="print"/>
          <a:stretch>
            <a:fillRect/>
          </a:stretch>
        </p:blipFill>
        <p:spPr>
          <a:xfrm>
            <a:off x="6550840" y="4803349"/>
            <a:ext cx="1911623" cy="1700130"/>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95014" y="889965"/>
            <a:ext cx="1558290" cy="696595"/>
          </a:xfrm>
          <a:prstGeom prst="rect">
            <a:avLst/>
          </a:prstGeom>
        </p:spPr>
        <p:txBody>
          <a:bodyPr vert="horz" wrap="square" lIns="0" tIns="12700" rIns="0" bIns="0" rtlCol="0">
            <a:spAutoFit/>
          </a:bodyPr>
          <a:lstStyle/>
          <a:p>
            <a:pPr marL="12700">
              <a:lnSpc>
                <a:spcPct val="100000"/>
              </a:lnSpc>
              <a:spcBef>
                <a:spcPts val="100"/>
              </a:spcBef>
            </a:pPr>
            <a:r>
              <a:rPr sz="4400" spc="-120" dirty="0"/>
              <a:t>R</a:t>
            </a:r>
            <a:r>
              <a:rPr sz="4400" spc="-5" dirty="0"/>
              <a:t>o</a:t>
            </a:r>
            <a:r>
              <a:rPr sz="4400" spc="-15" dirty="0"/>
              <a:t>u</a:t>
            </a:r>
            <a:r>
              <a:rPr sz="4400" spc="-25" dirty="0"/>
              <a:t>t</a:t>
            </a:r>
            <a:r>
              <a:rPr sz="4400" dirty="0"/>
              <a:t>er</a:t>
            </a:r>
            <a:endParaRPr sz="4400"/>
          </a:p>
        </p:txBody>
      </p:sp>
      <p:sp>
        <p:nvSpPr>
          <p:cNvPr id="3" name="object 3"/>
          <p:cNvSpPr txBox="1"/>
          <p:nvPr/>
        </p:nvSpPr>
        <p:spPr>
          <a:xfrm>
            <a:off x="536244" y="1634172"/>
            <a:ext cx="8072120" cy="4217670"/>
          </a:xfrm>
          <a:prstGeom prst="rect">
            <a:avLst/>
          </a:prstGeom>
        </p:spPr>
        <p:txBody>
          <a:bodyPr vert="horz" wrap="square" lIns="0" tIns="60325" rIns="0" bIns="0" rtlCol="0">
            <a:spAutoFit/>
          </a:bodyPr>
          <a:lstStyle/>
          <a:p>
            <a:pPr marL="12700" marR="5080" algn="just">
              <a:lnSpc>
                <a:spcPct val="90000"/>
              </a:lnSpc>
              <a:spcBef>
                <a:spcPts val="475"/>
              </a:spcBef>
            </a:pPr>
            <a:r>
              <a:rPr sz="3200" dirty="0">
                <a:latin typeface="Calibri"/>
                <a:cs typeface="Calibri"/>
              </a:rPr>
              <a:t>Fino</a:t>
            </a:r>
            <a:r>
              <a:rPr sz="3200" spc="5" dirty="0">
                <a:latin typeface="Calibri"/>
                <a:cs typeface="Calibri"/>
              </a:rPr>
              <a:t> </a:t>
            </a:r>
            <a:r>
              <a:rPr sz="3200" spc="-5" dirty="0">
                <a:latin typeface="Calibri"/>
                <a:cs typeface="Calibri"/>
              </a:rPr>
              <a:t>a</a:t>
            </a:r>
            <a:r>
              <a:rPr sz="3200" dirty="0">
                <a:latin typeface="Calibri"/>
                <a:cs typeface="Calibri"/>
              </a:rPr>
              <a:t> </a:t>
            </a:r>
            <a:r>
              <a:rPr sz="3200" spc="-20" dirty="0">
                <a:latin typeface="Calibri"/>
                <a:cs typeface="Calibri"/>
              </a:rPr>
              <a:t>questo</a:t>
            </a:r>
            <a:r>
              <a:rPr sz="3200" spc="-15" dirty="0">
                <a:latin typeface="Calibri"/>
                <a:cs typeface="Calibri"/>
              </a:rPr>
              <a:t> </a:t>
            </a:r>
            <a:r>
              <a:rPr sz="3200" spc="-10" dirty="0">
                <a:latin typeface="Calibri"/>
                <a:cs typeface="Calibri"/>
              </a:rPr>
              <a:t>momento</a:t>
            </a:r>
            <a:r>
              <a:rPr sz="3200" spc="-5" dirty="0">
                <a:latin typeface="Calibri"/>
                <a:cs typeface="Calibri"/>
              </a:rPr>
              <a:t> ci</a:t>
            </a:r>
            <a:r>
              <a:rPr sz="3200" dirty="0">
                <a:latin typeface="Calibri"/>
                <a:cs typeface="Calibri"/>
              </a:rPr>
              <a:t> siamo</a:t>
            </a:r>
            <a:r>
              <a:rPr sz="3200" spc="5" dirty="0">
                <a:latin typeface="Calibri"/>
                <a:cs typeface="Calibri"/>
              </a:rPr>
              <a:t> </a:t>
            </a:r>
            <a:r>
              <a:rPr sz="3200" spc="-10" dirty="0">
                <a:latin typeface="Calibri"/>
                <a:cs typeface="Calibri"/>
              </a:rPr>
              <a:t>limitati</a:t>
            </a:r>
            <a:r>
              <a:rPr sz="3200" spc="700" dirty="0">
                <a:latin typeface="Calibri"/>
                <a:cs typeface="Calibri"/>
              </a:rPr>
              <a:t> </a:t>
            </a:r>
            <a:r>
              <a:rPr sz="3200" spc="-10" dirty="0">
                <a:latin typeface="Calibri"/>
                <a:cs typeface="Calibri"/>
              </a:rPr>
              <a:t>ad </a:t>
            </a:r>
            <a:r>
              <a:rPr sz="3200" spc="-5" dirty="0">
                <a:latin typeface="Calibri"/>
                <a:cs typeface="Calibri"/>
              </a:rPr>
              <a:t> </a:t>
            </a:r>
            <a:r>
              <a:rPr sz="3200" spc="-30" dirty="0">
                <a:latin typeface="Calibri"/>
                <a:cs typeface="Calibri"/>
              </a:rPr>
              <a:t>avere</a:t>
            </a:r>
            <a:r>
              <a:rPr sz="3200" spc="-25" dirty="0">
                <a:latin typeface="Calibri"/>
                <a:cs typeface="Calibri"/>
              </a:rPr>
              <a:t> </a:t>
            </a:r>
            <a:r>
              <a:rPr sz="3200" spc="-5" dirty="0">
                <a:latin typeface="Calibri"/>
                <a:cs typeface="Calibri"/>
              </a:rPr>
              <a:t>e</a:t>
            </a:r>
            <a:r>
              <a:rPr sz="3200" dirty="0">
                <a:latin typeface="Calibri"/>
                <a:cs typeface="Calibri"/>
              </a:rPr>
              <a:t> </a:t>
            </a:r>
            <a:r>
              <a:rPr sz="3200" spc="-25" dirty="0">
                <a:latin typeface="Calibri"/>
                <a:cs typeface="Calibri"/>
              </a:rPr>
              <a:t>gestire</a:t>
            </a:r>
            <a:r>
              <a:rPr sz="3200" spc="-20" dirty="0">
                <a:latin typeface="Calibri"/>
                <a:cs typeface="Calibri"/>
              </a:rPr>
              <a:t> </a:t>
            </a:r>
            <a:r>
              <a:rPr sz="3200" dirty="0">
                <a:latin typeface="Calibri"/>
                <a:cs typeface="Calibri"/>
              </a:rPr>
              <a:t>una</a:t>
            </a:r>
            <a:r>
              <a:rPr sz="3200" spc="5" dirty="0">
                <a:latin typeface="Calibri"/>
                <a:cs typeface="Calibri"/>
              </a:rPr>
              <a:t> </a:t>
            </a:r>
            <a:r>
              <a:rPr sz="3200" dirty="0">
                <a:latin typeface="Calibri"/>
                <a:cs typeface="Calibri"/>
              </a:rPr>
              <a:t>sola</a:t>
            </a:r>
            <a:r>
              <a:rPr sz="3200" spc="5" dirty="0">
                <a:latin typeface="Calibri"/>
                <a:cs typeface="Calibri"/>
              </a:rPr>
              <a:t> </a:t>
            </a:r>
            <a:r>
              <a:rPr sz="3200" spc="-5" dirty="0">
                <a:latin typeface="Calibri"/>
                <a:cs typeface="Calibri"/>
              </a:rPr>
              <a:t>pagina.</a:t>
            </a:r>
            <a:r>
              <a:rPr sz="3200" dirty="0">
                <a:latin typeface="Calibri"/>
                <a:cs typeface="Calibri"/>
              </a:rPr>
              <a:t> </a:t>
            </a:r>
            <a:r>
              <a:rPr sz="3200" spc="-5" dirty="0">
                <a:latin typeface="Calibri"/>
                <a:cs typeface="Calibri"/>
              </a:rPr>
              <a:t>Ma</a:t>
            </a:r>
            <a:r>
              <a:rPr sz="3200" dirty="0">
                <a:latin typeface="Calibri"/>
                <a:cs typeface="Calibri"/>
              </a:rPr>
              <a:t> </a:t>
            </a:r>
            <a:r>
              <a:rPr sz="3200" spc="-10" dirty="0">
                <a:latin typeface="Calibri"/>
                <a:cs typeface="Calibri"/>
              </a:rPr>
              <a:t>React</a:t>
            </a:r>
            <a:r>
              <a:rPr sz="3200" spc="-5" dirty="0">
                <a:latin typeface="Calibri"/>
                <a:cs typeface="Calibri"/>
              </a:rPr>
              <a:t> </a:t>
            </a:r>
            <a:r>
              <a:rPr sz="3200" spc="-10" dirty="0">
                <a:latin typeface="Calibri"/>
                <a:cs typeface="Calibri"/>
              </a:rPr>
              <a:t>ci </a:t>
            </a:r>
            <a:r>
              <a:rPr sz="3200" spc="-5" dirty="0">
                <a:latin typeface="Calibri"/>
                <a:cs typeface="Calibri"/>
              </a:rPr>
              <a:t> </a:t>
            </a:r>
            <a:r>
              <a:rPr sz="3200" spc="-20" dirty="0">
                <a:latin typeface="Calibri"/>
                <a:cs typeface="Calibri"/>
              </a:rPr>
              <a:t>permette</a:t>
            </a:r>
            <a:r>
              <a:rPr sz="3200" spc="-15" dirty="0">
                <a:latin typeface="Calibri"/>
                <a:cs typeface="Calibri"/>
              </a:rPr>
              <a:t> </a:t>
            </a:r>
            <a:r>
              <a:rPr sz="3200" spc="-10" dirty="0">
                <a:latin typeface="Calibri"/>
                <a:cs typeface="Calibri"/>
              </a:rPr>
              <a:t>di</a:t>
            </a:r>
            <a:r>
              <a:rPr sz="3200" spc="-5" dirty="0">
                <a:latin typeface="Calibri"/>
                <a:cs typeface="Calibri"/>
              </a:rPr>
              <a:t> </a:t>
            </a:r>
            <a:r>
              <a:rPr sz="3200" spc="-25" dirty="0">
                <a:latin typeface="Calibri"/>
                <a:cs typeface="Calibri"/>
              </a:rPr>
              <a:t>gestire</a:t>
            </a:r>
            <a:r>
              <a:rPr sz="3200" spc="-20" dirty="0">
                <a:latin typeface="Calibri"/>
                <a:cs typeface="Calibri"/>
              </a:rPr>
              <a:t> </a:t>
            </a:r>
            <a:r>
              <a:rPr sz="3200" spc="5" dirty="0">
                <a:latin typeface="Calibri"/>
                <a:cs typeface="Calibri"/>
              </a:rPr>
              <a:t>più</a:t>
            </a:r>
            <a:r>
              <a:rPr sz="3200" spc="10" dirty="0">
                <a:latin typeface="Calibri"/>
                <a:cs typeface="Calibri"/>
              </a:rPr>
              <a:t> </a:t>
            </a:r>
            <a:r>
              <a:rPr sz="3200" spc="-5" dirty="0">
                <a:latin typeface="Calibri"/>
                <a:cs typeface="Calibri"/>
              </a:rPr>
              <a:t>pagine</a:t>
            </a:r>
            <a:r>
              <a:rPr sz="3200" dirty="0">
                <a:latin typeface="Calibri"/>
                <a:cs typeface="Calibri"/>
              </a:rPr>
              <a:t> </a:t>
            </a:r>
            <a:r>
              <a:rPr sz="3200" spc="-35" dirty="0">
                <a:latin typeface="Calibri"/>
                <a:cs typeface="Calibri"/>
              </a:rPr>
              <a:t>attraverso</a:t>
            </a:r>
            <a:r>
              <a:rPr sz="3200" spc="-30" dirty="0">
                <a:latin typeface="Calibri"/>
                <a:cs typeface="Calibri"/>
              </a:rPr>
              <a:t> </a:t>
            </a:r>
            <a:r>
              <a:rPr sz="3200" spc="5" dirty="0">
                <a:latin typeface="Calibri"/>
                <a:cs typeface="Calibri"/>
              </a:rPr>
              <a:t>la </a:t>
            </a:r>
            <a:r>
              <a:rPr sz="3200" spc="10" dirty="0">
                <a:latin typeface="Calibri"/>
                <a:cs typeface="Calibri"/>
              </a:rPr>
              <a:t> </a:t>
            </a:r>
            <a:r>
              <a:rPr sz="3200" spc="-10" dirty="0">
                <a:latin typeface="Calibri"/>
                <a:cs typeface="Calibri"/>
              </a:rPr>
              <a:t>libreria</a:t>
            </a:r>
            <a:r>
              <a:rPr sz="3200" spc="25" dirty="0">
                <a:latin typeface="Calibri"/>
                <a:cs typeface="Calibri"/>
              </a:rPr>
              <a:t> </a:t>
            </a:r>
            <a:r>
              <a:rPr sz="3200" b="1" spc="-25" dirty="0">
                <a:solidFill>
                  <a:srgbClr val="FF0000"/>
                </a:solidFill>
                <a:latin typeface="Calibri"/>
                <a:cs typeface="Calibri"/>
              </a:rPr>
              <a:t>Router</a:t>
            </a:r>
            <a:r>
              <a:rPr sz="3200" spc="-25" dirty="0">
                <a:latin typeface="Calibri"/>
                <a:cs typeface="Calibri"/>
              </a:rPr>
              <a:t>.</a:t>
            </a:r>
            <a:endParaRPr sz="3200" dirty="0">
              <a:latin typeface="Calibri"/>
              <a:cs typeface="Calibri"/>
            </a:endParaRPr>
          </a:p>
          <a:p>
            <a:pPr>
              <a:lnSpc>
                <a:spcPct val="100000"/>
              </a:lnSpc>
              <a:spcBef>
                <a:spcPts val="55"/>
              </a:spcBef>
            </a:pPr>
            <a:endParaRPr sz="4050" dirty="0">
              <a:latin typeface="Calibri"/>
              <a:cs typeface="Calibri"/>
            </a:endParaRPr>
          </a:p>
          <a:p>
            <a:pPr marL="12700" marR="5080" algn="just">
              <a:lnSpc>
                <a:spcPct val="89900"/>
              </a:lnSpc>
            </a:pPr>
            <a:r>
              <a:rPr sz="3200" spc="-20" dirty="0">
                <a:latin typeface="Calibri"/>
                <a:cs typeface="Calibri"/>
              </a:rPr>
              <a:t>Questa </a:t>
            </a:r>
            <a:r>
              <a:rPr sz="3200" spc="-10" dirty="0">
                <a:latin typeface="Calibri"/>
                <a:cs typeface="Calibri"/>
              </a:rPr>
              <a:t>libreria </a:t>
            </a:r>
            <a:r>
              <a:rPr sz="3200" spc="-5" dirty="0">
                <a:latin typeface="Calibri"/>
                <a:cs typeface="Calibri"/>
              </a:rPr>
              <a:t>non è </a:t>
            </a:r>
            <a:r>
              <a:rPr sz="3200" spc="-20" dirty="0">
                <a:latin typeface="Calibri"/>
                <a:cs typeface="Calibri"/>
              </a:rPr>
              <a:t>presente </a:t>
            </a:r>
            <a:r>
              <a:rPr sz="3200" spc="-10" dirty="0">
                <a:latin typeface="Calibri"/>
                <a:cs typeface="Calibri"/>
              </a:rPr>
              <a:t>di </a:t>
            </a:r>
            <a:r>
              <a:rPr sz="3200" spc="-20" dirty="0">
                <a:latin typeface="Calibri"/>
                <a:cs typeface="Calibri"/>
              </a:rPr>
              <a:t>default </a:t>
            </a:r>
            <a:r>
              <a:rPr sz="3200" spc="-5" dirty="0">
                <a:latin typeface="Calibri"/>
                <a:cs typeface="Calibri"/>
              </a:rPr>
              <a:t>nella </a:t>
            </a:r>
            <a:r>
              <a:rPr sz="3200" dirty="0">
                <a:latin typeface="Calibri"/>
                <a:cs typeface="Calibri"/>
              </a:rPr>
              <a:t> </a:t>
            </a:r>
            <a:r>
              <a:rPr sz="3200" spc="-10" dirty="0">
                <a:latin typeface="Calibri"/>
                <a:cs typeface="Calibri"/>
              </a:rPr>
              <a:t>libreria</a:t>
            </a:r>
            <a:r>
              <a:rPr sz="3200" spc="-5" dirty="0">
                <a:latin typeface="Calibri"/>
                <a:cs typeface="Calibri"/>
              </a:rPr>
              <a:t> </a:t>
            </a:r>
            <a:r>
              <a:rPr sz="3200" spc="-15" dirty="0">
                <a:latin typeface="Calibri"/>
                <a:cs typeface="Calibri"/>
              </a:rPr>
              <a:t>React,</a:t>
            </a:r>
            <a:r>
              <a:rPr sz="3200" spc="-10" dirty="0">
                <a:latin typeface="Calibri"/>
                <a:cs typeface="Calibri"/>
              </a:rPr>
              <a:t> quindi</a:t>
            </a:r>
            <a:r>
              <a:rPr sz="3200" spc="-5" dirty="0">
                <a:latin typeface="Calibri"/>
                <a:cs typeface="Calibri"/>
              </a:rPr>
              <a:t> </a:t>
            </a:r>
            <a:r>
              <a:rPr sz="3200" spc="-20" dirty="0">
                <a:latin typeface="Calibri"/>
                <a:cs typeface="Calibri"/>
              </a:rPr>
              <a:t>va</a:t>
            </a:r>
            <a:r>
              <a:rPr sz="3200" spc="-15" dirty="0">
                <a:latin typeface="Calibri"/>
                <a:cs typeface="Calibri"/>
              </a:rPr>
              <a:t> </a:t>
            </a:r>
            <a:r>
              <a:rPr sz="3200" spc="-10" dirty="0">
                <a:latin typeface="Calibri"/>
                <a:cs typeface="Calibri"/>
              </a:rPr>
              <a:t>importata</a:t>
            </a:r>
            <a:r>
              <a:rPr sz="3200" spc="-5" dirty="0">
                <a:latin typeface="Calibri"/>
                <a:cs typeface="Calibri"/>
              </a:rPr>
              <a:t> a</a:t>
            </a:r>
            <a:r>
              <a:rPr sz="3200" dirty="0">
                <a:latin typeface="Calibri"/>
                <a:cs typeface="Calibri"/>
              </a:rPr>
              <a:t> </a:t>
            </a:r>
            <a:r>
              <a:rPr sz="3200" spc="-5" dirty="0">
                <a:latin typeface="Calibri"/>
                <a:cs typeface="Calibri"/>
              </a:rPr>
              <a:t>livello</a:t>
            </a:r>
            <a:r>
              <a:rPr sz="3200" dirty="0">
                <a:latin typeface="Calibri"/>
                <a:cs typeface="Calibri"/>
              </a:rPr>
              <a:t> </a:t>
            </a:r>
            <a:r>
              <a:rPr sz="3200" spc="-20" dirty="0">
                <a:latin typeface="Calibri"/>
                <a:cs typeface="Calibri"/>
              </a:rPr>
              <a:t>di </a:t>
            </a:r>
            <a:r>
              <a:rPr sz="3200" spc="-710" dirty="0">
                <a:latin typeface="Calibri"/>
                <a:cs typeface="Calibri"/>
              </a:rPr>
              <a:t> </a:t>
            </a:r>
            <a:r>
              <a:rPr sz="3200" spc="-30" dirty="0">
                <a:latin typeface="Calibri"/>
                <a:cs typeface="Calibri"/>
              </a:rPr>
              <a:t>progetto </a:t>
            </a:r>
            <a:r>
              <a:rPr sz="3200" spc="-5" dirty="0">
                <a:latin typeface="Calibri"/>
                <a:cs typeface="Calibri"/>
              </a:rPr>
              <a:t>e </a:t>
            </a:r>
            <a:r>
              <a:rPr sz="3200" spc="-10" dirty="0">
                <a:latin typeface="Calibri"/>
                <a:cs typeface="Calibri"/>
              </a:rPr>
              <a:t>quindi </a:t>
            </a:r>
            <a:r>
              <a:rPr sz="3200" spc="-5" dirty="0">
                <a:latin typeface="Calibri"/>
                <a:cs typeface="Calibri"/>
              </a:rPr>
              <a:t>aggiunta </a:t>
            </a:r>
            <a:r>
              <a:rPr sz="3200" spc="-10" dirty="0">
                <a:latin typeface="Calibri"/>
                <a:cs typeface="Calibri"/>
              </a:rPr>
              <a:t>nel </a:t>
            </a:r>
            <a:r>
              <a:rPr sz="3200" spc="-5" dirty="0">
                <a:latin typeface="Calibri"/>
                <a:cs typeface="Calibri"/>
              </a:rPr>
              <a:t>file </a:t>
            </a:r>
            <a:r>
              <a:rPr sz="3200" b="1" spc="-10" dirty="0">
                <a:solidFill>
                  <a:srgbClr val="FF0000"/>
                </a:solidFill>
                <a:latin typeface="Calibri"/>
                <a:cs typeface="Calibri"/>
              </a:rPr>
              <a:t>package.json</a:t>
            </a:r>
            <a:r>
              <a:rPr sz="3200" spc="-10" dirty="0">
                <a:latin typeface="Calibri"/>
                <a:cs typeface="Calibri"/>
              </a:rPr>
              <a:t>. </a:t>
            </a:r>
            <a:r>
              <a:rPr sz="3200" spc="-5" dirty="0">
                <a:latin typeface="Calibri"/>
                <a:cs typeface="Calibri"/>
              </a:rPr>
              <a:t> </a:t>
            </a:r>
            <a:r>
              <a:rPr sz="3200" spc="-10" dirty="0">
                <a:latin typeface="Calibri"/>
                <a:cs typeface="Calibri"/>
              </a:rPr>
              <a:t>Andiamo</a:t>
            </a:r>
            <a:r>
              <a:rPr sz="3200" spc="70" dirty="0">
                <a:latin typeface="Calibri"/>
                <a:cs typeface="Calibri"/>
              </a:rPr>
              <a:t> </a:t>
            </a:r>
            <a:r>
              <a:rPr sz="3200" spc="-10" dirty="0">
                <a:latin typeface="Calibri"/>
                <a:cs typeface="Calibri"/>
              </a:rPr>
              <a:t>su</a:t>
            </a:r>
            <a:r>
              <a:rPr sz="3200" spc="5" dirty="0">
                <a:latin typeface="Calibri"/>
                <a:cs typeface="Calibri"/>
              </a:rPr>
              <a:t> </a:t>
            </a:r>
            <a:r>
              <a:rPr sz="3200" spc="-20" dirty="0">
                <a:latin typeface="Calibri"/>
                <a:cs typeface="Calibri"/>
              </a:rPr>
              <a:t>google</a:t>
            </a:r>
            <a:r>
              <a:rPr sz="3200" spc="105" dirty="0">
                <a:latin typeface="Calibri"/>
                <a:cs typeface="Calibri"/>
              </a:rPr>
              <a:t> </a:t>
            </a:r>
            <a:r>
              <a:rPr sz="3200" spc="-5" dirty="0">
                <a:latin typeface="Calibri"/>
                <a:cs typeface="Calibri"/>
              </a:rPr>
              <a:t>e</a:t>
            </a:r>
            <a:r>
              <a:rPr sz="3200" spc="-10" dirty="0">
                <a:latin typeface="Calibri"/>
                <a:cs typeface="Calibri"/>
              </a:rPr>
              <a:t> cerchiamo</a:t>
            </a:r>
            <a:r>
              <a:rPr sz="3200" spc="30" dirty="0">
                <a:latin typeface="Calibri"/>
                <a:cs typeface="Calibri"/>
              </a:rPr>
              <a:t> </a:t>
            </a:r>
            <a:r>
              <a:rPr sz="3200" spc="-15" dirty="0">
                <a:latin typeface="Calibri"/>
                <a:cs typeface="Calibri"/>
              </a:rPr>
              <a:t>«react</a:t>
            </a:r>
            <a:r>
              <a:rPr sz="3200" spc="10" dirty="0">
                <a:latin typeface="Calibri"/>
                <a:cs typeface="Calibri"/>
              </a:rPr>
              <a:t> </a:t>
            </a:r>
            <a:r>
              <a:rPr sz="3200" spc="-25" dirty="0">
                <a:latin typeface="Calibri"/>
                <a:cs typeface="Calibri"/>
              </a:rPr>
              <a:t>router»</a:t>
            </a:r>
            <a:endParaRPr sz="3200" dirty="0">
              <a:latin typeface="Calibri"/>
              <a:cs typeface="Calibri"/>
            </a:endParaRPr>
          </a:p>
        </p:txBody>
      </p:sp>
      <p:sp>
        <p:nvSpPr>
          <p:cNvPr id="4" name="object 4"/>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pic>
        <p:nvPicPr>
          <p:cNvPr id="4" name="Immagine 3">
            <a:extLst>
              <a:ext uri="{FF2B5EF4-FFF2-40B4-BE49-F238E27FC236}">
                <a16:creationId xmlns:a16="http://schemas.microsoft.com/office/drawing/2014/main" id="{40D0F433-AA1F-4EBA-ACBB-9DBF132A6296}"/>
              </a:ext>
            </a:extLst>
          </p:cNvPr>
          <p:cNvPicPr>
            <a:picLocks noChangeAspect="1"/>
          </p:cNvPicPr>
          <p:nvPr/>
        </p:nvPicPr>
        <p:blipFill>
          <a:blip r:embed="rId2"/>
          <a:stretch>
            <a:fillRect/>
          </a:stretch>
        </p:blipFill>
        <p:spPr>
          <a:xfrm>
            <a:off x="0" y="1374775"/>
            <a:ext cx="9144000" cy="47763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92855" y="739140"/>
            <a:ext cx="1558290" cy="696595"/>
          </a:xfrm>
          <a:prstGeom prst="rect">
            <a:avLst/>
          </a:prstGeom>
        </p:spPr>
        <p:txBody>
          <a:bodyPr vert="horz" wrap="square" lIns="0" tIns="12700" rIns="0" bIns="0" rtlCol="0">
            <a:spAutoFit/>
          </a:bodyPr>
          <a:lstStyle/>
          <a:p>
            <a:pPr marL="12700">
              <a:lnSpc>
                <a:spcPct val="100000"/>
              </a:lnSpc>
              <a:spcBef>
                <a:spcPts val="100"/>
              </a:spcBef>
            </a:pPr>
            <a:r>
              <a:rPr sz="4400" spc="-120" dirty="0"/>
              <a:t>R</a:t>
            </a:r>
            <a:r>
              <a:rPr sz="4400" spc="-5" dirty="0"/>
              <a:t>o</a:t>
            </a:r>
            <a:r>
              <a:rPr sz="4400" spc="-15" dirty="0"/>
              <a:t>u</a:t>
            </a:r>
            <a:r>
              <a:rPr sz="4400" spc="-25" dirty="0"/>
              <a:t>t</a:t>
            </a:r>
            <a:r>
              <a:rPr sz="4400" dirty="0"/>
              <a:t>er</a:t>
            </a:r>
            <a:endParaRPr sz="4400"/>
          </a:p>
        </p:txBody>
      </p:sp>
      <p:sp>
        <p:nvSpPr>
          <p:cNvPr id="3" name="object 3"/>
          <p:cNvSpPr txBox="1"/>
          <p:nvPr/>
        </p:nvSpPr>
        <p:spPr>
          <a:xfrm>
            <a:off x="535940" y="1434428"/>
            <a:ext cx="8072120" cy="4492897"/>
          </a:xfrm>
          <a:prstGeom prst="rect">
            <a:avLst/>
          </a:prstGeom>
        </p:spPr>
        <p:txBody>
          <a:bodyPr vert="horz" wrap="square" lIns="0" tIns="60325" rIns="0" bIns="0" rtlCol="0">
            <a:spAutoFit/>
          </a:bodyPr>
          <a:lstStyle/>
          <a:p>
            <a:pPr marL="12700" marR="5080" algn="just">
              <a:lnSpc>
                <a:spcPct val="90000"/>
              </a:lnSpc>
              <a:spcBef>
                <a:spcPts val="475"/>
              </a:spcBef>
            </a:pPr>
            <a:r>
              <a:rPr lang="it-IT" sz="3200" dirty="0">
                <a:cs typeface="Calibri"/>
              </a:rPr>
              <a:t>Le </a:t>
            </a:r>
            <a:r>
              <a:rPr lang="it-IT" sz="3200" dirty="0" err="1">
                <a:cs typeface="Calibri"/>
              </a:rPr>
              <a:t>route</a:t>
            </a:r>
            <a:r>
              <a:rPr lang="it-IT" sz="3200" dirty="0">
                <a:cs typeface="Calibri"/>
              </a:rPr>
              <a:t> in </a:t>
            </a:r>
            <a:r>
              <a:rPr lang="it-IT" sz="3200" dirty="0" err="1">
                <a:cs typeface="Calibri"/>
              </a:rPr>
              <a:t>React</a:t>
            </a:r>
            <a:r>
              <a:rPr lang="it-IT" sz="3200" dirty="0">
                <a:cs typeface="Calibri"/>
              </a:rPr>
              <a:t> si riferiscono alla gestione delle rotte (o percorsi) in un'applicazione web single-page (SPA). In una SPA, invece di caricare nuove pagine dal server, il contenuto viene caricato dinamicamente all'interno della stessa pagina. Questo approccio richiede un sistema per gestire le diverse "viste" o "componenti" che corrispondono a specifici URL, cosa che in un'applicazione </a:t>
            </a:r>
            <a:r>
              <a:rPr lang="it-IT" sz="3200" dirty="0" err="1">
                <a:cs typeface="Calibri"/>
              </a:rPr>
              <a:t>React</a:t>
            </a:r>
            <a:r>
              <a:rPr lang="it-IT" sz="3200" dirty="0">
                <a:cs typeface="Calibri"/>
              </a:rPr>
              <a:t> è gestita tipicamente dalla libreria </a:t>
            </a:r>
            <a:r>
              <a:rPr lang="it-IT" sz="3200" dirty="0" err="1">
                <a:cs typeface="Calibri"/>
              </a:rPr>
              <a:t>react</a:t>
            </a:r>
            <a:r>
              <a:rPr lang="it-IT" sz="3200" dirty="0">
                <a:cs typeface="Calibri"/>
              </a:rPr>
              <a:t>-router.</a:t>
            </a:r>
          </a:p>
        </p:txBody>
      </p:sp>
      <p:sp>
        <p:nvSpPr>
          <p:cNvPr id="4" name="object 4"/>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Tree>
    <p:extLst>
      <p:ext uri="{BB962C8B-B14F-4D97-AF65-F5344CB8AC3E}">
        <p14:creationId xmlns:p14="http://schemas.microsoft.com/office/powerpoint/2010/main" val="870523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92855" y="739140"/>
            <a:ext cx="1558290" cy="696595"/>
          </a:xfrm>
          <a:prstGeom prst="rect">
            <a:avLst/>
          </a:prstGeom>
        </p:spPr>
        <p:txBody>
          <a:bodyPr vert="horz" wrap="square" lIns="0" tIns="12700" rIns="0" bIns="0" rtlCol="0">
            <a:spAutoFit/>
          </a:bodyPr>
          <a:lstStyle/>
          <a:p>
            <a:pPr marL="12700">
              <a:lnSpc>
                <a:spcPct val="100000"/>
              </a:lnSpc>
              <a:spcBef>
                <a:spcPts val="100"/>
              </a:spcBef>
            </a:pPr>
            <a:r>
              <a:rPr sz="4400" spc="-120" dirty="0"/>
              <a:t>R</a:t>
            </a:r>
            <a:r>
              <a:rPr sz="4400" spc="-5" dirty="0"/>
              <a:t>o</a:t>
            </a:r>
            <a:r>
              <a:rPr sz="4400" spc="-15" dirty="0"/>
              <a:t>u</a:t>
            </a:r>
            <a:r>
              <a:rPr sz="4400" spc="-25" dirty="0"/>
              <a:t>t</a:t>
            </a:r>
            <a:r>
              <a:rPr sz="4400" dirty="0"/>
              <a:t>er</a:t>
            </a:r>
            <a:endParaRPr sz="4400"/>
          </a:p>
        </p:txBody>
      </p:sp>
      <p:sp>
        <p:nvSpPr>
          <p:cNvPr id="3" name="object 3"/>
          <p:cNvSpPr txBox="1"/>
          <p:nvPr/>
        </p:nvSpPr>
        <p:spPr>
          <a:xfrm>
            <a:off x="535940" y="1434428"/>
            <a:ext cx="8072120" cy="4621137"/>
          </a:xfrm>
          <a:prstGeom prst="rect">
            <a:avLst/>
          </a:prstGeom>
        </p:spPr>
        <p:txBody>
          <a:bodyPr vert="horz" wrap="square" lIns="0" tIns="60325" rIns="0" bIns="0" rtlCol="0">
            <a:spAutoFit/>
          </a:bodyPr>
          <a:lstStyle/>
          <a:p>
            <a:pPr marL="12700" marR="5080" algn="just">
              <a:lnSpc>
                <a:spcPct val="90000"/>
              </a:lnSpc>
              <a:spcBef>
                <a:spcPts val="475"/>
              </a:spcBef>
            </a:pPr>
            <a:r>
              <a:rPr lang="it-IT" sz="3200" dirty="0" err="1">
                <a:cs typeface="Calibri"/>
              </a:rPr>
              <a:t>react</a:t>
            </a:r>
            <a:r>
              <a:rPr lang="it-IT" sz="3200" dirty="0">
                <a:cs typeface="Calibri"/>
              </a:rPr>
              <a:t>-router è una delle librerie di </a:t>
            </a:r>
            <a:r>
              <a:rPr lang="it-IT" sz="3200" dirty="0" err="1">
                <a:cs typeface="Calibri"/>
              </a:rPr>
              <a:t>routing</a:t>
            </a:r>
            <a:r>
              <a:rPr lang="it-IT" sz="3200" dirty="0">
                <a:cs typeface="Calibri"/>
              </a:rPr>
              <a:t> più popolari per </a:t>
            </a:r>
            <a:r>
              <a:rPr lang="it-IT" sz="3200" dirty="0" err="1">
                <a:cs typeface="Calibri"/>
              </a:rPr>
              <a:t>React</a:t>
            </a:r>
            <a:r>
              <a:rPr lang="it-IT" sz="3200" dirty="0">
                <a:cs typeface="Calibri"/>
              </a:rPr>
              <a:t>. Essa permette di configurare le </a:t>
            </a:r>
            <a:r>
              <a:rPr lang="it-IT" sz="3200" dirty="0" err="1">
                <a:cs typeface="Calibri"/>
              </a:rPr>
              <a:t>route</a:t>
            </a:r>
            <a:r>
              <a:rPr lang="it-IT" sz="3200" dirty="0">
                <a:cs typeface="Calibri"/>
              </a:rPr>
              <a:t> e definire comportamenti in base agli URL, permettendo all'utente di navigare tra diverse parti dell'applicazione e di avere un'esperienza simile a quella di un sito web multi-pagina.</a:t>
            </a:r>
          </a:p>
          <a:p>
            <a:pPr marL="12700" marR="5080" algn="just">
              <a:lnSpc>
                <a:spcPct val="90000"/>
              </a:lnSpc>
              <a:spcBef>
                <a:spcPts val="475"/>
              </a:spcBef>
            </a:pPr>
            <a:r>
              <a:rPr lang="it-IT" sz="3200" dirty="0">
                <a:latin typeface="Calibri"/>
                <a:cs typeface="Calibri"/>
              </a:rPr>
              <a:t>Per installarla dobbiamo eseguire </a:t>
            </a:r>
            <a:r>
              <a:rPr lang="it-IT" sz="3200" dirty="0">
                <a:cs typeface="Calibri"/>
              </a:rPr>
              <a:t>il comando: </a:t>
            </a:r>
            <a:r>
              <a:rPr lang="it-IT" sz="3200" b="1" dirty="0" err="1">
                <a:cs typeface="Calibri"/>
              </a:rPr>
              <a:t>npm</a:t>
            </a:r>
            <a:r>
              <a:rPr lang="it-IT" sz="3200" b="1" dirty="0">
                <a:cs typeface="Calibri"/>
              </a:rPr>
              <a:t> </a:t>
            </a:r>
            <a:r>
              <a:rPr lang="it-IT" sz="3200" b="1" dirty="0" err="1">
                <a:cs typeface="Calibri"/>
              </a:rPr>
              <a:t>install</a:t>
            </a:r>
            <a:r>
              <a:rPr lang="it-IT" sz="3200" b="1" dirty="0">
                <a:cs typeface="Calibri"/>
              </a:rPr>
              <a:t> </a:t>
            </a:r>
            <a:r>
              <a:rPr lang="it-IT" sz="3200" b="1" dirty="0" err="1">
                <a:cs typeface="Calibri"/>
              </a:rPr>
              <a:t>react</a:t>
            </a:r>
            <a:r>
              <a:rPr lang="it-IT" sz="3200" b="1" dirty="0">
                <a:cs typeface="Calibri"/>
              </a:rPr>
              <a:t>-router-</a:t>
            </a:r>
            <a:r>
              <a:rPr lang="it-IT" sz="3200" b="1" dirty="0" err="1">
                <a:cs typeface="Calibri"/>
              </a:rPr>
              <a:t>dom</a:t>
            </a:r>
            <a:endParaRPr lang="it-IT" sz="3200" b="1" dirty="0">
              <a:cs typeface="Calibri"/>
            </a:endParaRPr>
          </a:p>
          <a:p>
            <a:pPr marL="12700" marR="5080" algn="just">
              <a:lnSpc>
                <a:spcPct val="90000"/>
              </a:lnSpc>
              <a:spcBef>
                <a:spcPts val="475"/>
              </a:spcBef>
            </a:pPr>
            <a:endParaRPr sz="3200" dirty="0">
              <a:latin typeface="Calibri"/>
              <a:cs typeface="Calibri"/>
            </a:endParaRPr>
          </a:p>
        </p:txBody>
      </p:sp>
      <p:sp>
        <p:nvSpPr>
          <p:cNvPr id="4" name="object 4"/>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Tree>
    <p:extLst>
      <p:ext uri="{BB962C8B-B14F-4D97-AF65-F5344CB8AC3E}">
        <p14:creationId xmlns:p14="http://schemas.microsoft.com/office/powerpoint/2010/main" val="1710284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92855" y="612775"/>
            <a:ext cx="1558290" cy="696595"/>
          </a:xfrm>
          <a:prstGeom prst="rect">
            <a:avLst/>
          </a:prstGeom>
        </p:spPr>
        <p:txBody>
          <a:bodyPr vert="horz" wrap="square" lIns="0" tIns="12700" rIns="0" bIns="0" rtlCol="0">
            <a:spAutoFit/>
          </a:bodyPr>
          <a:lstStyle/>
          <a:p>
            <a:pPr marL="12700">
              <a:lnSpc>
                <a:spcPct val="100000"/>
              </a:lnSpc>
              <a:spcBef>
                <a:spcPts val="100"/>
              </a:spcBef>
            </a:pPr>
            <a:r>
              <a:rPr sz="4400" spc="-120" dirty="0"/>
              <a:t>R</a:t>
            </a:r>
            <a:r>
              <a:rPr sz="4400" spc="-5" dirty="0"/>
              <a:t>o</a:t>
            </a:r>
            <a:r>
              <a:rPr sz="4400" spc="-15" dirty="0"/>
              <a:t>u</a:t>
            </a:r>
            <a:r>
              <a:rPr sz="4400" spc="-25" dirty="0"/>
              <a:t>t</a:t>
            </a:r>
            <a:r>
              <a:rPr sz="4400" dirty="0"/>
              <a:t>er</a:t>
            </a:r>
          </a:p>
        </p:txBody>
      </p:sp>
      <p:sp>
        <p:nvSpPr>
          <p:cNvPr id="3" name="object 3"/>
          <p:cNvSpPr txBox="1"/>
          <p:nvPr/>
        </p:nvSpPr>
        <p:spPr>
          <a:xfrm>
            <a:off x="535940" y="1271756"/>
            <a:ext cx="8072120" cy="5230534"/>
          </a:xfrm>
          <a:prstGeom prst="rect">
            <a:avLst/>
          </a:prstGeom>
        </p:spPr>
        <p:txBody>
          <a:bodyPr vert="horz" wrap="square" lIns="0" tIns="60325" rIns="0" bIns="0" rtlCol="0">
            <a:spAutoFit/>
          </a:bodyPr>
          <a:lstStyle/>
          <a:p>
            <a:pPr marL="12700" marR="5080" algn="just">
              <a:lnSpc>
                <a:spcPct val="90000"/>
              </a:lnSpc>
              <a:spcBef>
                <a:spcPts val="475"/>
              </a:spcBef>
            </a:pPr>
            <a:r>
              <a:rPr lang="it-IT" sz="2800" dirty="0">
                <a:cs typeface="Calibri"/>
              </a:rPr>
              <a:t>La versione 6 di `</a:t>
            </a:r>
            <a:r>
              <a:rPr lang="it-IT" sz="2800" dirty="0" err="1">
                <a:cs typeface="Calibri"/>
              </a:rPr>
              <a:t>react</a:t>
            </a:r>
            <a:r>
              <a:rPr lang="it-IT" sz="2800" dirty="0">
                <a:cs typeface="Calibri"/>
              </a:rPr>
              <a:t>-router-</a:t>
            </a:r>
            <a:r>
              <a:rPr lang="it-IT" sz="2800" dirty="0" err="1">
                <a:cs typeface="Calibri"/>
              </a:rPr>
              <a:t>dom</a:t>
            </a:r>
            <a:r>
              <a:rPr lang="it-IT" sz="2800" dirty="0">
                <a:cs typeface="Calibri"/>
              </a:rPr>
              <a:t>` ha introdotto numerosi cambiamenti e miglioramenti rispetto alla versione 5. Ecco alcuni degli elementi chiave e cambiamenti in </a:t>
            </a:r>
            <a:r>
              <a:rPr lang="it-IT" sz="2800" dirty="0" err="1">
                <a:cs typeface="Calibri"/>
              </a:rPr>
              <a:t>React</a:t>
            </a:r>
            <a:r>
              <a:rPr lang="it-IT" sz="2800" dirty="0">
                <a:cs typeface="Calibri"/>
              </a:rPr>
              <a:t> Router v6:</a:t>
            </a:r>
          </a:p>
          <a:p>
            <a:pPr marL="12700" marR="5080" algn="just">
              <a:lnSpc>
                <a:spcPct val="90000"/>
              </a:lnSpc>
              <a:spcBef>
                <a:spcPts val="475"/>
              </a:spcBef>
            </a:pPr>
            <a:r>
              <a:rPr lang="it-IT" sz="2800" dirty="0">
                <a:cs typeface="Calibri"/>
              </a:rPr>
              <a:t>1. </a:t>
            </a:r>
            <a:r>
              <a:rPr lang="it-IT" sz="2800" b="1" dirty="0" err="1">
                <a:cs typeface="Calibri"/>
              </a:rPr>
              <a:t>Routes</a:t>
            </a:r>
            <a:r>
              <a:rPr lang="it-IT" sz="2800" b="1" dirty="0">
                <a:cs typeface="Calibri"/>
              </a:rPr>
              <a:t> al posto di Switch</a:t>
            </a:r>
            <a:r>
              <a:rPr lang="it-IT" sz="2800" dirty="0">
                <a:cs typeface="Calibri"/>
              </a:rPr>
              <a:t>: `Switch` è stato sostituito con `</a:t>
            </a:r>
            <a:r>
              <a:rPr lang="it-IT" sz="2800" dirty="0" err="1">
                <a:cs typeface="Calibri"/>
              </a:rPr>
              <a:t>Routes</a:t>
            </a:r>
            <a:r>
              <a:rPr lang="it-IT" sz="2800" dirty="0">
                <a:cs typeface="Calibri"/>
              </a:rPr>
              <a:t>`. Questo nuovo componente serve a contenere tutti i vari `</a:t>
            </a:r>
            <a:r>
              <a:rPr lang="it-IT" sz="2800" dirty="0" err="1">
                <a:cs typeface="Calibri"/>
              </a:rPr>
              <a:t>Route</a:t>
            </a:r>
            <a:r>
              <a:rPr lang="it-IT" sz="2800" dirty="0">
                <a:cs typeface="Calibri"/>
              </a:rPr>
              <a:t>` e gestisce la selezione di quale componente </a:t>
            </a:r>
            <a:r>
              <a:rPr lang="it-IT" sz="2800" dirty="0" err="1">
                <a:cs typeface="Calibri"/>
              </a:rPr>
              <a:t>renderizzare</a:t>
            </a:r>
            <a:r>
              <a:rPr lang="it-IT" sz="2800" dirty="0">
                <a:cs typeface="Calibri"/>
              </a:rPr>
              <a:t> basandosi sull'URL corrente.</a:t>
            </a:r>
          </a:p>
          <a:p>
            <a:pPr marL="12700" marR="5080" algn="just">
              <a:lnSpc>
                <a:spcPct val="90000"/>
              </a:lnSpc>
              <a:spcBef>
                <a:spcPts val="475"/>
              </a:spcBef>
            </a:pPr>
            <a:r>
              <a:rPr lang="it-IT" sz="2800" dirty="0">
                <a:cs typeface="Calibri"/>
              </a:rPr>
              <a:t>2. </a:t>
            </a:r>
            <a:r>
              <a:rPr lang="it-IT" sz="2800" b="1" dirty="0" err="1">
                <a:cs typeface="Calibri"/>
              </a:rPr>
              <a:t>Element</a:t>
            </a:r>
            <a:r>
              <a:rPr lang="it-IT" sz="2800" b="1" dirty="0">
                <a:cs typeface="Calibri"/>
              </a:rPr>
              <a:t> al posto di Component</a:t>
            </a:r>
            <a:r>
              <a:rPr lang="it-IT" sz="2800" dirty="0">
                <a:cs typeface="Calibri"/>
              </a:rPr>
              <a:t>: Invece di usare `component` o `render` per specificare il componente da </a:t>
            </a:r>
            <a:r>
              <a:rPr lang="it-IT" sz="2800" dirty="0" err="1">
                <a:cs typeface="Calibri"/>
              </a:rPr>
              <a:t>renderizzare</a:t>
            </a:r>
            <a:r>
              <a:rPr lang="it-IT" sz="2800" dirty="0">
                <a:cs typeface="Calibri"/>
              </a:rPr>
              <a:t>, ora si utilizza `</a:t>
            </a:r>
            <a:r>
              <a:rPr lang="it-IT" sz="2800" dirty="0" err="1">
                <a:cs typeface="Calibri"/>
              </a:rPr>
              <a:t>element</a:t>
            </a:r>
            <a:r>
              <a:rPr lang="it-IT" sz="2800" dirty="0">
                <a:cs typeface="Calibri"/>
              </a:rPr>
              <a:t>` passando l'elemento JSX direttamente.</a:t>
            </a:r>
            <a:endParaRPr sz="2800" dirty="0">
              <a:latin typeface="Calibri"/>
              <a:cs typeface="Calibri"/>
            </a:endParaRPr>
          </a:p>
        </p:txBody>
      </p:sp>
      <p:sp>
        <p:nvSpPr>
          <p:cNvPr id="4" name="object 4"/>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Tree>
    <p:extLst>
      <p:ext uri="{BB962C8B-B14F-4D97-AF65-F5344CB8AC3E}">
        <p14:creationId xmlns:p14="http://schemas.microsoft.com/office/powerpoint/2010/main" val="2547093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92855" y="612775"/>
            <a:ext cx="1558290" cy="696595"/>
          </a:xfrm>
          <a:prstGeom prst="rect">
            <a:avLst/>
          </a:prstGeom>
        </p:spPr>
        <p:txBody>
          <a:bodyPr vert="horz" wrap="square" lIns="0" tIns="12700" rIns="0" bIns="0" rtlCol="0">
            <a:spAutoFit/>
          </a:bodyPr>
          <a:lstStyle/>
          <a:p>
            <a:pPr marL="12700">
              <a:lnSpc>
                <a:spcPct val="100000"/>
              </a:lnSpc>
              <a:spcBef>
                <a:spcPts val="100"/>
              </a:spcBef>
            </a:pPr>
            <a:r>
              <a:rPr sz="4400" spc="-120" dirty="0"/>
              <a:t>R</a:t>
            </a:r>
            <a:r>
              <a:rPr sz="4400" spc="-5" dirty="0"/>
              <a:t>o</a:t>
            </a:r>
            <a:r>
              <a:rPr sz="4400" spc="-15" dirty="0"/>
              <a:t>u</a:t>
            </a:r>
            <a:r>
              <a:rPr sz="4400" spc="-25" dirty="0"/>
              <a:t>t</a:t>
            </a:r>
            <a:r>
              <a:rPr sz="4400" dirty="0"/>
              <a:t>er</a:t>
            </a:r>
          </a:p>
        </p:txBody>
      </p:sp>
      <p:sp>
        <p:nvSpPr>
          <p:cNvPr id="3" name="object 3"/>
          <p:cNvSpPr txBox="1"/>
          <p:nvPr/>
        </p:nvSpPr>
        <p:spPr>
          <a:xfrm>
            <a:off x="535940" y="1271756"/>
            <a:ext cx="8072120" cy="5513176"/>
          </a:xfrm>
          <a:prstGeom prst="rect">
            <a:avLst/>
          </a:prstGeom>
        </p:spPr>
        <p:txBody>
          <a:bodyPr vert="horz" wrap="square" lIns="0" tIns="60325" rIns="0" bIns="0" rtlCol="0">
            <a:spAutoFit/>
          </a:bodyPr>
          <a:lstStyle/>
          <a:p>
            <a:pPr marL="12700" marR="5080" algn="just">
              <a:lnSpc>
                <a:spcPct val="90000"/>
              </a:lnSpc>
              <a:spcBef>
                <a:spcPts val="475"/>
              </a:spcBef>
            </a:pPr>
            <a:r>
              <a:rPr lang="it-IT" sz="2800" dirty="0">
                <a:cs typeface="Calibri"/>
              </a:rPr>
              <a:t>3. </a:t>
            </a:r>
            <a:r>
              <a:rPr lang="it-IT" sz="2800" b="1" dirty="0" err="1">
                <a:cs typeface="Calibri"/>
              </a:rPr>
              <a:t>Nested</a:t>
            </a:r>
            <a:r>
              <a:rPr lang="it-IT" sz="2800" b="1" dirty="0">
                <a:cs typeface="Calibri"/>
              </a:rPr>
              <a:t> </a:t>
            </a:r>
            <a:r>
              <a:rPr lang="it-IT" sz="2800" b="1" dirty="0" err="1">
                <a:cs typeface="Calibri"/>
              </a:rPr>
              <a:t>Routes</a:t>
            </a:r>
            <a:r>
              <a:rPr lang="it-IT" sz="2800" dirty="0">
                <a:cs typeface="Calibri"/>
              </a:rPr>
              <a:t>: Le </a:t>
            </a:r>
            <a:r>
              <a:rPr lang="it-IT" sz="2800" dirty="0" err="1">
                <a:cs typeface="Calibri"/>
              </a:rPr>
              <a:t>route</a:t>
            </a:r>
            <a:r>
              <a:rPr lang="it-IT" sz="2800" dirty="0">
                <a:cs typeface="Calibri"/>
              </a:rPr>
              <a:t> annidate ora rispecchiano la struttura dei componenti. Le </a:t>
            </a:r>
            <a:r>
              <a:rPr lang="it-IT" sz="2800" dirty="0" err="1">
                <a:cs typeface="Calibri"/>
              </a:rPr>
              <a:t>route</a:t>
            </a:r>
            <a:r>
              <a:rPr lang="it-IT" sz="2800" dirty="0">
                <a:cs typeface="Calibri"/>
              </a:rPr>
              <a:t> figlie vengono </a:t>
            </a:r>
            <a:r>
              <a:rPr lang="it-IT" sz="2800" dirty="0" err="1">
                <a:cs typeface="Calibri"/>
              </a:rPr>
              <a:t>renderizzate</a:t>
            </a:r>
            <a:r>
              <a:rPr lang="it-IT" sz="2800" dirty="0">
                <a:cs typeface="Calibri"/>
              </a:rPr>
              <a:t> all'interno del componente padre usando `Outlet`.</a:t>
            </a:r>
          </a:p>
          <a:p>
            <a:pPr marL="12700" marR="5080" algn="just">
              <a:lnSpc>
                <a:spcPct val="90000"/>
              </a:lnSpc>
              <a:spcBef>
                <a:spcPts val="475"/>
              </a:spcBef>
            </a:pPr>
            <a:r>
              <a:rPr lang="it-IT" sz="1600" dirty="0">
                <a:cs typeface="Calibri"/>
              </a:rPr>
              <a:t>&lt;</a:t>
            </a:r>
            <a:r>
              <a:rPr lang="it-IT" sz="1600" dirty="0" err="1">
                <a:cs typeface="Calibri"/>
              </a:rPr>
              <a:t>Route</a:t>
            </a:r>
            <a:r>
              <a:rPr lang="it-IT" sz="1600" dirty="0">
                <a:cs typeface="Calibri"/>
              </a:rPr>
              <a:t> path="users" </a:t>
            </a:r>
            <a:r>
              <a:rPr lang="it-IT" sz="1600" dirty="0" err="1">
                <a:cs typeface="Calibri"/>
              </a:rPr>
              <a:t>element</a:t>
            </a:r>
            <a:r>
              <a:rPr lang="it-IT" sz="1600" dirty="0">
                <a:cs typeface="Calibri"/>
              </a:rPr>
              <a:t>={&lt;Users /&gt;}&gt;</a:t>
            </a:r>
          </a:p>
          <a:p>
            <a:pPr marL="12700" marR="5080" algn="just">
              <a:lnSpc>
                <a:spcPct val="90000"/>
              </a:lnSpc>
              <a:spcBef>
                <a:spcPts val="475"/>
              </a:spcBef>
            </a:pPr>
            <a:r>
              <a:rPr lang="it-IT" sz="1600" dirty="0">
                <a:cs typeface="Calibri"/>
              </a:rPr>
              <a:t>     &lt;</a:t>
            </a:r>
            <a:r>
              <a:rPr lang="it-IT" sz="1600" dirty="0" err="1">
                <a:cs typeface="Calibri"/>
              </a:rPr>
              <a:t>Route</a:t>
            </a:r>
            <a:r>
              <a:rPr lang="it-IT" sz="1600" dirty="0">
                <a:cs typeface="Calibri"/>
              </a:rPr>
              <a:t> path=":id" </a:t>
            </a:r>
            <a:r>
              <a:rPr lang="it-IT" sz="1600" dirty="0" err="1">
                <a:cs typeface="Calibri"/>
              </a:rPr>
              <a:t>element</a:t>
            </a:r>
            <a:r>
              <a:rPr lang="it-IT" sz="1600" dirty="0">
                <a:cs typeface="Calibri"/>
              </a:rPr>
              <a:t>={&lt;</a:t>
            </a:r>
            <a:r>
              <a:rPr lang="it-IT" sz="1600" dirty="0" err="1">
                <a:cs typeface="Calibri"/>
              </a:rPr>
              <a:t>UserProfile</a:t>
            </a:r>
            <a:r>
              <a:rPr lang="it-IT" sz="1600" dirty="0">
                <a:cs typeface="Calibri"/>
              </a:rPr>
              <a:t> /&gt;} /&gt;</a:t>
            </a:r>
          </a:p>
          <a:p>
            <a:pPr marL="12700" marR="5080" algn="just">
              <a:lnSpc>
                <a:spcPct val="90000"/>
              </a:lnSpc>
              <a:spcBef>
                <a:spcPts val="475"/>
              </a:spcBef>
            </a:pPr>
            <a:r>
              <a:rPr lang="it-IT" sz="1600" dirty="0">
                <a:cs typeface="Calibri"/>
              </a:rPr>
              <a:t>&lt;/</a:t>
            </a:r>
            <a:r>
              <a:rPr lang="it-IT" sz="1600" dirty="0" err="1">
                <a:cs typeface="Calibri"/>
              </a:rPr>
              <a:t>Route</a:t>
            </a:r>
            <a:r>
              <a:rPr lang="it-IT" sz="1600" dirty="0">
                <a:cs typeface="Calibri"/>
              </a:rPr>
              <a:t>&gt;</a:t>
            </a:r>
          </a:p>
          <a:p>
            <a:pPr marL="12700" marR="5080" algn="just">
              <a:lnSpc>
                <a:spcPct val="90000"/>
              </a:lnSpc>
              <a:spcBef>
                <a:spcPts val="475"/>
              </a:spcBef>
            </a:pPr>
            <a:r>
              <a:rPr lang="it-IT" sz="2800" dirty="0">
                <a:cs typeface="Calibri"/>
              </a:rPr>
              <a:t>4. </a:t>
            </a:r>
            <a:r>
              <a:rPr lang="it-IT" sz="2800" b="1" dirty="0" err="1">
                <a:cs typeface="Calibri"/>
              </a:rPr>
              <a:t>useRoutes</a:t>
            </a:r>
            <a:r>
              <a:rPr lang="it-IT" sz="2800" b="1" dirty="0">
                <a:cs typeface="Calibri"/>
              </a:rPr>
              <a:t> Hook</a:t>
            </a:r>
            <a:r>
              <a:rPr lang="it-IT" sz="2800" dirty="0">
                <a:cs typeface="Calibri"/>
              </a:rPr>
              <a:t>: C'è la possibilità di definire le </a:t>
            </a:r>
            <a:r>
              <a:rPr lang="it-IT" sz="2800" dirty="0" err="1">
                <a:cs typeface="Calibri"/>
              </a:rPr>
              <a:t>route</a:t>
            </a:r>
            <a:r>
              <a:rPr lang="it-IT" sz="2800" dirty="0">
                <a:cs typeface="Calibri"/>
              </a:rPr>
              <a:t> in maniera imperativa all'interno dei componenti usando l'hook `</a:t>
            </a:r>
            <a:r>
              <a:rPr lang="it-IT" sz="2800" dirty="0" err="1">
                <a:cs typeface="Calibri"/>
              </a:rPr>
              <a:t>useRoutes</a:t>
            </a:r>
            <a:r>
              <a:rPr lang="it-IT" sz="2800" dirty="0">
                <a:cs typeface="Calibri"/>
              </a:rPr>
              <a:t>`. Questo può rendere più dinamica la configurazione delle rotte.</a:t>
            </a:r>
          </a:p>
          <a:p>
            <a:pPr marL="12700" marR="5080" algn="just">
              <a:lnSpc>
                <a:spcPct val="90000"/>
              </a:lnSpc>
              <a:spcBef>
                <a:spcPts val="475"/>
              </a:spcBef>
            </a:pPr>
            <a:r>
              <a:rPr lang="it-IT" sz="1600" dirty="0" err="1">
                <a:cs typeface="Calibri"/>
              </a:rPr>
              <a:t>const</a:t>
            </a:r>
            <a:r>
              <a:rPr lang="it-IT" sz="1600" dirty="0">
                <a:cs typeface="Calibri"/>
              </a:rPr>
              <a:t> </a:t>
            </a:r>
            <a:r>
              <a:rPr lang="it-IT" sz="1600" dirty="0" err="1">
                <a:cs typeface="Calibri"/>
              </a:rPr>
              <a:t>routes</a:t>
            </a:r>
            <a:r>
              <a:rPr lang="it-IT" sz="1600" dirty="0">
                <a:cs typeface="Calibri"/>
              </a:rPr>
              <a:t> = </a:t>
            </a:r>
            <a:r>
              <a:rPr lang="it-IT" sz="1600" dirty="0" err="1">
                <a:cs typeface="Calibri"/>
              </a:rPr>
              <a:t>useRoutes</a:t>
            </a:r>
            <a:r>
              <a:rPr lang="it-IT" sz="1600" dirty="0">
                <a:cs typeface="Calibri"/>
              </a:rPr>
              <a:t>([</a:t>
            </a:r>
          </a:p>
          <a:p>
            <a:pPr marL="12700" marR="5080" algn="just">
              <a:lnSpc>
                <a:spcPct val="90000"/>
              </a:lnSpc>
              <a:spcBef>
                <a:spcPts val="475"/>
              </a:spcBef>
            </a:pPr>
            <a:r>
              <a:rPr lang="it-IT" sz="1600" dirty="0">
                <a:cs typeface="Calibri"/>
              </a:rPr>
              <a:t>     { path: '/', </a:t>
            </a:r>
            <a:r>
              <a:rPr lang="it-IT" sz="1600" dirty="0" err="1">
                <a:cs typeface="Calibri"/>
              </a:rPr>
              <a:t>element</a:t>
            </a:r>
            <a:r>
              <a:rPr lang="it-IT" sz="1600" dirty="0">
                <a:cs typeface="Calibri"/>
              </a:rPr>
              <a:t>: &lt;Home /&gt; },</a:t>
            </a:r>
          </a:p>
          <a:p>
            <a:pPr marL="12700" marR="5080" algn="just">
              <a:lnSpc>
                <a:spcPct val="90000"/>
              </a:lnSpc>
              <a:spcBef>
                <a:spcPts val="475"/>
              </a:spcBef>
            </a:pPr>
            <a:r>
              <a:rPr lang="it-IT" sz="1600" dirty="0">
                <a:cs typeface="Calibri"/>
              </a:rPr>
              <a:t>     { path: '</a:t>
            </a:r>
            <a:r>
              <a:rPr lang="it-IT" sz="1600" dirty="0" err="1">
                <a:cs typeface="Calibri"/>
              </a:rPr>
              <a:t>about</a:t>
            </a:r>
            <a:r>
              <a:rPr lang="it-IT" sz="1600" dirty="0">
                <a:cs typeface="Calibri"/>
              </a:rPr>
              <a:t>', </a:t>
            </a:r>
            <a:r>
              <a:rPr lang="it-IT" sz="1600" dirty="0" err="1">
                <a:cs typeface="Calibri"/>
              </a:rPr>
              <a:t>element</a:t>
            </a:r>
            <a:r>
              <a:rPr lang="it-IT" sz="1600" dirty="0">
                <a:cs typeface="Calibri"/>
              </a:rPr>
              <a:t>: &lt;About /&gt; },</a:t>
            </a:r>
          </a:p>
          <a:p>
            <a:pPr marL="12700" marR="5080" algn="just">
              <a:lnSpc>
                <a:spcPct val="90000"/>
              </a:lnSpc>
              <a:spcBef>
                <a:spcPts val="475"/>
              </a:spcBef>
            </a:pPr>
            <a:r>
              <a:rPr lang="it-IT" sz="1600" dirty="0">
                <a:cs typeface="Calibri"/>
              </a:rPr>
              <a:t>     // altri percorsi...</a:t>
            </a:r>
          </a:p>
          <a:p>
            <a:pPr marL="12700" marR="5080" algn="just">
              <a:lnSpc>
                <a:spcPct val="90000"/>
              </a:lnSpc>
              <a:spcBef>
                <a:spcPts val="475"/>
              </a:spcBef>
            </a:pPr>
            <a:r>
              <a:rPr lang="it-IT" sz="1600" dirty="0">
                <a:cs typeface="Calibri"/>
              </a:rPr>
              <a:t>   ]);</a:t>
            </a:r>
            <a:endParaRPr sz="2800" dirty="0">
              <a:latin typeface="Calibri"/>
              <a:cs typeface="Calibri"/>
            </a:endParaRPr>
          </a:p>
        </p:txBody>
      </p:sp>
      <p:sp>
        <p:nvSpPr>
          <p:cNvPr id="4" name="object 4"/>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Tree>
    <p:extLst>
      <p:ext uri="{BB962C8B-B14F-4D97-AF65-F5344CB8AC3E}">
        <p14:creationId xmlns:p14="http://schemas.microsoft.com/office/powerpoint/2010/main" val="2362028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92855" y="612775"/>
            <a:ext cx="1558290" cy="696595"/>
          </a:xfrm>
          <a:prstGeom prst="rect">
            <a:avLst/>
          </a:prstGeom>
        </p:spPr>
        <p:txBody>
          <a:bodyPr vert="horz" wrap="square" lIns="0" tIns="12700" rIns="0" bIns="0" rtlCol="0">
            <a:spAutoFit/>
          </a:bodyPr>
          <a:lstStyle/>
          <a:p>
            <a:pPr marL="12700">
              <a:lnSpc>
                <a:spcPct val="100000"/>
              </a:lnSpc>
              <a:spcBef>
                <a:spcPts val="100"/>
              </a:spcBef>
            </a:pPr>
            <a:r>
              <a:rPr sz="4400" spc="-120" dirty="0"/>
              <a:t>R</a:t>
            </a:r>
            <a:r>
              <a:rPr sz="4400" spc="-5" dirty="0"/>
              <a:t>o</a:t>
            </a:r>
            <a:r>
              <a:rPr sz="4400" spc="-15" dirty="0"/>
              <a:t>u</a:t>
            </a:r>
            <a:r>
              <a:rPr sz="4400" spc="-25" dirty="0"/>
              <a:t>t</a:t>
            </a:r>
            <a:r>
              <a:rPr sz="4400" dirty="0"/>
              <a:t>er</a:t>
            </a:r>
          </a:p>
        </p:txBody>
      </p:sp>
      <p:sp>
        <p:nvSpPr>
          <p:cNvPr id="3" name="object 3"/>
          <p:cNvSpPr txBox="1"/>
          <p:nvPr/>
        </p:nvSpPr>
        <p:spPr>
          <a:xfrm>
            <a:off x="535940" y="1271756"/>
            <a:ext cx="8072120" cy="5239255"/>
          </a:xfrm>
          <a:prstGeom prst="rect">
            <a:avLst/>
          </a:prstGeom>
        </p:spPr>
        <p:txBody>
          <a:bodyPr vert="horz" wrap="square" lIns="0" tIns="60325" rIns="0" bIns="0" rtlCol="0">
            <a:spAutoFit/>
          </a:bodyPr>
          <a:lstStyle/>
          <a:p>
            <a:pPr marL="12700" marR="5080" algn="just">
              <a:lnSpc>
                <a:spcPct val="90000"/>
              </a:lnSpc>
              <a:spcBef>
                <a:spcPts val="475"/>
              </a:spcBef>
            </a:pPr>
            <a:r>
              <a:rPr lang="it-IT" sz="2400" dirty="0">
                <a:cs typeface="Calibri"/>
              </a:rPr>
              <a:t>5. </a:t>
            </a:r>
            <a:r>
              <a:rPr lang="it-IT" sz="2400" b="1" dirty="0">
                <a:cs typeface="Calibri"/>
              </a:rPr>
              <a:t>Relative Links</a:t>
            </a:r>
            <a:r>
              <a:rPr lang="it-IT" sz="2400" dirty="0">
                <a:cs typeface="Calibri"/>
              </a:rPr>
              <a:t>: I link possono ora essere relativi, il che semplifica la creazione di link all'interno di un set di </a:t>
            </a:r>
            <a:r>
              <a:rPr lang="it-IT" sz="2400" dirty="0" err="1">
                <a:cs typeface="Calibri"/>
              </a:rPr>
              <a:t>route</a:t>
            </a:r>
            <a:r>
              <a:rPr lang="it-IT" sz="2400" dirty="0">
                <a:cs typeface="Calibri"/>
              </a:rPr>
              <a:t> annidate.</a:t>
            </a:r>
          </a:p>
          <a:p>
            <a:pPr marL="12700" marR="5080" algn="just">
              <a:lnSpc>
                <a:spcPct val="90000"/>
              </a:lnSpc>
              <a:spcBef>
                <a:spcPts val="475"/>
              </a:spcBef>
            </a:pPr>
            <a:r>
              <a:rPr lang="it-IT" sz="2400" dirty="0">
                <a:cs typeface="Calibri"/>
              </a:rPr>
              <a:t>6. </a:t>
            </a:r>
            <a:r>
              <a:rPr lang="it-IT" sz="2400" b="1" dirty="0" err="1">
                <a:cs typeface="Calibri"/>
              </a:rPr>
              <a:t>Automatic</a:t>
            </a:r>
            <a:r>
              <a:rPr lang="it-IT" sz="2400" b="1" dirty="0">
                <a:cs typeface="Calibri"/>
              </a:rPr>
              <a:t> </a:t>
            </a:r>
            <a:r>
              <a:rPr lang="it-IT" sz="2400" b="1" dirty="0" err="1">
                <a:cs typeface="Calibri"/>
              </a:rPr>
              <a:t>Route</a:t>
            </a:r>
            <a:r>
              <a:rPr lang="it-IT" sz="2400" b="1" dirty="0">
                <a:cs typeface="Calibri"/>
              </a:rPr>
              <a:t> Ranking</a:t>
            </a:r>
            <a:r>
              <a:rPr lang="it-IT" sz="2400" dirty="0">
                <a:cs typeface="Calibri"/>
              </a:rPr>
              <a:t>: La versione 6 introduce un sistema di ranking automatico per le </a:t>
            </a:r>
            <a:r>
              <a:rPr lang="it-IT" sz="2400" dirty="0" err="1">
                <a:cs typeface="Calibri"/>
              </a:rPr>
              <a:t>route</a:t>
            </a:r>
            <a:r>
              <a:rPr lang="it-IT" sz="2400" dirty="0">
                <a:cs typeface="Calibri"/>
              </a:rPr>
              <a:t>. Non è più necessario preoccuparsi dell'ordine in cui le </a:t>
            </a:r>
            <a:r>
              <a:rPr lang="it-IT" sz="2400" dirty="0" err="1">
                <a:cs typeface="Calibri"/>
              </a:rPr>
              <a:t>route</a:t>
            </a:r>
            <a:r>
              <a:rPr lang="it-IT" sz="2400" dirty="0">
                <a:cs typeface="Calibri"/>
              </a:rPr>
              <a:t> vengono dichiarate; il router sceglierà automaticamente la migliore corrispondenza basata sull'URL corrente.</a:t>
            </a:r>
          </a:p>
          <a:p>
            <a:pPr marL="12700" marR="5080" algn="just">
              <a:lnSpc>
                <a:spcPct val="90000"/>
              </a:lnSpc>
              <a:spcBef>
                <a:spcPts val="475"/>
              </a:spcBef>
            </a:pPr>
            <a:r>
              <a:rPr lang="it-IT" sz="2400" dirty="0">
                <a:cs typeface="Calibri"/>
              </a:rPr>
              <a:t>7. </a:t>
            </a:r>
            <a:r>
              <a:rPr lang="it-IT" sz="2400" b="1" dirty="0" err="1">
                <a:cs typeface="Calibri"/>
              </a:rPr>
              <a:t>Protected</a:t>
            </a:r>
            <a:r>
              <a:rPr lang="it-IT" sz="2400" b="1" dirty="0">
                <a:cs typeface="Calibri"/>
              </a:rPr>
              <a:t> </a:t>
            </a:r>
            <a:r>
              <a:rPr lang="it-IT" sz="2400" b="1" dirty="0" err="1">
                <a:cs typeface="Calibri"/>
              </a:rPr>
              <a:t>Routes</a:t>
            </a:r>
            <a:r>
              <a:rPr lang="it-IT" sz="2400" b="1" dirty="0">
                <a:cs typeface="Calibri"/>
              </a:rPr>
              <a:t> and Layout </a:t>
            </a:r>
            <a:r>
              <a:rPr lang="it-IT" sz="2400" b="1" dirty="0" err="1">
                <a:cs typeface="Calibri"/>
              </a:rPr>
              <a:t>Routes</a:t>
            </a:r>
            <a:r>
              <a:rPr lang="it-IT" sz="2400" dirty="0">
                <a:cs typeface="Calibri"/>
              </a:rPr>
              <a:t>: La creazione di </a:t>
            </a:r>
            <a:r>
              <a:rPr lang="it-IT" sz="2400" dirty="0" err="1">
                <a:cs typeface="Calibri"/>
              </a:rPr>
              <a:t>route</a:t>
            </a:r>
            <a:r>
              <a:rPr lang="it-IT" sz="2400" dirty="0">
                <a:cs typeface="Calibri"/>
              </a:rPr>
              <a:t> protette e layout </a:t>
            </a:r>
            <a:r>
              <a:rPr lang="it-IT" sz="2400" dirty="0" err="1">
                <a:cs typeface="Calibri"/>
              </a:rPr>
              <a:t>routes</a:t>
            </a:r>
            <a:r>
              <a:rPr lang="it-IT" sz="2400" dirty="0">
                <a:cs typeface="Calibri"/>
              </a:rPr>
              <a:t> è ora più intuitiva e può essere gestita usando le </a:t>
            </a:r>
            <a:r>
              <a:rPr lang="it-IT" sz="2400" dirty="0" err="1">
                <a:cs typeface="Calibri"/>
              </a:rPr>
              <a:t>route</a:t>
            </a:r>
            <a:r>
              <a:rPr lang="it-IT" sz="2400" dirty="0">
                <a:cs typeface="Calibri"/>
              </a:rPr>
              <a:t> annidate e la logica di autenticazione all'interno dei componenti </a:t>
            </a:r>
            <a:r>
              <a:rPr lang="it-IT" sz="2400" dirty="0" err="1">
                <a:cs typeface="Calibri"/>
              </a:rPr>
              <a:t>route</a:t>
            </a:r>
            <a:r>
              <a:rPr lang="it-IT" sz="2400" dirty="0">
                <a:cs typeface="Calibri"/>
              </a:rPr>
              <a:t>.</a:t>
            </a:r>
          </a:p>
          <a:p>
            <a:pPr marL="12700" marR="5080" algn="just">
              <a:lnSpc>
                <a:spcPct val="90000"/>
              </a:lnSpc>
              <a:spcBef>
                <a:spcPts val="475"/>
              </a:spcBef>
            </a:pPr>
            <a:r>
              <a:rPr lang="it-IT" sz="2400" dirty="0">
                <a:cs typeface="Calibri"/>
              </a:rPr>
              <a:t>8. </a:t>
            </a:r>
            <a:r>
              <a:rPr lang="it-IT" sz="2400" b="1" dirty="0">
                <a:cs typeface="Calibri"/>
              </a:rPr>
              <a:t>Miglioramenti nelle prestazioni</a:t>
            </a:r>
            <a:r>
              <a:rPr lang="it-IT" sz="2400" dirty="0">
                <a:cs typeface="Calibri"/>
              </a:rPr>
              <a:t>: </a:t>
            </a:r>
            <a:r>
              <a:rPr lang="it-IT" sz="2400" dirty="0" err="1">
                <a:cs typeface="Calibri"/>
              </a:rPr>
              <a:t>React</a:t>
            </a:r>
            <a:r>
              <a:rPr lang="it-IT" sz="2400" dirty="0">
                <a:cs typeface="Calibri"/>
              </a:rPr>
              <a:t> Router v6 è stato ottimizzato per essere più piccolo e più veloce rispetto alle versioni precedenti.</a:t>
            </a:r>
          </a:p>
        </p:txBody>
      </p:sp>
      <p:sp>
        <p:nvSpPr>
          <p:cNvPr id="4" name="object 4"/>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Tree>
    <p:extLst>
      <p:ext uri="{BB962C8B-B14F-4D97-AF65-F5344CB8AC3E}">
        <p14:creationId xmlns:p14="http://schemas.microsoft.com/office/powerpoint/2010/main" val="3754557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2130" y="827302"/>
            <a:ext cx="8079740" cy="5592557"/>
          </a:xfrm>
          <a:prstGeom prst="rect">
            <a:avLst/>
          </a:prstGeom>
        </p:spPr>
        <p:txBody>
          <a:bodyPr vert="horz" wrap="square" lIns="0" tIns="12065" rIns="0" bIns="0" rtlCol="0">
            <a:spAutoFit/>
          </a:bodyPr>
          <a:lstStyle/>
          <a:p>
            <a:pPr marL="12700" marR="5080">
              <a:lnSpc>
                <a:spcPct val="100600"/>
              </a:lnSpc>
              <a:spcBef>
                <a:spcPts val="95"/>
              </a:spcBef>
              <a:tabLst>
                <a:tab pos="845819" algn="l"/>
                <a:tab pos="2630805" algn="l"/>
                <a:tab pos="3789045" algn="l"/>
                <a:tab pos="5298440" algn="l"/>
                <a:tab pos="7515859" algn="l"/>
              </a:tabLst>
            </a:pPr>
            <a:r>
              <a:rPr spc="15" dirty="0"/>
              <a:t>G</a:t>
            </a:r>
            <a:r>
              <a:rPr spc="-20" dirty="0"/>
              <a:t>l</a:t>
            </a:r>
            <a:r>
              <a:rPr dirty="0"/>
              <a:t>i	</a:t>
            </a:r>
            <a:r>
              <a:rPr spc="-45" dirty="0"/>
              <a:t>e</a:t>
            </a:r>
            <a:r>
              <a:rPr spc="10" dirty="0"/>
              <a:t>l</a:t>
            </a:r>
            <a:r>
              <a:rPr spc="-10" dirty="0"/>
              <a:t>e</a:t>
            </a:r>
            <a:r>
              <a:rPr spc="10" dirty="0"/>
              <a:t>m</a:t>
            </a:r>
            <a:r>
              <a:rPr spc="-5" dirty="0"/>
              <a:t>e</a:t>
            </a:r>
            <a:r>
              <a:rPr spc="-25" dirty="0"/>
              <a:t>n</a:t>
            </a:r>
            <a:r>
              <a:rPr spc="-50" dirty="0"/>
              <a:t>t</a:t>
            </a:r>
            <a:r>
              <a:rPr dirty="0"/>
              <a:t>i	</a:t>
            </a:r>
            <a:r>
              <a:rPr spc="10" dirty="0"/>
              <a:t>d</a:t>
            </a:r>
            <a:r>
              <a:rPr spc="-45" dirty="0"/>
              <a:t>e</a:t>
            </a:r>
            <a:r>
              <a:rPr spc="-20" dirty="0"/>
              <a:t>l</a:t>
            </a:r>
            <a:r>
              <a:rPr spc="10" dirty="0"/>
              <a:t>l</a:t>
            </a:r>
            <a:r>
              <a:rPr spc="5" dirty="0"/>
              <a:t>a</a:t>
            </a:r>
            <a:r>
              <a:rPr dirty="0"/>
              <a:t>	</a:t>
            </a:r>
            <a:r>
              <a:rPr spc="10" dirty="0"/>
              <a:t>l</a:t>
            </a:r>
            <a:r>
              <a:rPr spc="-20" dirty="0"/>
              <a:t>i</a:t>
            </a:r>
            <a:r>
              <a:rPr spc="10" dirty="0"/>
              <a:t>b</a:t>
            </a:r>
            <a:r>
              <a:rPr spc="-20" dirty="0"/>
              <a:t>r</a:t>
            </a:r>
            <a:r>
              <a:rPr spc="-45" dirty="0"/>
              <a:t>e</a:t>
            </a:r>
            <a:r>
              <a:rPr spc="-20" dirty="0"/>
              <a:t>r</a:t>
            </a:r>
            <a:r>
              <a:rPr spc="10" dirty="0"/>
              <a:t>i</a:t>
            </a:r>
            <a:r>
              <a:rPr spc="5" dirty="0"/>
              <a:t>a</a:t>
            </a:r>
            <a:r>
              <a:rPr dirty="0"/>
              <a:t>	</a:t>
            </a:r>
            <a:r>
              <a:rPr spc="-20" dirty="0"/>
              <a:t>r</a:t>
            </a:r>
            <a:r>
              <a:rPr spc="-30" dirty="0"/>
              <a:t>o</a:t>
            </a:r>
            <a:r>
              <a:rPr spc="15" dirty="0"/>
              <a:t>u</a:t>
            </a:r>
            <a:r>
              <a:rPr spc="-50" dirty="0"/>
              <a:t>t</a:t>
            </a:r>
            <a:r>
              <a:rPr spc="-10" dirty="0"/>
              <a:t>e</a:t>
            </a:r>
            <a:r>
              <a:rPr spc="20" dirty="0"/>
              <a:t>r</a:t>
            </a:r>
            <a:r>
              <a:rPr spc="-35" dirty="0"/>
              <a:t>-</a:t>
            </a:r>
            <a:r>
              <a:rPr spc="10" dirty="0"/>
              <a:t>d</a:t>
            </a:r>
            <a:r>
              <a:rPr dirty="0"/>
              <a:t>o</a:t>
            </a:r>
            <a:r>
              <a:rPr spc="10" dirty="0"/>
              <a:t>m</a:t>
            </a:r>
            <a:r>
              <a:rPr dirty="0"/>
              <a:t>	</a:t>
            </a:r>
            <a:r>
              <a:rPr spc="-35" dirty="0"/>
              <a:t>c</a:t>
            </a:r>
            <a:r>
              <a:rPr spc="10" dirty="0"/>
              <a:t>h</a:t>
            </a:r>
            <a:r>
              <a:rPr spc="5" dirty="0"/>
              <a:t>e  </a:t>
            </a:r>
            <a:r>
              <a:rPr dirty="0"/>
              <a:t>esamineremo</a:t>
            </a:r>
            <a:r>
              <a:rPr spc="-95" dirty="0"/>
              <a:t> </a:t>
            </a:r>
            <a:r>
              <a:rPr spc="5" dirty="0"/>
              <a:t>sono</a:t>
            </a:r>
            <a:r>
              <a:rPr spc="-40" dirty="0"/>
              <a:t> </a:t>
            </a:r>
            <a:r>
              <a:rPr dirty="0"/>
              <a:t>: </a:t>
            </a:r>
            <a:r>
              <a:rPr lang="it-IT" dirty="0" err="1"/>
              <a:t>BrowserRouter</a:t>
            </a:r>
            <a:r>
              <a:rPr lang="it-IT" dirty="0"/>
              <a:t>, </a:t>
            </a:r>
            <a:r>
              <a:rPr lang="it-IT" spc="-25" dirty="0" err="1"/>
              <a:t>Routes</a:t>
            </a:r>
            <a:r>
              <a:rPr spc="-25" dirty="0"/>
              <a:t>,</a:t>
            </a:r>
            <a:r>
              <a:rPr spc="-125" dirty="0"/>
              <a:t> </a:t>
            </a:r>
            <a:r>
              <a:rPr spc="-15" dirty="0"/>
              <a:t>Route</a:t>
            </a:r>
            <a:r>
              <a:rPr lang="it-IT" spc="-15" dirty="0"/>
              <a:t>.</a:t>
            </a:r>
            <a:br>
              <a:rPr lang="it-IT" spc="-15" dirty="0"/>
            </a:br>
            <a:r>
              <a:rPr lang="it-IT" b="1" spc="-10" dirty="0" err="1">
                <a:solidFill>
                  <a:srgbClr val="FF0000"/>
                </a:solidFill>
              </a:rPr>
              <a:t>BrowserRouter</a:t>
            </a:r>
            <a:r>
              <a:rPr lang="it-IT" b="1" spc="245" dirty="0">
                <a:solidFill>
                  <a:srgbClr val="FF0000"/>
                </a:solidFill>
              </a:rPr>
              <a:t> </a:t>
            </a:r>
            <a:r>
              <a:rPr lang="it-IT" spc="5" dirty="0"/>
              <a:t>è</a:t>
            </a:r>
            <a:r>
              <a:rPr lang="it-IT" spc="225" dirty="0"/>
              <a:t> </a:t>
            </a:r>
            <a:r>
              <a:rPr lang="it-IT" spc="-10" dirty="0"/>
              <a:t>il</a:t>
            </a:r>
            <a:r>
              <a:rPr lang="it-IT" spc="250" dirty="0"/>
              <a:t> </a:t>
            </a:r>
            <a:r>
              <a:rPr lang="it-IT" spc="-15" dirty="0"/>
              <a:t>componente</a:t>
            </a:r>
            <a:r>
              <a:rPr lang="it-IT" spc="235" dirty="0"/>
              <a:t> </a:t>
            </a:r>
            <a:r>
              <a:rPr lang="it-IT" spc="10" dirty="0"/>
              <a:t>in</a:t>
            </a:r>
            <a:r>
              <a:rPr lang="it-IT" spc="250" dirty="0"/>
              <a:t> </a:t>
            </a:r>
            <a:r>
              <a:rPr lang="it-IT" spc="-10" dirty="0"/>
              <a:t>grado</a:t>
            </a:r>
            <a:r>
              <a:rPr lang="it-IT" spc="245" dirty="0"/>
              <a:t> </a:t>
            </a:r>
            <a:r>
              <a:rPr lang="it-IT" spc="-10" dirty="0"/>
              <a:t>di</a:t>
            </a:r>
            <a:r>
              <a:rPr lang="it-IT" spc="254" dirty="0"/>
              <a:t> </a:t>
            </a:r>
            <a:r>
              <a:rPr lang="it-IT" spc="-15" dirty="0"/>
              <a:t>gestire </a:t>
            </a:r>
            <a:r>
              <a:rPr lang="it-IT" spc="-665" dirty="0"/>
              <a:t> </a:t>
            </a:r>
            <a:r>
              <a:rPr lang="it-IT" spc="10" dirty="0"/>
              <a:t>il </a:t>
            </a:r>
            <a:r>
              <a:rPr lang="it-IT" spc="-15" dirty="0"/>
              <a:t>Routing </a:t>
            </a:r>
            <a:r>
              <a:rPr lang="it-IT" spc="-5" dirty="0"/>
              <a:t>della </a:t>
            </a:r>
            <a:r>
              <a:rPr lang="it-IT" spc="-25" dirty="0"/>
              <a:t>nostra </a:t>
            </a:r>
            <a:r>
              <a:rPr lang="it-IT" spc="-5" dirty="0"/>
              <a:t>applicazione, </a:t>
            </a:r>
            <a:r>
              <a:rPr lang="it-IT" spc="-15" dirty="0"/>
              <a:t>mentre </a:t>
            </a:r>
            <a:r>
              <a:rPr lang="it-IT" b="1" spc="-15" dirty="0" err="1">
                <a:solidFill>
                  <a:srgbClr val="FF0000"/>
                </a:solidFill>
              </a:rPr>
              <a:t>Route</a:t>
            </a:r>
            <a:r>
              <a:rPr lang="it-IT" b="1" spc="-15" dirty="0">
                <a:solidFill>
                  <a:srgbClr val="FF0000"/>
                </a:solidFill>
              </a:rPr>
              <a:t> </a:t>
            </a:r>
            <a:r>
              <a:rPr lang="it-IT" spc="5" dirty="0"/>
              <a:t>ci </a:t>
            </a:r>
            <a:r>
              <a:rPr lang="it-IT" spc="-665" dirty="0"/>
              <a:t> </a:t>
            </a:r>
            <a:r>
              <a:rPr lang="it-IT" spc="-15" dirty="0"/>
              <a:t>permette </a:t>
            </a:r>
            <a:r>
              <a:rPr lang="it-IT" spc="-10" dirty="0"/>
              <a:t>di creare </a:t>
            </a:r>
            <a:r>
              <a:rPr lang="it-IT" spc="5" dirty="0"/>
              <a:t>e </a:t>
            </a:r>
            <a:r>
              <a:rPr lang="it-IT" spc="-15" dirty="0"/>
              <a:t>gestire </a:t>
            </a:r>
            <a:r>
              <a:rPr lang="it-IT" spc="15" dirty="0"/>
              <a:t>uno </a:t>
            </a:r>
            <a:r>
              <a:rPr lang="it-IT" spc="-10" dirty="0"/>
              <a:t>specifico indirizzo </a:t>
            </a:r>
            <a:r>
              <a:rPr lang="it-IT" spc="-5" dirty="0"/>
              <a:t> </a:t>
            </a:r>
            <a:r>
              <a:rPr lang="it-IT" spc="10" dirty="0"/>
              <a:t>di</a:t>
            </a:r>
            <a:r>
              <a:rPr lang="it-IT" spc="-25" dirty="0"/>
              <a:t> </a:t>
            </a:r>
            <a:r>
              <a:rPr lang="it-IT" dirty="0"/>
              <a:t>destinazione.</a:t>
            </a:r>
            <a:r>
              <a:rPr lang="it-IT" spc="-130" dirty="0"/>
              <a:t> </a:t>
            </a:r>
            <a:br>
              <a:rPr lang="it-IT" spc="-130" dirty="0"/>
            </a:br>
            <a:r>
              <a:rPr lang="it-IT" spc="-15" dirty="0"/>
              <a:t>Le </a:t>
            </a:r>
            <a:r>
              <a:rPr lang="it-IT" spc="-15" dirty="0" err="1"/>
              <a:t>Route</a:t>
            </a:r>
            <a:r>
              <a:rPr lang="it-IT" spc="-15" dirty="0"/>
              <a:t> devono essere </a:t>
            </a:r>
            <a:r>
              <a:rPr lang="it-IT" spc="-15" dirty="0" err="1"/>
              <a:t>wrappate</a:t>
            </a:r>
            <a:r>
              <a:rPr lang="it-IT" spc="-15" dirty="0"/>
              <a:t> dal component </a:t>
            </a:r>
            <a:r>
              <a:rPr lang="it-IT" b="1" spc="-15" dirty="0" err="1">
                <a:solidFill>
                  <a:srgbClr val="FF0000"/>
                </a:solidFill>
              </a:rPr>
              <a:t>Routes</a:t>
            </a:r>
            <a:br>
              <a:rPr lang="it-IT" b="1" spc="-15" dirty="0">
                <a:solidFill>
                  <a:srgbClr val="FF0000"/>
                </a:solidFill>
              </a:rPr>
            </a:br>
            <a:br>
              <a:rPr lang="it-IT" b="1" spc="-15" dirty="0">
                <a:solidFill>
                  <a:srgbClr val="FF0000"/>
                </a:solidFill>
              </a:rPr>
            </a:br>
            <a:r>
              <a:rPr lang="it-IT" spc="-15" dirty="0"/>
              <a:t>Di seguito la sintassi, abbiamo anche creato 3 componenti per simulare tre differenti pagine di un sito web</a:t>
            </a:r>
            <a:endParaRPr spc="-15" dirty="0"/>
          </a:p>
        </p:txBody>
      </p:sp>
      <p:sp>
        <p:nvSpPr>
          <p:cNvPr id="3" name="object 3"/>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2421" y="536575"/>
            <a:ext cx="8079105" cy="798295"/>
          </a:xfrm>
          <a:prstGeom prst="rect">
            <a:avLst/>
          </a:prstGeom>
        </p:spPr>
        <p:txBody>
          <a:bodyPr vert="horz" wrap="square" lIns="0" tIns="120015" rIns="0" bIns="0" rtlCol="0">
            <a:spAutoFit/>
          </a:bodyPr>
          <a:lstStyle/>
          <a:p>
            <a:pPr marR="2540" algn="ctr">
              <a:lnSpc>
                <a:spcPct val="100000"/>
              </a:lnSpc>
              <a:spcBef>
                <a:spcPts val="945"/>
              </a:spcBef>
            </a:pPr>
            <a:r>
              <a:rPr sz="4400" spc="-25" dirty="0" err="1"/>
              <a:t>BrowserRouter</a:t>
            </a:r>
            <a:endParaRPr sz="4400" dirty="0"/>
          </a:p>
        </p:txBody>
      </p:sp>
      <p:sp>
        <p:nvSpPr>
          <p:cNvPr id="3" name="object 3"/>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pic>
        <p:nvPicPr>
          <p:cNvPr id="5" name="Immagine 4">
            <a:extLst>
              <a:ext uri="{FF2B5EF4-FFF2-40B4-BE49-F238E27FC236}">
                <a16:creationId xmlns:a16="http://schemas.microsoft.com/office/drawing/2014/main" id="{E97BAF70-8ECA-4F17-A10B-4AA13A14364C}"/>
              </a:ext>
            </a:extLst>
          </p:cNvPr>
          <p:cNvPicPr>
            <a:picLocks noChangeAspect="1"/>
          </p:cNvPicPr>
          <p:nvPr/>
        </p:nvPicPr>
        <p:blipFill>
          <a:blip r:embed="rId2"/>
          <a:stretch>
            <a:fillRect/>
          </a:stretch>
        </p:blipFill>
        <p:spPr>
          <a:xfrm>
            <a:off x="1409231" y="1831975"/>
            <a:ext cx="6325483" cy="373432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6244" y="915225"/>
            <a:ext cx="8069580" cy="2164695"/>
          </a:xfrm>
          <a:prstGeom prst="rect">
            <a:avLst/>
          </a:prstGeom>
        </p:spPr>
        <p:txBody>
          <a:bodyPr vert="horz" wrap="square" lIns="0" tIns="10160" rIns="0" bIns="0" rtlCol="0">
            <a:spAutoFit/>
          </a:bodyPr>
          <a:lstStyle/>
          <a:p>
            <a:pPr marL="12700" marR="5080" algn="just">
              <a:lnSpc>
                <a:spcPct val="100299"/>
              </a:lnSpc>
              <a:spcBef>
                <a:spcPts val="80"/>
              </a:spcBef>
            </a:pPr>
            <a:r>
              <a:rPr lang="it-IT" sz="2800" spc="-25" dirty="0"/>
              <a:t>Per navigare all'interno dell'applicazione, utilizziamo un altro componente chiamato Link, che importiamo da </a:t>
            </a:r>
            <a:r>
              <a:rPr lang="it-IT" sz="2800" spc="-25" dirty="0" err="1"/>
              <a:t>react</a:t>
            </a:r>
            <a:r>
              <a:rPr lang="it-IT" sz="2800" spc="-25" dirty="0"/>
              <a:t>-router-dom. Creiamo rapidamente una barra di navigazione (</a:t>
            </a:r>
            <a:r>
              <a:rPr lang="it-IT" sz="2800" spc="-25" dirty="0" err="1"/>
              <a:t>nav</a:t>
            </a:r>
            <a:r>
              <a:rPr lang="it-IT" sz="2800" spc="-25" dirty="0"/>
              <a:t>) all'interno del nostro &lt;Router&gt; ma al di fuori dei &lt;</a:t>
            </a:r>
            <a:r>
              <a:rPr lang="it-IT" sz="2800" spc="-25" dirty="0" err="1"/>
              <a:t>Routes</a:t>
            </a:r>
            <a:r>
              <a:rPr lang="it-IT" sz="2800" spc="-25" dirty="0"/>
              <a:t>&gt;. </a:t>
            </a:r>
            <a:endParaRPr sz="2800" dirty="0"/>
          </a:p>
        </p:txBody>
      </p:sp>
      <p:sp>
        <p:nvSpPr>
          <p:cNvPr id="3" name="object 3"/>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pic>
        <p:nvPicPr>
          <p:cNvPr id="7" name="Immagine 6">
            <a:extLst>
              <a:ext uri="{FF2B5EF4-FFF2-40B4-BE49-F238E27FC236}">
                <a16:creationId xmlns:a16="http://schemas.microsoft.com/office/drawing/2014/main" id="{EB6E836D-EA78-4E5E-8D84-221CBE7FF2D8}"/>
              </a:ext>
            </a:extLst>
          </p:cNvPr>
          <p:cNvPicPr>
            <a:picLocks noChangeAspect="1"/>
          </p:cNvPicPr>
          <p:nvPr/>
        </p:nvPicPr>
        <p:blipFill>
          <a:blip r:embed="rId2"/>
          <a:stretch>
            <a:fillRect/>
          </a:stretch>
        </p:blipFill>
        <p:spPr>
          <a:xfrm>
            <a:off x="1515056" y="3256005"/>
            <a:ext cx="6111955" cy="30044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6244" y="1131506"/>
            <a:ext cx="8074025" cy="1977389"/>
          </a:xfrm>
          <a:prstGeom prst="rect">
            <a:avLst/>
          </a:prstGeom>
        </p:spPr>
        <p:txBody>
          <a:bodyPr vert="horz" wrap="square" lIns="0" tIns="11430" rIns="0" bIns="0" rtlCol="0">
            <a:spAutoFit/>
          </a:bodyPr>
          <a:lstStyle/>
          <a:p>
            <a:pPr marL="12700" marR="5080" algn="just">
              <a:lnSpc>
                <a:spcPct val="100099"/>
              </a:lnSpc>
              <a:spcBef>
                <a:spcPts val="90"/>
              </a:spcBef>
            </a:pPr>
            <a:r>
              <a:rPr sz="3200" spc="-25" dirty="0">
                <a:latin typeface="Calibri"/>
                <a:cs typeface="Calibri"/>
              </a:rPr>
              <a:t>Per </a:t>
            </a:r>
            <a:r>
              <a:rPr sz="3200" spc="-30" dirty="0">
                <a:latin typeface="Calibri"/>
                <a:cs typeface="Calibri"/>
              </a:rPr>
              <a:t>fare </a:t>
            </a:r>
            <a:r>
              <a:rPr sz="3200" spc="-5" dirty="0">
                <a:latin typeface="Calibri"/>
                <a:cs typeface="Calibri"/>
              </a:rPr>
              <a:t>una prima </a:t>
            </a:r>
            <a:r>
              <a:rPr sz="3200" spc="-25" dirty="0">
                <a:latin typeface="Calibri"/>
                <a:cs typeface="Calibri"/>
              </a:rPr>
              <a:t>prova </a:t>
            </a:r>
            <a:r>
              <a:rPr sz="3200" spc="-5" dirty="0">
                <a:latin typeface="Calibri"/>
                <a:cs typeface="Calibri"/>
              </a:rPr>
              <a:t>possiamo </a:t>
            </a:r>
            <a:r>
              <a:rPr sz="3200" spc="-10" dirty="0">
                <a:latin typeface="Calibri"/>
                <a:cs typeface="Calibri"/>
              </a:rPr>
              <a:t>aprire </a:t>
            </a:r>
            <a:r>
              <a:rPr sz="3200" spc="-30" dirty="0">
                <a:latin typeface="Calibri"/>
                <a:cs typeface="Calibri"/>
              </a:rPr>
              <a:t>ora </a:t>
            </a:r>
            <a:r>
              <a:rPr sz="3200" spc="5" dirty="0">
                <a:latin typeface="Calibri"/>
                <a:cs typeface="Calibri"/>
              </a:rPr>
              <a:t>il </a:t>
            </a:r>
            <a:r>
              <a:rPr sz="3200" spc="10" dirty="0">
                <a:latin typeface="Calibri"/>
                <a:cs typeface="Calibri"/>
              </a:rPr>
              <a:t> </a:t>
            </a:r>
            <a:r>
              <a:rPr sz="3200" spc="-20" dirty="0">
                <a:latin typeface="Calibri"/>
                <a:cs typeface="Calibri"/>
              </a:rPr>
              <a:t>nostro</a:t>
            </a:r>
            <a:r>
              <a:rPr sz="3200" spc="-15" dirty="0">
                <a:latin typeface="Calibri"/>
                <a:cs typeface="Calibri"/>
              </a:rPr>
              <a:t> </a:t>
            </a:r>
            <a:r>
              <a:rPr sz="3200" spc="-20" dirty="0">
                <a:latin typeface="Calibri"/>
                <a:cs typeface="Calibri"/>
              </a:rPr>
              <a:t>browser</a:t>
            </a:r>
            <a:r>
              <a:rPr sz="3200" spc="-15" dirty="0">
                <a:latin typeface="Calibri"/>
                <a:cs typeface="Calibri"/>
              </a:rPr>
              <a:t> </a:t>
            </a:r>
            <a:r>
              <a:rPr sz="3200" spc="-5" dirty="0">
                <a:latin typeface="Calibri"/>
                <a:cs typeface="Calibri"/>
              </a:rPr>
              <a:t>e</a:t>
            </a:r>
            <a:r>
              <a:rPr sz="3200" dirty="0">
                <a:latin typeface="Calibri"/>
                <a:cs typeface="Calibri"/>
              </a:rPr>
              <a:t> </a:t>
            </a:r>
            <a:r>
              <a:rPr sz="3200" spc="-5" dirty="0">
                <a:latin typeface="Calibri"/>
                <a:cs typeface="Calibri"/>
              </a:rPr>
              <a:t>nella</a:t>
            </a:r>
            <a:r>
              <a:rPr sz="3200" dirty="0">
                <a:latin typeface="Calibri"/>
                <a:cs typeface="Calibri"/>
              </a:rPr>
              <a:t> </a:t>
            </a:r>
            <a:r>
              <a:rPr sz="3200" spc="-15" dirty="0">
                <a:latin typeface="Calibri"/>
                <a:cs typeface="Calibri"/>
              </a:rPr>
              <a:t>url</a:t>
            </a:r>
            <a:r>
              <a:rPr sz="3200" spc="-10" dirty="0">
                <a:latin typeface="Calibri"/>
                <a:cs typeface="Calibri"/>
              </a:rPr>
              <a:t> </a:t>
            </a:r>
            <a:r>
              <a:rPr sz="3200" spc="-5" dirty="0">
                <a:latin typeface="Calibri"/>
                <a:cs typeface="Calibri"/>
              </a:rPr>
              <a:t>principale</a:t>
            </a:r>
            <a:r>
              <a:rPr sz="3200" dirty="0">
                <a:latin typeface="Calibri"/>
                <a:cs typeface="Calibri"/>
              </a:rPr>
              <a:t> </a:t>
            </a:r>
            <a:r>
              <a:rPr sz="3200" spc="-10" dirty="0">
                <a:latin typeface="Calibri"/>
                <a:cs typeface="Calibri"/>
              </a:rPr>
              <a:t>ci </a:t>
            </a:r>
            <a:r>
              <a:rPr sz="3200" spc="-5" dirty="0">
                <a:latin typeface="Calibri"/>
                <a:cs typeface="Calibri"/>
              </a:rPr>
              <a:t> </a:t>
            </a:r>
            <a:r>
              <a:rPr sz="3200" dirty="0">
                <a:latin typeface="Calibri"/>
                <a:cs typeface="Calibri"/>
              </a:rPr>
              <a:t>aggiungiamo </a:t>
            </a:r>
            <a:r>
              <a:rPr sz="3200" spc="-5" dirty="0">
                <a:latin typeface="Calibri"/>
                <a:cs typeface="Calibri"/>
              </a:rPr>
              <a:t>/chisono </a:t>
            </a:r>
            <a:r>
              <a:rPr sz="3200" spc="-10" dirty="0">
                <a:latin typeface="Calibri"/>
                <a:cs typeface="Calibri"/>
              </a:rPr>
              <a:t>cosi </a:t>
            </a:r>
            <a:r>
              <a:rPr sz="3200" spc="-20" dirty="0">
                <a:latin typeface="Calibri"/>
                <a:cs typeface="Calibri"/>
              </a:rPr>
              <a:t>come </a:t>
            </a:r>
            <a:r>
              <a:rPr sz="3200" spc="-15" dirty="0">
                <a:latin typeface="Calibri"/>
                <a:cs typeface="Calibri"/>
              </a:rPr>
              <a:t>configurato </a:t>
            </a:r>
            <a:r>
              <a:rPr sz="3200" spc="-10" dirty="0">
                <a:latin typeface="Calibri"/>
                <a:cs typeface="Calibri"/>
              </a:rPr>
              <a:t>nel </a:t>
            </a:r>
            <a:r>
              <a:rPr sz="3200" spc="-5" dirty="0">
                <a:latin typeface="Calibri"/>
                <a:cs typeface="Calibri"/>
              </a:rPr>
              <a:t> </a:t>
            </a:r>
            <a:r>
              <a:rPr sz="3200" spc="-30" dirty="0">
                <a:latin typeface="Calibri"/>
                <a:cs typeface="Calibri"/>
              </a:rPr>
              <a:t>BrowserRouter</a:t>
            </a:r>
            <a:r>
              <a:rPr sz="3200" spc="90" dirty="0">
                <a:latin typeface="Calibri"/>
                <a:cs typeface="Calibri"/>
              </a:rPr>
              <a:t> </a:t>
            </a:r>
            <a:r>
              <a:rPr sz="3200" spc="-5" dirty="0">
                <a:latin typeface="Calibri"/>
                <a:cs typeface="Calibri"/>
              </a:rPr>
              <a:t>:</a:t>
            </a:r>
            <a:endParaRPr sz="3200">
              <a:latin typeface="Calibri"/>
              <a:cs typeface="Calibri"/>
            </a:endParaRPr>
          </a:p>
        </p:txBody>
      </p:sp>
      <p:sp>
        <p:nvSpPr>
          <p:cNvPr id="3" name="object 3"/>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pic>
        <p:nvPicPr>
          <p:cNvPr id="6" name="Immagine 5">
            <a:extLst>
              <a:ext uri="{FF2B5EF4-FFF2-40B4-BE49-F238E27FC236}">
                <a16:creationId xmlns:a16="http://schemas.microsoft.com/office/drawing/2014/main" id="{3ABC6FF1-E4B4-44BF-B11B-40C4439228DC}"/>
              </a:ext>
            </a:extLst>
          </p:cNvPr>
          <p:cNvPicPr>
            <a:picLocks noChangeAspect="1"/>
          </p:cNvPicPr>
          <p:nvPr/>
        </p:nvPicPr>
        <p:blipFill>
          <a:blip r:embed="rId2"/>
          <a:stretch>
            <a:fillRect/>
          </a:stretch>
        </p:blipFill>
        <p:spPr>
          <a:xfrm>
            <a:off x="609600" y="3584575"/>
            <a:ext cx="7924800" cy="90054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71" y="1069975"/>
            <a:ext cx="8079105" cy="4631396"/>
          </a:xfrm>
          <a:prstGeom prst="rect">
            <a:avLst/>
          </a:prstGeom>
        </p:spPr>
        <p:txBody>
          <a:bodyPr vert="horz" wrap="square" lIns="0" tIns="60325" rIns="0" bIns="0" rtlCol="0">
            <a:spAutoFit/>
          </a:bodyPr>
          <a:lstStyle/>
          <a:p>
            <a:pPr marL="12700" marR="5080" algn="l">
              <a:lnSpc>
                <a:spcPct val="90000"/>
              </a:lnSpc>
              <a:spcBef>
                <a:spcPts val="475"/>
              </a:spcBef>
            </a:pPr>
            <a:r>
              <a:rPr lang="it-IT" spc="5" dirty="0"/>
              <a:t>All'interno della barra di navigazione, ci sono componenti `&lt;Link&gt;`, che definiscono i percorsi all'interno dell'applicazione. Per le voci di menu come "Home", "About" e "</a:t>
            </a:r>
            <a:r>
              <a:rPr lang="it-IT" spc="5" dirty="0" err="1"/>
              <a:t>Profile</a:t>
            </a:r>
            <a:r>
              <a:rPr lang="it-IT" spc="5" dirty="0"/>
              <a:t>", utilizzeremo tag come `&lt;Link to="/</a:t>
            </a:r>
            <a:r>
              <a:rPr lang="it-IT" spc="5" dirty="0" err="1"/>
              <a:t>about</a:t>
            </a:r>
            <a:r>
              <a:rPr lang="it-IT" spc="5" dirty="0"/>
              <a:t>"&gt;About&lt;/Link&gt;` </a:t>
            </a:r>
            <a:br>
              <a:rPr lang="it-IT" spc="5" dirty="0"/>
            </a:br>
            <a:r>
              <a:rPr lang="it-IT" spc="5" dirty="0"/>
              <a:t>e `&lt;Link to="/</a:t>
            </a:r>
            <a:r>
              <a:rPr lang="it-IT" spc="5" dirty="0" err="1"/>
              <a:t>profile</a:t>
            </a:r>
            <a:r>
              <a:rPr lang="it-IT" spc="5" dirty="0"/>
              <a:t>"&gt;</a:t>
            </a:r>
            <a:r>
              <a:rPr lang="it-IT" spc="5" dirty="0" err="1"/>
              <a:t>Profile</a:t>
            </a:r>
            <a:r>
              <a:rPr lang="it-IT" spc="5" dirty="0"/>
              <a:t>&lt;/Link&gt;`. </a:t>
            </a:r>
            <a:br>
              <a:rPr lang="it-IT" spc="5" dirty="0"/>
            </a:br>
            <a:br>
              <a:rPr lang="it-IT" spc="5" dirty="0"/>
            </a:br>
            <a:r>
              <a:rPr lang="it-IT" spc="5" dirty="0"/>
              <a:t>Abbiamo ottenuto una barra di navigazione pratica che ci consente di spostarci tra le varie sezioni dell'app senza necessità di ricaricare la pagina</a:t>
            </a:r>
            <a:br>
              <a:rPr lang="it-IT" spc="5" dirty="0"/>
            </a:br>
            <a:r>
              <a:rPr lang="it-IT" spc="5" dirty="0"/>
              <a:t>.</a:t>
            </a:r>
            <a:endParaRPr dirty="0"/>
          </a:p>
        </p:txBody>
      </p:sp>
      <p:sp>
        <p:nvSpPr>
          <p:cNvPr id="3" name="object 3"/>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2447" y="882127"/>
            <a:ext cx="8079105" cy="5379293"/>
          </a:xfrm>
          <a:prstGeom prst="rect">
            <a:avLst/>
          </a:prstGeom>
        </p:spPr>
        <p:txBody>
          <a:bodyPr vert="horz" wrap="square" lIns="0" tIns="60325" rIns="0" bIns="0" rtlCol="0">
            <a:spAutoFit/>
          </a:bodyPr>
          <a:lstStyle/>
          <a:p>
            <a:pPr marL="12700" marR="5080" algn="l">
              <a:lnSpc>
                <a:spcPct val="90000"/>
              </a:lnSpc>
              <a:spcBef>
                <a:spcPts val="475"/>
              </a:spcBef>
            </a:pPr>
            <a:r>
              <a:rPr lang="it-IT" sz="2400" spc="5" dirty="0"/>
              <a:t>Il contrasto tra l'uso del componente `&lt;Link&gt;` e un ancor tag tradizionale come `&lt;a </a:t>
            </a:r>
            <a:r>
              <a:rPr lang="it-IT" sz="2400" spc="5" dirty="0" err="1"/>
              <a:t>href</a:t>
            </a:r>
            <a:r>
              <a:rPr lang="it-IT" sz="2400" spc="5" dirty="0"/>
              <a:t>="/</a:t>
            </a:r>
            <a:r>
              <a:rPr lang="it-IT" sz="2400" spc="5" dirty="0" err="1"/>
              <a:t>about</a:t>
            </a:r>
            <a:r>
              <a:rPr lang="it-IT" sz="2400" spc="5" dirty="0"/>
              <a:t>"&gt;About&lt;/a&gt;` è notevole. Mentre `&lt;a </a:t>
            </a:r>
            <a:r>
              <a:rPr lang="it-IT" sz="2400" spc="5" dirty="0" err="1"/>
              <a:t>href</a:t>
            </a:r>
            <a:r>
              <a:rPr lang="it-IT" sz="2400" spc="5" dirty="0"/>
              <a:t>&gt;` provoca il ricaricamento dell'intera applicazione, `&lt;Link&gt;` consente una transizione istantanea tra le viste, migliorando sensibilmente l'esperienza utente. Questo approccio è vitale in una Single Page Application (SPA), poiché si intende evitare il completo ricaricamento dell'app al cambio di vista, preservando lo stato dell'applicazione e garantendo una navigazione fluida.</a:t>
            </a:r>
            <a:br>
              <a:rPr lang="it-IT" sz="2400" spc="5" dirty="0"/>
            </a:br>
            <a:br>
              <a:rPr lang="it-IT" sz="2400" spc="5" dirty="0"/>
            </a:br>
            <a:r>
              <a:rPr lang="it-IT" sz="2400" spc="5" dirty="0"/>
              <a:t>In caso di navigazione verso un percorso non definito, come "/</a:t>
            </a:r>
            <a:r>
              <a:rPr lang="it-IT" sz="2400" spc="5" dirty="0" err="1"/>
              <a:t>profile</a:t>
            </a:r>
            <a:r>
              <a:rPr lang="it-IT" sz="2400" spc="5" dirty="0"/>
              <a:t>/1", l'utente vedrà solamente la barra di navigazione, che è progettata per essere sempre visibile. Per gestire queste situazioni, implementiamo un componente `</a:t>
            </a:r>
            <a:r>
              <a:rPr lang="it-IT" sz="2400" spc="5" dirty="0" err="1"/>
              <a:t>ErrorPage</a:t>
            </a:r>
            <a:r>
              <a:rPr lang="it-IT" sz="2400" spc="5" dirty="0"/>
              <a:t>` che verrà mostrato qualora l'utente acceda a un indirizzo inesistente nell'app.</a:t>
            </a:r>
            <a:endParaRPr sz="2400" dirty="0"/>
          </a:p>
        </p:txBody>
      </p:sp>
      <p:sp>
        <p:nvSpPr>
          <p:cNvPr id="3" name="object 3"/>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Tree>
    <p:extLst>
      <p:ext uri="{BB962C8B-B14F-4D97-AF65-F5344CB8AC3E}">
        <p14:creationId xmlns:p14="http://schemas.microsoft.com/office/powerpoint/2010/main" val="2315692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2446" y="1101831"/>
            <a:ext cx="8079105" cy="2775503"/>
          </a:xfrm>
          <a:prstGeom prst="rect">
            <a:avLst/>
          </a:prstGeom>
        </p:spPr>
        <p:txBody>
          <a:bodyPr vert="horz" wrap="square" lIns="0" tIns="60325" rIns="0" bIns="0" rtlCol="0">
            <a:spAutoFit/>
          </a:bodyPr>
          <a:lstStyle/>
          <a:p>
            <a:pPr marL="12700" marR="5080" algn="l">
              <a:lnSpc>
                <a:spcPct val="90000"/>
              </a:lnSpc>
              <a:spcBef>
                <a:spcPts val="475"/>
              </a:spcBef>
            </a:pPr>
            <a:r>
              <a:rPr lang="it-IT" sz="2800" spc="5" dirty="0"/>
              <a:t>Con l'introduzione di </a:t>
            </a:r>
            <a:r>
              <a:rPr lang="it-IT" sz="2800" spc="5" dirty="0" err="1"/>
              <a:t>React</a:t>
            </a:r>
            <a:r>
              <a:rPr lang="it-IT" sz="2800" spc="5" dirty="0"/>
              <a:t> Router v6, non è più necessario collocare la </a:t>
            </a:r>
            <a:r>
              <a:rPr lang="it-IT" sz="2800" spc="5" dirty="0" err="1"/>
              <a:t>route</a:t>
            </a:r>
            <a:r>
              <a:rPr lang="it-IT" sz="2800" spc="5" dirty="0"/>
              <a:t> di `</a:t>
            </a:r>
            <a:r>
              <a:rPr lang="it-IT" sz="2800" spc="5" dirty="0" err="1"/>
              <a:t>ErrorPage</a:t>
            </a:r>
            <a:r>
              <a:rPr lang="it-IT" sz="2800" spc="5" dirty="0"/>
              <a:t>` come ultima nell'elenco delle </a:t>
            </a:r>
            <a:r>
              <a:rPr lang="it-IT" sz="2800" spc="5" dirty="0" err="1"/>
              <a:t>routes</a:t>
            </a:r>
            <a:r>
              <a:rPr lang="it-IT" sz="2800" spc="5" dirty="0"/>
              <a:t>. Grazie ad un sistema di </a:t>
            </a:r>
            <a:r>
              <a:rPr lang="it-IT" sz="2800" spc="5" dirty="0" err="1"/>
              <a:t>matching</a:t>
            </a:r>
            <a:r>
              <a:rPr lang="it-IT" sz="2800" spc="5" dirty="0"/>
              <a:t> dei percorsi migliorato, l'algoritmo esamina prima le </a:t>
            </a:r>
            <a:r>
              <a:rPr lang="it-IT" sz="2800" spc="5" dirty="0" err="1"/>
              <a:t>route</a:t>
            </a:r>
            <a:r>
              <a:rPr lang="it-IT" sz="2800" spc="5" dirty="0"/>
              <a:t> definite e, in assenza di corrispondenze, </a:t>
            </a:r>
            <a:r>
              <a:rPr lang="it-IT" sz="2800" spc="5" dirty="0" err="1"/>
              <a:t>renderizza</a:t>
            </a:r>
            <a:r>
              <a:rPr lang="it-IT" sz="2800" spc="5" dirty="0"/>
              <a:t> `</a:t>
            </a:r>
            <a:r>
              <a:rPr lang="it-IT" sz="2800" spc="5" dirty="0" err="1"/>
              <a:t>ErrorPage</a:t>
            </a:r>
            <a:r>
              <a:rPr lang="it-IT" sz="2800" spc="5" dirty="0"/>
              <a:t>`, evitando così la visualizzazione di contenuti non previsti.</a:t>
            </a:r>
            <a:endParaRPr sz="2800" dirty="0"/>
          </a:p>
        </p:txBody>
      </p:sp>
      <p:sp>
        <p:nvSpPr>
          <p:cNvPr id="3" name="object 3"/>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pic>
        <p:nvPicPr>
          <p:cNvPr id="4" name="Immagine 3">
            <a:extLst>
              <a:ext uri="{FF2B5EF4-FFF2-40B4-BE49-F238E27FC236}">
                <a16:creationId xmlns:a16="http://schemas.microsoft.com/office/drawing/2014/main" id="{F5FFE72C-5A16-4E29-B776-6DAD3F4ED45F}"/>
              </a:ext>
            </a:extLst>
          </p:cNvPr>
          <p:cNvPicPr>
            <a:picLocks noChangeAspect="1"/>
          </p:cNvPicPr>
          <p:nvPr/>
        </p:nvPicPr>
        <p:blipFill>
          <a:blip r:embed="rId2"/>
          <a:stretch>
            <a:fillRect/>
          </a:stretch>
        </p:blipFill>
        <p:spPr>
          <a:xfrm>
            <a:off x="2028468" y="4244638"/>
            <a:ext cx="5087060" cy="1171739"/>
          </a:xfrm>
          <a:prstGeom prst="rect">
            <a:avLst/>
          </a:prstGeom>
        </p:spPr>
      </p:pic>
    </p:spTree>
    <p:extLst>
      <p:ext uri="{BB962C8B-B14F-4D97-AF65-F5344CB8AC3E}">
        <p14:creationId xmlns:p14="http://schemas.microsoft.com/office/powerpoint/2010/main" val="904003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
        <p:nvSpPr>
          <p:cNvPr id="5" name="object 2">
            <a:extLst>
              <a:ext uri="{FF2B5EF4-FFF2-40B4-BE49-F238E27FC236}">
                <a16:creationId xmlns:a16="http://schemas.microsoft.com/office/drawing/2014/main" id="{861379DC-E6AF-439A-BD93-12A0904B5E2D}"/>
              </a:ext>
            </a:extLst>
          </p:cNvPr>
          <p:cNvSpPr txBox="1">
            <a:spLocks/>
          </p:cNvSpPr>
          <p:nvPr/>
        </p:nvSpPr>
        <p:spPr>
          <a:xfrm>
            <a:off x="532447" y="632521"/>
            <a:ext cx="8079105" cy="798295"/>
          </a:xfrm>
          <a:prstGeom prst="rect">
            <a:avLst/>
          </a:prstGeom>
        </p:spPr>
        <p:txBody>
          <a:bodyPr vert="horz" wrap="square" lIns="0" tIns="120015" rIns="0" bIns="0" rtlCol="0">
            <a:spAutoFit/>
          </a:bodyPr>
          <a:lstStyle>
            <a:lvl1pPr>
              <a:defRPr>
                <a:latin typeface="+mj-lt"/>
                <a:ea typeface="+mj-ea"/>
                <a:cs typeface="+mj-cs"/>
              </a:defRPr>
            </a:lvl1pPr>
          </a:lstStyle>
          <a:p>
            <a:pPr marR="2540" algn="ctr">
              <a:spcBef>
                <a:spcPts val="945"/>
              </a:spcBef>
            </a:pPr>
            <a:r>
              <a:rPr lang="it-IT" sz="4400" kern="0" spc="-25" dirty="0">
                <a:solidFill>
                  <a:sysClr val="windowText" lastClr="000000"/>
                </a:solidFill>
              </a:rPr>
              <a:t>Template e </a:t>
            </a:r>
            <a:r>
              <a:rPr lang="it-IT" sz="4400" kern="0" spc="-25" dirty="0" err="1">
                <a:solidFill>
                  <a:sysClr val="windowText" lastClr="000000"/>
                </a:solidFill>
              </a:rPr>
              <a:t>useParams</a:t>
            </a:r>
            <a:endParaRPr lang="it-IT" sz="4400" kern="0" dirty="0">
              <a:solidFill>
                <a:sysClr val="windowText" lastClr="000000"/>
              </a:solidFill>
            </a:endParaRPr>
          </a:p>
        </p:txBody>
      </p:sp>
      <p:sp>
        <p:nvSpPr>
          <p:cNvPr id="6" name="Rettangolo 5">
            <a:extLst>
              <a:ext uri="{FF2B5EF4-FFF2-40B4-BE49-F238E27FC236}">
                <a16:creationId xmlns:a16="http://schemas.microsoft.com/office/drawing/2014/main" id="{2235B941-4F23-4A91-B784-7A5CB244705B}"/>
              </a:ext>
            </a:extLst>
          </p:cNvPr>
          <p:cNvSpPr/>
          <p:nvPr/>
        </p:nvSpPr>
        <p:spPr>
          <a:xfrm>
            <a:off x="381000" y="1400124"/>
            <a:ext cx="8598675" cy="2862322"/>
          </a:xfrm>
          <a:prstGeom prst="rect">
            <a:avLst/>
          </a:prstGeom>
        </p:spPr>
        <p:txBody>
          <a:bodyPr wrap="square">
            <a:spAutoFit/>
          </a:bodyPr>
          <a:lstStyle/>
          <a:p>
            <a:r>
              <a:rPr lang="it-IT" dirty="0"/>
              <a:t>All'interno di un'applicazione, è comune l'esigenza di utilizzare dei template. Ad esempio, si potrebbe avere una pagina generica di profili e diverse pagine specifiche per ciascun profilo utente, come "profilo/1234", dove "1234" è l'ID dell'utente.</a:t>
            </a:r>
          </a:p>
          <a:p>
            <a:r>
              <a:rPr lang="it-IT" dirty="0"/>
              <a:t>Invece di creare una </a:t>
            </a:r>
            <a:r>
              <a:rPr lang="it-IT" dirty="0" err="1"/>
              <a:t>route</a:t>
            </a:r>
            <a:r>
              <a:rPr lang="it-IT" dirty="0"/>
              <a:t> per ogni singolo profilo, che sarebbe insostenibile, usiamo dei template di </a:t>
            </a:r>
            <a:r>
              <a:rPr lang="it-IT" dirty="0" err="1"/>
              <a:t>route</a:t>
            </a:r>
            <a:r>
              <a:rPr lang="it-IT" dirty="0"/>
              <a:t>. Un template di </a:t>
            </a:r>
            <a:r>
              <a:rPr lang="it-IT" dirty="0" err="1"/>
              <a:t>route</a:t>
            </a:r>
            <a:r>
              <a:rPr lang="it-IT" dirty="0"/>
              <a:t> è un componente che viene utilizzato in base a un certo pattern di percorso.</a:t>
            </a:r>
          </a:p>
          <a:p>
            <a:r>
              <a:rPr lang="it-IT" dirty="0"/>
              <a:t>Creiamo quindi un componente che chiameremo </a:t>
            </a:r>
            <a:r>
              <a:rPr lang="it-IT" dirty="0" err="1"/>
              <a:t>SingleProfile</a:t>
            </a:r>
            <a:r>
              <a:rPr lang="it-IT" dirty="0"/>
              <a:t>, il quale sarà usato per visualizzare le informazioni specifiche di un utente basandoci sul suo ID. Nella nostra App.js, definiamo una nuova </a:t>
            </a:r>
            <a:r>
              <a:rPr lang="it-IT" dirty="0" err="1"/>
              <a:t>route</a:t>
            </a:r>
            <a:r>
              <a:rPr lang="it-IT" dirty="0"/>
              <a:t> come </a:t>
            </a:r>
            <a:r>
              <a:rPr lang="it-IT" dirty="0" err="1"/>
              <a:t>profiles</a:t>
            </a:r>
            <a:r>
              <a:rPr lang="it-IT" dirty="0"/>
              <a:t>/:id, dove :id è un parametro che cattura l'ID dall'URL.</a:t>
            </a:r>
          </a:p>
        </p:txBody>
      </p:sp>
      <p:pic>
        <p:nvPicPr>
          <p:cNvPr id="8" name="Immagine 7">
            <a:extLst>
              <a:ext uri="{FF2B5EF4-FFF2-40B4-BE49-F238E27FC236}">
                <a16:creationId xmlns:a16="http://schemas.microsoft.com/office/drawing/2014/main" id="{DB1BC8F0-F761-4F31-A0A4-C89F905CD0D1}"/>
              </a:ext>
            </a:extLst>
          </p:cNvPr>
          <p:cNvPicPr>
            <a:picLocks noChangeAspect="1"/>
          </p:cNvPicPr>
          <p:nvPr/>
        </p:nvPicPr>
        <p:blipFill>
          <a:blip r:embed="rId2"/>
          <a:stretch>
            <a:fillRect/>
          </a:stretch>
        </p:blipFill>
        <p:spPr>
          <a:xfrm>
            <a:off x="2386833" y="3965575"/>
            <a:ext cx="4370334" cy="277126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6244" y="915276"/>
            <a:ext cx="8078470" cy="1860766"/>
          </a:xfrm>
          <a:prstGeom prst="rect">
            <a:avLst/>
          </a:prstGeom>
        </p:spPr>
        <p:txBody>
          <a:bodyPr vert="horz" wrap="square" lIns="0" tIns="13970" rIns="0" bIns="0" rtlCol="0">
            <a:spAutoFit/>
          </a:bodyPr>
          <a:lstStyle/>
          <a:p>
            <a:pPr marL="12700" marR="5080" algn="just">
              <a:lnSpc>
                <a:spcPct val="100200"/>
              </a:lnSpc>
              <a:spcBef>
                <a:spcPts val="110"/>
              </a:spcBef>
            </a:pPr>
            <a:r>
              <a:rPr lang="it-IT" spc="5" dirty="0"/>
              <a:t>Ora sicuramente avrò necessità di accedere a l’id che viene passato nella </a:t>
            </a:r>
            <a:r>
              <a:rPr lang="it-IT" spc="5" dirty="0" err="1"/>
              <a:t>Route</a:t>
            </a:r>
            <a:r>
              <a:rPr lang="it-IT" spc="5" dirty="0"/>
              <a:t> e per fare questo abbiamo un nuovo hook lo </a:t>
            </a:r>
            <a:r>
              <a:rPr lang="it-IT" spc="5" dirty="0" err="1"/>
              <a:t>useParam</a:t>
            </a:r>
            <a:r>
              <a:rPr lang="it-IT" spc="5" dirty="0"/>
              <a:t> che restituisce un oggetto con i valori dei parametri.</a:t>
            </a:r>
            <a:endParaRPr dirty="0"/>
          </a:p>
        </p:txBody>
      </p:sp>
      <p:sp>
        <p:nvSpPr>
          <p:cNvPr id="3" name="object 3"/>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pic>
        <p:nvPicPr>
          <p:cNvPr id="6" name="Immagine 5">
            <a:extLst>
              <a:ext uri="{FF2B5EF4-FFF2-40B4-BE49-F238E27FC236}">
                <a16:creationId xmlns:a16="http://schemas.microsoft.com/office/drawing/2014/main" id="{964FFD92-8B15-4F9A-A730-513DF2020E37}"/>
              </a:ext>
            </a:extLst>
          </p:cNvPr>
          <p:cNvPicPr>
            <a:picLocks noChangeAspect="1"/>
          </p:cNvPicPr>
          <p:nvPr/>
        </p:nvPicPr>
        <p:blipFill>
          <a:blip r:embed="rId2"/>
          <a:stretch>
            <a:fillRect/>
          </a:stretch>
        </p:blipFill>
        <p:spPr>
          <a:xfrm>
            <a:off x="914400" y="3127375"/>
            <a:ext cx="6839905" cy="18290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5737" y="701903"/>
            <a:ext cx="3292526" cy="696595"/>
          </a:xfrm>
          <a:prstGeom prst="rect">
            <a:avLst/>
          </a:prstGeom>
        </p:spPr>
        <p:txBody>
          <a:bodyPr vert="horz" wrap="square" lIns="0" tIns="12700" rIns="0" bIns="0" rtlCol="0">
            <a:spAutoFit/>
          </a:bodyPr>
          <a:lstStyle/>
          <a:p>
            <a:pPr marL="12700">
              <a:lnSpc>
                <a:spcPct val="100000"/>
              </a:lnSpc>
              <a:spcBef>
                <a:spcPts val="100"/>
              </a:spcBef>
            </a:pPr>
            <a:r>
              <a:rPr lang="it-IT" sz="4400" spc="-35" dirty="0" err="1"/>
              <a:t>useNavigate</a:t>
            </a:r>
            <a:endParaRPr sz="4400" dirty="0"/>
          </a:p>
        </p:txBody>
      </p:sp>
      <p:sp>
        <p:nvSpPr>
          <p:cNvPr id="3" name="object 3"/>
          <p:cNvSpPr txBox="1"/>
          <p:nvPr/>
        </p:nvSpPr>
        <p:spPr>
          <a:xfrm>
            <a:off x="499604" y="1398498"/>
            <a:ext cx="8070215" cy="1241365"/>
          </a:xfrm>
          <a:prstGeom prst="rect">
            <a:avLst/>
          </a:prstGeom>
        </p:spPr>
        <p:txBody>
          <a:bodyPr vert="horz" wrap="square" lIns="0" tIns="10160" rIns="0" bIns="0" rtlCol="0">
            <a:spAutoFit/>
          </a:bodyPr>
          <a:lstStyle/>
          <a:p>
            <a:pPr marR="5080">
              <a:lnSpc>
                <a:spcPct val="100299"/>
              </a:lnSpc>
              <a:spcBef>
                <a:spcPts val="80"/>
              </a:spcBef>
            </a:pPr>
            <a:r>
              <a:rPr lang="it-IT" sz="2000" dirty="0" err="1"/>
              <a:t>React</a:t>
            </a:r>
            <a:r>
              <a:rPr lang="it-IT" sz="2000" dirty="0"/>
              <a:t> Router ci offre anche la possibilità di reindirizzare gli utenti programmaticamente. In precedenza, si usava </a:t>
            </a:r>
            <a:r>
              <a:rPr lang="it-IT" sz="2000" dirty="0" err="1"/>
              <a:t>useHistory</a:t>
            </a:r>
            <a:r>
              <a:rPr lang="it-IT" sz="2000" dirty="0"/>
              <a:t>, ma nelle versioni più recenti si usa </a:t>
            </a:r>
            <a:r>
              <a:rPr lang="it-IT" sz="2000" dirty="0" err="1"/>
              <a:t>useNavigate</a:t>
            </a:r>
            <a:r>
              <a:rPr lang="it-IT" sz="2000" dirty="0"/>
              <a:t>. Questo ci fornisce una funzione che possiamo invocare per reindirizzare l'utente. Possiamo usarla in </a:t>
            </a:r>
            <a:r>
              <a:rPr lang="it-IT" sz="2000" dirty="0" err="1"/>
              <a:t>ErrorPage</a:t>
            </a:r>
            <a:endParaRPr sz="2000" dirty="0"/>
          </a:p>
        </p:txBody>
      </p:sp>
      <p:sp>
        <p:nvSpPr>
          <p:cNvPr id="7" name="object 7"/>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pic>
        <p:nvPicPr>
          <p:cNvPr id="10" name="Immagine 9">
            <a:extLst>
              <a:ext uri="{FF2B5EF4-FFF2-40B4-BE49-F238E27FC236}">
                <a16:creationId xmlns:a16="http://schemas.microsoft.com/office/drawing/2014/main" id="{F8702747-B132-4BFD-904F-3418859CA074}"/>
              </a:ext>
            </a:extLst>
          </p:cNvPr>
          <p:cNvPicPr>
            <a:picLocks noChangeAspect="1"/>
          </p:cNvPicPr>
          <p:nvPr/>
        </p:nvPicPr>
        <p:blipFill>
          <a:blip r:embed="rId2"/>
          <a:stretch>
            <a:fillRect/>
          </a:stretch>
        </p:blipFill>
        <p:spPr>
          <a:xfrm>
            <a:off x="1994409" y="2803879"/>
            <a:ext cx="5155182" cy="2140536"/>
          </a:xfrm>
          <a:prstGeom prst="rect">
            <a:avLst/>
          </a:prstGeom>
        </p:spPr>
      </p:pic>
      <p:sp>
        <p:nvSpPr>
          <p:cNvPr id="11" name="Rettangolo 10">
            <a:extLst>
              <a:ext uri="{FF2B5EF4-FFF2-40B4-BE49-F238E27FC236}">
                <a16:creationId xmlns:a16="http://schemas.microsoft.com/office/drawing/2014/main" id="{6125200C-66CE-41C1-AB2E-73730D3972DF}"/>
              </a:ext>
            </a:extLst>
          </p:cNvPr>
          <p:cNvSpPr/>
          <p:nvPr/>
        </p:nvSpPr>
        <p:spPr>
          <a:xfrm>
            <a:off x="499604" y="5108431"/>
            <a:ext cx="8070215" cy="1015663"/>
          </a:xfrm>
          <a:prstGeom prst="rect">
            <a:avLst/>
          </a:prstGeom>
        </p:spPr>
        <p:txBody>
          <a:bodyPr wrap="square">
            <a:spAutoFit/>
          </a:bodyPr>
          <a:lstStyle/>
          <a:p>
            <a:r>
              <a:rPr lang="it-IT" sz="2000" dirty="0"/>
              <a:t>Se volessimo implementare un pulsante che reindirizza l'utente alla pagina precedente, potremmo passare un numero negativo a navigate, come </a:t>
            </a:r>
            <a:r>
              <a:rPr lang="it-IT" sz="2000" b="1" dirty="0"/>
              <a:t>navigate(-1), </a:t>
            </a:r>
            <a:r>
              <a:rPr lang="it-IT" sz="2000" dirty="0"/>
              <a:t>che equivale a cliccare il pulsante "Indietro" del browser.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5736" y="701903"/>
            <a:ext cx="3551263" cy="689932"/>
          </a:xfrm>
          <a:prstGeom prst="rect">
            <a:avLst/>
          </a:prstGeom>
        </p:spPr>
        <p:txBody>
          <a:bodyPr vert="horz" wrap="square" lIns="0" tIns="12700" rIns="0" bIns="0" rtlCol="0">
            <a:spAutoFit/>
          </a:bodyPr>
          <a:lstStyle/>
          <a:p>
            <a:pPr marL="12700">
              <a:lnSpc>
                <a:spcPct val="100000"/>
              </a:lnSpc>
              <a:spcBef>
                <a:spcPts val="100"/>
              </a:spcBef>
            </a:pPr>
            <a:r>
              <a:rPr lang="it-IT" sz="4400" spc="-35" dirty="0"/>
              <a:t>Rotte annidate</a:t>
            </a:r>
            <a:endParaRPr sz="4400" dirty="0"/>
          </a:p>
        </p:txBody>
      </p:sp>
      <p:sp>
        <p:nvSpPr>
          <p:cNvPr id="3" name="object 3"/>
          <p:cNvSpPr txBox="1"/>
          <p:nvPr/>
        </p:nvSpPr>
        <p:spPr>
          <a:xfrm>
            <a:off x="499604" y="1398498"/>
            <a:ext cx="8070215" cy="1561966"/>
          </a:xfrm>
          <a:prstGeom prst="rect">
            <a:avLst/>
          </a:prstGeom>
        </p:spPr>
        <p:txBody>
          <a:bodyPr vert="horz" wrap="square" lIns="0" tIns="10160" rIns="0" bIns="0" rtlCol="0">
            <a:spAutoFit/>
          </a:bodyPr>
          <a:lstStyle/>
          <a:p>
            <a:pPr marR="5080">
              <a:lnSpc>
                <a:spcPct val="100299"/>
              </a:lnSpc>
              <a:spcBef>
                <a:spcPts val="80"/>
              </a:spcBef>
            </a:pPr>
            <a:r>
              <a:rPr lang="it-IT" sz="2000" dirty="0"/>
              <a:t>In pratica stiamo già gestendo rotte annidate con l’esempio sui </a:t>
            </a:r>
            <a:r>
              <a:rPr lang="it-IT" sz="2000" dirty="0" err="1"/>
              <a:t>profile</a:t>
            </a:r>
            <a:r>
              <a:rPr lang="it-IT" sz="2000" dirty="0"/>
              <a:t>.</a:t>
            </a:r>
          </a:p>
          <a:p>
            <a:pPr marR="5080">
              <a:lnSpc>
                <a:spcPct val="100299"/>
              </a:lnSpc>
              <a:spcBef>
                <a:spcPts val="80"/>
              </a:spcBef>
            </a:pPr>
            <a:r>
              <a:rPr lang="it-IT" sz="2000" dirty="0"/>
              <a:t>Per gestire in modo più efficace questa tipologia di situazione, possiamo inserire delle </a:t>
            </a:r>
            <a:r>
              <a:rPr lang="it-IT" sz="2000" dirty="0" err="1"/>
              <a:t>route</a:t>
            </a:r>
            <a:r>
              <a:rPr lang="it-IT" sz="2000" dirty="0"/>
              <a:t> una dentro l'altra, quindi andiamo a richiamare la </a:t>
            </a:r>
            <a:r>
              <a:rPr lang="it-IT" sz="2000" dirty="0" err="1"/>
              <a:t>route</a:t>
            </a:r>
            <a:r>
              <a:rPr lang="it-IT" sz="2000" dirty="0"/>
              <a:t> in questo modo come componente e passiamo come "</a:t>
            </a:r>
            <a:r>
              <a:rPr lang="it-IT" sz="2000" dirty="0" err="1"/>
              <a:t>children</a:t>
            </a:r>
            <a:r>
              <a:rPr lang="it-IT" sz="2000" dirty="0"/>
              <a:t>" le </a:t>
            </a:r>
            <a:r>
              <a:rPr lang="it-IT" sz="2000" dirty="0" err="1"/>
              <a:t>route</a:t>
            </a:r>
            <a:r>
              <a:rPr lang="it-IT" sz="2000" dirty="0"/>
              <a:t> che vogliamo inserire.</a:t>
            </a:r>
            <a:endParaRPr sz="2000" dirty="0"/>
          </a:p>
        </p:txBody>
      </p:sp>
      <p:sp>
        <p:nvSpPr>
          <p:cNvPr id="7" name="object 7"/>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
        <p:nvSpPr>
          <p:cNvPr id="4" name="Rettangolo 3">
            <a:extLst>
              <a:ext uri="{FF2B5EF4-FFF2-40B4-BE49-F238E27FC236}">
                <a16:creationId xmlns:a16="http://schemas.microsoft.com/office/drawing/2014/main" id="{B6527425-B9C1-4500-ACFA-560744BE555E}"/>
              </a:ext>
            </a:extLst>
          </p:cNvPr>
          <p:cNvSpPr/>
          <p:nvPr/>
        </p:nvSpPr>
        <p:spPr>
          <a:xfrm>
            <a:off x="440301" y="4717063"/>
            <a:ext cx="8263396" cy="1323439"/>
          </a:xfrm>
          <a:prstGeom prst="rect">
            <a:avLst/>
          </a:prstGeom>
        </p:spPr>
        <p:txBody>
          <a:bodyPr wrap="square">
            <a:spAutoFit/>
          </a:bodyPr>
          <a:lstStyle/>
          <a:p>
            <a:r>
              <a:rPr lang="it-IT" sz="2000" dirty="0"/>
              <a:t>Cosa cambia effettivamente? Al momento, il comportamento sembra errato perché, accedendo a "profilo/1", otteniamo "profili" anziché "profili/ID". Questo succede perché è necessario configurare la </a:t>
            </a:r>
            <a:r>
              <a:rPr lang="it-IT" sz="2000" dirty="0" err="1"/>
              <a:t>route</a:t>
            </a:r>
            <a:r>
              <a:rPr lang="it-IT" sz="2000" dirty="0"/>
              <a:t> "profilo" per farle riconoscere che è una </a:t>
            </a:r>
            <a:r>
              <a:rPr lang="it-IT" sz="2000" dirty="0" err="1"/>
              <a:t>parent</a:t>
            </a:r>
            <a:r>
              <a:rPr lang="it-IT" sz="2000" dirty="0"/>
              <a:t> </a:t>
            </a:r>
            <a:r>
              <a:rPr lang="it-IT" sz="2000" dirty="0" err="1"/>
              <a:t>route</a:t>
            </a:r>
            <a:r>
              <a:rPr lang="it-IT" sz="2000" dirty="0"/>
              <a:t> con </a:t>
            </a:r>
            <a:r>
              <a:rPr lang="it-IT" sz="2000" dirty="0" err="1"/>
              <a:t>route</a:t>
            </a:r>
            <a:r>
              <a:rPr lang="it-IT" sz="2000" dirty="0"/>
              <a:t> annidate al suo interno.</a:t>
            </a:r>
          </a:p>
        </p:txBody>
      </p:sp>
      <p:pic>
        <p:nvPicPr>
          <p:cNvPr id="5" name="Immagine 4">
            <a:extLst>
              <a:ext uri="{FF2B5EF4-FFF2-40B4-BE49-F238E27FC236}">
                <a16:creationId xmlns:a16="http://schemas.microsoft.com/office/drawing/2014/main" id="{27FB3844-5EED-4878-AFF6-DCA66D6159D0}"/>
              </a:ext>
            </a:extLst>
          </p:cNvPr>
          <p:cNvPicPr>
            <a:picLocks noChangeAspect="1"/>
          </p:cNvPicPr>
          <p:nvPr/>
        </p:nvPicPr>
        <p:blipFill>
          <a:blip r:embed="rId2"/>
          <a:stretch>
            <a:fillRect/>
          </a:stretch>
        </p:blipFill>
        <p:spPr>
          <a:xfrm>
            <a:off x="1699810" y="3365097"/>
            <a:ext cx="5744377" cy="885949"/>
          </a:xfrm>
          <a:prstGeom prst="rect">
            <a:avLst/>
          </a:prstGeom>
        </p:spPr>
      </p:pic>
    </p:spTree>
    <p:extLst>
      <p:ext uri="{BB962C8B-B14F-4D97-AF65-F5344CB8AC3E}">
        <p14:creationId xmlns:p14="http://schemas.microsoft.com/office/powerpoint/2010/main" val="248732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5736" y="701903"/>
            <a:ext cx="3551263" cy="689932"/>
          </a:xfrm>
          <a:prstGeom prst="rect">
            <a:avLst/>
          </a:prstGeom>
        </p:spPr>
        <p:txBody>
          <a:bodyPr vert="horz" wrap="square" lIns="0" tIns="12700" rIns="0" bIns="0" rtlCol="0">
            <a:spAutoFit/>
          </a:bodyPr>
          <a:lstStyle/>
          <a:p>
            <a:pPr marL="12700">
              <a:lnSpc>
                <a:spcPct val="100000"/>
              </a:lnSpc>
              <a:spcBef>
                <a:spcPts val="100"/>
              </a:spcBef>
            </a:pPr>
            <a:r>
              <a:rPr lang="it-IT" sz="4400" spc="-35" dirty="0"/>
              <a:t>Rotte annidate</a:t>
            </a:r>
            <a:endParaRPr sz="4400" dirty="0"/>
          </a:p>
        </p:txBody>
      </p:sp>
      <p:sp>
        <p:nvSpPr>
          <p:cNvPr id="7" name="object 7"/>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
        <p:nvSpPr>
          <p:cNvPr id="4" name="Rettangolo 3">
            <a:extLst>
              <a:ext uri="{FF2B5EF4-FFF2-40B4-BE49-F238E27FC236}">
                <a16:creationId xmlns:a16="http://schemas.microsoft.com/office/drawing/2014/main" id="{B6527425-B9C1-4500-ACFA-560744BE555E}"/>
              </a:ext>
            </a:extLst>
          </p:cNvPr>
          <p:cNvSpPr/>
          <p:nvPr/>
        </p:nvSpPr>
        <p:spPr>
          <a:xfrm>
            <a:off x="499604" y="4270375"/>
            <a:ext cx="8263396" cy="707886"/>
          </a:xfrm>
          <a:prstGeom prst="rect">
            <a:avLst/>
          </a:prstGeom>
        </p:spPr>
        <p:txBody>
          <a:bodyPr wrap="square">
            <a:spAutoFit/>
          </a:bodyPr>
          <a:lstStyle/>
          <a:p>
            <a:r>
              <a:rPr lang="it-IT" sz="2000" dirty="0"/>
              <a:t>Come vediamo per fargli capire che è una rotta padre nel codice del componente andiamo ad aggiungere il componente Outlet</a:t>
            </a:r>
          </a:p>
        </p:txBody>
      </p:sp>
      <p:pic>
        <p:nvPicPr>
          <p:cNvPr id="6" name="Immagine 5">
            <a:extLst>
              <a:ext uri="{FF2B5EF4-FFF2-40B4-BE49-F238E27FC236}">
                <a16:creationId xmlns:a16="http://schemas.microsoft.com/office/drawing/2014/main" id="{0D8CEC45-C521-4928-B65A-779DEB0FF7C7}"/>
              </a:ext>
            </a:extLst>
          </p:cNvPr>
          <p:cNvPicPr>
            <a:picLocks noChangeAspect="1"/>
          </p:cNvPicPr>
          <p:nvPr/>
        </p:nvPicPr>
        <p:blipFill>
          <a:blip r:embed="rId2"/>
          <a:stretch>
            <a:fillRect/>
          </a:stretch>
        </p:blipFill>
        <p:spPr>
          <a:xfrm>
            <a:off x="1752600" y="1499824"/>
            <a:ext cx="5200506" cy="2600253"/>
          </a:xfrm>
          <a:prstGeom prst="rect">
            <a:avLst/>
          </a:prstGeom>
        </p:spPr>
      </p:pic>
      <p:pic>
        <p:nvPicPr>
          <p:cNvPr id="9" name="Immagine 8">
            <a:extLst>
              <a:ext uri="{FF2B5EF4-FFF2-40B4-BE49-F238E27FC236}">
                <a16:creationId xmlns:a16="http://schemas.microsoft.com/office/drawing/2014/main" id="{3556A626-40FC-4157-82B2-66F82F01C950}"/>
              </a:ext>
            </a:extLst>
          </p:cNvPr>
          <p:cNvPicPr>
            <a:picLocks noChangeAspect="1"/>
          </p:cNvPicPr>
          <p:nvPr/>
        </p:nvPicPr>
        <p:blipFill>
          <a:blip r:embed="rId3"/>
          <a:stretch>
            <a:fillRect/>
          </a:stretch>
        </p:blipFill>
        <p:spPr>
          <a:xfrm>
            <a:off x="1354702" y="5090791"/>
            <a:ext cx="6553200" cy="1082552"/>
          </a:xfrm>
          <a:prstGeom prst="rect">
            <a:avLst/>
          </a:prstGeom>
        </p:spPr>
      </p:pic>
    </p:spTree>
    <p:extLst>
      <p:ext uri="{BB962C8B-B14F-4D97-AF65-F5344CB8AC3E}">
        <p14:creationId xmlns:p14="http://schemas.microsoft.com/office/powerpoint/2010/main" val="1828152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5736" y="701903"/>
            <a:ext cx="3551263" cy="689932"/>
          </a:xfrm>
          <a:prstGeom prst="rect">
            <a:avLst/>
          </a:prstGeom>
        </p:spPr>
        <p:txBody>
          <a:bodyPr vert="horz" wrap="square" lIns="0" tIns="12700" rIns="0" bIns="0" rtlCol="0">
            <a:spAutoFit/>
          </a:bodyPr>
          <a:lstStyle/>
          <a:p>
            <a:pPr marL="12700">
              <a:lnSpc>
                <a:spcPct val="100000"/>
              </a:lnSpc>
              <a:spcBef>
                <a:spcPts val="100"/>
              </a:spcBef>
            </a:pPr>
            <a:r>
              <a:rPr lang="it-IT" sz="4400" spc="-35" dirty="0"/>
              <a:t>Rotte annidate</a:t>
            </a:r>
            <a:endParaRPr sz="4400" dirty="0"/>
          </a:p>
        </p:txBody>
      </p:sp>
      <p:sp>
        <p:nvSpPr>
          <p:cNvPr id="7" name="object 7"/>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pic>
        <p:nvPicPr>
          <p:cNvPr id="3" name="Immagine 2">
            <a:extLst>
              <a:ext uri="{FF2B5EF4-FFF2-40B4-BE49-F238E27FC236}">
                <a16:creationId xmlns:a16="http://schemas.microsoft.com/office/drawing/2014/main" id="{5498B0A5-4DF2-4176-81B4-41C7E3BE210D}"/>
              </a:ext>
            </a:extLst>
          </p:cNvPr>
          <p:cNvPicPr>
            <a:picLocks noChangeAspect="1"/>
          </p:cNvPicPr>
          <p:nvPr/>
        </p:nvPicPr>
        <p:blipFill>
          <a:blip r:embed="rId2"/>
          <a:stretch>
            <a:fillRect/>
          </a:stretch>
        </p:blipFill>
        <p:spPr>
          <a:xfrm>
            <a:off x="1447800" y="917575"/>
            <a:ext cx="6049219" cy="4182059"/>
          </a:xfrm>
          <a:prstGeom prst="rect">
            <a:avLst/>
          </a:prstGeom>
        </p:spPr>
      </p:pic>
    </p:spTree>
    <p:extLst>
      <p:ext uri="{BB962C8B-B14F-4D97-AF65-F5344CB8AC3E}">
        <p14:creationId xmlns:p14="http://schemas.microsoft.com/office/powerpoint/2010/main" val="1997910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7867" y="657750"/>
            <a:ext cx="2408264" cy="689932"/>
          </a:xfrm>
          <a:prstGeom prst="rect">
            <a:avLst/>
          </a:prstGeom>
        </p:spPr>
        <p:txBody>
          <a:bodyPr vert="horz" wrap="square" lIns="0" tIns="12700" rIns="0" bIns="0" rtlCol="0">
            <a:spAutoFit/>
          </a:bodyPr>
          <a:lstStyle/>
          <a:p>
            <a:pPr marL="12700">
              <a:lnSpc>
                <a:spcPct val="100000"/>
              </a:lnSpc>
              <a:spcBef>
                <a:spcPts val="100"/>
              </a:spcBef>
            </a:pPr>
            <a:r>
              <a:rPr lang="it-IT" sz="4400" spc="-35" dirty="0" err="1"/>
              <a:t>useRoutes</a:t>
            </a:r>
            <a:endParaRPr sz="4400" dirty="0"/>
          </a:p>
        </p:txBody>
      </p:sp>
      <p:sp>
        <p:nvSpPr>
          <p:cNvPr id="7" name="object 7"/>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
        <p:nvSpPr>
          <p:cNvPr id="6" name="Rettangolo 5">
            <a:extLst>
              <a:ext uri="{FF2B5EF4-FFF2-40B4-BE49-F238E27FC236}">
                <a16:creationId xmlns:a16="http://schemas.microsoft.com/office/drawing/2014/main" id="{ACBEAE10-EB6F-4B80-A0F4-73706B979D38}"/>
              </a:ext>
            </a:extLst>
          </p:cNvPr>
          <p:cNvSpPr/>
          <p:nvPr/>
        </p:nvSpPr>
        <p:spPr>
          <a:xfrm>
            <a:off x="440301" y="1338047"/>
            <a:ext cx="8263396" cy="707886"/>
          </a:xfrm>
          <a:prstGeom prst="rect">
            <a:avLst/>
          </a:prstGeom>
        </p:spPr>
        <p:txBody>
          <a:bodyPr wrap="square">
            <a:spAutoFit/>
          </a:bodyPr>
          <a:lstStyle/>
          <a:p>
            <a:r>
              <a:rPr lang="it-IT" sz="2000" dirty="0"/>
              <a:t>Andiamo a creare un file routes.js e importiamo tutti gli import dei </a:t>
            </a:r>
            <a:r>
              <a:rPr lang="it-IT" sz="2000" dirty="0" err="1"/>
              <a:t>routes</a:t>
            </a:r>
            <a:r>
              <a:rPr lang="it-IT" sz="2000" dirty="0"/>
              <a:t> e creiamo un array di oggetti che riprenda la struttura dei </a:t>
            </a:r>
            <a:r>
              <a:rPr lang="it-IT" sz="2000" dirty="0" err="1"/>
              <a:t>routes</a:t>
            </a:r>
            <a:r>
              <a:rPr lang="it-IT" sz="2000" dirty="0"/>
              <a:t>.</a:t>
            </a:r>
          </a:p>
        </p:txBody>
      </p:sp>
      <p:pic>
        <p:nvPicPr>
          <p:cNvPr id="4" name="Immagine 3">
            <a:extLst>
              <a:ext uri="{FF2B5EF4-FFF2-40B4-BE49-F238E27FC236}">
                <a16:creationId xmlns:a16="http://schemas.microsoft.com/office/drawing/2014/main" id="{5181C9C8-D320-4161-A9DF-6D4204B3FD64}"/>
              </a:ext>
            </a:extLst>
          </p:cNvPr>
          <p:cNvPicPr>
            <a:picLocks noChangeAspect="1"/>
          </p:cNvPicPr>
          <p:nvPr/>
        </p:nvPicPr>
        <p:blipFill>
          <a:blip r:embed="rId2"/>
          <a:stretch>
            <a:fillRect/>
          </a:stretch>
        </p:blipFill>
        <p:spPr>
          <a:xfrm>
            <a:off x="499604" y="2212975"/>
            <a:ext cx="5410955" cy="1733792"/>
          </a:xfrm>
          <a:prstGeom prst="rect">
            <a:avLst/>
          </a:prstGeom>
        </p:spPr>
      </p:pic>
      <p:pic>
        <p:nvPicPr>
          <p:cNvPr id="5" name="Immagine 4">
            <a:extLst>
              <a:ext uri="{FF2B5EF4-FFF2-40B4-BE49-F238E27FC236}">
                <a16:creationId xmlns:a16="http://schemas.microsoft.com/office/drawing/2014/main" id="{F41FEE32-BFF9-4B99-8E44-79A0A4BC3447}"/>
              </a:ext>
            </a:extLst>
          </p:cNvPr>
          <p:cNvPicPr>
            <a:picLocks noChangeAspect="1"/>
          </p:cNvPicPr>
          <p:nvPr/>
        </p:nvPicPr>
        <p:blipFill>
          <a:blip r:embed="rId3"/>
          <a:stretch>
            <a:fillRect/>
          </a:stretch>
        </p:blipFill>
        <p:spPr>
          <a:xfrm>
            <a:off x="5761300" y="2212975"/>
            <a:ext cx="2959330" cy="4567663"/>
          </a:xfrm>
          <a:prstGeom prst="rect">
            <a:avLst/>
          </a:prstGeom>
        </p:spPr>
      </p:pic>
    </p:spTree>
    <p:extLst>
      <p:ext uri="{BB962C8B-B14F-4D97-AF65-F5344CB8AC3E}">
        <p14:creationId xmlns:p14="http://schemas.microsoft.com/office/powerpoint/2010/main" val="3931090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7867" y="657750"/>
            <a:ext cx="2408264" cy="689932"/>
          </a:xfrm>
          <a:prstGeom prst="rect">
            <a:avLst/>
          </a:prstGeom>
        </p:spPr>
        <p:txBody>
          <a:bodyPr vert="horz" wrap="square" lIns="0" tIns="12700" rIns="0" bIns="0" rtlCol="0">
            <a:spAutoFit/>
          </a:bodyPr>
          <a:lstStyle/>
          <a:p>
            <a:pPr marL="12700">
              <a:lnSpc>
                <a:spcPct val="100000"/>
              </a:lnSpc>
              <a:spcBef>
                <a:spcPts val="100"/>
              </a:spcBef>
            </a:pPr>
            <a:r>
              <a:rPr lang="it-IT" sz="4400" spc="-35" dirty="0" err="1"/>
              <a:t>useRoutes</a:t>
            </a:r>
            <a:endParaRPr sz="4400" dirty="0"/>
          </a:p>
        </p:txBody>
      </p:sp>
      <p:sp>
        <p:nvSpPr>
          <p:cNvPr id="7" name="object 7"/>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
        <p:nvSpPr>
          <p:cNvPr id="6" name="Rettangolo 5">
            <a:extLst>
              <a:ext uri="{FF2B5EF4-FFF2-40B4-BE49-F238E27FC236}">
                <a16:creationId xmlns:a16="http://schemas.microsoft.com/office/drawing/2014/main" id="{ACBEAE10-EB6F-4B80-A0F4-73706B979D38}"/>
              </a:ext>
            </a:extLst>
          </p:cNvPr>
          <p:cNvSpPr/>
          <p:nvPr/>
        </p:nvSpPr>
        <p:spPr>
          <a:xfrm>
            <a:off x="440301" y="1338047"/>
            <a:ext cx="8263396" cy="707886"/>
          </a:xfrm>
          <a:prstGeom prst="rect">
            <a:avLst/>
          </a:prstGeom>
        </p:spPr>
        <p:txBody>
          <a:bodyPr wrap="square">
            <a:spAutoFit/>
          </a:bodyPr>
          <a:lstStyle/>
          <a:p>
            <a:r>
              <a:rPr lang="it-IT" sz="2000" dirty="0"/>
              <a:t>Ora dal componente dove avevamo i Link e le </a:t>
            </a:r>
            <a:r>
              <a:rPr lang="it-IT" sz="2000" dirty="0" err="1"/>
              <a:t>Routes</a:t>
            </a:r>
            <a:r>
              <a:rPr lang="it-IT" sz="2000" dirty="0"/>
              <a:t> togliamo tutto e importiamo lo hook </a:t>
            </a:r>
            <a:r>
              <a:rPr lang="it-IT" sz="2000" dirty="0" err="1"/>
              <a:t>useRoutes</a:t>
            </a:r>
            <a:r>
              <a:rPr lang="it-IT" sz="2000" dirty="0"/>
              <a:t> e il file routes.js</a:t>
            </a:r>
          </a:p>
        </p:txBody>
      </p:sp>
      <p:pic>
        <p:nvPicPr>
          <p:cNvPr id="3" name="Immagine 2">
            <a:extLst>
              <a:ext uri="{FF2B5EF4-FFF2-40B4-BE49-F238E27FC236}">
                <a16:creationId xmlns:a16="http://schemas.microsoft.com/office/drawing/2014/main" id="{76CEDF5A-8DC2-46E8-A5CE-0C2FF6B475D8}"/>
              </a:ext>
            </a:extLst>
          </p:cNvPr>
          <p:cNvPicPr>
            <a:picLocks noChangeAspect="1"/>
          </p:cNvPicPr>
          <p:nvPr/>
        </p:nvPicPr>
        <p:blipFill>
          <a:blip r:embed="rId2"/>
          <a:stretch>
            <a:fillRect/>
          </a:stretch>
        </p:blipFill>
        <p:spPr>
          <a:xfrm>
            <a:off x="2271390" y="2644840"/>
            <a:ext cx="4601217" cy="2657846"/>
          </a:xfrm>
          <a:prstGeom prst="rect">
            <a:avLst/>
          </a:prstGeom>
        </p:spPr>
      </p:pic>
    </p:spTree>
    <p:extLst>
      <p:ext uri="{BB962C8B-B14F-4D97-AF65-F5344CB8AC3E}">
        <p14:creationId xmlns:p14="http://schemas.microsoft.com/office/powerpoint/2010/main" val="2427376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7867" y="657750"/>
            <a:ext cx="2408264" cy="689932"/>
          </a:xfrm>
          <a:prstGeom prst="rect">
            <a:avLst/>
          </a:prstGeom>
        </p:spPr>
        <p:txBody>
          <a:bodyPr vert="horz" wrap="square" lIns="0" tIns="12700" rIns="0" bIns="0" rtlCol="0">
            <a:spAutoFit/>
          </a:bodyPr>
          <a:lstStyle/>
          <a:p>
            <a:pPr marL="12700">
              <a:lnSpc>
                <a:spcPct val="100000"/>
              </a:lnSpc>
              <a:spcBef>
                <a:spcPts val="100"/>
              </a:spcBef>
            </a:pPr>
            <a:r>
              <a:rPr lang="it-IT" sz="4400" spc="-35" dirty="0" err="1"/>
              <a:t>useRoutes</a:t>
            </a:r>
            <a:endParaRPr sz="4400" dirty="0"/>
          </a:p>
        </p:txBody>
      </p:sp>
      <p:sp>
        <p:nvSpPr>
          <p:cNvPr id="7" name="object 7"/>
          <p:cNvSpPr/>
          <p:nvPr/>
        </p:nvSpPr>
        <p:spPr>
          <a:xfrm>
            <a:off x="0" y="0"/>
            <a:ext cx="9144000" cy="739140"/>
          </a:xfrm>
          <a:custGeom>
            <a:avLst/>
            <a:gdLst/>
            <a:ahLst/>
            <a:cxnLst/>
            <a:rect l="l" t="t" r="r" b="b"/>
            <a:pathLst>
              <a:path w="9144000" h="739140">
                <a:moveTo>
                  <a:pt x="0" y="738758"/>
                </a:moveTo>
                <a:lnTo>
                  <a:pt x="9144000" y="738758"/>
                </a:lnTo>
                <a:lnTo>
                  <a:pt x="9144000" y="0"/>
                </a:lnTo>
                <a:lnTo>
                  <a:pt x="0" y="0"/>
                </a:lnTo>
                <a:lnTo>
                  <a:pt x="0" y="738758"/>
                </a:lnTo>
                <a:close/>
              </a:path>
            </a:pathLst>
          </a:custGeom>
          <a:solidFill>
            <a:srgbClr val="C0504D"/>
          </a:solidFill>
        </p:spPr>
        <p:txBody>
          <a:bodyPr wrap="square" lIns="0" tIns="0" rIns="0" bIns="0" rtlCol="0"/>
          <a:lstStyle/>
          <a:p>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245"/>
              </a:lnSpc>
            </a:pPr>
            <a:r>
              <a:rPr spc="-55" dirty="0"/>
              <a:t>R</a:t>
            </a:r>
            <a:r>
              <a:rPr dirty="0"/>
              <a:t>e</a:t>
            </a:r>
            <a:r>
              <a:rPr spc="-10" dirty="0"/>
              <a:t>a</a:t>
            </a:r>
            <a:r>
              <a:rPr spc="-15" dirty="0"/>
              <a:t>c</a:t>
            </a:r>
            <a:r>
              <a:rPr dirty="0"/>
              <a:t>t</a:t>
            </a:r>
          </a:p>
        </p:txBody>
      </p:sp>
      <p:sp>
        <p:nvSpPr>
          <p:cNvPr id="6" name="Rettangolo 5">
            <a:extLst>
              <a:ext uri="{FF2B5EF4-FFF2-40B4-BE49-F238E27FC236}">
                <a16:creationId xmlns:a16="http://schemas.microsoft.com/office/drawing/2014/main" id="{ACBEAE10-EB6F-4B80-A0F4-73706B979D38}"/>
              </a:ext>
            </a:extLst>
          </p:cNvPr>
          <p:cNvSpPr/>
          <p:nvPr/>
        </p:nvSpPr>
        <p:spPr>
          <a:xfrm>
            <a:off x="499604" y="1527175"/>
            <a:ext cx="8263396" cy="400110"/>
          </a:xfrm>
          <a:prstGeom prst="rect">
            <a:avLst/>
          </a:prstGeom>
        </p:spPr>
        <p:txBody>
          <a:bodyPr wrap="square">
            <a:spAutoFit/>
          </a:bodyPr>
          <a:lstStyle/>
          <a:p>
            <a:r>
              <a:rPr lang="it-IT" sz="2000" dirty="0"/>
              <a:t>Ora andiamo dento App.js e creiamo la nostra struttura per i Link.</a:t>
            </a:r>
          </a:p>
        </p:txBody>
      </p:sp>
      <p:pic>
        <p:nvPicPr>
          <p:cNvPr id="4" name="Immagine 3">
            <a:extLst>
              <a:ext uri="{FF2B5EF4-FFF2-40B4-BE49-F238E27FC236}">
                <a16:creationId xmlns:a16="http://schemas.microsoft.com/office/drawing/2014/main" id="{A306DA35-A4B1-4046-95AE-A9CC9543A484}"/>
              </a:ext>
            </a:extLst>
          </p:cNvPr>
          <p:cNvPicPr>
            <a:picLocks noChangeAspect="1"/>
          </p:cNvPicPr>
          <p:nvPr/>
        </p:nvPicPr>
        <p:blipFill>
          <a:blip r:embed="rId2"/>
          <a:stretch>
            <a:fillRect/>
          </a:stretch>
        </p:blipFill>
        <p:spPr>
          <a:xfrm>
            <a:off x="1461653" y="2265199"/>
            <a:ext cx="6220693" cy="2333951"/>
          </a:xfrm>
          <a:prstGeom prst="rect">
            <a:avLst/>
          </a:prstGeom>
        </p:spPr>
      </p:pic>
    </p:spTree>
    <p:extLst>
      <p:ext uri="{BB962C8B-B14F-4D97-AF65-F5344CB8AC3E}">
        <p14:creationId xmlns:p14="http://schemas.microsoft.com/office/powerpoint/2010/main" val="9457695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965</TotalTime>
  <Words>1488</Words>
  <Application>Microsoft Office PowerPoint</Application>
  <PresentationFormat>Personalizzato</PresentationFormat>
  <Paragraphs>81</Paragraphs>
  <Slides>24</Slides>
  <Notes>0</Notes>
  <HiddenSlides>0</HiddenSlides>
  <MMClips>0</MMClips>
  <ScaleCrop>false</ScaleCrop>
  <HeadingPairs>
    <vt:vector size="6" baseType="variant">
      <vt:variant>
        <vt:lpstr>Caratteri utilizzati</vt:lpstr>
      </vt:variant>
      <vt:variant>
        <vt:i4>1</vt:i4>
      </vt:variant>
      <vt:variant>
        <vt:lpstr>Tema</vt:lpstr>
      </vt:variant>
      <vt:variant>
        <vt:i4>1</vt:i4>
      </vt:variant>
      <vt:variant>
        <vt:lpstr>Titoli diapositive</vt:lpstr>
      </vt:variant>
      <vt:variant>
        <vt:i4>24</vt:i4>
      </vt:variant>
    </vt:vector>
  </HeadingPairs>
  <TitlesOfParts>
    <vt:vector size="26" baseType="lpstr">
      <vt:lpstr>Calibri</vt:lpstr>
      <vt:lpstr>Office Theme</vt:lpstr>
      <vt:lpstr>Presentazione standard di PowerPoint</vt:lpstr>
      <vt:lpstr>Router</vt:lpstr>
      <vt:lpstr>Presentazione standard di PowerPoint</vt:lpstr>
      <vt:lpstr>Router</vt:lpstr>
      <vt:lpstr>Router</vt:lpstr>
      <vt:lpstr>Router</vt:lpstr>
      <vt:lpstr>Router</vt:lpstr>
      <vt:lpstr>Router</vt:lpstr>
      <vt:lpstr>Gli elementi della libreria router-dom che  esamineremo sono : BrowserRouter, Routes, Route. BrowserRouter è il componente in grado di gestire  il Routing della nostra applicazione, mentre Route ci  permette di creare e gestire uno specifico indirizzo  di destinazione.  Le Route devono essere wrappate dal component Routes  Di seguito la sintassi, abbiamo anche creato 3 componenti per simulare tre differenti pagine di un sito web</vt:lpstr>
      <vt:lpstr>BrowserRouter</vt:lpstr>
      <vt:lpstr>Per navigare all'interno dell'applicazione, utilizziamo un altro componente chiamato Link, che importiamo da react-router-dom. Creiamo rapidamente una barra di navigazione (nav) all'interno del nostro &lt;Router&gt; ma al di fuori dei &lt;Routes&gt;. </vt:lpstr>
      <vt:lpstr>Presentazione standard di PowerPoint</vt:lpstr>
      <vt:lpstr>All'interno della barra di navigazione, ci sono componenti `&lt;Link&gt;`, che definiscono i percorsi all'interno dell'applicazione. Per le voci di menu come "Home", "About" e "Profile", utilizzeremo tag come `&lt;Link to="/about"&gt;About&lt;/Link&gt;`  e `&lt;Link to="/profile"&gt;Profile&lt;/Link&gt;`.   Abbiamo ottenuto una barra di navigazione pratica che ci consente di spostarci tra le varie sezioni dell'app senza necessità di ricaricare la pagina .</vt:lpstr>
      <vt:lpstr>Il contrasto tra l'uso del componente `&lt;Link&gt;` e un ancor tag tradizionale come `&lt;a href="/about"&gt;About&lt;/a&gt;` è notevole. Mentre `&lt;a href&gt;` provoca il ricaricamento dell'intera applicazione, `&lt;Link&gt;` consente una transizione istantanea tra le viste, migliorando sensibilmente l'esperienza utente. Questo approccio è vitale in una Single Page Application (SPA), poiché si intende evitare il completo ricaricamento dell'app al cambio di vista, preservando lo stato dell'applicazione e garantendo una navigazione fluida.  In caso di navigazione verso un percorso non definito, come "/profile/1", l'utente vedrà solamente la barra di navigazione, che è progettata per essere sempre visibile. Per gestire queste situazioni, implementiamo un componente `ErrorPage` che verrà mostrato qualora l'utente acceda a un indirizzo inesistente nell'app.</vt:lpstr>
      <vt:lpstr>Con l'introduzione di React Router v6, non è più necessario collocare la route di `ErrorPage` come ultima nell'elenco delle routes. Grazie ad un sistema di matching dei percorsi migliorato, l'algoritmo esamina prima le route definite e, in assenza di corrispondenze, renderizza `ErrorPage`, evitando così la visualizzazione di contenuti non previsti.</vt:lpstr>
      <vt:lpstr>Presentazione standard di PowerPoint</vt:lpstr>
      <vt:lpstr>Ora sicuramente avrò necessità di accedere a l’id che viene passato nella Route e per fare questo abbiamo un nuovo hook lo useParam che restituisce un oggetto con i valori dei parametri.</vt:lpstr>
      <vt:lpstr>useNavigate</vt:lpstr>
      <vt:lpstr>Rotte annidate</vt:lpstr>
      <vt:lpstr>Rotte annidate</vt:lpstr>
      <vt:lpstr>Rotte annidate</vt:lpstr>
      <vt:lpstr>useRoutes</vt:lpstr>
      <vt:lpstr>useRoutes</vt:lpstr>
      <vt:lpstr>useRoutes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dc:title>
  <dc:creator>Riccardo</dc:creator>
  <cp:lastModifiedBy>Admin</cp:lastModifiedBy>
  <cp:revision>24</cp:revision>
  <dcterms:created xsi:type="dcterms:W3CDTF">2022-06-07T10:08:31Z</dcterms:created>
  <dcterms:modified xsi:type="dcterms:W3CDTF">2025-10-08T14:42:52Z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2021-06-18T00:00:00Z</vt:filetime>
  </property>
  <property fmtid="{D5CDD505-2E9C-101B-9397-08002B2CF9AE}" pid="3" name="Creator">
    <vt:lpwstr>Microsoft® PowerPoint® 2019</vt:lpwstr>
  </property>
  <property fmtid="{D5CDD505-2E9C-101B-9397-08002B2CF9AE}" pid="4" name="LastSaved">
    <vt:filetime>2022-06-07T00:00:00Z</vt:filetime>
  </property>
</Properties>
</file>