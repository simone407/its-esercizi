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6864350"/>
  <p:notesSz cx="9144000" cy="686435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77542" y="889965"/>
            <a:ext cx="578891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4036"/>
            <a:ext cx="6400800" cy="1716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8800"/>
            <a:ext cx="3977640" cy="4530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8800"/>
            <a:ext cx="3977640" cy="4530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8859" y="817956"/>
            <a:ext cx="198628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692770"/>
            <a:ext cx="8071510" cy="442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6725" y="6330324"/>
            <a:ext cx="327659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83845"/>
            <a:ext cx="2103120" cy="34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83845"/>
            <a:ext cx="2103120" cy="34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psum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"/>
            <a:ext cx="9144000" cy="3189605"/>
          </a:xfrm>
          <a:custGeom>
            <a:avLst/>
            <a:gdLst/>
            <a:ahLst/>
            <a:cxnLst/>
            <a:rect l="l" t="t" r="r" b="b"/>
            <a:pathLst>
              <a:path w="9144000" h="3189605">
                <a:moveTo>
                  <a:pt x="9144000" y="0"/>
                </a:moveTo>
                <a:lnTo>
                  <a:pt x="0" y="0"/>
                </a:lnTo>
                <a:lnTo>
                  <a:pt x="0" y="3189097"/>
                </a:lnTo>
                <a:lnTo>
                  <a:pt x="9144000" y="318909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97757" y="2483053"/>
            <a:ext cx="13557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Calibri"/>
                <a:cs typeface="Calibri"/>
              </a:rPr>
              <a:t>H</a:t>
            </a:r>
            <a:r>
              <a:rPr sz="4400" spc="-30" dirty="0">
                <a:latin typeface="Calibri"/>
                <a:cs typeface="Calibri"/>
              </a:rPr>
              <a:t>T</a:t>
            </a:r>
            <a:r>
              <a:rPr sz="4400" dirty="0">
                <a:latin typeface="Calibri"/>
                <a:cs typeface="Calibri"/>
              </a:rPr>
              <a:t>ML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6845" y="4567491"/>
            <a:ext cx="1530980" cy="214414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4201" y="881075"/>
            <a:ext cx="13563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</a:t>
            </a:r>
            <a:r>
              <a:rPr spc="-25" dirty="0"/>
              <a:t>T</a:t>
            </a:r>
            <a:r>
              <a:rPr dirty="0"/>
              <a:t>ML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8018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/>
              <a:t>HTML</a:t>
            </a:r>
            <a:r>
              <a:rPr sz="2700" spc="25" dirty="0"/>
              <a:t> </a:t>
            </a:r>
            <a:r>
              <a:rPr sz="2700" spc="-5" dirty="0"/>
              <a:t>è</a:t>
            </a:r>
            <a:r>
              <a:rPr sz="2700" dirty="0"/>
              <a:t> </a:t>
            </a:r>
            <a:r>
              <a:rPr sz="2700" spc="-35" dirty="0"/>
              <a:t>l’acronimo</a:t>
            </a:r>
            <a:r>
              <a:rPr sz="2700" spc="70" dirty="0"/>
              <a:t> </a:t>
            </a:r>
            <a:r>
              <a:rPr sz="2700" spc="-5" dirty="0"/>
              <a:t>di</a:t>
            </a:r>
            <a:r>
              <a:rPr sz="2700" spc="15" dirty="0"/>
              <a:t> </a:t>
            </a:r>
            <a:r>
              <a:rPr sz="2700" b="1" spc="-10" dirty="0">
                <a:latin typeface="Calibri"/>
                <a:cs typeface="Calibri"/>
              </a:rPr>
              <a:t>H</a:t>
            </a:r>
            <a:r>
              <a:rPr sz="2700" spc="-10" dirty="0"/>
              <a:t>yper</a:t>
            </a:r>
            <a:r>
              <a:rPr sz="2700" spc="-15" dirty="0"/>
              <a:t> </a:t>
            </a:r>
            <a:r>
              <a:rPr sz="2700" b="1" spc="-10" dirty="0">
                <a:latin typeface="Calibri"/>
                <a:cs typeface="Calibri"/>
              </a:rPr>
              <a:t>T</a:t>
            </a:r>
            <a:r>
              <a:rPr sz="2700" spc="-10" dirty="0"/>
              <a:t>ext</a:t>
            </a:r>
            <a:r>
              <a:rPr sz="2700" spc="20" dirty="0"/>
              <a:t> </a:t>
            </a:r>
            <a:r>
              <a:rPr sz="2700" b="1" spc="-15" dirty="0">
                <a:latin typeface="Calibri"/>
                <a:cs typeface="Calibri"/>
              </a:rPr>
              <a:t>M</a:t>
            </a:r>
            <a:r>
              <a:rPr sz="2700" spc="-15" dirty="0"/>
              <a:t>arkup</a:t>
            </a:r>
            <a:r>
              <a:rPr sz="2700" spc="-30" dirty="0"/>
              <a:t> </a:t>
            </a:r>
            <a:r>
              <a:rPr sz="2700" b="1" spc="-15" dirty="0">
                <a:latin typeface="Calibri"/>
                <a:cs typeface="Calibri"/>
              </a:rPr>
              <a:t>L</a:t>
            </a:r>
            <a:r>
              <a:rPr sz="2700" spc="-15" dirty="0"/>
              <a:t>anguage</a:t>
            </a:r>
            <a:endParaRPr sz="2700">
              <a:latin typeface="Calibri"/>
              <a:cs typeface="Calibri"/>
            </a:endParaRPr>
          </a:p>
          <a:p>
            <a:pPr marL="354965" marR="5080" indent="-342900">
              <a:lnSpc>
                <a:spcPts val="291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/>
              <a:t>Non è un linguaggio</a:t>
            </a:r>
            <a:r>
              <a:rPr sz="2700" dirty="0"/>
              <a:t> </a:t>
            </a:r>
            <a:r>
              <a:rPr sz="2700" spc="-5" dirty="0"/>
              <a:t>di </a:t>
            </a:r>
            <a:r>
              <a:rPr sz="2700" spc="-15" dirty="0"/>
              <a:t>programmazione,</a:t>
            </a:r>
            <a:r>
              <a:rPr sz="2700" spc="-10" dirty="0"/>
              <a:t> </a:t>
            </a:r>
            <a:r>
              <a:rPr sz="2700" spc="-5" dirty="0"/>
              <a:t>non possiede </a:t>
            </a:r>
            <a:r>
              <a:rPr sz="2700" spc="-600" dirty="0"/>
              <a:t> </a:t>
            </a:r>
            <a:r>
              <a:rPr sz="2700" spc="-10" dirty="0"/>
              <a:t>quindi</a:t>
            </a:r>
            <a:r>
              <a:rPr sz="2700" spc="15" dirty="0"/>
              <a:t> </a:t>
            </a:r>
            <a:r>
              <a:rPr sz="2700" spc="-5" dirty="0"/>
              <a:t>i</a:t>
            </a:r>
            <a:r>
              <a:rPr sz="2700" spc="10" dirty="0"/>
              <a:t> </a:t>
            </a:r>
            <a:r>
              <a:rPr sz="2700" spc="-25" dirty="0"/>
              <a:t>costrutti</a:t>
            </a:r>
            <a:r>
              <a:rPr sz="2700" spc="15" dirty="0"/>
              <a:t> </a:t>
            </a:r>
            <a:r>
              <a:rPr sz="2700" spc="-10" dirty="0"/>
              <a:t>logici</a:t>
            </a:r>
            <a:r>
              <a:rPr sz="2700" spc="80" dirty="0"/>
              <a:t> </a:t>
            </a:r>
            <a:r>
              <a:rPr sz="2700" spc="-10" dirty="0"/>
              <a:t>della</a:t>
            </a:r>
            <a:r>
              <a:rPr sz="2700" spc="25" dirty="0"/>
              <a:t> </a:t>
            </a:r>
            <a:r>
              <a:rPr sz="2700" spc="-15" dirty="0"/>
              <a:t>programmazione</a:t>
            </a:r>
            <a:endParaRPr sz="2700"/>
          </a:p>
          <a:p>
            <a:pPr marL="354965" indent="-3429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/>
              <a:t>E’</a:t>
            </a:r>
            <a:r>
              <a:rPr sz="2700" spc="-15" dirty="0"/>
              <a:t> </a:t>
            </a:r>
            <a:r>
              <a:rPr sz="2700" spc="-5" dirty="0"/>
              <a:t>un linguaggio</a:t>
            </a:r>
            <a:r>
              <a:rPr sz="2700" spc="70" dirty="0"/>
              <a:t> </a:t>
            </a:r>
            <a:r>
              <a:rPr sz="2700" spc="-5" dirty="0"/>
              <a:t>di</a:t>
            </a:r>
            <a:r>
              <a:rPr sz="2700" spc="10" dirty="0"/>
              <a:t> </a:t>
            </a:r>
            <a:r>
              <a:rPr sz="2700" spc="-10" dirty="0"/>
              <a:t>Markup</a:t>
            </a:r>
            <a:r>
              <a:rPr sz="2700" spc="-45" dirty="0"/>
              <a:t> </a:t>
            </a:r>
            <a:r>
              <a:rPr sz="2700" spc="-5" dirty="0"/>
              <a:t>per</a:t>
            </a:r>
            <a:r>
              <a:rPr sz="2700" spc="-25" dirty="0"/>
              <a:t> </a:t>
            </a:r>
            <a:r>
              <a:rPr sz="2700" spc="-15" dirty="0"/>
              <a:t>Ipertesti</a:t>
            </a:r>
            <a:endParaRPr sz="2700"/>
          </a:p>
          <a:p>
            <a:pPr marL="354965" indent="-34290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/>
              <a:t>E’</a:t>
            </a:r>
            <a:r>
              <a:rPr sz="2700" spc="-15" dirty="0"/>
              <a:t> lo</a:t>
            </a:r>
            <a:r>
              <a:rPr sz="2700" spc="20" dirty="0"/>
              <a:t> </a:t>
            </a:r>
            <a:r>
              <a:rPr sz="2700" spc="-20" dirty="0"/>
              <a:t>standard</a:t>
            </a:r>
            <a:r>
              <a:rPr sz="2700" spc="-15" dirty="0"/>
              <a:t> </a:t>
            </a:r>
            <a:r>
              <a:rPr sz="2700" spc="-25" dirty="0"/>
              <a:t>utilizzato</a:t>
            </a:r>
            <a:r>
              <a:rPr sz="2700" spc="130" dirty="0"/>
              <a:t> </a:t>
            </a:r>
            <a:r>
              <a:rPr sz="2700" spc="-5" dirty="0"/>
              <a:t>per</a:t>
            </a:r>
            <a:r>
              <a:rPr sz="2700" spc="-20" dirty="0"/>
              <a:t> </a:t>
            </a:r>
            <a:r>
              <a:rPr sz="2700" spc="-10" dirty="0"/>
              <a:t>la</a:t>
            </a:r>
            <a:r>
              <a:rPr sz="2700" spc="5" dirty="0"/>
              <a:t> </a:t>
            </a:r>
            <a:r>
              <a:rPr sz="2700" spc="-10" dirty="0"/>
              <a:t>creazione</a:t>
            </a:r>
            <a:r>
              <a:rPr sz="2700" dirty="0"/>
              <a:t> </a:t>
            </a:r>
            <a:r>
              <a:rPr sz="2700" spc="-5" dirty="0"/>
              <a:t>di</a:t>
            </a:r>
            <a:r>
              <a:rPr sz="2700" spc="10" dirty="0"/>
              <a:t> </a:t>
            </a:r>
            <a:r>
              <a:rPr sz="2700" spc="-10" dirty="0"/>
              <a:t>pagine</a:t>
            </a:r>
            <a:r>
              <a:rPr sz="2700" spc="-5" dirty="0"/>
              <a:t> </a:t>
            </a:r>
            <a:r>
              <a:rPr sz="2700" spc="-35" dirty="0"/>
              <a:t>Web</a:t>
            </a:r>
            <a:endParaRPr sz="270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5963" y="4436871"/>
            <a:ext cx="1534252" cy="214414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264" y="889965"/>
            <a:ext cx="54095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Struttura</a:t>
            </a:r>
            <a:r>
              <a:rPr spc="15" dirty="0"/>
              <a:t> </a:t>
            </a:r>
            <a:r>
              <a:rPr spc="-5" dirty="0"/>
              <a:t>di un</a:t>
            </a:r>
            <a:r>
              <a:rPr dirty="0"/>
              <a:t> </a:t>
            </a:r>
            <a:r>
              <a:rPr spc="-25" dirty="0"/>
              <a:t>tag</a:t>
            </a:r>
            <a:r>
              <a:rPr dirty="0"/>
              <a:t> </a:t>
            </a:r>
            <a:r>
              <a:rPr spc="-5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950960"/>
            <a:ext cx="8080375" cy="381190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01675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latin typeface="Calibri"/>
                <a:cs typeface="Calibri"/>
              </a:rPr>
              <a:t>&lt;nometag&gt;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……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contenuto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……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&lt;/nometag&gt;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700">
              <a:latin typeface="Calibri"/>
              <a:cs typeface="Calibri"/>
            </a:endParaRPr>
          </a:p>
          <a:p>
            <a:pPr marL="12700" marR="5080" algn="just">
              <a:lnSpc>
                <a:spcPct val="90200"/>
              </a:lnSpc>
            </a:pPr>
            <a:r>
              <a:rPr sz="3000" spc="-10" dirty="0">
                <a:latin typeface="Calibri"/>
                <a:cs typeface="Calibri"/>
              </a:rPr>
              <a:t>Estensione </a:t>
            </a:r>
            <a:r>
              <a:rPr sz="3000" dirty="0">
                <a:latin typeface="Calibri"/>
                <a:cs typeface="Calibri"/>
              </a:rPr>
              <a:t>: </a:t>
            </a:r>
            <a:r>
              <a:rPr sz="3000" spc="-5" dirty="0">
                <a:latin typeface="Calibri"/>
                <a:cs typeface="Calibri"/>
              </a:rPr>
              <a:t>come </a:t>
            </a:r>
            <a:r>
              <a:rPr sz="3000" spc="-50" dirty="0">
                <a:latin typeface="Calibri"/>
                <a:cs typeface="Calibri"/>
              </a:rPr>
              <a:t>fa </a:t>
            </a:r>
            <a:r>
              <a:rPr sz="3000" spc="-10" dirty="0">
                <a:latin typeface="Calibri"/>
                <a:cs typeface="Calibri"/>
              </a:rPr>
              <a:t>il </a:t>
            </a:r>
            <a:r>
              <a:rPr sz="3000" spc="10" dirty="0">
                <a:latin typeface="Calibri"/>
                <a:cs typeface="Calibri"/>
              </a:rPr>
              <a:t>pc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15" dirty="0">
                <a:latin typeface="Calibri"/>
                <a:cs typeface="Calibri"/>
              </a:rPr>
              <a:t>capire </a:t>
            </a:r>
            <a:r>
              <a:rPr sz="3000" spc="10" dirty="0">
                <a:latin typeface="Calibri"/>
                <a:cs typeface="Calibri"/>
              </a:rPr>
              <a:t>che </a:t>
            </a:r>
            <a:r>
              <a:rPr sz="3000" spc="-20" dirty="0">
                <a:latin typeface="Calibri"/>
                <a:cs typeface="Calibri"/>
              </a:rPr>
              <a:t>si </a:t>
            </a:r>
            <a:r>
              <a:rPr sz="3000" spc="-35" dirty="0">
                <a:latin typeface="Calibri"/>
                <a:cs typeface="Calibri"/>
              </a:rPr>
              <a:t>tratta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spc="-20" dirty="0">
                <a:latin typeface="Calibri"/>
                <a:cs typeface="Calibri"/>
              </a:rPr>
              <a:t>un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file </a:t>
            </a:r>
            <a:r>
              <a:rPr sz="3000" spc="-10" dirty="0">
                <a:latin typeface="Calibri"/>
                <a:cs typeface="Calibri"/>
              </a:rPr>
              <a:t>html? </a:t>
            </a:r>
            <a:r>
              <a:rPr sz="3000" spc="-25" dirty="0">
                <a:latin typeface="Calibri"/>
                <a:cs typeface="Calibri"/>
              </a:rPr>
              <a:t>Dall’estensione </a:t>
            </a:r>
            <a:r>
              <a:rPr sz="3000" spc="-5" dirty="0">
                <a:latin typeface="Calibri"/>
                <a:cs typeface="Calibri"/>
              </a:rPr>
              <a:t>del </a:t>
            </a:r>
            <a:r>
              <a:rPr sz="3000" dirty="0">
                <a:latin typeface="Calibri"/>
                <a:cs typeface="Calibri"/>
              </a:rPr>
              <a:t>file che </a:t>
            </a:r>
            <a:r>
              <a:rPr sz="3000" spc="-20" dirty="0">
                <a:latin typeface="Calibri"/>
                <a:cs typeface="Calibri"/>
              </a:rPr>
              <a:t>deve </a:t>
            </a:r>
            <a:r>
              <a:rPr sz="3000" spc="-5" dirty="0">
                <a:latin typeface="Calibri"/>
                <a:cs typeface="Calibri"/>
              </a:rPr>
              <a:t>essere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obbligatoriamente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.html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00">
              <a:latin typeface="Calibri"/>
              <a:cs typeface="Calibri"/>
            </a:endParaRPr>
          </a:p>
          <a:p>
            <a:pPr marL="12700" marR="5715" algn="just">
              <a:lnSpc>
                <a:spcPct val="90200"/>
              </a:lnSpc>
              <a:spcBef>
                <a:spcPts val="5"/>
              </a:spcBef>
            </a:pPr>
            <a:r>
              <a:rPr sz="3000" spc="-25" dirty="0">
                <a:latin typeface="Calibri"/>
                <a:cs typeface="Calibri"/>
              </a:rPr>
              <a:t>Per</a:t>
            </a:r>
            <a:r>
              <a:rPr sz="3000" spc="-20" dirty="0">
                <a:latin typeface="Calibri"/>
                <a:cs typeface="Calibri"/>
              </a:rPr>
              <a:t> fare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prova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proviamo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creare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</a:t>
            </a:r>
            <a:r>
              <a:rPr sz="3000" dirty="0">
                <a:latin typeface="Calibri"/>
                <a:cs typeface="Calibri"/>
              </a:rPr>
              <a:t> file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chiamato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index.html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ed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apriamolo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con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il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nostro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editor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testo</a:t>
            </a:r>
            <a:r>
              <a:rPr sz="3000" spc="3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(ad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esempio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Notepad++).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572" y="889965"/>
            <a:ext cx="76117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Struttura</a:t>
            </a:r>
            <a:r>
              <a:rPr dirty="0"/>
              <a:t> </a:t>
            </a:r>
            <a:r>
              <a:rPr spc="-15" dirty="0"/>
              <a:t>principale</a:t>
            </a:r>
            <a:r>
              <a:rPr spc="145" dirty="0"/>
              <a:t> </a:t>
            </a:r>
            <a:r>
              <a:rPr spc="-5" dirty="0"/>
              <a:t>di</a:t>
            </a:r>
            <a:r>
              <a:rPr spc="-10" dirty="0"/>
              <a:t> </a:t>
            </a:r>
            <a:r>
              <a:rPr spc="-5" dirty="0"/>
              <a:t>una</a:t>
            </a:r>
            <a:r>
              <a:rPr dirty="0"/>
              <a:t> </a:t>
            </a:r>
            <a:r>
              <a:rPr spc="-15" dirty="0"/>
              <a:t>pagina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86445"/>
            <a:ext cx="4089400" cy="41452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590"/>
              </a:lnSpc>
              <a:spcBef>
                <a:spcPts val="114"/>
              </a:spcBef>
            </a:pPr>
            <a:r>
              <a:rPr sz="3000" spc="-5" dirty="0">
                <a:latin typeface="Calibri"/>
                <a:cs typeface="Calibri"/>
              </a:rPr>
              <a:t>&lt;!DOCTYPE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html&gt;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ts val="3590"/>
              </a:lnSpc>
            </a:pPr>
            <a:r>
              <a:rPr sz="3000" spc="-5" dirty="0">
                <a:latin typeface="Calibri"/>
                <a:cs typeface="Calibri"/>
              </a:rPr>
              <a:t>&lt;html&gt;</a:t>
            </a:r>
            <a:endParaRPr sz="3000">
              <a:latin typeface="Calibri"/>
              <a:cs typeface="Calibri"/>
            </a:endParaRPr>
          </a:p>
          <a:p>
            <a:pPr marL="927100">
              <a:lnSpc>
                <a:spcPts val="3590"/>
              </a:lnSpc>
              <a:spcBef>
                <a:spcPts val="20"/>
              </a:spcBef>
            </a:pPr>
            <a:r>
              <a:rPr sz="3000" spc="5" dirty="0">
                <a:latin typeface="Calibri"/>
                <a:cs typeface="Calibri"/>
              </a:rPr>
              <a:t>&lt;head&gt;</a:t>
            </a:r>
            <a:endParaRPr sz="3000">
              <a:latin typeface="Calibri"/>
              <a:cs typeface="Calibri"/>
            </a:endParaRPr>
          </a:p>
          <a:p>
            <a:pPr marL="1842135">
              <a:lnSpc>
                <a:spcPts val="3590"/>
              </a:lnSpc>
            </a:pPr>
            <a:r>
              <a:rPr sz="3000" spc="-5" dirty="0">
                <a:latin typeface="Calibri"/>
                <a:cs typeface="Calibri"/>
              </a:rPr>
              <a:t>&lt;title&gt;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&lt;/title&gt;</a:t>
            </a:r>
            <a:endParaRPr sz="3000">
              <a:latin typeface="Calibri"/>
              <a:cs typeface="Calibri"/>
            </a:endParaRPr>
          </a:p>
          <a:p>
            <a:pPr marL="927100">
              <a:lnSpc>
                <a:spcPts val="3595"/>
              </a:lnSpc>
              <a:spcBef>
                <a:spcPts val="20"/>
              </a:spcBef>
            </a:pPr>
            <a:r>
              <a:rPr sz="3000" spc="5" dirty="0">
                <a:latin typeface="Calibri"/>
                <a:cs typeface="Calibri"/>
              </a:rPr>
              <a:t>&lt;/head&gt;</a:t>
            </a:r>
            <a:endParaRPr sz="3000">
              <a:latin typeface="Calibri"/>
              <a:cs typeface="Calibri"/>
            </a:endParaRPr>
          </a:p>
          <a:p>
            <a:pPr marL="927100">
              <a:lnSpc>
                <a:spcPts val="3595"/>
              </a:lnSpc>
            </a:pPr>
            <a:r>
              <a:rPr sz="3000" spc="5" dirty="0">
                <a:latin typeface="Calibri"/>
                <a:cs typeface="Calibri"/>
              </a:rPr>
              <a:t>&lt;body&gt;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3000" spc="5" dirty="0">
                <a:latin typeface="Calibri"/>
                <a:cs typeface="Calibri"/>
              </a:rPr>
              <a:t>&lt;/body&gt;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3000" dirty="0">
                <a:latin typeface="Calibri"/>
                <a:cs typeface="Calibri"/>
              </a:rPr>
              <a:t>&lt;/html&gt;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321" y="889965"/>
            <a:ext cx="196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Es</a:t>
            </a:r>
            <a:r>
              <a:rPr dirty="0"/>
              <a:t>emp</a:t>
            </a:r>
            <a:r>
              <a:rPr spc="-20" dirty="0"/>
              <a:t>i</a:t>
            </a:r>
            <a:r>
              <a:rPr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99932"/>
            <a:ext cx="6829425" cy="4142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95"/>
              </a:spcBef>
            </a:pPr>
            <a:r>
              <a:rPr sz="2700" spc="-5" dirty="0">
                <a:latin typeface="Calibri"/>
                <a:cs typeface="Calibri"/>
              </a:rPr>
              <a:t>&lt;!DOCTYPE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html&gt;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15" dirty="0">
                <a:latin typeface="Calibri"/>
                <a:cs typeface="Calibri"/>
              </a:rPr>
              <a:t>&lt;html&gt;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  <a:spcBef>
                <a:spcPts val="25"/>
              </a:spcBef>
            </a:pPr>
            <a:r>
              <a:rPr sz="2700" spc="-5" dirty="0">
                <a:latin typeface="Calibri"/>
                <a:cs typeface="Calibri"/>
              </a:rPr>
              <a:t>&lt;head&gt;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229"/>
              </a:lnSpc>
            </a:pPr>
            <a:r>
              <a:rPr sz="2700" spc="-15" dirty="0">
                <a:latin typeface="Calibri"/>
                <a:cs typeface="Calibri"/>
              </a:rPr>
              <a:t>&lt;title&gt;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Mia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Prima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Pagina&lt;/title&gt;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10" dirty="0">
                <a:latin typeface="Calibri"/>
                <a:cs typeface="Calibri"/>
              </a:rPr>
              <a:t>&lt;/head&gt;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  <a:spcBef>
                <a:spcPts val="25"/>
              </a:spcBef>
            </a:pPr>
            <a:r>
              <a:rPr sz="2700" spc="-10" dirty="0">
                <a:latin typeface="Calibri"/>
                <a:cs typeface="Calibri"/>
              </a:rPr>
              <a:t>&lt;body&gt;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229"/>
              </a:lnSpc>
            </a:pPr>
            <a:r>
              <a:rPr sz="2700" spc="-15" dirty="0">
                <a:latin typeface="Calibri"/>
                <a:cs typeface="Calibri"/>
              </a:rPr>
              <a:t>&lt;h1&gt;Titolo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della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mia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pagina&lt;/h1&gt;</a:t>
            </a:r>
            <a:endParaRPr sz="2700">
              <a:latin typeface="Calibri"/>
              <a:cs typeface="Calibri"/>
            </a:endParaRPr>
          </a:p>
          <a:p>
            <a:pPr marL="1842135">
              <a:lnSpc>
                <a:spcPts val="3235"/>
              </a:lnSpc>
            </a:pPr>
            <a:r>
              <a:rPr sz="2700" spc="-15" dirty="0">
                <a:latin typeface="Calibri"/>
                <a:cs typeface="Calibri"/>
              </a:rPr>
              <a:t>&lt;p&gt;Questo 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testo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descrittivo&lt;/p&gt;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  <a:spcBef>
                <a:spcPts val="25"/>
              </a:spcBef>
            </a:pPr>
            <a:r>
              <a:rPr sz="2700" spc="-10" dirty="0">
                <a:latin typeface="Calibri"/>
                <a:cs typeface="Calibri"/>
              </a:rPr>
              <a:t>&lt;/body&gt;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15" dirty="0">
                <a:latin typeface="Calibri"/>
                <a:cs typeface="Calibri"/>
              </a:rPr>
              <a:t>&lt;/html&gt;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8957" y="889965"/>
            <a:ext cx="5010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Risorse</a:t>
            </a:r>
            <a:r>
              <a:rPr spc="45" dirty="0"/>
              <a:t> </a:t>
            </a:r>
            <a:r>
              <a:rPr spc="-5" dirty="0"/>
              <a:t>di</a:t>
            </a:r>
            <a:r>
              <a:rPr spc="5" dirty="0"/>
              <a:t> </a:t>
            </a:r>
            <a:r>
              <a:rPr spc="-25" dirty="0"/>
              <a:t>Riferimento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2193353"/>
            <a:ext cx="8072120" cy="3636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2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https://www.w3schools.com/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400">
              <a:latin typeface="Calibri"/>
              <a:cs typeface="Calibri"/>
            </a:endParaRPr>
          </a:p>
          <a:p>
            <a:pPr marL="12700" marR="5080" algn="just">
              <a:lnSpc>
                <a:spcPct val="100099"/>
              </a:lnSpc>
            </a:pP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sito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ospita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un'ampia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raccolta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esempi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 </a:t>
            </a:r>
            <a:r>
              <a:rPr sz="3200" spc="-15" dirty="0">
                <a:latin typeface="Calibri"/>
                <a:cs typeface="Calibri"/>
              </a:rPr>
              <a:t> codice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sorgente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vari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linguaggi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</a:t>
            </a:r>
            <a:r>
              <a:rPr sz="3200" spc="-5" dirty="0">
                <a:latin typeface="Calibri"/>
                <a:cs typeface="Calibri"/>
              </a:rPr>
              <a:t> tutorial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gratuiti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inglese,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solitamente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modificabili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eseguibili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interattivamente</a:t>
            </a:r>
            <a:r>
              <a:rPr sz="3200" spc="-20" dirty="0">
                <a:latin typeface="Calibri"/>
                <a:cs typeface="Calibri"/>
              </a:rPr>
              <a:t> tramite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un  </a:t>
            </a:r>
            <a:r>
              <a:rPr sz="3200" spc="-10" dirty="0">
                <a:latin typeface="Calibri"/>
                <a:cs typeface="Calibri"/>
              </a:rPr>
              <a:t>editor </a:t>
            </a:r>
            <a:r>
              <a:rPr sz="3200" spc="-5" dirty="0">
                <a:latin typeface="Calibri"/>
                <a:cs typeface="Calibri"/>
              </a:rPr>
              <a:t> live.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4764" y="808938"/>
            <a:ext cx="4019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Tag</a:t>
            </a:r>
            <a:r>
              <a:rPr spc="-10" dirty="0"/>
              <a:t> </a:t>
            </a:r>
            <a:r>
              <a:rPr spc="-25" dirty="0"/>
              <a:t>Fondamentali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6985" algn="just">
              <a:lnSpc>
                <a:spcPct val="81500"/>
              </a:lnSpc>
              <a:spcBef>
                <a:spcPts val="680"/>
              </a:spcBef>
            </a:pPr>
            <a:r>
              <a:rPr sz="2450" spc="5" dirty="0"/>
              <a:t>I </a:t>
            </a:r>
            <a:r>
              <a:rPr sz="2450" spc="-55" dirty="0"/>
              <a:t>Tag</a:t>
            </a:r>
            <a:r>
              <a:rPr sz="2450" spc="440" dirty="0"/>
              <a:t> </a:t>
            </a:r>
            <a:r>
              <a:rPr sz="2450" spc="15" dirty="0"/>
              <a:t>ci </a:t>
            </a:r>
            <a:r>
              <a:rPr sz="2450" spc="10" dirty="0"/>
              <a:t>permettono  </a:t>
            </a:r>
            <a:r>
              <a:rPr sz="2450" spc="15" dirty="0"/>
              <a:t>di assegnare </a:t>
            </a:r>
            <a:r>
              <a:rPr sz="2450" spc="35" dirty="0"/>
              <a:t>un </a:t>
            </a:r>
            <a:r>
              <a:rPr sz="2450" spc="10" dirty="0"/>
              <a:t>ruolo </a:t>
            </a:r>
            <a:r>
              <a:rPr sz="2450" spc="15" dirty="0"/>
              <a:t>e </a:t>
            </a:r>
            <a:r>
              <a:rPr sz="2450" spc="20" dirty="0"/>
              <a:t>una </a:t>
            </a:r>
            <a:r>
              <a:rPr sz="2450" spc="15" dirty="0"/>
              <a:t>disposizione </a:t>
            </a:r>
            <a:r>
              <a:rPr sz="2450" spc="20" dirty="0"/>
              <a:t> </a:t>
            </a:r>
            <a:r>
              <a:rPr sz="2450" spc="15" dirty="0"/>
              <a:t>ai</a:t>
            </a:r>
            <a:r>
              <a:rPr sz="2450" spc="20" dirty="0"/>
              <a:t> </a:t>
            </a:r>
            <a:r>
              <a:rPr sz="2450" spc="5" dirty="0"/>
              <a:t>contenuti</a:t>
            </a:r>
            <a:r>
              <a:rPr sz="2450" spc="10" dirty="0"/>
              <a:t> delle</a:t>
            </a:r>
            <a:r>
              <a:rPr sz="2450" spc="575" dirty="0"/>
              <a:t> </a:t>
            </a:r>
            <a:r>
              <a:rPr sz="2450" spc="10" dirty="0"/>
              <a:t>nostre</a:t>
            </a:r>
            <a:r>
              <a:rPr sz="2450" spc="575" dirty="0"/>
              <a:t> </a:t>
            </a:r>
            <a:r>
              <a:rPr sz="2450" spc="20" dirty="0"/>
              <a:t>pagine.</a:t>
            </a:r>
            <a:r>
              <a:rPr sz="2450" spc="25" dirty="0"/>
              <a:t> </a:t>
            </a:r>
            <a:r>
              <a:rPr sz="2450" spc="5" dirty="0"/>
              <a:t>Possiamo</a:t>
            </a:r>
            <a:r>
              <a:rPr sz="2450" spc="10" dirty="0"/>
              <a:t> </a:t>
            </a:r>
            <a:r>
              <a:rPr sz="2450" spc="20" dirty="0"/>
              <a:t>ad</a:t>
            </a:r>
            <a:r>
              <a:rPr sz="2450" spc="25" dirty="0"/>
              <a:t> </a:t>
            </a:r>
            <a:r>
              <a:rPr sz="2450" spc="20" dirty="0"/>
              <a:t>esempio </a:t>
            </a:r>
            <a:r>
              <a:rPr sz="2450" spc="-540" dirty="0"/>
              <a:t> </a:t>
            </a:r>
            <a:r>
              <a:rPr sz="2450" dirty="0"/>
              <a:t>distinguere</a:t>
            </a:r>
            <a:r>
              <a:rPr sz="2450" spc="130" dirty="0"/>
              <a:t> </a:t>
            </a:r>
            <a:r>
              <a:rPr sz="2450" spc="5" dirty="0"/>
              <a:t>il</a:t>
            </a:r>
            <a:r>
              <a:rPr sz="2450" spc="10" dirty="0"/>
              <a:t> </a:t>
            </a:r>
            <a:r>
              <a:rPr sz="2450" spc="-5" dirty="0"/>
              <a:t>titolo</a:t>
            </a:r>
            <a:r>
              <a:rPr sz="2450" spc="85" dirty="0"/>
              <a:t> </a:t>
            </a:r>
            <a:r>
              <a:rPr sz="2450" spc="15" dirty="0"/>
              <a:t>dai </a:t>
            </a:r>
            <a:r>
              <a:rPr sz="2450" dirty="0"/>
              <a:t>paragrafi</a:t>
            </a:r>
            <a:r>
              <a:rPr sz="2450" spc="25" dirty="0"/>
              <a:t> </a:t>
            </a:r>
            <a:r>
              <a:rPr sz="2450" spc="15" dirty="0"/>
              <a:t>di</a:t>
            </a:r>
            <a:r>
              <a:rPr sz="2450" spc="10" dirty="0"/>
              <a:t> </a:t>
            </a:r>
            <a:r>
              <a:rPr sz="2450" spc="20" dirty="0"/>
              <a:t>un </a:t>
            </a:r>
            <a:r>
              <a:rPr sz="2450" spc="5" dirty="0"/>
              <a:t>articolo</a:t>
            </a:r>
            <a:r>
              <a:rPr sz="2450" spc="90" dirty="0"/>
              <a:t> </a:t>
            </a:r>
            <a:r>
              <a:rPr sz="2450" spc="20" dirty="0"/>
              <a:t>ecc.</a:t>
            </a:r>
            <a:endParaRPr sz="2450"/>
          </a:p>
          <a:p>
            <a:pPr marL="12700" algn="just">
              <a:lnSpc>
                <a:spcPct val="100000"/>
              </a:lnSpc>
              <a:spcBef>
                <a:spcPts val="1995"/>
              </a:spcBef>
            </a:pPr>
            <a:r>
              <a:rPr sz="2450" spc="5" dirty="0"/>
              <a:t>I</a:t>
            </a:r>
            <a:r>
              <a:rPr sz="2450" spc="-5" dirty="0"/>
              <a:t> </a:t>
            </a:r>
            <a:r>
              <a:rPr sz="2450" spc="-55" dirty="0"/>
              <a:t>Tag</a:t>
            </a:r>
            <a:r>
              <a:rPr sz="2450" spc="60" dirty="0"/>
              <a:t> </a:t>
            </a:r>
            <a:r>
              <a:rPr sz="2450" spc="10" dirty="0"/>
              <a:t>sono</a:t>
            </a:r>
            <a:r>
              <a:rPr sz="2450" spc="25" dirty="0"/>
              <a:t> </a:t>
            </a:r>
            <a:r>
              <a:rPr sz="2450" spc="-5" dirty="0"/>
              <a:t>costituiti</a:t>
            </a:r>
            <a:r>
              <a:rPr sz="2450" spc="165" dirty="0"/>
              <a:t> </a:t>
            </a:r>
            <a:r>
              <a:rPr sz="2450" spc="15" dirty="0"/>
              <a:t>da</a:t>
            </a:r>
            <a:r>
              <a:rPr sz="2450" dirty="0"/>
              <a:t> </a:t>
            </a:r>
            <a:r>
              <a:rPr sz="2450" spc="15" dirty="0"/>
              <a:t>un</a:t>
            </a:r>
            <a:r>
              <a:rPr sz="2450" spc="25" dirty="0"/>
              <a:t> </a:t>
            </a:r>
            <a:r>
              <a:rPr sz="2450" spc="-5" dirty="0"/>
              <a:t>tag</a:t>
            </a:r>
            <a:r>
              <a:rPr sz="2450" spc="60" dirty="0"/>
              <a:t> </a:t>
            </a:r>
            <a:r>
              <a:rPr sz="2450" spc="10" dirty="0"/>
              <a:t>di</a:t>
            </a:r>
            <a:r>
              <a:rPr sz="2450" spc="15" dirty="0"/>
              <a:t> </a:t>
            </a:r>
            <a:r>
              <a:rPr sz="2450" spc="5" dirty="0"/>
              <a:t>apertura</a:t>
            </a:r>
            <a:r>
              <a:rPr sz="2450" spc="60" dirty="0"/>
              <a:t> </a:t>
            </a:r>
            <a:r>
              <a:rPr sz="2450" spc="15" dirty="0"/>
              <a:t>e</a:t>
            </a:r>
            <a:r>
              <a:rPr sz="2450" spc="30" dirty="0"/>
              <a:t> </a:t>
            </a:r>
            <a:r>
              <a:rPr sz="2450" spc="15" dirty="0"/>
              <a:t>un</a:t>
            </a:r>
            <a:r>
              <a:rPr sz="2450" spc="25" dirty="0"/>
              <a:t> </a:t>
            </a:r>
            <a:r>
              <a:rPr sz="2450" spc="-5" dirty="0"/>
              <a:t>tag</a:t>
            </a:r>
            <a:r>
              <a:rPr sz="2450" spc="60" dirty="0"/>
              <a:t> </a:t>
            </a:r>
            <a:r>
              <a:rPr sz="2450" spc="10" dirty="0"/>
              <a:t>di</a:t>
            </a:r>
            <a:r>
              <a:rPr sz="2450" spc="15" dirty="0"/>
              <a:t> </a:t>
            </a:r>
            <a:r>
              <a:rPr sz="2450" spc="5" dirty="0"/>
              <a:t>chiusura</a:t>
            </a:r>
            <a:r>
              <a:rPr sz="2450" spc="35" dirty="0"/>
              <a:t> </a:t>
            </a:r>
            <a:r>
              <a:rPr sz="2450" spc="5" dirty="0"/>
              <a:t>:</a:t>
            </a:r>
            <a:endParaRPr sz="2450"/>
          </a:p>
          <a:p>
            <a:pPr marL="12700" marR="5080" indent="1252220">
              <a:lnSpc>
                <a:spcPct val="166600"/>
              </a:lnSpc>
              <a:spcBef>
                <a:spcPts val="30"/>
              </a:spcBef>
            </a:pPr>
            <a:r>
              <a:rPr sz="2450" spc="10" dirty="0"/>
              <a:t>&lt;nometag&gt;</a:t>
            </a:r>
            <a:r>
              <a:rPr sz="2450" spc="40" dirty="0"/>
              <a:t> </a:t>
            </a:r>
            <a:r>
              <a:rPr sz="2450" spc="15" dirty="0"/>
              <a:t>……</a:t>
            </a:r>
            <a:r>
              <a:rPr sz="2450" spc="40" dirty="0"/>
              <a:t> </a:t>
            </a:r>
            <a:r>
              <a:rPr sz="2450" spc="-5" dirty="0"/>
              <a:t>contenuto</a:t>
            </a:r>
            <a:r>
              <a:rPr sz="2450" spc="125" dirty="0"/>
              <a:t> </a:t>
            </a:r>
            <a:r>
              <a:rPr sz="2450" spc="15" dirty="0"/>
              <a:t>……</a:t>
            </a:r>
            <a:r>
              <a:rPr sz="2450" spc="35" dirty="0"/>
              <a:t> </a:t>
            </a:r>
            <a:r>
              <a:rPr sz="2450" spc="10" dirty="0"/>
              <a:t>&lt;/nometag&gt; </a:t>
            </a:r>
            <a:r>
              <a:rPr sz="2450" spc="15" dirty="0"/>
              <a:t> </a:t>
            </a:r>
            <a:r>
              <a:rPr sz="2450" spc="5" dirty="0"/>
              <a:t>Estensione</a:t>
            </a:r>
            <a:r>
              <a:rPr sz="2450" spc="95" dirty="0"/>
              <a:t> </a:t>
            </a:r>
            <a:r>
              <a:rPr sz="2450" spc="5" dirty="0"/>
              <a:t>:</a:t>
            </a:r>
            <a:r>
              <a:rPr sz="2450" spc="95" dirty="0"/>
              <a:t> </a:t>
            </a:r>
            <a:r>
              <a:rPr sz="2450" spc="20" dirty="0"/>
              <a:t>come</a:t>
            </a:r>
            <a:r>
              <a:rPr sz="2450" spc="90" dirty="0"/>
              <a:t> </a:t>
            </a:r>
            <a:r>
              <a:rPr sz="2450" spc="-15" dirty="0"/>
              <a:t>fa</a:t>
            </a:r>
            <a:r>
              <a:rPr sz="2450" spc="100" dirty="0"/>
              <a:t> </a:t>
            </a:r>
            <a:r>
              <a:rPr sz="2450" spc="5" dirty="0"/>
              <a:t>il</a:t>
            </a:r>
            <a:r>
              <a:rPr sz="2450" spc="85" dirty="0"/>
              <a:t> </a:t>
            </a:r>
            <a:r>
              <a:rPr sz="2450" spc="15" dirty="0"/>
              <a:t>pc</a:t>
            </a:r>
            <a:r>
              <a:rPr sz="2450" spc="95" dirty="0"/>
              <a:t> </a:t>
            </a:r>
            <a:r>
              <a:rPr sz="2450" spc="15" dirty="0"/>
              <a:t>a</a:t>
            </a:r>
            <a:r>
              <a:rPr sz="2450" spc="105" dirty="0"/>
              <a:t> </a:t>
            </a:r>
            <a:r>
              <a:rPr sz="2450" spc="5" dirty="0"/>
              <a:t>capire</a:t>
            </a:r>
            <a:r>
              <a:rPr sz="2450" spc="95" dirty="0"/>
              <a:t> </a:t>
            </a:r>
            <a:r>
              <a:rPr sz="2450" spc="30" dirty="0"/>
              <a:t>che</a:t>
            </a:r>
            <a:r>
              <a:rPr sz="2450" spc="100" dirty="0"/>
              <a:t> </a:t>
            </a:r>
            <a:r>
              <a:rPr sz="2450" dirty="0"/>
              <a:t>si</a:t>
            </a:r>
            <a:r>
              <a:rPr sz="2450" spc="80" dirty="0"/>
              <a:t> </a:t>
            </a:r>
            <a:r>
              <a:rPr sz="2450" spc="-10" dirty="0"/>
              <a:t>tratta</a:t>
            </a:r>
            <a:r>
              <a:rPr sz="2450" spc="105" dirty="0"/>
              <a:t> </a:t>
            </a:r>
            <a:r>
              <a:rPr sz="2450" spc="15" dirty="0"/>
              <a:t>di</a:t>
            </a:r>
            <a:r>
              <a:rPr sz="2450" spc="80" dirty="0"/>
              <a:t> </a:t>
            </a:r>
            <a:r>
              <a:rPr sz="2450" spc="20" dirty="0"/>
              <a:t>un</a:t>
            </a:r>
            <a:r>
              <a:rPr sz="2450" spc="95" dirty="0"/>
              <a:t> </a:t>
            </a:r>
            <a:r>
              <a:rPr sz="2450" spc="10" dirty="0"/>
              <a:t>file</a:t>
            </a:r>
            <a:r>
              <a:rPr sz="2450" spc="90" dirty="0"/>
              <a:t> </a:t>
            </a:r>
            <a:r>
              <a:rPr sz="2450" spc="20" dirty="0"/>
              <a:t>html?</a:t>
            </a:r>
            <a:endParaRPr sz="2450"/>
          </a:p>
          <a:p>
            <a:pPr marL="12700">
              <a:lnSpc>
                <a:spcPts val="2150"/>
              </a:lnSpc>
              <a:tabLst>
                <a:tab pos="2121535" algn="l"/>
                <a:tab pos="2689225" algn="l"/>
                <a:tab pos="3256915" algn="l"/>
                <a:tab pos="3883660" algn="l"/>
                <a:tab pos="4676775" algn="l"/>
                <a:tab pos="5672455" algn="l"/>
              </a:tabLst>
            </a:pPr>
            <a:r>
              <a:rPr sz="2450" spc="-5" dirty="0"/>
              <a:t>Dall’estensione	</a:t>
            </a:r>
            <a:r>
              <a:rPr sz="2450" spc="25" dirty="0"/>
              <a:t>del	</a:t>
            </a:r>
            <a:r>
              <a:rPr sz="2450" spc="10" dirty="0"/>
              <a:t>file	</a:t>
            </a:r>
            <a:r>
              <a:rPr sz="2450" spc="20" dirty="0"/>
              <a:t>che	</a:t>
            </a:r>
            <a:r>
              <a:rPr sz="2450" spc="10" dirty="0"/>
              <a:t>deve	</a:t>
            </a:r>
            <a:r>
              <a:rPr sz="2450" spc="5" dirty="0"/>
              <a:t>essere	</a:t>
            </a:r>
            <a:r>
              <a:rPr sz="2450" spc="10" dirty="0"/>
              <a:t>obbligatoriamente</a:t>
            </a:r>
            <a:endParaRPr sz="2450"/>
          </a:p>
          <a:p>
            <a:pPr marL="12700">
              <a:lnSpc>
                <a:spcPts val="2675"/>
              </a:lnSpc>
            </a:pPr>
            <a:r>
              <a:rPr sz="2450" spc="5" dirty="0"/>
              <a:t>.html</a:t>
            </a:r>
            <a:endParaRPr sz="2450"/>
          </a:p>
          <a:p>
            <a:pPr marL="12700">
              <a:lnSpc>
                <a:spcPts val="2675"/>
              </a:lnSpc>
              <a:spcBef>
                <a:spcPts val="1960"/>
              </a:spcBef>
              <a:tabLst>
                <a:tab pos="634365" algn="l"/>
                <a:tab pos="1337310" algn="l"/>
                <a:tab pos="2022475" algn="l"/>
                <a:tab pos="2950845" algn="l"/>
                <a:tab pos="4374515" algn="l"/>
                <a:tab pos="4721860" algn="l"/>
                <a:tab pos="5731510" algn="l"/>
                <a:tab pos="6263005" algn="l"/>
                <a:tab pos="6858000" algn="l"/>
              </a:tabLst>
            </a:pPr>
            <a:r>
              <a:rPr sz="2450" dirty="0"/>
              <a:t>Per	</a:t>
            </a:r>
            <a:r>
              <a:rPr sz="2450" spc="-15" dirty="0"/>
              <a:t>fare	</a:t>
            </a:r>
            <a:r>
              <a:rPr sz="2450" spc="20" dirty="0"/>
              <a:t>una	</a:t>
            </a:r>
            <a:r>
              <a:rPr sz="2450" spc="-5" dirty="0"/>
              <a:t>prova	</a:t>
            </a:r>
            <a:r>
              <a:rPr sz="2450" spc="10" dirty="0"/>
              <a:t>proviamo	</a:t>
            </a:r>
            <a:r>
              <a:rPr sz="2450" spc="15" dirty="0"/>
              <a:t>a	</a:t>
            </a:r>
            <a:r>
              <a:rPr sz="2450" dirty="0"/>
              <a:t>creare	</a:t>
            </a:r>
            <a:r>
              <a:rPr sz="2450" spc="20" dirty="0"/>
              <a:t>un	</a:t>
            </a:r>
            <a:r>
              <a:rPr sz="2450" dirty="0"/>
              <a:t>file	</a:t>
            </a:r>
            <a:r>
              <a:rPr sz="2450" spc="10" dirty="0"/>
              <a:t>chiamato</a:t>
            </a:r>
            <a:endParaRPr sz="2450"/>
          </a:p>
          <a:p>
            <a:pPr marL="12700">
              <a:lnSpc>
                <a:spcPts val="2675"/>
              </a:lnSpc>
            </a:pPr>
            <a:r>
              <a:rPr sz="2450" b="1" spc="5" dirty="0">
                <a:latin typeface="Calibri"/>
                <a:cs typeface="Calibri"/>
              </a:rPr>
              <a:t>index.html</a:t>
            </a:r>
            <a:r>
              <a:rPr sz="2450" b="1" spc="35" dirty="0">
                <a:latin typeface="Calibri"/>
                <a:cs typeface="Calibri"/>
              </a:rPr>
              <a:t> </a:t>
            </a:r>
            <a:r>
              <a:rPr sz="2450" spc="15" dirty="0"/>
              <a:t>ed</a:t>
            </a:r>
            <a:r>
              <a:rPr sz="2450" spc="20" dirty="0"/>
              <a:t> </a:t>
            </a:r>
            <a:r>
              <a:rPr sz="2450" spc="15" dirty="0"/>
              <a:t>apriamolo</a:t>
            </a:r>
            <a:r>
              <a:rPr sz="2450" spc="55" dirty="0"/>
              <a:t> </a:t>
            </a:r>
            <a:r>
              <a:rPr sz="2450" spc="5" dirty="0"/>
              <a:t>con</a:t>
            </a:r>
            <a:r>
              <a:rPr sz="2450" spc="60" dirty="0"/>
              <a:t> </a:t>
            </a:r>
            <a:r>
              <a:rPr sz="2450" spc="5" dirty="0"/>
              <a:t>il</a:t>
            </a:r>
            <a:r>
              <a:rPr sz="2450" spc="10" dirty="0"/>
              <a:t> </a:t>
            </a:r>
            <a:r>
              <a:rPr sz="2450" spc="-10" dirty="0"/>
              <a:t>nostro</a:t>
            </a:r>
            <a:r>
              <a:rPr sz="2450" spc="95" dirty="0"/>
              <a:t> </a:t>
            </a:r>
            <a:r>
              <a:rPr sz="2450" spc="5" dirty="0"/>
              <a:t>editor</a:t>
            </a:r>
            <a:r>
              <a:rPr sz="2450" spc="70" dirty="0"/>
              <a:t> </a:t>
            </a:r>
            <a:r>
              <a:rPr sz="2450" spc="10" dirty="0"/>
              <a:t>di.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7714" y="889965"/>
            <a:ext cx="40671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&lt;!DOCTYPE</a:t>
            </a:r>
            <a:r>
              <a:rPr spc="5" dirty="0"/>
              <a:t> </a:t>
            </a:r>
            <a:r>
              <a:rPr spc="-15" dirty="0"/>
              <a:t>html&gt;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23326"/>
            <a:ext cx="8079740" cy="412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715" algn="just">
              <a:lnSpc>
                <a:spcPct val="100099"/>
              </a:lnSpc>
              <a:spcBef>
                <a:spcPts val="110"/>
              </a:spcBef>
            </a:pP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doctype</a:t>
            </a:r>
            <a:r>
              <a:rPr sz="3000" i="1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 (o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dovrebbe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essere)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la</a:t>
            </a:r>
            <a:r>
              <a:rPr sz="3000" dirty="0">
                <a:latin typeface="Calibri"/>
                <a:cs typeface="Calibri"/>
              </a:rPr>
              <a:t> prima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riga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di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codice </a:t>
            </a:r>
            <a:r>
              <a:rPr sz="3000" spc="10" dirty="0">
                <a:latin typeface="Calibri"/>
                <a:cs typeface="Calibri"/>
              </a:rPr>
              <a:t>di un </a:t>
            </a:r>
            <a:r>
              <a:rPr sz="3000" spc="-10" dirty="0">
                <a:latin typeface="Calibri"/>
                <a:cs typeface="Calibri"/>
              </a:rPr>
              <a:t>documento </a:t>
            </a:r>
            <a:r>
              <a:rPr sz="3000" spc="-5" dirty="0">
                <a:latin typeface="Calibri"/>
                <a:cs typeface="Calibri"/>
              </a:rPr>
              <a:t>HTML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spc="-10" dirty="0">
                <a:latin typeface="Calibri"/>
                <a:cs typeface="Calibri"/>
              </a:rPr>
              <a:t>serve per indicare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browser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il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tipo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spc="10" dirty="0">
                <a:latin typeface="Calibri"/>
                <a:cs typeface="Calibri"/>
              </a:rPr>
              <a:t>di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documento</a:t>
            </a:r>
            <a:r>
              <a:rPr sz="3000" b="1" spc="-9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cui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tratta.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100099"/>
              </a:lnSpc>
              <a:spcBef>
                <a:spcPts val="5"/>
              </a:spcBef>
            </a:pP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13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termine</a:t>
            </a:r>
            <a:r>
              <a:rPr sz="3000" spc="665" dirty="0">
                <a:latin typeface="Calibri"/>
                <a:cs typeface="Calibri"/>
              </a:rPr>
              <a:t>  </a:t>
            </a:r>
            <a:r>
              <a:rPr sz="3000" i="1" spc="-5" dirty="0">
                <a:latin typeface="Calibri"/>
                <a:cs typeface="Calibri"/>
              </a:rPr>
              <a:t>doctype</a:t>
            </a:r>
            <a:r>
              <a:rPr sz="3000" spc="-5" dirty="0">
                <a:latin typeface="Calibri"/>
                <a:cs typeface="Calibri"/>
              </a:rPr>
              <a:t>,</a:t>
            </a:r>
            <a:r>
              <a:rPr sz="3000" spc="665" dirty="0">
                <a:latin typeface="Calibri"/>
                <a:cs typeface="Calibri"/>
              </a:rPr>
              <a:t> </a:t>
            </a:r>
            <a:r>
              <a:rPr sz="3000" spc="67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infatti,</a:t>
            </a:r>
            <a:r>
              <a:rPr sz="3000" spc="625" dirty="0">
                <a:latin typeface="Calibri"/>
                <a:cs typeface="Calibri"/>
              </a:rPr>
              <a:t>  </a:t>
            </a:r>
            <a:r>
              <a:rPr sz="3000" spc="5" dirty="0">
                <a:latin typeface="Calibri"/>
                <a:cs typeface="Calibri"/>
              </a:rPr>
              <a:t>è   </a:t>
            </a:r>
            <a:r>
              <a:rPr sz="3000" spc="10" dirty="0">
                <a:latin typeface="Calibri"/>
                <a:cs typeface="Calibri"/>
              </a:rPr>
              <a:t>la   </a:t>
            </a:r>
            <a:r>
              <a:rPr sz="3000" spc="-15" dirty="0">
                <a:latin typeface="Calibri"/>
                <a:cs typeface="Calibri"/>
              </a:rPr>
              <a:t>contrazione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b="1" spc="-5" dirty="0">
                <a:latin typeface="Calibri"/>
                <a:cs typeface="Calibri"/>
              </a:rPr>
              <a:t>Document </a:t>
            </a:r>
            <a:r>
              <a:rPr sz="3000" b="1" spc="-30" dirty="0">
                <a:latin typeface="Calibri"/>
                <a:cs typeface="Calibri"/>
              </a:rPr>
              <a:t>Type </a:t>
            </a:r>
            <a:r>
              <a:rPr sz="3000" b="1" spc="-15" dirty="0">
                <a:latin typeface="Calibri"/>
                <a:cs typeface="Calibri"/>
              </a:rPr>
              <a:t>Declaration </a:t>
            </a:r>
            <a:r>
              <a:rPr sz="3000" spc="-10" dirty="0">
                <a:latin typeface="Calibri"/>
                <a:cs typeface="Calibri"/>
              </a:rPr>
              <a:t>(DTD)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spc="-20" dirty="0">
                <a:latin typeface="Calibri"/>
                <a:cs typeface="Calibri"/>
              </a:rPr>
              <a:t>consiste </a:t>
            </a:r>
            <a:r>
              <a:rPr sz="3000" spc="-15" dirty="0">
                <a:latin typeface="Calibri"/>
                <a:cs typeface="Calibri"/>
              </a:rPr>
              <a:t>in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dichiarazione,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dello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sviluppatore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della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pagina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web, </a:t>
            </a:r>
            <a:r>
              <a:rPr sz="3000" spc="-20" dirty="0">
                <a:latin typeface="Calibri"/>
                <a:cs typeface="Calibri"/>
              </a:rPr>
              <a:t>circa </a:t>
            </a:r>
            <a:r>
              <a:rPr sz="3000" spc="-10" dirty="0">
                <a:latin typeface="Calibri"/>
                <a:cs typeface="Calibri"/>
              </a:rPr>
              <a:t>il </a:t>
            </a:r>
            <a:r>
              <a:rPr sz="3000" dirty="0">
                <a:latin typeface="Calibri"/>
                <a:cs typeface="Calibri"/>
              </a:rPr>
              <a:t>linguaggio </a:t>
            </a:r>
            <a:r>
              <a:rPr sz="3000" spc="-20" dirty="0">
                <a:latin typeface="Calibri"/>
                <a:cs typeface="Calibri"/>
              </a:rPr>
              <a:t>utilizzato,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versione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tale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linguaggio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la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lingua.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3515" y="889965"/>
            <a:ext cx="11588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&lt;h1&gt;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18804"/>
            <a:ext cx="8077834" cy="440245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 algn="just">
              <a:lnSpc>
                <a:spcPct val="79900"/>
              </a:lnSpc>
              <a:spcBef>
                <a:spcPts val="840"/>
              </a:spcBef>
            </a:pPr>
            <a:r>
              <a:rPr sz="3000" spc="-10" dirty="0">
                <a:latin typeface="Calibri"/>
                <a:cs typeface="Calibri"/>
              </a:rPr>
              <a:t>Il tag </a:t>
            </a:r>
            <a:r>
              <a:rPr sz="3000" spc="5" dirty="0">
                <a:latin typeface="Calibri"/>
                <a:cs typeface="Calibri"/>
              </a:rPr>
              <a:t>&lt;h1&gt; </a:t>
            </a:r>
            <a:r>
              <a:rPr sz="3000" spc="-5" dirty="0">
                <a:latin typeface="Calibri"/>
                <a:cs typeface="Calibri"/>
              </a:rPr>
              <a:t>serve ad inserire </a:t>
            </a:r>
            <a:r>
              <a:rPr sz="3000" dirty="0">
                <a:latin typeface="Calibri"/>
                <a:cs typeface="Calibri"/>
              </a:rPr>
              <a:t>dei </a:t>
            </a:r>
            <a:r>
              <a:rPr sz="3000" spc="-10" dirty="0">
                <a:latin typeface="Calibri"/>
                <a:cs typeface="Calibri"/>
              </a:rPr>
              <a:t>titoli. </a:t>
            </a:r>
            <a:r>
              <a:rPr sz="3000" spc="5" dirty="0">
                <a:latin typeface="Calibri"/>
                <a:cs typeface="Calibri"/>
              </a:rPr>
              <a:t>Se </a:t>
            </a:r>
            <a:r>
              <a:rPr sz="3000" spc="-10" dirty="0">
                <a:latin typeface="Calibri"/>
                <a:cs typeface="Calibri"/>
              </a:rPr>
              <a:t>proviamo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ad </a:t>
            </a:r>
            <a:r>
              <a:rPr sz="3000" spc="-5" dirty="0">
                <a:latin typeface="Calibri"/>
                <a:cs typeface="Calibri"/>
              </a:rPr>
              <a:t>esempio </a:t>
            </a:r>
            <a:r>
              <a:rPr sz="3000" spc="-10" dirty="0">
                <a:latin typeface="Calibri"/>
                <a:cs typeface="Calibri"/>
              </a:rPr>
              <a:t>ad </a:t>
            </a:r>
            <a:r>
              <a:rPr sz="3000" spc="-5" dirty="0">
                <a:latin typeface="Calibri"/>
                <a:cs typeface="Calibri"/>
              </a:rPr>
              <a:t>inserire </a:t>
            </a:r>
            <a:r>
              <a:rPr sz="3000" spc="-20" dirty="0">
                <a:latin typeface="Calibri"/>
                <a:cs typeface="Calibri"/>
              </a:rPr>
              <a:t>subito </a:t>
            </a:r>
            <a:r>
              <a:rPr sz="3000" spc="10" dirty="0">
                <a:latin typeface="Calibri"/>
                <a:cs typeface="Calibri"/>
              </a:rPr>
              <a:t>dopo </a:t>
            </a:r>
            <a:r>
              <a:rPr sz="3000" spc="-1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tag </a:t>
            </a:r>
            <a:r>
              <a:rPr sz="3000" dirty="0">
                <a:latin typeface="Calibri"/>
                <a:cs typeface="Calibri"/>
              </a:rPr>
              <a:t>body </a:t>
            </a:r>
            <a:r>
              <a:rPr sz="3000" spc="-2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seguente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tag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30"/>
              </a:spcBef>
            </a:pPr>
            <a:r>
              <a:rPr sz="3000" spc="5" dirty="0">
                <a:latin typeface="Calibri"/>
                <a:cs typeface="Calibri"/>
              </a:rPr>
              <a:t>&lt;h1&gt;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titolo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dell’articolo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&lt;/h1&gt;</a:t>
            </a:r>
            <a:endParaRPr sz="3000">
              <a:latin typeface="Calibri"/>
              <a:cs typeface="Calibri"/>
            </a:endParaRPr>
          </a:p>
          <a:p>
            <a:pPr marL="12700" marR="5080" algn="just">
              <a:lnSpc>
                <a:spcPct val="80100"/>
              </a:lnSpc>
              <a:spcBef>
                <a:spcPts val="2370"/>
              </a:spcBef>
            </a:pPr>
            <a:r>
              <a:rPr sz="3000" spc="-10" dirty="0">
                <a:latin typeface="Calibri"/>
                <a:cs typeface="Calibri"/>
              </a:rPr>
              <a:t>Possiamo notare </a:t>
            </a:r>
            <a:r>
              <a:rPr sz="3000" spc="10" dirty="0">
                <a:latin typeface="Calibri"/>
                <a:cs typeface="Calibri"/>
              </a:rPr>
              <a:t>che </a:t>
            </a:r>
            <a:r>
              <a:rPr sz="3000" spc="-5" dirty="0">
                <a:latin typeface="Calibri"/>
                <a:cs typeface="Calibri"/>
              </a:rPr>
              <a:t>subito </a:t>
            </a:r>
            <a:r>
              <a:rPr sz="3000" dirty="0">
                <a:latin typeface="Calibri"/>
                <a:cs typeface="Calibri"/>
              </a:rPr>
              <a:t>dopo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scritta </a:t>
            </a:r>
            <a:r>
              <a:rPr sz="3000" spc="-10" dirty="0">
                <a:latin typeface="Calibri"/>
                <a:cs typeface="Calibri"/>
              </a:rPr>
              <a:t>“titolo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dell’articolo”,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tutto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contenuto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che</a:t>
            </a:r>
            <a:r>
              <a:rPr sz="3000" dirty="0">
                <a:latin typeface="Calibri"/>
                <a:cs typeface="Calibri"/>
              </a:rPr>
              <a:t> segue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va</a:t>
            </a:r>
            <a:r>
              <a:rPr sz="3000" spc="60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capo. I </a:t>
            </a:r>
            <a:r>
              <a:rPr sz="3000" spc="-20" dirty="0">
                <a:latin typeface="Calibri"/>
                <a:cs typeface="Calibri"/>
              </a:rPr>
              <a:t>valori </a:t>
            </a:r>
            <a:r>
              <a:rPr sz="3000" spc="-5" dirty="0">
                <a:latin typeface="Calibri"/>
                <a:cs typeface="Calibri"/>
              </a:rPr>
              <a:t>possibili </a:t>
            </a:r>
            <a:r>
              <a:rPr sz="3000" dirty="0">
                <a:latin typeface="Calibri"/>
                <a:cs typeface="Calibri"/>
              </a:rPr>
              <a:t>sono </a:t>
            </a:r>
            <a:r>
              <a:rPr sz="3000" spc="-5" dirty="0">
                <a:latin typeface="Calibri"/>
                <a:cs typeface="Calibri"/>
              </a:rPr>
              <a:t>h1, </a:t>
            </a:r>
            <a:r>
              <a:rPr sz="3000" spc="5" dirty="0">
                <a:latin typeface="Calibri"/>
                <a:cs typeface="Calibri"/>
              </a:rPr>
              <a:t>h2, h3, h4, h5, h6. </a:t>
            </a:r>
            <a:r>
              <a:rPr sz="3000" spc="-2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suo </a:t>
            </a:r>
            <a:r>
              <a:rPr sz="3000" spc="-15" dirty="0">
                <a:latin typeface="Calibri"/>
                <a:cs typeface="Calibri"/>
              </a:rPr>
              <a:t>utilizzo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-10" dirty="0">
                <a:latin typeface="Calibri"/>
                <a:cs typeface="Calibri"/>
              </a:rPr>
              <a:t>consigliato perchè molto </a:t>
            </a:r>
            <a:r>
              <a:rPr sz="3000" spc="-20" dirty="0">
                <a:latin typeface="Calibri"/>
                <a:cs typeface="Calibri"/>
              </a:rPr>
              <a:t>gradito </a:t>
            </a:r>
            <a:r>
              <a:rPr sz="3000" spc="-5" dirty="0">
                <a:latin typeface="Calibri"/>
                <a:cs typeface="Calibri"/>
              </a:rPr>
              <a:t>dai </a:t>
            </a:r>
            <a:r>
              <a:rPr sz="3000" dirty="0">
                <a:latin typeface="Calibri"/>
                <a:cs typeface="Calibri"/>
              </a:rPr>
              <a:t> motori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ricerca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in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fase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indicizzazione</a:t>
            </a:r>
            <a:r>
              <a:rPr sz="3000" spc="-5" dirty="0">
                <a:latin typeface="Calibri"/>
                <a:cs typeface="Calibri"/>
              </a:rPr>
              <a:t> della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pagina.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6944" y="962100"/>
            <a:ext cx="36957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Tag</a:t>
            </a:r>
            <a:r>
              <a:rPr spc="10" dirty="0"/>
              <a:t> </a:t>
            </a:r>
            <a:r>
              <a:rPr spc="-5" dirty="0"/>
              <a:t>di</a:t>
            </a:r>
            <a:r>
              <a:rPr spc="-10" dirty="0"/>
              <a:t> </a:t>
            </a:r>
            <a:r>
              <a:rPr spc="-5" dirty="0"/>
              <a:t>tipo </a:t>
            </a:r>
            <a:r>
              <a:rPr spc="-15" dirty="0"/>
              <a:t>block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2023097"/>
            <a:ext cx="8079105" cy="37763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75"/>
              </a:spcBef>
            </a:pP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Html </a:t>
            </a:r>
            <a:r>
              <a:rPr sz="3000" spc="-10" dirty="0">
                <a:latin typeface="Calibri"/>
                <a:cs typeface="Calibri"/>
              </a:rPr>
              <a:t>esistono </a:t>
            </a:r>
            <a:r>
              <a:rPr sz="3000" spc="5" dirty="0">
                <a:latin typeface="Calibri"/>
                <a:cs typeface="Calibri"/>
              </a:rPr>
              <a:t>2 </a:t>
            </a:r>
            <a:r>
              <a:rPr sz="3000" spc="-5" dirty="0">
                <a:latin typeface="Calibri"/>
                <a:cs typeface="Calibri"/>
              </a:rPr>
              <a:t>tipi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dirty="0">
                <a:latin typeface="Calibri"/>
                <a:cs typeface="Calibri"/>
              </a:rPr>
              <a:t>tag, </a:t>
            </a:r>
            <a:r>
              <a:rPr sz="3000" spc="-15" dirty="0">
                <a:latin typeface="Calibri"/>
                <a:cs typeface="Calibri"/>
              </a:rPr>
              <a:t>tag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spc="5" dirty="0">
                <a:latin typeface="Calibri"/>
                <a:cs typeface="Calibri"/>
              </a:rPr>
              <a:t>tipo </a:t>
            </a:r>
            <a:r>
              <a:rPr sz="3000" spc="-5" dirty="0">
                <a:latin typeface="Calibri"/>
                <a:cs typeface="Calibri"/>
              </a:rPr>
              <a:t>inline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spc="-25" dirty="0">
                <a:latin typeface="Calibri"/>
                <a:cs typeface="Calibri"/>
              </a:rPr>
              <a:t>tag 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spc="-5" dirty="0">
                <a:latin typeface="Calibri"/>
                <a:cs typeface="Calibri"/>
              </a:rPr>
              <a:t>tipo </a:t>
            </a:r>
            <a:r>
              <a:rPr sz="3000" spc="5" dirty="0">
                <a:latin typeface="Calibri"/>
                <a:cs typeface="Calibri"/>
              </a:rPr>
              <a:t>block. </a:t>
            </a:r>
            <a:r>
              <a:rPr sz="3000" spc="-20" dirty="0">
                <a:latin typeface="Calibri"/>
                <a:cs typeface="Calibri"/>
              </a:rPr>
              <a:t>Ora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faremo</a:t>
            </a:r>
            <a:r>
              <a:rPr sz="3000" spc="6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 </a:t>
            </a:r>
            <a:r>
              <a:rPr sz="3000" spc="-10" dirty="0">
                <a:latin typeface="Calibri"/>
                <a:cs typeface="Calibri"/>
              </a:rPr>
              <a:t>panoramica </a:t>
            </a:r>
            <a:r>
              <a:rPr sz="3000" spc="-5" dirty="0">
                <a:latin typeface="Calibri"/>
                <a:cs typeface="Calibri"/>
              </a:rPr>
              <a:t>solo </a:t>
            </a:r>
            <a:r>
              <a:rPr sz="3000" spc="-10" dirty="0">
                <a:latin typeface="Calibri"/>
                <a:cs typeface="Calibri"/>
              </a:rPr>
              <a:t>per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far </a:t>
            </a:r>
            <a:r>
              <a:rPr sz="3000" spc="-15" dirty="0">
                <a:latin typeface="Calibri"/>
                <a:cs typeface="Calibri"/>
              </a:rPr>
              <a:t>capire </a:t>
            </a:r>
            <a:r>
              <a:rPr sz="3000" spc="-5" dirty="0">
                <a:latin typeface="Calibri"/>
                <a:cs typeface="Calibri"/>
              </a:rPr>
              <a:t>la </a:t>
            </a:r>
            <a:r>
              <a:rPr sz="3000" spc="-20" dirty="0">
                <a:latin typeface="Calibri"/>
                <a:cs typeface="Calibri"/>
              </a:rPr>
              <a:t>differenza, </a:t>
            </a:r>
            <a:r>
              <a:rPr sz="3000" spc="-15" dirty="0">
                <a:latin typeface="Calibri"/>
                <a:cs typeface="Calibri"/>
              </a:rPr>
              <a:t>mentre </a:t>
            </a:r>
            <a:r>
              <a:rPr sz="3000" spc="-10" dirty="0">
                <a:latin typeface="Calibri"/>
                <a:cs typeface="Calibri"/>
              </a:rPr>
              <a:t>più </a:t>
            </a:r>
            <a:r>
              <a:rPr sz="3000" spc="-30" dirty="0">
                <a:latin typeface="Calibri"/>
                <a:cs typeface="Calibri"/>
              </a:rPr>
              <a:t>Avanti </a:t>
            </a:r>
            <a:r>
              <a:rPr sz="3000" spc="-20" dirty="0">
                <a:latin typeface="Calibri"/>
                <a:cs typeface="Calibri"/>
              </a:rPr>
              <a:t>verranno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approfonditi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tutti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tag</a:t>
            </a:r>
            <a:r>
              <a:rPr sz="3000" spc="5" dirty="0">
                <a:latin typeface="Calibri"/>
                <a:cs typeface="Calibri"/>
              </a:rPr>
              <a:t> nel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dettaglio.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</a:pPr>
            <a:r>
              <a:rPr sz="3000" spc="-5" dirty="0">
                <a:latin typeface="Calibri"/>
                <a:cs typeface="Calibri"/>
              </a:rPr>
              <a:t>Prendiamo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testo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qualsiasi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dal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web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ed </a:t>
            </a:r>
            <a:r>
              <a:rPr sz="3000" spc="-5" dirty="0">
                <a:latin typeface="Calibri"/>
                <a:cs typeface="Calibri"/>
              </a:rPr>
              <a:t> incolliamolo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all’interno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nostro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tag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&lt;body&gt;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(di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solito si </a:t>
            </a:r>
            <a:r>
              <a:rPr sz="3000" spc="-10" dirty="0">
                <a:latin typeface="Calibri"/>
                <a:cs typeface="Calibri"/>
              </a:rPr>
              <a:t>usa </a:t>
            </a:r>
            <a:r>
              <a:rPr sz="3000" spc="10" dirty="0">
                <a:latin typeface="Calibri"/>
                <a:cs typeface="Calibri"/>
              </a:rPr>
              <a:t>il </a:t>
            </a:r>
            <a:r>
              <a:rPr sz="3000" spc="-10" dirty="0">
                <a:latin typeface="Calibri"/>
                <a:cs typeface="Calibri"/>
              </a:rPr>
              <a:t>sito </a:t>
            </a:r>
            <a:r>
              <a:rPr sz="30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https://www.lipsum.com/</a:t>
            </a:r>
            <a:r>
              <a:rPr sz="3000" spc="-15" dirty="0">
                <a:latin typeface="Calibri"/>
                <a:cs typeface="Calibri"/>
              </a:rPr>
              <a:t>)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15" dirty="0">
                <a:latin typeface="Calibri"/>
                <a:cs typeface="Calibri"/>
              </a:rPr>
              <a:t>un 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file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che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chiameremo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tag-block.html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392" y="1342377"/>
            <a:ext cx="8256651" cy="43332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03515"/>
            <a:ext cx="8073390" cy="36360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6350" algn="just">
              <a:lnSpc>
                <a:spcPct val="100299"/>
              </a:lnSpc>
              <a:spcBef>
                <a:spcPts val="80"/>
              </a:spcBef>
            </a:pPr>
            <a:r>
              <a:rPr sz="3200" spc="-5" dirty="0">
                <a:latin typeface="Calibri"/>
                <a:cs typeface="Calibri"/>
              </a:rPr>
              <a:t>La </a:t>
            </a:r>
            <a:r>
              <a:rPr sz="3200" spc="-25" dirty="0">
                <a:latin typeface="Calibri"/>
                <a:cs typeface="Calibri"/>
              </a:rPr>
              <a:t>differenza tra </a:t>
            </a:r>
            <a:r>
              <a:rPr sz="3200" spc="-5" dirty="0">
                <a:latin typeface="Calibri"/>
                <a:cs typeface="Calibri"/>
              </a:rPr>
              <a:t>i </a:t>
            </a:r>
            <a:r>
              <a:rPr sz="3200" spc="-10" dirty="0">
                <a:latin typeface="Calibri"/>
                <a:cs typeface="Calibri"/>
              </a:rPr>
              <a:t>tag di </a:t>
            </a:r>
            <a:r>
              <a:rPr sz="3200" dirty="0">
                <a:latin typeface="Calibri"/>
                <a:cs typeface="Calibri"/>
              </a:rPr>
              <a:t>tipo </a:t>
            </a:r>
            <a:r>
              <a:rPr sz="3200" spc="-10" dirty="0">
                <a:latin typeface="Calibri"/>
                <a:cs typeface="Calibri"/>
              </a:rPr>
              <a:t>block </a:t>
            </a:r>
            <a:r>
              <a:rPr sz="3200" spc="-5" dirty="0">
                <a:latin typeface="Calibri"/>
                <a:cs typeface="Calibri"/>
              </a:rPr>
              <a:t>e i </a:t>
            </a:r>
            <a:r>
              <a:rPr sz="3200" spc="-10" dirty="0">
                <a:latin typeface="Calibri"/>
                <a:cs typeface="Calibri"/>
              </a:rPr>
              <a:t>tag di </a:t>
            </a:r>
            <a:r>
              <a:rPr sz="3200" dirty="0">
                <a:latin typeface="Calibri"/>
                <a:cs typeface="Calibri"/>
              </a:rPr>
              <a:t>tipo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inline</a:t>
            </a:r>
            <a:r>
              <a:rPr sz="3200" spc="6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che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spc="6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tipo</a:t>
            </a:r>
            <a:r>
              <a:rPr sz="3200" spc="6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block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vanno</a:t>
            </a:r>
            <a:r>
              <a:rPr sz="3200" spc="68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capo, </a:t>
            </a:r>
            <a:r>
              <a:rPr sz="3200" spc="-7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mentre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tag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tipo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inline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non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vanno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capo.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400">
              <a:latin typeface="Calibri"/>
              <a:cs typeface="Calibri"/>
            </a:endParaRPr>
          </a:p>
          <a:p>
            <a:pPr marL="12700" algn="just">
              <a:lnSpc>
                <a:spcPts val="3835"/>
              </a:lnSpc>
            </a:pPr>
            <a:r>
              <a:rPr sz="3200" spc="-10" dirty="0">
                <a:latin typeface="Calibri"/>
                <a:cs typeface="Calibri"/>
              </a:rPr>
              <a:t>Ad</a:t>
            </a:r>
            <a:r>
              <a:rPr sz="3200" spc="2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esempio</a:t>
            </a:r>
            <a:r>
              <a:rPr sz="3200" spc="2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28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primo</a:t>
            </a:r>
            <a:r>
              <a:rPr sz="3200" spc="2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</a:t>
            </a:r>
            <a:r>
              <a:rPr sz="3200" spc="22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che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studieremo</a:t>
            </a:r>
            <a:r>
              <a:rPr sz="3200" spc="2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spc="2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2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</a:t>
            </a:r>
            <a:endParaRPr sz="3200">
              <a:latin typeface="Calibri"/>
              <a:cs typeface="Calibri"/>
            </a:endParaRPr>
          </a:p>
          <a:p>
            <a:pPr marL="12700" marR="5080" algn="just">
              <a:lnSpc>
                <a:spcPts val="3829"/>
              </a:lnSpc>
              <a:spcBef>
                <a:spcPts val="110"/>
              </a:spcBef>
            </a:pPr>
            <a:r>
              <a:rPr sz="3200" b="1" spc="-10" dirty="0">
                <a:latin typeface="Calibri"/>
                <a:cs typeface="Calibri"/>
              </a:rPr>
              <a:t>&lt;p&gt; </a:t>
            </a:r>
            <a:r>
              <a:rPr sz="3200" spc="-20" dirty="0">
                <a:latin typeface="Calibri"/>
                <a:cs typeface="Calibri"/>
              </a:rPr>
              <a:t>perchè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10" dirty="0">
                <a:latin typeface="Calibri"/>
                <a:cs typeface="Calibri"/>
              </a:rPr>
              <a:t>uno </a:t>
            </a:r>
            <a:r>
              <a:rPr sz="3200" spc="-10" dirty="0">
                <a:latin typeface="Calibri"/>
                <a:cs typeface="Calibri"/>
              </a:rPr>
              <a:t>dei tag più </a:t>
            </a:r>
            <a:r>
              <a:rPr sz="3200" spc="-5" dirty="0">
                <a:latin typeface="Calibri"/>
                <a:cs typeface="Calibri"/>
              </a:rPr>
              <a:t>utilizzati, quindi è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meglio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prenderci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dimestichezza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subito…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3215" y="817956"/>
            <a:ext cx="875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&lt;p&gt;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6121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65"/>
              </a:spcBef>
            </a:pPr>
            <a:r>
              <a:rPr dirty="0"/>
              <a:t>Il </a:t>
            </a:r>
            <a:r>
              <a:rPr spc="-30" dirty="0"/>
              <a:t>paragrafo </a:t>
            </a:r>
            <a:r>
              <a:rPr spc="-5" dirty="0"/>
              <a:t>è </a:t>
            </a:r>
            <a:r>
              <a:rPr spc="-10" dirty="0"/>
              <a:t>indicato dal tag </a:t>
            </a:r>
            <a:r>
              <a:rPr dirty="0"/>
              <a:t>&lt;p&gt; </a:t>
            </a:r>
            <a:r>
              <a:rPr spc="-5" dirty="0"/>
              <a:t>ed </a:t>
            </a:r>
            <a:r>
              <a:rPr spc="-15" dirty="0"/>
              <a:t>ha </a:t>
            </a:r>
            <a:r>
              <a:rPr dirty="0"/>
              <a:t>il </a:t>
            </a:r>
            <a:r>
              <a:rPr spc="-10" dirty="0"/>
              <a:t>tag </a:t>
            </a:r>
            <a:r>
              <a:rPr spc="-20" dirty="0"/>
              <a:t>di </a:t>
            </a:r>
            <a:r>
              <a:rPr spc="-15" dirty="0"/>
              <a:t> </a:t>
            </a:r>
            <a:r>
              <a:rPr spc="-20" dirty="0"/>
              <a:t>apertura</a:t>
            </a:r>
            <a:r>
              <a:rPr spc="80" dirty="0"/>
              <a:t> </a:t>
            </a:r>
            <a:r>
              <a:rPr spc="-5" dirty="0"/>
              <a:t>e </a:t>
            </a:r>
            <a:r>
              <a:rPr dirty="0"/>
              <a:t>il</a:t>
            </a:r>
            <a:r>
              <a:rPr spc="-10" dirty="0"/>
              <a:t> </a:t>
            </a:r>
            <a:r>
              <a:rPr spc="-20" dirty="0"/>
              <a:t>tag</a:t>
            </a:r>
            <a:r>
              <a:rPr spc="40" dirty="0"/>
              <a:t> </a:t>
            </a:r>
            <a:r>
              <a:rPr spc="-10" dirty="0"/>
              <a:t>di</a:t>
            </a:r>
            <a:r>
              <a:rPr spc="35" dirty="0"/>
              <a:t> </a:t>
            </a:r>
            <a:r>
              <a:rPr spc="-20" dirty="0"/>
              <a:t>chiusura</a:t>
            </a:r>
            <a:r>
              <a:rPr spc="85" dirty="0"/>
              <a:t> </a:t>
            </a:r>
            <a:r>
              <a:rPr spc="-5" dirty="0"/>
              <a:t>: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50"/>
          </a:p>
          <a:p>
            <a:pPr marL="635" algn="ctr">
              <a:lnSpc>
                <a:spcPct val="100000"/>
              </a:lnSpc>
            </a:pPr>
            <a:r>
              <a:rPr spc="-10" dirty="0"/>
              <a:t>&lt;p&gt;</a:t>
            </a:r>
            <a:r>
              <a:rPr spc="5" dirty="0"/>
              <a:t> </a:t>
            </a:r>
            <a:r>
              <a:rPr spc="-5" dirty="0"/>
              <a:t>…</a:t>
            </a:r>
            <a:r>
              <a:rPr spc="15" dirty="0"/>
              <a:t> </a:t>
            </a:r>
            <a:r>
              <a:rPr spc="-30" dirty="0"/>
              <a:t>contenuto</a:t>
            </a:r>
            <a:r>
              <a:rPr spc="100" dirty="0"/>
              <a:t> </a:t>
            </a:r>
            <a:r>
              <a:rPr spc="-5" dirty="0"/>
              <a:t>…</a:t>
            </a:r>
            <a:r>
              <a:rPr spc="5" dirty="0"/>
              <a:t> </a:t>
            </a:r>
            <a:r>
              <a:rPr spc="-10" dirty="0"/>
              <a:t>&lt;/p&gt;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/>
          </a:p>
          <a:p>
            <a:pPr marL="12700" marR="6985" algn="just">
              <a:lnSpc>
                <a:spcPct val="100000"/>
              </a:lnSpc>
            </a:pPr>
            <a:r>
              <a:rPr spc="-15" dirty="0"/>
              <a:t>Se </a:t>
            </a:r>
            <a:r>
              <a:rPr spc="-10" dirty="0"/>
              <a:t>proviamo ad </a:t>
            </a:r>
            <a:r>
              <a:rPr dirty="0"/>
              <a:t>esempio </a:t>
            </a:r>
            <a:r>
              <a:rPr spc="-10" dirty="0"/>
              <a:t>ad </a:t>
            </a:r>
            <a:r>
              <a:rPr spc="-15" dirty="0"/>
              <a:t>inserire </a:t>
            </a:r>
            <a:r>
              <a:rPr dirty="0"/>
              <a:t>il </a:t>
            </a:r>
            <a:r>
              <a:rPr spc="-10" dirty="0"/>
              <a:t>tag </a:t>
            </a:r>
            <a:r>
              <a:rPr dirty="0"/>
              <a:t>&lt;p&gt; </a:t>
            </a:r>
            <a:r>
              <a:rPr spc="5" dirty="0"/>
              <a:t> </a:t>
            </a:r>
            <a:r>
              <a:rPr spc="-10" dirty="0"/>
              <a:t>solo</a:t>
            </a:r>
            <a:r>
              <a:rPr spc="-5" dirty="0"/>
              <a:t> </a:t>
            </a:r>
            <a:r>
              <a:rPr spc="20" dirty="0"/>
              <a:t>in</a:t>
            </a:r>
            <a:r>
              <a:rPr spc="25" dirty="0"/>
              <a:t> </a:t>
            </a:r>
            <a:r>
              <a:rPr spc="-5" dirty="0"/>
              <a:t>una</a:t>
            </a:r>
            <a:r>
              <a:rPr dirty="0"/>
              <a:t> </a:t>
            </a:r>
            <a:r>
              <a:rPr spc="-10" dirty="0"/>
              <a:t>parte</a:t>
            </a:r>
            <a:r>
              <a:rPr spc="-5" dirty="0"/>
              <a:t> </a:t>
            </a:r>
            <a:r>
              <a:rPr spc="-10" dirty="0"/>
              <a:t>del</a:t>
            </a:r>
            <a:r>
              <a:rPr spc="-5" dirty="0"/>
              <a:t> </a:t>
            </a:r>
            <a:r>
              <a:rPr spc="-25" dirty="0"/>
              <a:t>testo</a:t>
            </a:r>
            <a:r>
              <a:rPr spc="-20" dirty="0"/>
              <a:t> </a:t>
            </a:r>
            <a:r>
              <a:rPr spc="-5" dirty="0"/>
              <a:t>all’interno</a:t>
            </a:r>
            <a:r>
              <a:rPr spc="710" dirty="0"/>
              <a:t> </a:t>
            </a:r>
            <a:r>
              <a:rPr spc="-5" dirty="0"/>
              <a:t>della </a:t>
            </a:r>
            <a:r>
              <a:rPr dirty="0"/>
              <a:t> </a:t>
            </a:r>
            <a:r>
              <a:rPr spc="-10" dirty="0"/>
              <a:t>pagina</a:t>
            </a:r>
            <a:r>
              <a:rPr spc="90" dirty="0"/>
              <a:t> </a:t>
            </a:r>
            <a:r>
              <a:rPr spc="-25" dirty="0"/>
              <a:t>creata,</a:t>
            </a:r>
            <a:r>
              <a:rPr spc="40" dirty="0"/>
              <a:t> </a:t>
            </a:r>
            <a:r>
              <a:rPr spc="-10" dirty="0"/>
              <a:t>vediamo</a:t>
            </a:r>
            <a:r>
              <a:rPr spc="35" dirty="0"/>
              <a:t> </a:t>
            </a:r>
            <a:r>
              <a:rPr spc="-5" dirty="0"/>
              <a:t>quello</a:t>
            </a:r>
            <a:r>
              <a:rPr spc="10" dirty="0"/>
              <a:t> </a:t>
            </a:r>
            <a:r>
              <a:rPr spc="-10" dirty="0"/>
              <a:t>che</a:t>
            </a:r>
            <a:r>
              <a:rPr spc="20" dirty="0"/>
              <a:t> </a:t>
            </a:r>
            <a:r>
              <a:rPr spc="-10" dirty="0"/>
              <a:t>succede</a:t>
            </a:r>
            <a:r>
              <a:rPr spc="30" dirty="0"/>
              <a:t> </a:t>
            </a:r>
            <a:r>
              <a:rPr spc="-5" dirty="0"/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499" y="1252270"/>
            <a:ext cx="8116951" cy="43512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3833507"/>
            <a:ext cx="8074025" cy="191960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415"/>
              </a:spcBef>
            </a:pPr>
            <a:r>
              <a:rPr sz="2700" spc="-20" dirty="0">
                <a:latin typeface="Calibri"/>
                <a:cs typeface="Calibri"/>
              </a:rPr>
              <a:t>Possiamo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notare</a:t>
            </a:r>
            <a:r>
              <a:rPr sz="2700" spc="-15" dirty="0">
                <a:latin typeface="Calibri"/>
                <a:cs typeface="Calibri"/>
              </a:rPr>
              <a:t> come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testo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va</a:t>
            </a:r>
            <a:r>
              <a:rPr sz="2700" spc="-5" dirty="0">
                <a:latin typeface="Calibri"/>
                <a:cs typeface="Calibri"/>
              </a:rPr>
              <a:t> a</a:t>
            </a:r>
            <a:r>
              <a:rPr sz="2700" spc="60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capo</a:t>
            </a:r>
            <a:r>
              <a:rPr sz="2700" spc="57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in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corrispondenza della </a:t>
            </a:r>
            <a:r>
              <a:rPr sz="2700" spc="-15" dirty="0">
                <a:latin typeface="Calibri"/>
                <a:cs typeface="Calibri"/>
              </a:rPr>
              <a:t>chiusura </a:t>
            </a:r>
            <a:r>
              <a:rPr sz="2700" spc="5" dirty="0">
                <a:latin typeface="Calibri"/>
                <a:cs typeface="Calibri"/>
              </a:rPr>
              <a:t>del </a:t>
            </a:r>
            <a:r>
              <a:rPr sz="2700" spc="-20" dirty="0">
                <a:latin typeface="Calibri"/>
                <a:cs typeface="Calibri"/>
              </a:rPr>
              <a:t>tag.</a:t>
            </a:r>
            <a:r>
              <a:rPr sz="2700" spc="57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Questo </a:t>
            </a:r>
            <a:r>
              <a:rPr sz="2700" spc="-10" dirty="0">
                <a:latin typeface="Calibri"/>
                <a:cs typeface="Calibri"/>
              </a:rPr>
              <a:t>perchè </a:t>
            </a:r>
            <a:r>
              <a:rPr sz="2700" spc="-25" dirty="0">
                <a:latin typeface="Calibri"/>
                <a:cs typeface="Calibri"/>
              </a:rPr>
              <a:t>il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tag </a:t>
            </a:r>
            <a:r>
              <a:rPr sz="2700" spc="-5" dirty="0">
                <a:latin typeface="Calibri"/>
                <a:cs typeface="Calibri"/>
              </a:rPr>
              <a:t>&lt;p&gt; è </a:t>
            </a:r>
            <a:r>
              <a:rPr sz="2700" spc="15" dirty="0">
                <a:latin typeface="Calibri"/>
                <a:cs typeface="Calibri"/>
              </a:rPr>
              <a:t>di </a:t>
            </a:r>
            <a:r>
              <a:rPr sz="2700" spc="-15" dirty="0">
                <a:latin typeface="Calibri"/>
                <a:cs typeface="Calibri"/>
              </a:rPr>
              <a:t>tipo </a:t>
            </a:r>
            <a:r>
              <a:rPr sz="2700" spc="-5" dirty="0">
                <a:latin typeface="Calibri"/>
                <a:cs typeface="Calibri"/>
              </a:rPr>
              <a:t>block e quindi </a:t>
            </a:r>
            <a:r>
              <a:rPr sz="2700" spc="-30" dirty="0">
                <a:latin typeface="Calibri"/>
                <a:cs typeface="Calibri"/>
              </a:rPr>
              <a:t>va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spc="-10" dirty="0">
                <a:latin typeface="Calibri"/>
                <a:cs typeface="Calibri"/>
              </a:rPr>
              <a:t>capo in </a:t>
            </a:r>
            <a:r>
              <a:rPr sz="2700" spc="-15" dirty="0">
                <a:latin typeface="Calibri"/>
                <a:cs typeface="Calibri"/>
              </a:rPr>
              <a:t>automatico </a:t>
            </a:r>
            <a:r>
              <a:rPr sz="2700" spc="-10" dirty="0">
                <a:latin typeface="Calibri"/>
                <a:cs typeface="Calibri"/>
              </a:rPr>
              <a:t> lasciando anche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0" dirty="0">
                <a:latin typeface="Calibri"/>
                <a:cs typeface="Calibri"/>
              </a:rPr>
              <a:t>margine sia </a:t>
            </a:r>
            <a:r>
              <a:rPr sz="2700" spc="-15" dirty="0">
                <a:latin typeface="Calibri"/>
                <a:cs typeface="Calibri"/>
              </a:rPr>
              <a:t>in </a:t>
            </a:r>
            <a:r>
              <a:rPr sz="2700" spc="-20" dirty="0">
                <a:latin typeface="Calibri"/>
                <a:cs typeface="Calibri"/>
              </a:rPr>
              <a:t>alto </a:t>
            </a:r>
            <a:r>
              <a:rPr sz="2700" spc="-5" dirty="0">
                <a:latin typeface="Calibri"/>
                <a:cs typeface="Calibri"/>
              </a:rPr>
              <a:t>che </a:t>
            </a:r>
            <a:r>
              <a:rPr sz="2700" spc="-15" dirty="0">
                <a:latin typeface="Calibri"/>
                <a:cs typeface="Calibri"/>
              </a:rPr>
              <a:t>in </a:t>
            </a:r>
            <a:r>
              <a:rPr sz="2700" spc="-5" dirty="0">
                <a:latin typeface="Calibri"/>
                <a:cs typeface="Calibri"/>
              </a:rPr>
              <a:t>basso </a:t>
            </a:r>
            <a:r>
              <a:rPr sz="2700" spc="-30" dirty="0">
                <a:latin typeface="Calibri"/>
                <a:cs typeface="Calibri"/>
              </a:rPr>
              <a:t>tra </a:t>
            </a:r>
            <a:r>
              <a:rPr sz="2700" spc="10" dirty="0">
                <a:latin typeface="Calibri"/>
                <a:cs typeface="Calibri"/>
              </a:rPr>
              <a:t>il 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tag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&lt;p&gt;</a:t>
            </a:r>
            <a:r>
              <a:rPr sz="2700" dirty="0">
                <a:latin typeface="Calibri"/>
                <a:cs typeface="Calibri"/>
              </a:rPr>
              <a:t> 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resto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contenuto.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447" y="1054099"/>
            <a:ext cx="8229600" cy="23660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763347"/>
            <a:ext cx="8079105" cy="27127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spc="-5" dirty="0"/>
              <a:t>&lt;div&gt;</a:t>
            </a:r>
          </a:p>
          <a:p>
            <a:pPr marL="12700" marR="5080" algn="just">
              <a:lnSpc>
                <a:spcPct val="80100"/>
              </a:lnSpc>
              <a:spcBef>
                <a:spcPts val="1025"/>
              </a:spcBef>
            </a:pPr>
            <a:r>
              <a:rPr sz="3000" spc="15" dirty="0"/>
              <a:t>Un </a:t>
            </a:r>
            <a:r>
              <a:rPr sz="3000" spc="-10" dirty="0"/>
              <a:t>altro </a:t>
            </a:r>
            <a:r>
              <a:rPr sz="3000" spc="-25" dirty="0"/>
              <a:t>tag </a:t>
            </a:r>
            <a:r>
              <a:rPr sz="3000" spc="-10" dirty="0"/>
              <a:t>di </a:t>
            </a:r>
            <a:r>
              <a:rPr sz="3000" spc="-5" dirty="0"/>
              <a:t>tipo block </a:t>
            </a:r>
            <a:r>
              <a:rPr sz="3000" spc="5" dirty="0"/>
              <a:t>è </a:t>
            </a:r>
            <a:r>
              <a:rPr sz="3000" spc="10" dirty="0"/>
              <a:t>il </a:t>
            </a:r>
            <a:r>
              <a:rPr sz="3000" spc="-10" dirty="0"/>
              <a:t>tag </a:t>
            </a:r>
            <a:r>
              <a:rPr sz="3000" spc="-5" dirty="0"/>
              <a:t>&lt;div&gt; </a:t>
            </a:r>
            <a:r>
              <a:rPr sz="3000" spc="5" dirty="0"/>
              <a:t>che </a:t>
            </a:r>
            <a:r>
              <a:rPr sz="3000" spc="-30" dirty="0"/>
              <a:t>sta </a:t>
            </a:r>
            <a:r>
              <a:rPr sz="3000" spc="-10" dirty="0"/>
              <a:t>per </a:t>
            </a:r>
            <a:r>
              <a:rPr sz="3000" spc="-5" dirty="0"/>
              <a:t> </a:t>
            </a:r>
            <a:r>
              <a:rPr sz="3000" spc="-40" dirty="0"/>
              <a:t>“divisione”. </a:t>
            </a:r>
            <a:r>
              <a:rPr sz="3000" spc="-10" dirty="0"/>
              <a:t>Il </a:t>
            </a:r>
            <a:r>
              <a:rPr sz="3000" spc="10" dirty="0"/>
              <a:t>div </a:t>
            </a:r>
            <a:r>
              <a:rPr sz="3000" spc="-5" dirty="0"/>
              <a:t>non ha </a:t>
            </a:r>
            <a:r>
              <a:rPr sz="3000" spc="-15" dirty="0"/>
              <a:t>alcun </a:t>
            </a:r>
            <a:r>
              <a:rPr sz="3000" spc="-10" dirty="0"/>
              <a:t>valore </a:t>
            </a:r>
            <a:r>
              <a:rPr sz="3000" spc="-15" dirty="0"/>
              <a:t>semantico, </a:t>
            </a:r>
            <a:r>
              <a:rPr sz="3000" spc="10" dirty="0"/>
              <a:t>ciò </a:t>
            </a:r>
            <a:r>
              <a:rPr sz="3000" spc="15" dirty="0"/>
              <a:t> </a:t>
            </a:r>
            <a:r>
              <a:rPr sz="3000" dirty="0"/>
              <a:t>vuol </a:t>
            </a:r>
            <a:r>
              <a:rPr sz="3000" spc="-5" dirty="0"/>
              <a:t>dire che </a:t>
            </a:r>
            <a:r>
              <a:rPr sz="3000" spc="5" dirty="0"/>
              <a:t>non </a:t>
            </a:r>
            <a:r>
              <a:rPr sz="3000" spc="-50" dirty="0"/>
              <a:t>fa </a:t>
            </a:r>
            <a:r>
              <a:rPr sz="3000" spc="-20" dirty="0"/>
              <a:t>riferimento </a:t>
            </a:r>
            <a:r>
              <a:rPr sz="3000" spc="5" dirty="0"/>
              <a:t>a </a:t>
            </a:r>
            <a:r>
              <a:rPr sz="3000" spc="-5" dirty="0"/>
              <a:t>nessun </a:t>
            </a:r>
            <a:r>
              <a:rPr sz="3000" spc="-20" dirty="0"/>
              <a:t>contenuto </a:t>
            </a:r>
            <a:r>
              <a:rPr sz="3000" spc="-665" dirty="0"/>
              <a:t> </a:t>
            </a:r>
            <a:r>
              <a:rPr sz="3000" spc="10" dirty="0"/>
              <a:t>in</a:t>
            </a:r>
            <a:r>
              <a:rPr sz="3000" spc="15" dirty="0"/>
              <a:t> </a:t>
            </a:r>
            <a:r>
              <a:rPr sz="3000" spc="-5" dirty="0"/>
              <a:t>particolare,</a:t>
            </a:r>
            <a:r>
              <a:rPr sz="3000" dirty="0"/>
              <a:t> </a:t>
            </a:r>
            <a:r>
              <a:rPr sz="3000" spc="-10" dirty="0"/>
              <a:t>per</a:t>
            </a:r>
            <a:r>
              <a:rPr sz="3000" spc="-5" dirty="0"/>
              <a:t> </a:t>
            </a:r>
            <a:r>
              <a:rPr sz="3000" spc="-20" dirty="0"/>
              <a:t>questo</a:t>
            </a:r>
            <a:r>
              <a:rPr sz="3000" spc="-15" dirty="0"/>
              <a:t> </a:t>
            </a:r>
            <a:r>
              <a:rPr sz="3000" spc="5" dirty="0"/>
              <a:t>è</a:t>
            </a:r>
            <a:r>
              <a:rPr sz="3000" spc="10" dirty="0"/>
              <a:t> </a:t>
            </a:r>
            <a:r>
              <a:rPr sz="3000" spc="-35" dirty="0"/>
              <a:t>stato</a:t>
            </a:r>
            <a:r>
              <a:rPr sz="3000" spc="-30" dirty="0"/>
              <a:t> </a:t>
            </a:r>
            <a:r>
              <a:rPr sz="3000" spc="-15" dirty="0"/>
              <a:t>usato</a:t>
            </a:r>
            <a:r>
              <a:rPr sz="3000" spc="650" dirty="0"/>
              <a:t> </a:t>
            </a:r>
            <a:r>
              <a:rPr sz="3000" dirty="0"/>
              <a:t>come </a:t>
            </a:r>
            <a:r>
              <a:rPr sz="3000" spc="5" dirty="0"/>
              <a:t> </a:t>
            </a:r>
            <a:r>
              <a:rPr sz="3000" dirty="0"/>
              <a:t>termine</a:t>
            </a:r>
            <a:r>
              <a:rPr sz="3000" spc="-80" dirty="0"/>
              <a:t> </a:t>
            </a:r>
            <a:r>
              <a:rPr sz="3000" spc="5" dirty="0"/>
              <a:t>div…</a:t>
            </a:r>
            <a:r>
              <a:rPr sz="3000" spc="-35" dirty="0"/>
              <a:t> </a:t>
            </a:r>
            <a:r>
              <a:rPr sz="3000" dirty="0"/>
              <a:t>divisore!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6244" y="3905872"/>
            <a:ext cx="8077834" cy="2131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latin typeface="Calibri"/>
                <a:cs typeface="Calibri"/>
              </a:rPr>
              <a:t>&lt;div&gt;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…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contenuto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…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&lt;/div&gt;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00">
              <a:latin typeface="Calibri"/>
              <a:cs typeface="Calibri"/>
            </a:endParaRPr>
          </a:p>
          <a:p>
            <a:pPr marL="12700" marR="5080" algn="just">
              <a:lnSpc>
                <a:spcPct val="79900"/>
              </a:lnSpc>
            </a:pPr>
            <a:r>
              <a:rPr sz="3000" spc="-5" dirty="0">
                <a:latin typeface="Calibri"/>
                <a:cs typeface="Calibri"/>
              </a:rPr>
              <a:t>Proviamo </a:t>
            </a:r>
            <a:r>
              <a:rPr sz="3000" spc="-15" dirty="0">
                <a:latin typeface="Calibri"/>
                <a:cs typeface="Calibri"/>
              </a:rPr>
              <a:t>ora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20" dirty="0">
                <a:latin typeface="Calibri"/>
                <a:cs typeface="Calibri"/>
              </a:rPr>
              <a:t>racchiudere </a:t>
            </a:r>
            <a:r>
              <a:rPr sz="3000" spc="-5" dirty="0">
                <a:latin typeface="Calibri"/>
                <a:cs typeface="Calibri"/>
              </a:rPr>
              <a:t>solo </a:t>
            </a:r>
            <a:r>
              <a:rPr sz="3000" dirty="0">
                <a:latin typeface="Calibri"/>
                <a:cs typeface="Calibri"/>
              </a:rPr>
              <a:t>una </a:t>
            </a:r>
            <a:r>
              <a:rPr sz="3000" spc="-10" dirty="0">
                <a:latin typeface="Calibri"/>
                <a:cs typeface="Calibri"/>
              </a:rPr>
              <a:t>parte </a:t>
            </a:r>
            <a:r>
              <a:rPr sz="3000" spc="-5" dirty="0">
                <a:latin typeface="Calibri"/>
                <a:cs typeface="Calibri"/>
              </a:rPr>
              <a:t>del </a:t>
            </a:r>
            <a:r>
              <a:rPr sz="3000" spc="-30" dirty="0">
                <a:latin typeface="Calibri"/>
                <a:cs typeface="Calibri"/>
              </a:rPr>
              <a:t>testo 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rimanente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all’interno</a:t>
            </a:r>
            <a:r>
              <a:rPr sz="3000" spc="-5" dirty="0">
                <a:latin typeface="Calibri"/>
                <a:cs typeface="Calibri"/>
              </a:rPr>
              <a:t> del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tag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div</a:t>
            </a:r>
            <a:r>
              <a:rPr sz="3000" spc="5" dirty="0">
                <a:latin typeface="Calibri"/>
                <a:cs typeface="Calibri"/>
              </a:rPr>
              <a:t> 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vediamo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cosa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succede…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152" y="1324292"/>
            <a:ext cx="7797165" cy="448195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244" y="3752405"/>
            <a:ext cx="8077200" cy="22663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algn="just">
              <a:lnSpc>
                <a:spcPct val="89900"/>
              </a:lnSpc>
              <a:spcBef>
                <a:spcPts val="480"/>
              </a:spcBef>
            </a:pPr>
            <a:r>
              <a:rPr sz="3200" spc="-35" dirty="0">
                <a:latin typeface="Calibri"/>
                <a:cs typeface="Calibri"/>
              </a:rPr>
              <a:t>Ora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la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domanda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nasce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spontanea</a:t>
            </a:r>
            <a:r>
              <a:rPr sz="3200" spc="-5" dirty="0">
                <a:latin typeface="Calibri"/>
                <a:cs typeface="Calibri"/>
              </a:rPr>
              <a:t> :</a:t>
            </a:r>
            <a:r>
              <a:rPr sz="3200" dirty="0">
                <a:latin typeface="Calibri"/>
                <a:cs typeface="Calibri"/>
              </a:rPr>
              <a:t> quando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utilizzare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30" dirty="0">
                <a:latin typeface="Calibri"/>
                <a:cs typeface="Calibri"/>
              </a:rPr>
              <a:t>paragrafo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 quando </a:t>
            </a:r>
            <a:r>
              <a:rPr sz="3200" spc="-10" dirty="0">
                <a:latin typeface="Calibri"/>
                <a:cs typeface="Calibri"/>
              </a:rPr>
              <a:t>utilizzare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10" dirty="0">
                <a:latin typeface="Calibri"/>
                <a:cs typeface="Calibri"/>
              </a:rPr>
              <a:t>div </a:t>
            </a:r>
            <a:r>
              <a:rPr sz="3200" spc="-5" dirty="0">
                <a:latin typeface="Calibri"/>
                <a:cs typeface="Calibri"/>
              </a:rPr>
              <a:t>?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25" dirty="0">
                <a:latin typeface="Calibri"/>
                <a:cs typeface="Calibri"/>
              </a:rPr>
              <a:t>paragrafo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-25" dirty="0">
                <a:latin typeface="Calibri"/>
                <a:cs typeface="Calibri"/>
              </a:rPr>
              <a:t>stato </a:t>
            </a:r>
            <a:r>
              <a:rPr sz="3200" spc="-15" dirty="0">
                <a:latin typeface="Calibri"/>
                <a:cs typeface="Calibri"/>
              </a:rPr>
              <a:t>creato </a:t>
            </a:r>
            <a:r>
              <a:rPr sz="3200" spc="-10" dirty="0">
                <a:latin typeface="Calibri"/>
                <a:cs typeface="Calibri"/>
              </a:rPr>
              <a:t>per inserire del </a:t>
            </a:r>
            <a:r>
              <a:rPr sz="3200" spc="-30" dirty="0">
                <a:latin typeface="Calibri"/>
                <a:cs typeface="Calibri"/>
              </a:rPr>
              <a:t>testo, 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quindi</a:t>
            </a:r>
            <a:r>
              <a:rPr sz="3200" spc="-5" dirty="0">
                <a:latin typeface="Calibri"/>
                <a:cs typeface="Calibri"/>
              </a:rPr>
              <a:t> è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specifico,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mentre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div</a:t>
            </a:r>
            <a:r>
              <a:rPr sz="3200" spc="-5" dirty="0">
                <a:latin typeface="Calibri"/>
                <a:cs typeface="Calibri"/>
              </a:rPr>
              <a:t> è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più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generico.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392" y="977518"/>
            <a:ext cx="8297164" cy="23855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3515" y="817956"/>
            <a:ext cx="11588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&lt;h1&gt;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54822"/>
            <a:ext cx="8079740" cy="44519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algn="just">
              <a:lnSpc>
                <a:spcPts val="3440"/>
              </a:lnSpc>
              <a:spcBef>
                <a:spcPts val="540"/>
              </a:spcBef>
            </a:pPr>
            <a:r>
              <a:rPr sz="3200" dirty="0">
                <a:latin typeface="Calibri"/>
                <a:cs typeface="Calibri"/>
              </a:rPr>
              <a:t>Il </a:t>
            </a:r>
            <a:r>
              <a:rPr sz="3200" spc="-20" dirty="0">
                <a:latin typeface="Calibri"/>
                <a:cs typeface="Calibri"/>
              </a:rPr>
              <a:t>tag </a:t>
            </a:r>
            <a:r>
              <a:rPr sz="3200" spc="-5" dirty="0">
                <a:latin typeface="Calibri"/>
                <a:cs typeface="Calibri"/>
              </a:rPr>
              <a:t>&lt;h1&gt; è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15" dirty="0">
                <a:latin typeface="Calibri"/>
                <a:cs typeface="Calibri"/>
              </a:rPr>
              <a:t>altro </a:t>
            </a:r>
            <a:r>
              <a:rPr sz="3200" spc="-10" dirty="0">
                <a:latin typeface="Calibri"/>
                <a:cs typeface="Calibri"/>
              </a:rPr>
              <a:t>tag di </a:t>
            </a:r>
            <a:r>
              <a:rPr sz="3200" spc="5" dirty="0">
                <a:latin typeface="Calibri"/>
                <a:cs typeface="Calibri"/>
              </a:rPr>
              <a:t>tipo </a:t>
            </a:r>
            <a:r>
              <a:rPr sz="3200" spc="-10" dirty="0">
                <a:latin typeface="Calibri"/>
                <a:cs typeface="Calibri"/>
              </a:rPr>
              <a:t>block. Serve </a:t>
            </a:r>
            <a:r>
              <a:rPr sz="3200" spc="25" dirty="0">
                <a:latin typeface="Calibri"/>
                <a:cs typeface="Calibri"/>
              </a:rPr>
              <a:t>ad 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inserire</a:t>
            </a:r>
            <a:r>
              <a:rPr sz="3200" spc="-10" dirty="0">
                <a:latin typeface="Calibri"/>
                <a:cs typeface="Calibri"/>
              </a:rPr>
              <a:t> dei</a:t>
            </a:r>
            <a:r>
              <a:rPr sz="3200" spc="-5" dirty="0">
                <a:latin typeface="Calibri"/>
                <a:cs typeface="Calibri"/>
              </a:rPr>
              <a:t> titoli.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Se</a:t>
            </a:r>
            <a:r>
              <a:rPr sz="3200" spc="-10" dirty="0">
                <a:latin typeface="Calibri"/>
                <a:cs typeface="Calibri"/>
              </a:rPr>
              <a:t> proviamo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 </a:t>
            </a:r>
            <a:r>
              <a:rPr sz="3200" dirty="0">
                <a:latin typeface="Calibri"/>
                <a:cs typeface="Calibri"/>
              </a:rPr>
              <a:t>esempio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ad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inserire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subito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dopo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tag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body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seguente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tag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12700" marR="15240" indent="1572260">
              <a:lnSpc>
                <a:spcPts val="6890"/>
              </a:lnSpc>
              <a:spcBef>
                <a:spcPts val="690"/>
              </a:spcBef>
              <a:tabLst>
                <a:tab pos="1842135" algn="l"/>
                <a:tab pos="3198495" algn="l"/>
                <a:tab pos="4054475" algn="l"/>
                <a:tab pos="5352415" algn="l"/>
                <a:tab pos="6479540" algn="l"/>
                <a:tab pos="7033259" algn="l"/>
              </a:tabLst>
            </a:pPr>
            <a:r>
              <a:rPr sz="3200" spc="-5" dirty="0">
                <a:latin typeface="Calibri"/>
                <a:cs typeface="Calibri"/>
              </a:rPr>
              <a:t>&lt;h1&gt;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titolo</a:t>
            </a:r>
            <a:r>
              <a:rPr sz="3200" spc="13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dell’articolo</a:t>
            </a:r>
            <a:r>
              <a:rPr sz="3200" spc="1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&lt;/h1&gt;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60" dirty="0">
                <a:latin typeface="Calibri"/>
                <a:cs typeface="Calibri"/>
              </a:rPr>
              <a:t>P</a:t>
            </a:r>
            <a:r>
              <a:rPr sz="3200" spc="-25" dirty="0">
                <a:latin typeface="Calibri"/>
                <a:cs typeface="Calibri"/>
              </a:rPr>
              <a:t>o</a:t>
            </a:r>
            <a:r>
              <a:rPr sz="3200" spc="-10" dirty="0">
                <a:latin typeface="Calibri"/>
                <a:cs typeface="Calibri"/>
              </a:rPr>
              <a:t>s</a:t>
            </a:r>
            <a:r>
              <a:rPr sz="3200" spc="-2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20" dirty="0">
                <a:latin typeface="Calibri"/>
                <a:cs typeface="Calibri"/>
              </a:rPr>
              <a:t>m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n</a:t>
            </a:r>
            <a:r>
              <a:rPr sz="3200" spc="5" dirty="0">
                <a:latin typeface="Calibri"/>
                <a:cs typeface="Calibri"/>
              </a:rPr>
              <a:t>o</a:t>
            </a:r>
            <a:r>
              <a:rPr sz="3200" spc="-50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0" dirty="0">
                <a:latin typeface="Calibri"/>
                <a:cs typeface="Calibri"/>
              </a:rPr>
              <a:t>c</a:t>
            </a:r>
            <a:r>
              <a:rPr sz="3200" spc="-20" dirty="0">
                <a:latin typeface="Calibri"/>
                <a:cs typeface="Calibri"/>
              </a:rPr>
              <a:t>h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0" dirty="0">
                <a:latin typeface="Calibri"/>
                <a:cs typeface="Calibri"/>
              </a:rPr>
              <a:t>s</a:t>
            </a:r>
            <a:r>
              <a:rPr sz="3200" spc="15" dirty="0">
                <a:latin typeface="Calibri"/>
                <a:cs typeface="Calibri"/>
              </a:rPr>
              <a:t>u</a:t>
            </a:r>
            <a:r>
              <a:rPr sz="3200" spc="-10" dirty="0">
                <a:latin typeface="Calibri"/>
                <a:cs typeface="Calibri"/>
              </a:rPr>
              <a:t>bi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5" dirty="0">
                <a:latin typeface="Calibri"/>
                <a:cs typeface="Calibri"/>
              </a:rPr>
              <a:t>d</a:t>
            </a:r>
            <a:r>
              <a:rPr sz="3200" spc="10" dirty="0">
                <a:latin typeface="Calibri"/>
                <a:cs typeface="Calibri"/>
              </a:rPr>
              <a:t>o</a:t>
            </a:r>
            <a:r>
              <a:rPr sz="3200" spc="-10" dirty="0">
                <a:latin typeface="Calibri"/>
                <a:cs typeface="Calibri"/>
              </a:rPr>
              <a:t>p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5" dirty="0">
                <a:latin typeface="Calibri"/>
                <a:cs typeface="Calibri"/>
              </a:rPr>
              <a:t>l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</a:t>
            </a:r>
            <a:r>
              <a:rPr sz="3200" spc="15" dirty="0">
                <a:latin typeface="Calibri"/>
                <a:cs typeface="Calibri"/>
              </a:rPr>
              <a:t>c</a:t>
            </a:r>
            <a:r>
              <a:rPr sz="3200" spc="-2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-50" dirty="0">
                <a:latin typeface="Calibri"/>
                <a:cs typeface="Calibri"/>
              </a:rPr>
              <a:t>tt</a:t>
            </a:r>
            <a:r>
              <a:rPr sz="3200" spc="-5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  <a:p>
            <a:pPr marL="12700" algn="just">
              <a:lnSpc>
                <a:spcPts val="2500"/>
              </a:lnSpc>
            </a:pPr>
            <a:r>
              <a:rPr sz="3200" spc="-10" dirty="0">
                <a:latin typeface="Calibri"/>
                <a:cs typeface="Calibri"/>
              </a:rPr>
              <a:t>“titolo</a:t>
            </a:r>
            <a:r>
              <a:rPr sz="3200" spc="1664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dell’articolo”,</a:t>
            </a:r>
            <a:r>
              <a:rPr sz="3200" spc="166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tutto</a:t>
            </a:r>
            <a:r>
              <a:rPr sz="3200" spc="16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  </a:t>
            </a:r>
            <a:r>
              <a:rPr sz="3200" spc="2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contenuto</a:t>
            </a:r>
            <a:r>
              <a:rPr sz="3200" spc="16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che</a:t>
            </a:r>
            <a:endParaRPr sz="3200">
              <a:latin typeface="Calibri"/>
              <a:cs typeface="Calibri"/>
            </a:endParaRPr>
          </a:p>
          <a:p>
            <a:pPr marL="12700" marR="12700" algn="just">
              <a:lnSpc>
                <a:spcPts val="3479"/>
              </a:lnSpc>
              <a:spcBef>
                <a:spcPts val="220"/>
              </a:spcBef>
            </a:pPr>
            <a:r>
              <a:rPr sz="3200" spc="-15" dirty="0">
                <a:latin typeface="Calibri"/>
                <a:cs typeface="Calibri"/>
              </a:rPr>
              <a:t>segue </a:t>
            </a:r>
            <a:r>
              <a:rPr sz="3200" spc="-20" dirty="0">
                <a:latin typeface="Calibri"/>
                <a:cs typeface="Calibri"/>
              </a:rPr>
              <a:t>va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capo. Questo </a:t>
            </a:r>
            <a:r>
              <a:rPr sz="3200" spc="-5" dirty="0">
                <a:latin typeface="Calibri"/>
                <a:cs typeface="Calibri"/>
              </a:rPr>
              <a:t>vale </a:t>
            </a:r>
            <a:r>
              <a:rPr sz="3200" spc="-10" dirty="0">
                <a:latin typeface="Calibri"/>
                <a:cs typeface="Calibri"/>
              </a:rPr>
              <a:t>per tutti </a:t>
            </a:r>
            <a:r>
              <a:rPr sz="3200" spc="-5" dirty="0">
                <a:latin typeface="Calibri"/>
                <a:cs typeface="Calibri"/>
              </a:rPr>
              <a:t>i </a:t>
            </a:r>
            <a:r>
              <a:rPr sz="3200" spc="-10" dirty="0">
                <a:latin typeface="Calibri"/>
                <a:cs typeface="Calibri"/>
              </a:rPr>
              <a:t>tag </a:t>
            </a:r>
            <a:r>
              <a:rPr sz="3200" spc="-5" dirty="0">
                <a:latin typeface="Calibri"/>
                <a:cs typeface="Calibri"/>
              </a:rPr>
              <a:t>h1,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h2, h3,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h4,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h5,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h6.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0141" y="889965"/>
            <a:ext cx="12871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&lt;</a:t>
            </a:r>
            <a:r>
              <a:rPr spc="-10" dirty="0"/>
              <a:t>br</a:t>
            </a:r>
            <a:r>
              <a:rPr dirty="0"/>
              <a:t>/&gt;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50326"/>
            <a:ext cx="8074025" cy="40195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75"/>
              </a:spcBef>
            </a:pPr>
            <a:r>
              <a:rPr sz="3200" spc="-20" dirty="0">
                <a:latin typeface="Calibri"/>
                <a:cs typeface="Calibri"/>
              </a:rPr>
              <a:t>Esiste </a:t>
            </a:r>
            <a:r>
              <a:rPr sz="3200" spc="-15" dirty="0">
                <a:latin typeface="Calibri"/>
                <a:cs typeface="Calibri"/>
              </a:rPr>
              <a:t>un </a:t>
            </a:r>
            <a:r>
              <a:rPr sz="3200" spc="-5" dirty="0">
                <a:latin typeface="Calibri"/>
                <a:cs typeface="Calibri"/>
              </a:rPr>
              <a:t>tag </a:t>
            </a:r>
            <a:r>
              <a:rPr sz="3200" spc="5" dirty="0">
                <a:latin typeface="Calibri"/>
                <a:cs typeface="Calibri"/>
              </a:rPr>
              <a:t>che </a:t>
            </a:r>
            <a:r>
              <a:rPr sz="3200" b="1" dirty="0">
                <a:latin typeface="Calibri"/>
                <a:cs typeface="Calibri"/>
              </a:rPr>
              <a:t>non </a:t>
            </a:r>
            <a:r>
              <a:rPr sz="3200" b="1" spc="-5" dirty="0">
                <a:latin typeface="Calibri"/>
                <a:cs typeface="Calibri"/>
              </a:rPr>
              <a:t>è </a:t>
            </a:r>
            <a:r>
              <a:rPr sz="3200" b="1" spc="-10" dirty="0">
                <a:latin typeface="Calibri"/>
                <a:cs typeface="Calibri"/>
              </a:rPr>
              <a:t>un </a:t>
            </a:r>
            <a:r>
              <a:rPr sz="3200" b="1" spc="-25" dirty="0">
                <a:latin typeface="Calibri"/>
                <a:cs typeface="Calibri"/>
              </a:rPr>
              <a:t>tag </a:t>
            </a:r>
            <a:r>
              <a:rPr sz="3200" b="1" spc="-10" dirty="0">
                <a:latin typeface="Calibri"/>
                <a:cs typeface="Calibri"/>
              </a:rPr>
              <a:t>di </a:t>
            </a:r>
            <a:r>
              <a:rPr sz="3200" b="1" spc="-5" dirty="0">
                <a:latin typeface="Calibri"/>
                <a:cs typeface="Calibri"/>
              </a:rPr>
              <a:t>tipo </a:t>
            </a:r>
            <a:r>
              <a:rPr sz="3200" b="1" dirty="0">
                <a:latin typeface="Calibri"/>
                <a:cs typeface="Calibri"/>
              </a:rPr>
              <a:t>block</a:t>
            </a:r>
            <a:r>
              <a:rPr sz="3200" dirty="0">
                <a:latin typeface="Calibri"/>
                <a:cs typeface="Calibri"/>
              </a:rPr>
              <a:t>, </a:t>
            </a:r>
            <a:r>
              <a:rPr sz="3200" spc="-5" dirty="0">
                <a:latin typeface="Calibri"/>
                <a:cs typeface="Calibri"/>
              </a:rPr>
              <a:t>ma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soprattutto </a:t>
            </a:r>
            <a:r>
              <a:rPr sz="3200" spc="-5" dirty="0">
                <a:latin typeface="Calibri"/>
                <a:cs typeface="Calibri"/>
              </a:rPr>
              <a:t>non </a:t>
            </a:r>
            <a:r>
              <a:rPr sz="3200" spc="-10" dirty="0">
                <a:latin typeface="Calibri"/>
                <a:cs typeface="Calibri"/>
              </a:rPr>
              <a:t>ha apertura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spc="-10" dirty="0">
                <a:latin typeface="Calibri"/>
                <a:cs typeface="Calibri"/>
              </a:rPr>
              <a:t>chiusura, </a:t>
            </a:r>
            <a:r>
              <a:rPr sz="3200" spc="15" dirty="0">
                <a:latin typeface="Calibri"/>
                <a:cs typeface="Calibri"/>
              </a:rPr>
              <a:t>ed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5" dirty="0">
                <a:latin typeface="Calibri"/>
                <a:cs typeface="Calibri"/>
              </a:rPr>
              <a:t>il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tag </a:t>
            </a:r>
            <a:r>
              <a:rPr sz="3200" spc="-10" dirty="0">
                <a:latin typeface="Calibri"/>
                <a:cs typeface="Calibri"/>
              </a:rPr>
              <a:t>&lt;br/&gt; che </a:t>
            </a:r>
            <a:r>
              <a:rPr sz="3200" spc="-5" dirty="0">
                <a:latin typeface="Calibri"/>
                <a:cs typeface="Calibri"/>
              </a:rPr>
              <a:t>significa </a:t>
            </a:r>
            <a:r>
              <a:rPr sz="3200" spc="-10" dirty="0">
                <a:latin typeface="Calibri"/>
                <a:cs typeface="Calibri"/>
              </a:rPr>
              <a:t>break,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dirty="0">
                <a:latin typeface="Calibri"/>
                <a:cs typeface="Calibri"/>
              </a:rPr>
              <a:t>viene </a:t>
            </a:r>
            <a:r>
              <a:rPr sz="3200" spc="-15" dirty="0">
                <a:latin typeface="Calibri"/>
                <a:cs typeface="Calibri"/>
              </a:rPr>
              <a:t>usato </a:t>
            </a:r>
            <a:r>
              <a:rPr sz="3200" spc="-10" dirty="0">
                <a:latin typeface="Calibri"/>
                <a:cs typeface="Calibri"/>
              </a:rPr>
              <a:t>per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andare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capo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preciso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punto.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50">
              <a:latin typeface="Calibri"/>
              <a:cs typeface="Calibri"/>
            </a:endParaRPr>
          </a:p>
          <a:p>
            <a:pPr marL="12700" marR="7620" algn="just">
              <a:lnSpc>
                <a:spcPct val="90300"/>
              </a:lnSpc>
              <a:spcBef>
                <a:spcPts val="5"/>
              </a:spcBef>
            </a:pPr>
            <a:r>
              <a:rPr sz="3200" spc="-10" dirty="0">
                <a:latin typeface="Calibri"/>
                <a:cs typeface="Calibri"/>
              </a:rPr>
              <a:t>Proviamo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ad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inserirlo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all’interno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testo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prova </a:t>
            </a:r>
            <a:r>
              <a:rPr sz="3200" spc="-15" dirty="0">
                <a:latin typeface="Calibri"/>
                <a:cs typeface="Calibri"/>
              </a:rPr>
              <a:t>finora</a:t>
            </a:r>
            <a:r>
              <a:rPr sz="3200" spc="-10" dirty="0">
                <a:latin typeface="Calibri"/>
                <a:cs typeface="Calibri"/>
              </a:rPr>
              <a:t> utilizzato per </a:t>
            </a:r>
            <a:r>
              <a:rPr sz="3200" spc="-15" dirty="0">
                <a:latin typeface="Calibri"/>
                <a:cs typeface="Calibri"/>
              </a:rPr>
              <a:t>vedere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15" dirty="0">
                <a:latin typeface="Calibri"/>
                <a:cs typeface="Calibri"/>
              </a:rPr>
              <a:t>risultato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video (possiamo </a:t>
            </a:r>
            <a:r>
              <a:rPr sz="3200" spc="-20" dirty="0">
                <a:latin typeface="Calibri"/>
                <a:cs typeface="Calibri"/>
              </a:rPr>
              <a:t>notare </a:t>
            </a:r>
            <a:r>
              <a:rPr sz="3200" spc="10" dirty="0">
                <a:latin typeface="Calibri"/>
                <a:cs typeface="Calibri"/>
              </a:rPr>
              <a:t>che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spc="-25" dirty="0">
                <a:latin typeface="Calibri"/>
                <a:cs typeface="Calibri"/>
              </a:rPr>
              <a:t>differenza </a:t>
            </a:r>
            <a:r>
              <a:rPr sz="3200" spc="-10" dirty="0">
                <a:latin typeface="Calibri"/>
                <a:cs typeface="Calibri"/>
              </a:rPr>
              <a:t>del tag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paragrafo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non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ha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margine!!!).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4719" y="889965"/>
            <a:ext cx="3738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Tag</a:t>
            </a:r>
            <a:r>
              <a:rPr spc="20" dirty="0"/>
              <a:t> </a:t>
            </a:r>
            <a:r>
              <a:rPr spc="-5" dirty="0"/>
              <a:t>di</a:t>
            </a:r>
            <a:r>
              <a:rPr spc="-20" dirty="0"/>
              <a:t> </a:t>
            </a:r>
            <a:r>
              <a:rPr spc="-5" dirty="0"/>
              <a:t>tipo</a:t>
            </a:r>
            <a:r>
              <a:rPr spc="5" dirty="0"/>
              <a:t> </a:t>
            </a:r>
            <a:r>
              <a:rPr spc="-15" dirty="0"/>
              <a:t>inline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50326"/>
            <a:ext cx="8076565" cy="40195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75"/>
              </a:spcBef>
            </a:pPr>
            <a:r>
              <a:rPr sz="3200" dirty="0">
                <a:latin typeface="Calibri"/>
                <a:cs typeface="Calibri"/>
              </a:rPr>
              <a:t>Il </a:t>
            </a:r>
            <a:r>
              <a:rPr sz="3200" spc="-10" dirty="0">
                <a:latin typeface="Calibri"/>
                <a:cs typeface="Calibri"/>
              </a:rPr>
              <a:t>tag </a:t>
            </a:r>
            <a:r>
              <a:rPr sz="3200" dirty="0">
                <a:latin typeface="Calibri"/>
                <a:cs typeface="Calibri"/>
              </a:rPr>
              <a:t>inline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dirty="0">
                <a:latin typeface="Calibri"/>
                <a:cs typeface="Calibri"/>
              </a:rPr>
              <a:t>quell </a:t>
            </a:r>
            <a:r>
              <a:rPr sz="3200" spc="-5" dirty="0">
                <a:latin typeface="Calibri"/>
                <a:cs typeface="Calibri"/>
              </a:rPr>
              <a:t>tag </a:t>
            </a:r>
            <a:r>
              <a:rPr sz="3200" spc="10" dirty="0">
                <a:latin typeface="Calibri"/>
                <a:cs typeface="Calibri"/>
              </a:rPr>
              <a:t>che </a:t>
            </a:r>
            <a:r>
              <a:rPr sz="3200" spc="-5" dirty="0">
                <a:latin typeface="Calibri"/>
                <a:cs typeface="Calibri"/>
              </a:rPr>
              <a:t>non </a:t>
            </a:r>
            <a:r>
              <a:rPr sz="3200" dirty="0">
                <a:latin typeface="Calibri"/>
                <a:cs typeface="Calibri"/>
              </a:rPr>
              <a:t>manda </a:t>
            </a:r>
            <a:r>
              <a:rPr sz="3200" spc="-5" dirty="0">
                <a:latin typeface="Calibri"/>
                <a:cs typeface="Calibri"/>
              </a:rPr>
              <a:t>a capo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l’elemento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seguente,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non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ha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dimensione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fissa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spc="-10" dirty="0">
                <a:latin typeface="Calibri"/>
                <a:cs typeface="Calibri"/>
              </a:rPr>
              <a:t>se </a:t>
            </a:r>
            <a:r>
              <a:rPr sz="3200" dirty="0">
                <a:latin typeface="Calibri"/>
                <a:cs typeface="Calibri"/>
              </a:rPr>
              <a:t>li </a:t>
            </a:r>
            <a:r>
              <a:rPr sz="3200" spc="-5" dirty="0">
                <a:latin typeface="Calibri"/>
                <a:cs typeface="Calibri"/>
              </a:rPr>
              <a:t>mettiamo </a:t>
            </a:r>
            <a:r>
              <a:rPr sz="3200" spc="10" dirty="0">
                <a:latin typeface="Calibri"/>
                <a:cs typeface="Calibri"/>
              </a:rPr>
              <a:t>uno </a:t>
            </a:r>
            <a:r>
              <a:rPr sz="3200" spc="-5" dirty="0">
                <a:latin typeface="Calibri"/>
                <a:cs typeface="Calibri"/>
              </a:rPr>
              <a:t>a fianco a </a:t>
            </a:r>
            <a:r>
              <a:rPr sz="3200" spc="-40" dirty="0">
                <a:latin typeface="Calibri"/>
                <a:cs typeface="Calibri"/>
              </a:rPr>
              <a:t>l’altro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…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rimangono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uno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fianco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l’altro!!!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50">
              <a:latin typeface="Calibri"/>
              <a:cs typeface="Calibri"/>
            </a:endParaRPr>
          </a:p>
          <a:p>
            <a:pPr marL="12700" marR="8890" algn="just">
              <a:lnSpc>
                <a:spcPct val="90300"/>
              </a:lnSpc>
              <a:spcBef>
                <a:spcPts val="5"/>
              </a:spcBef>
            </a:pPr>
            <a:r>
              <a:rPr sz="3200" spc="-25" dirty="0">
                <a:latin typeface="Calibri"/>
                <a:cs typeface="Calibri"/>
              </a:rPr>
              <a:t>Vediamo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subito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esempio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proviamo</a:t>
            </a:r>
            <a:r>
              <a:rPr sz="3200" spc="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scrivere</a:t>
            </a:r>
            <a:r>
              <a:rPr sz="3200" spc="-10" dirty="0">
                <a:latin typeface="Calibri"/>
                <a:cs typeface="Calibri"/>
              </a:rPr>
              <a:t> del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testo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prova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all’interno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body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una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nuova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pagina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chiamata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tag- </a:t>
            </a:r>
            <a:r>
              <a:rPr sz="3200" spc="-10" dirty="0">
                <a:latin typeface="Calibri"/>
                <a:cs typeface="Calibri"/>
              </a:rPr>
              <a:t> inline.html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6677" y="817956"/>
            <a:ext cx="850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&lt;a&gt;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45551"/>
            <a:ext cx="8072755" cy="44246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715" algn="just">
              <a:lnSpc>
                <a:spcPct val="89900"/>
              </a:lnSpc>
              <a:spcBef>
                <a:spcPts val="480"/>
              </a:spcBef>
            </a:pPr>
            <a:r>
              <a:rPr sz="3200" dirty="0">
                <a:latin typeface="Calibri"/>
                <a:cs typeface="Calibri"/>
              </a:rPr>
              <a:t>Il </a:t>
            </a:r>
            <a:r>
              <a:rPr sz="3200" spc="-20" dirty="0">
                <a:latin typeface="Calibri"/>
                <a:cs typeface="Calibri"/>
              </a:rPr>
              <a:t>tag </a:t>
            </a:r>
            <a:r>
              <a:rPr sz="3200" spc="-10" dirty="0">
                <a:latin typeface="Calibri"/>
                <a:cs typeface="Calibri"/>
              </a:rPr>
              <a:t>&lt;a&gt; definisce un'ancora: </a:t>
            </a:r>
            <a:r>
              <a:rPr sz="3200" spc="-5" dirty="0">
                <a:latin typeface="Calibri"/>
                <a:cs typeface="Calibri"/>
              </a:rPr>
              <a:t>possiamo </a:t>
            </a:r>
            <a:r>
              <a:rPr sz="3200" dirty="0">
                <a:latin typeface="Calibri"/>
                <a:cs typeface="Calibri"/>
              </a:rPr>
              <a:t>dunque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utilizzarlo </a:t>
            </a:r>
            <a:r>
              <a:rPr sz="3200" spc="-10" dirty="0">
                <a:latin typeface="Calibri"/>
                <a:cs typeface="Calibri"/>
              </a:rPr>
              <a:t>sia per </a:t>
            </a:r>
            <a:r>
              <a:rPr sz="3200" spc="-20" dirty="0">
                <a:latin typeface="Calibri"/>
                <a:cs typeface="Calibri"/>
              </a:rPr>
              <a:t>creare </a:t>
            </a:r>
            <a:r>
              <a:rPr sz="3200" dirty="0">
                <a:latin typeface="Calibri"/>
                <a:cs typeface="Calibri"/>
              </a:rPr>
              <a:t>dei </a:t>
            </a:r>
            <a:r>
              <a:rPr sz="3200" spc="-5" dirty="0">
                <a:latin typeface="Calibri"/>
                <a:cs typeface="Calibri"/>
              </a:rPr>
              <a:t>link a documenti o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pagine </a:t>
            </a:r>
            <a:r>
              <a:rPr sz="3200" spc="-10" dirty="0">
                <a:latin typeface="Calibri"/>
                <a:cs typeface="Calibri"/>
              </a:rPr>
              <a:t>esterne </a:t>
            </a:r>
            <a:r>
              <a:rPr sz="3200" spc="-30" dirty="0">
                <a:latin typeface="Calibri"/>
                <a:cs typeface="Calibri"/>
              </a:rPr>
              <a:t>(attraverso </a:t>
            </a:r>
            <a:r>
              <a:rPr sz="3200" spc="-10" dirty="0">
                <a:latin typeface="Calibri"/>
                <a:cs typeface="Calibri"/>
              </a:rPr>
              <a:t>l'attributo </a:t>
            </a:r>
            <a:r>
              <a:rPr sz="3200" spc="-5" dirty="0">
                <a:latin typeface="Calibri"/>
                <a:cs typeface="Calibri"/>
              </a:rPr>
              <a:t>href) </a:t>
            </a:r>
            <a:r>
              <a:rPr sz="3200" spc="-10" dirty="0">
                <a:latin typeface="Calibri"/>
                <a:cs typeface="Calibri"/>
              </a:rPr>
              <a:t>che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 inserire</a:t>
            </a:r>
            <a:r>
              <a:rPr sz="3200" spc="-5" dirty="0">
                <a:latin typeface="Calibri"/>
                <a:cs typeface="Calibri"/>
              </a:rPr>
              <a:t> uno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più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collegamenti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all'interno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della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stessa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pagina.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alibri"/>
              <a:cs typeface="Calibri"/>
            </a:endParaRPr>
          </a:p>
          <a:p>
            <a:pPr marL="12700" marR="5080" algn="just">
              <a:lnSpc>
                <a:spcPct val="90300"/>
              </a:lnSpc>
            </a:pPr>
            <a:r>
              <a:rPr sz="3200" spc="-15" dirty="0">
                <a:latin typeface="Calibri"/>
                <a:cs typeface="Calibri"/>
              </a:rPr>
              <a:t>Se</a:t>
            </a:r>
            <a:r>
              <a:rPr sz="3200" spc="-10" dirty="0">
                <a:latin typeface="Calibri"/>
                <a:cs typeface="Calibri"/>
              </a:rPr>
              <a:t> proviamo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inserire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10" dirty="0">
                <a:latin typeface="Calibri"/>
                <a:cs typeface="Calibri"/>
              </a:rPr>
              <a:t>tag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&lt;a&gt; </a:t>
            </a:r>
            <a:r>
              <a:rPr sz="3200" spc="-10" dirty="0">
                <a:latin typeface="Calibri"/>
                <a:cs typeface="Calibri"/>
              </a:rPr>
              <a:t>all’interno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nostro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testo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possiamo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vedere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che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7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testo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non </a:t>
            </a:r>
            <a:r>
              <a:rPr sz="3200" spc="-20" dirty="0">
                <a:latin typeface="Calibri"/>
                <a:cs typeface="Calibri"/>
              </a:rPr>
              <a:t>va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 capo </a:t>
            </a:r>
            <a:r>
              <a:rPr sz="3200" dirty="0">
                <a:latin typeface="Calibri"/>
                <a:cs typeface="Calibri"/>
              </a:rPr>
              <a:t>in </a:t>
            </a:r>
            <a:r>
              <a:rPr sz="3200" spc="-10" dirty="0">
                <a:latin typeface="Calibri"/>
                <a:cs typeface="Calibri"/>
              </a:rPr>
              <a:t>quanto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20" dirty="0">
                <a:latin typeface="Calibri"/>
                <a:cs typeface="Calibri"/>
              </a:rPr>
              <a:t>tag </a:t>
            </a:r>
            <a:r>
              <a:rPr sz="3200" spc="5" dirty="0">
                <a:latin typeface="Calibri"/>
                <a:cs typeface="Calibri"/>
              </a:rPr>
              <a:t>&lt;a&gt;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10" dirty="0">
                <a:latin typeface="Calibri"/>
                <a:cs typeface="Calibri"/>
              </a:rPr>
              <a:t>tag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tipo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inline.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2578" y="889965"/>
            <a:ext cx="14173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&lt;</a:t>
            </a:r>
            <a:r>
              <a:rPr spc="-20" dirty="0"/>
              <a:t>i</a:t>
            </a:r>
            <a:r>
              <a:rPr dirty="0"/>
              <a:t>m</a:t>
            </a:r>
            <a:r>
              <a:rPr spc="-20" dirty="0"/>
              <a:t>g</a:t>
            </a:r>
            <a:r>
              <a:rPr dirty="0"/>
              <a:t>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46135"/>
            <a:ext cx="8072755" cy="407797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algn="just">
              <a:lnSpc>
                <a:spcPts val="3440"/>
              </a:lnSpc>
              <a:spcBef>
                <a:spcPts val="540"/>
              </a:spcBef>
            </a:pPr>
            <a:r>
              <a:rPr sz="3200" spc="-5" dirty="0">
                <a:latin typeface="Calibri"/>
                <a:cs typeface="Calibri"/>
              </a:rPr>
              <a:t>Un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altro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tag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tipo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inline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dirty="0">
                <a:latin typeface="Calibri"/>
                <a:cs typeface="Calibri"/>
              </a:rPr>
              <a:t> 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&lt;img&gt;</a:t>
            </a:r>
            <a:r>
              <a:rPr sz="3200" spc="7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viene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utilizzato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includere</a:t>
            </a:r>
            <a:r>
              <a:rPr sz="3200" spc="7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immagini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all'interno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una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pagina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web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Calibri"/>
                <a:cs typeface="Calibri"/>
              </a:rPr>
              <a:t>&lt;img </a:t>
            </a:r>
            <a:r>
              <a:rPr sz="3200" spc="-15" dirty="0">
                <a:latin typeface="Calibri"/>
                <a:cs typeface="Calibri"/>
              </a:rPr>
              <a:t>src=‘’prova.jpg’’&gt;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Calibri"/>
              <a:cs typeface="Calibri"/>
            </a:endParaRPr>
          </a:p>
          <a:p>
            <a:pPr marL="12700" marR="5080" algn="just">
              <a:lnSpc>
                <a:spcPct val="90100"/>
              </a:lnSpc>
            </a:pPr>
            <a:r>
              <a:rPr sz="3200" spc="-25" dirty="0">
                <a:latin typeface="Calibri"/>
                <a:cs typeface="Calibri"/>
              </a:rPr>
              <a:t>Provare </a:t>
            </a:r>
            <a:r>
              <a:rPr sz="3200" spc="-10" dirty="0">
                <a:latin typeface="Calibri"/>
                <a:cs typeface="Calibri"/>
              </a:rPr>
              <a:t>ad inserire </a:t>
            </a:r>
            <a:r>
              <a:rPr sz="3200" spc="-5" dirty="0">
                <a:latin typeface="Calibri"/>
                <a:cs typeface="Calibri"/>
              </a:rPr>
              <a:t>un’ </a:t>
            </a:r>
            <a:r>
              <a:rPr sz="3200" dirty="0">
                <a:latin typeface="Calibri"/>
                <a:cs typeface="Calibri"/>
              </a:rPr>
              <a:t>immagine all’ </a:t>
            </a:r>
            <a:r>
              <a:rPr sz="3200" spc="-10" dirty="0">
                <a:latin typeface="Calibri"/>
                <a:cs typeface="Calibri"/>
              </a:rPr>
              <a:t>interno del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nostro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testo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inserito 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precedenza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spc="-10" dirty="0">
                <a:latin typeface="Calibri"/>
                <a:cs typeface="Calibri"/>
              </a:rPr>
              <a:t>vediamo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cosa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succede.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5484" y="889965"/>
            <a:ext cx="16560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&lt;</a:t>
            </a:r>
            <a:r>
              <a:rPr spc="20" dirty="0"/>
              <a:t>s</a:t>
            </a:r>
            <a:r>
              <a:rPr spc="-5" dirty="0"/>
              <a:t>p</a:t>
            </a:r>
            <a:r>
              <a:rPr spc="-15" dirty="0"/>
              <a:t>a</a:t>
            </a:r>
            <a:r>
              <a:rPr spc="-5" dirty="0"/>
              <a:t>n&gt;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23275"/>
            <a:ext cx="8074025" cy="36360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80"/>
              </a:spcBef>
            </a:pPr>
            <a:r>
              <a:rPr sz="3200" dirty="0">
                <a:latin typeface="Calibri"/>
                <a:cs typeface="Calibri"/>
              </a:rPr>
              <a:t>Il </a:t>
            </a:r>
            <a:r>
              <a:rPr sz="3200" spc="-20" dirty="0">
                <a:latin typeface="Calibri"/>
                <a:cs typeface="Calibri"/>
              </a:rPr>
              <a:t>tag </a:t>
            </a:r>
            <a:r>
              <a:rPr sz="3200" spc="-5" dirty="0">
                <a:latin typeface="Calibri"/>
                <a:cs typeface="Calibri"/>
              </a:rPr>
              <a:t>span è </a:t>
            </a:r>
            <a:r>
              <a:rPr sz="3200" spc="5" dirty="0">
                <a:latin typeface="Calibri"/>
                <a:cs typeface="Calibri"/>
              </a:rPr>
              <a:t>un </a:t>
            </a:r>
            <a:r>
              <a:rPr sz="3200" spc="-10" dirty="0">
                <a:latin typeface="Calibri"/>
                <a:cs typeface="Calibri"/>
              </a:rPr>
              <a:t>tag di </a:t>
            </a:r>
            <a:r>
              <a:rPr sz="3200" dirty="0">
                <a:latin typeface="Calibri"/>
                <a:cs typeface="Calibri"/>
              </a:rPr>
              <a:t>tipo </a:t>
            </a:r>
            <a:r>
              <a:rPr sz="3200" spc="-5" dirty="0">
                <a:latin typeface="Calibri"/>
                <a:cs typeface="Calibri"/>
              </a:rPr>
              <a:t>inline </a:t>
            </a:r>
            <a:r>
              <a:rPr sz="3200" spc="-10" dirty="0">
                <a:latin typeface="Calibri"/>
                <a:cs typeface="Calibri"/>
              </a:rPr>
              <a:t>generico </a:t>
            </a:r>
            <a:r>
              <a:rPr sz="3200" spc="5" dirty="0">
                <a:latin typeface="Calibri"/>
                <a:cs typeface="Calibri"/>
              </a:rPr>
              <a:t>per il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contenuto</a:t>
            </a:r>
            <a:r>
              <a:rPr sz="3200" spc="-10" dirty="0">
                <a:latin typeface="Calibri"/>
                <a:cs typeface="Calibri"/>
              </a:rPr>
              <a:t> 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frasi,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che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ha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alcun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valore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semantico. </a:t>
            </a:r>
            <a:r>
              <a:rPr sz="3200" spc="5" dirty="0">
                <a:latin typeface="Calibri"/>
                <a:cs typeface="Calibri"/>
              </a:rPr>
              <a:t>Può </a:t>
            </a:r>
            <a:r>
              <a:rPr sz="3200" spc="-10" dirty="0">
                <a:latin typeface="Calibri"/>
                <a:cs typeface="Calibri"/>
              </a:rPr>
              <a:t>essere </a:t>
            </a:r>
            <a:r>
              <a:rPr sz="3200" spc="-15" dirty="0">
                <a:latin typeface="Calibri"/>
                <a:cs typeface="Calibri"/>
              </a:rPr>
              <a:t>utilizzato </a:t>
            </a:r>
            <a:r>
              <a:rPr sz="3200" spc="-10" dirty="0">
                <a:latin typeface="Calibri"/>
                <a:cs typeface="Calibri"/>
              </a:rPr>
              <a:t>per raggruppare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gli elementi per </a:t>
            </a:r>
            <a:r>
              <a:rPr sz="3200" spc="-15" dirty="0">
                <a:latin typeface="Calibri"/>
                <a:cs typeface="Calibri"/>
              </a:rPr>
              <a:t>scopi di </a:t>
            </a:r>
            <a:r>
              <a:rPr sz="3200" spc="-5" dirty="0">
                <a:latin typeface="Calibri"/>
                <a:cs typeface="Calibri"/>
              </a:rPr>
              <a:t>stile… e </a:t>
            </a:r>
            <a:r>
              <a:rPr sz="3200" dirty="0">
                <a:latin typeface="Calibri"/>
                <a:cs typeface="Calibri"/>
              </a:rPr>
              <a:t>lo </a:t>
            </a:r>
            <a:r>
              <a:rPr sz="3200" spc="-10" dirty="0">
                <a:latin typeface="Calibri"/>
                <a:cs typeface="Calibri"/>
              </a:rPr>
              <a:t>vedremo più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avanti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3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&lt;span&gt;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testo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prova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&lt;/span&gt;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194" y="889965"/>
            <a:ext cx="50247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Attributi</a:t>
            </a:r>
            <a:r>
              <a:rPr spc="15" dirty="0"/>
              <a:t> </a:t>
            </a:r>
            <a:r>
              <a:rPr spc="-5" dirty="0"/>
              <a:t>dei</a:t>
            </a:r>
            <a:r>
              <a:rPr spc="-30" dirty="0"/>
              <a:t> </a:t>
            </a:r>
            <a:r>
              <a:rPr spc="-135" dirty="0"/>
              <a:t>TAG</a:t>
            </a:r>
            <a:r>
              <a:rPr spc="35" dirty="0"/>
              <a:t> </a:t>
            </a:r>
            <a:r>
              <a:rPr spc="-5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65363"/>
            <a:ext cx="8074025" cy="41097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9525" algn="just">
              <a:lnSpc>
                <a:spcPct val="81500"/>
              </a:lnSpc>
              <a:spcBef>
                <a:spcPts val="680"/>
              </a:spcBef>
            </a:pPr>
            <a:r>
              <a:rPr sz="2450" spc="5" dirty="0">
                <a:latin typeface="Calibri"/>
                <a:cs typeface="Calibri"/>
              </a:rPr>
              <a:t>Gli </a:t>
            </a:r>
            <a:r>
              <a:rPr sz="2450" spc="10" dirty="0">
                <a:latin typeface="Calibri"/>
                <a:cs typeface="Calibri"/>
              </a:rPr>
              <a:t>attributi </a:t>
            </a:r>
            <a:r>
              <a:rPr sz="2450" spc="30" dirty="0">
                <a:latin typeface="Calibri"/>
                <a:cs typeface="Calibri"/>
              </a:rPr>
              <a:t>HTML </a:t>
            </a:r>
            <a:r>
              <a:rPr sz="2450" spc="10" dirty="0">
                <a:latin typeface="Calibri"/>
                <a:cs typeface="Calibri"/>
              </a:rPr>
              <a:t>sono </a:t>
            </a:r>
            <a:r>
              <a:rPr sz="2450" spc="5" dirty="0">
                <a:latin typeface="Calibri"/>
                <a:cs typeface="Calibri"/>
              </a:rPr>
              <a:t>i </a:t>
            </a:r>
            <a:r>
              <a:rPr sz="2450" spc="10" dirty="0">
                <a:latin typeface="Calibri"/>
                <a:cs typeface="Calibri"/>
              </a:rPr>
              <a:t>parametri dei </a:t>
            </a:r>
            <a:r>
              <a:rPr sz="2450" dirty="0">
                <a:latin typeface="Calibri"/>
                <a:cs typeface="Calibri"/>
              </a:rPr>
              <a:t>tag </a:t>
            </a:r>
            <a:r>
              <a:rPr sz="2450" spc="10" dirty="0">
                <a:latin typeface="Calibri"/>
                <a:cs typeface="Calibri"/>
              </a:rPr>
              <a:t>html. Sono </a:t>
            </a:r>
            <a:r>
              <a:rPr sz="2450" spc="5" dirty="0">
                <a:latin typeface="Calibri"/>
                <a:cs typeface="Calibri"/>
              </a:rPr>
              <a:t>utilizzati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per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indicare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valori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modificare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la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formattazione</a:t>
            </a:r>
            <a:r>
              <a:rPr sz="2450" spc="10" dirty="0">
                <a:latin typeface="Calibri"/>
                <a:cs typeface="Calibri"/>
              </a:rPr>
              <a:t> del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markup.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Calibri"/>
              <a:cs typeface="Calibri"/>
            </a:endParaRPr>
          </a:p>
          <a:p>
            <a:pPr marL="12700" marR="5080" algn="just">
              <a:lnSpc>
                <a:spcPct val="81700"/>
              </a:lnSpc>
            </a:pPr>
            <a:r>
              <a:rPr sz="2450" spc="15" dirty="0">
                <a:latin typeface="Calibri"/>
                <a:cs typeface="Calibri"/>
              </a:rPr>
              <a:t>In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genere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gli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attributi</a:t>
            </a:r>
            <a:r>
              <a:rPr sz="2450" spc="10" dirty="0">
                <a:latin typeface="Calibri"/>
                <a:cs typeface="Calibri"/>
              </a:rPr>
              <a:t> sono</a:t>
            </a:r>
            <a:r>
              <a:rPr sz="2450" spc="15" dirty="0">
                <a:latin typeface="Calibri"/>
                <a:cs typeface="Calibri"/>
              </a:rPr>
              <a:t> codici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(</a:t>
            </a:r>
            <a:r>
              <a:rPr sz="2450" spc="15" dirty="0">
                <a:latin typeface="Calibri"/>
                <a:cs typeface="Calibri"/>
              </a:rPr>
              <a:t> nome  </a:t>
            </a:r>
            <a:r>
              <a:rPr sz="2450" spc="5" dirty="0">
                <a:latin typeface="Calibri"/>
                <a:cs typeface="Calibri"/>
              </a:rPr>
              <a:t>dell'attributo  </a:t>
            </a:r>
            <a:r>
              <a:rPr sz="2450" spc="10" dirty="0">
                <a:latin typeface="Calibri"/>
                <a:cs typeface="Calibri"/>
              </a:rPr>
              <a:t>)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inseriti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all'interno</a:t>
            </a:r>
            <a:r>
              <a:rPr sz="2450" spc="15" dirty="0">
                <a:latin typeface="Calibri"/>
                <a:cs typeface="Calibri"/>
              </a:rPr>
              <a:t> del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tag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html,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sono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seguiti  </a:t>
            </a:r>
            <a:r>
              <a:rPr sz="2450" spc="30" dirty="0">
                <a:latin typeface="Calibri"/>
                <a:cs typeface="Calibri"/>
              </a:rPr>
              <a:t>dal  </a:t>
            </a:r>
            <a:r>
              <a:rPr sz="2450" spc="15" dirty="0">
                <a:latin typeface="Calibri"/>
                <a:cs typeface="Calibri"/>
              </a:rPr>
              <a:t>simbolo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uguale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(=)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0" dirty="0">
                <a:latin typeface="Calibri"/>
                <a:cs typeface="Calibri"/>
              </a:rPr>
              <a:t> da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valore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tra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virgolette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che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definisce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il </a:t>
            </a:r>
            <a:r>
              <a:rPr sz="2450" spc="5" dirty="0">
                <a:latin typeface="Calibri"/>
                <a:cs typeface="Calibri"/>
              </a:rPr>
              <a:t> parametro.</a:t>
            </a:r>
            <a:endParaRPr sz="24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995"/>
              </a:spcBef>
            </a:pPr>
            <a:r>
              <a:rPr sz="2450" b="1" spc="5" dirty="0">
                <a:latin typeface="Calibri"/>
                <a:cs typeface="Calibri"/>
              </a:rPr>
              <a:t>&lt;tag</a:t>
            </a:r>
            <a:r>
              <a:rPr sz="2450" b="1" spc="3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attributo="valore"&gt;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Calibri"/>
              <a:cs typeface="Calibri"/>
            </a:endParaRPr>
          </a:p>
          <a:p>
            <a:pPr marL="12700" marR="8255" algn="ctr">
              <a:lnSpc>
                <a:spcPts val="2410"/>
              </a:lnSpc>
              <a:spcBef>
                <a:spcPts val="5"/>
              </a:spcBef>
              <a:tabLst>
                <a:tab pos="336550" algn="l"/>
                <a:tab pos="1301115" algn="l"/>
                <a:tab pos="3153410" algn="l"/>
                <a:tab pos="3482340" algn="l"/>
                <a:tab pos="4627245" algn="l"/>
                <a:tab pos="5158740" algn="l"/>
                <a:tab pos="6226810" algn="l"/>
                <a:tab pos="7619365" algn="l"/>
              </a:tabLst>
            </a:pPr>
            <a:r>
              <a:rPr sz="2450" spc="15" dirty="0">
                <a:latin typeface="Calibri"/>
                <a:cs typeface="Calibri"/>
              </a:rPr>
              <a:t>I</a:t>
            </a:r>
            <a:r>
              <a:rPr sz="2450" spc="5" dirty="0">
                <a:latin typeface="Calibri"/>
                <a:cs typeface="Calibri"/>
              </a:rPr>
              <a:t>l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10" dirty="0">
                <a:latin typeface="Calibri"/>
                <a:cs typeface="Calibri"/>
              </a:rPr>
              <a:t>v</a:t>
            </a:r>
            <a:r>
              <a:rPr sz="2450" spc="30" dirty="0">
                <a:latin typeface="Calibri"/>
                <a:cs typeface="Calibri"/>
              </a:rPr>
              <a:t>a</a:t>
            </a:r>
            <a:r>
              <a:rPr sz="2450" spc="10" dirty="0">
                <a:latin typeface="Calibri"/>
                <a:cs typeface="Calibri"/>
              </a:rPr>
              <a:t>lo</a:t>
            </a:r>
            <a:r>
              <a:rPr sz="2450" spc="-35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0" dirty="0">
                <a:latin typeface="Calibri"/>
                <a:cs typeface="Calibri"/>
              </a:rPr>
              <a:t>d</a:t>
            </a:r>
            <a:r>
              <a:rPr sz="2450" spc="10" dirty="0">
                <a:latin typeface="Calibri"/>
                <a:cs typeface="Calibri"/>
              </a:rPr>
              <a:t>ell</a:t>
            </a:r>
            <a:r>
              <a:rPr sz="2450" spc="-10" dirty="0">
                <a:latin typeface="Calibri"/>
                <a:cs typeface="Calibri"/>
              </a:rPr>
              <a:t>'a</a:t>
            </a:r>
            <a:r>
              <a:rPr sz="2450" spc="-5" dirty="0">
                <a:latin typeface="Calibri"/>
                <a:cs typeface="Calibri"/>
              </a:rPr>
              <a:t>t</a:t>
            </a:r>
            <a:r>
              <a:rPr sz="2450" spc="25" dirty="0">
                <a:latin typeface="Calibri"/>
                <a:cs typeface="Calibri"/>
              </a:rPr>
              <a:t>t</a:t>
            </a:r>
            <a:r>
              <a:rPr sz="2450" spc="-5" dirty="0">
                <a:latin typeface="Calibri"/>
                <a:cs typeface="Calibri"/>
              </a:rPr>
              <a:t>r</a:t>
            </a:r>
            <a:r>
              <a:rPr sz="2450" spc="10" dirty="0">
                <a:latin typeface="Calibri"/>
                <a:cs typeface="Calibri"/>
              </a:rPr>
              <a:t>ib</a:t>
            </a:r>
            <a:r>
              <a:rPr sz="2450" spc="60" dirty="0">
                <a:latin typeface="Calibri"/>
                <a:cs typeface="Calibri"/>
              </a:rPr>
              <a:t>u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15" dirty="0">
                <a:latin typeface="Calibri"/>
                <a:cs typeface="Calibri"/>
              </a:rPr>
              <a:t>è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20" dirty="0">
                <a:latin typeface="Calibri"/>
                <a:cs typeface="Calibri"/>
              </a:rPr>
              <a:t>n</a:t>
            </a:r>
            <a:r>
              <a:rPr sz="2450" spc="-5" dirty="0">
                <a:latin typeface="Calibri"/>
                <a:cs typeface="Calibri"/>
              </a:rPr>
              <a:t>s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35" dirty="0">
                <a:latin typeface="Calibri"/>
                <a:cs typeface="Calibri"/>
              </a:rPr>
              <a:t>r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5" dirty="0">
                <a:latin typeface="Calibri"/>
                <a:cs typeface="Calibri"/>
              </a:rPr>
              <a:t>t</a:t>
            </a:r>
            <a:r>
              <a:rPr sz="2450" spc="-40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0" dirty="0">
                <a:latin typeface="Calibri"/>
                <a:cs typeface="Calibri"/>
              </a:rPr>
              <a:t>d</a:t>
            </a:r>
            <a:r>
              <a:rPr sz="2450" spc="10" dirty="0">
                <a:latin typeface="Calibri"/>
                <a:cs typeface="Calibri"/>
              </a:rPr>
              <a:t>o</a:t>
            </a:r>
            <a:r>
              <a:rPr sz="2450" spc="20" dirty="0">
                <a:latin typeface="Calibri"/>
                <a:cs typeface="Calibri"/>
              </a:rPr>
              <a:t>pp</a:t>
            </a:r>
            <a:r>
              <a:rPr sz="2450" spc="10" dirty="0">
                <a:latin typeface="Calibri"/>
                <a:cs typeface="Calibri"/>
              </a:rPr>
              <a:t>ie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0" dirty="0">
                <a:latin typeface="Calibri"/>
                <a:cs typeface="Calibri"/>
              </a:rPr>
              <a:t>v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-45" dirty="0">
                <a:latin typeface="Calibri"/>
                <a:cs typeface="Calibri"/>
              </a:rPr>
              <a:t>r</a:t>
            </a:r>
            <a:r>
              <a:rPr sz="2450" spc="10" dirty="0">
                <a:latin typeface="Calibri"/>
                <a:cs typeface="Calibri"/>
              </a:rPr>
              <a:t>gole</a:t>
            </a:r>
            <a:r>
              <a:rPr sz="2450" spc="-35" dirty="0">
                <a:latin typeface="Calibri"/>
                <a:cs typeface="Calibri"/>
              </a:rPr>
              <a:t>t</a:t>
            </a:r>
            <a:r>
              <a:rPr sz="2450" spc="-45" dirty="0">
                <a:latin typeface="Calibri"/>
                <a:cs typeface="Calibri"/>
              </a:rPr>
              <a:t>t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0" dirty="0">
                <a:latin typeface="Calibri"/>
                <a:cs typeface="Calibri"/>
              </a:rPr>
              <a:t>p</a:t>
            </a:r>
            <a:r>
              <a:rPr sz="2450" spc="50" dirty="0">
                <a:latin typeface="Calibri"/>
                <a:cs typeface="Calibri"/>
              </a:rPr>
              <a:t>e</a:t>
            </a:r>
            <a:r>
              <a:rPr sz="2450" spc="5" dirty="0">
                <a:latin typeface="Calibri"/>
                <a:cs typeface="Calibri"/>
              </a:rPr>
              <a:t>r  </a:t>
            </a:r>
            <a:r>
              <a:rPr sz="2450" spc="-5" dirty="0">
                <a:latin typeface="Calibri"/>
                <a:cs typeface="Calibri"/>
              </a:rPr>
              <a:t>facilitare</a:t>
            </a:r>
            <a:r>
              <a:rPr sz="2450" spc="10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l'operazione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dirty="0">
                <a:latin typeface="Calibri"/>
                <a:cs typeface="Calibri"/>
              </a:rPr>
              <a:t>interpretazione</a:t>
            </a:r>
            <a:r>
              <a:rPr sz="2450" spc="18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da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parte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del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35" dirty="0">
                <a:latin typeface="Calibri"/>
                <a:cs typeface="Calibri"/>
              </a:rPr>
              <a:t>browser.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36027"/>
            <a:ext cx="8075295" cy="479996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5"/>
              </a:spcBef>
            </a:pPr>
            <a:r>
              <a:rPr sz="2700" spc="-10" dirty="0">
                <a:latin typeface="Calibri"/>
                <a:cs typeface="Calibri"/>
              </a:rPr>
              <a:t>Gli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attributi</a:t>
            </a:r>
            <a:r>
              <a:rPr sz="2700" spc="-15" dirty="0">
                <a:latin typeface="Calibri"/>
                <a:cs typeface="Calibri"/>
              </a:rPr>
              <a:t> permettono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ottenere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effetti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diversi,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ad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esempio </a:t>
            </a:r>
            <a:r>
              <a:rPr sz="2700" spc="-20" dirty="0">
                <a:latin typeface="Calibri"/>
                <a:cs typeface="Calibri"/>
              </a:rPr>
              <a:t>l'attributo </a:t>
            </a:r>
            <a:r>
              <a:rPr sz="2700" spc="-15" dirty="0">
                <a:latin typeface="Calibri"/>
                <a:cs typeface="Calibri"/>
              </a:rPr>
              <a:t>bgcolor consente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15" dirty="0">
                <a:latin typeface="Calibri"/>
                <a:cs typeface="Calibri"/>
              </a:rPr>
              <a:t>cambiare il colore </a:t>
            </a:r>
            <a:r>
              <a:rPr sz="2700" spc="-10" dirty="0">
                <a:latin typeface="Calibri"/>
                <a:cs typeface="Calibri"/>
              </a:rPr>
              <a:t> dello </a:t>
            </a:r>
            <a:r>
              <a:rPr sz="2700" spc="-20" dirty="0">
                <a:latin typeface="Calibri"/>
                <a:cs typeface="Calibri"/>
              </a:rPr>
              <a:t>sfondo, l'attributo </a:t>
            </a:r>
            <a:r>
              <a:rPr sz="2700" spc="-10" dirty="0">
                <a:latin typeface="Calibri"/>
                <a:cs typeface="Calibri"/>
              </a:rPr>
              <a:t>color </a:t>
            </a:r>
            <a:r>
              <a:rPr sz="2700" spc="-5" dirty="0">
                <a:latin typeface="Calibri"/>
                <a:cs typeface="Calibri"/>
              </a:rPr>
              <a:t>assegna </a:t>
            </a:r>
            <a:r>
              <a:rPr sz="2700" spc="-15" dirty="0">
                <a:latin typeface="Calibri"/>
                <a:cs typeface="Calibri"/>
              </a:rPr>
              <a:t>il colore </a:t>
            </a:r>
            <a:r>
              <a:rPr sz="2700" spc="-5" dirty="0">
                <a:latin typeface="Calibri"/>
                <a:cs typeface="Calibri"/>
              </a:rPr>
              <a:t>del </a:t>
            </a:r>
            <a:r>
              <a:rPr sz="2700" spc="-30" dirty="0">
                <a:latin typeface="Calibri"/>
                <a:cs typeface="Calibri"/>
              </a:rPr>
              <a:t>testo, 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l'attributo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href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assegna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indirizzo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URL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collegamento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ipertestuale,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ecc.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Calibri"/>
              <a:cs typeface="Calibri"/>
            </a:endParaRPr>
          </a:p>
          <a:p>
            <a:pPr marL="12700" marR="9525" algn="just">
              <a:lnSpc>
                <a:spcPct val="80000"/>
              </a:lnSpc>
            </a:pPr>
            <a:r>
              <a:rPr sz="2700" spc="-5" dirty="0">
                <a:latin typeface="Calibri"/>
                <a:cs typeface="Calibri"/>
              </a:rPr>
              <a:t>Ad </a:t>
            </a:r>
            <a:r>
              <a:rPr sz="2700" spc="-10" dirty="0">
                <a:latin typeface="Calibri"/>
                <a:cs typeface="Calibri"/>
              </a:rPr>
              <a:t>esempio, </a:t>
            </a:r>
            <a:r>
              <a:rPr sz="2700" spc="-5" dirty="0">
                <a:latin typeface="Calibri"/>
                <a:cs typeface="Calibri"/>
              </a:rPr>
              <a:t>nel </a:t>
            </a:r>
            <a:r>
              <a:rPr sz="2700" spc="-15" dirty="0">
                <a:latin typeface="Calibri"/>
                <a:cs typeface="Calibri"/>
              </a:rPr>
              <a:t>seguente</a:t>
            </a:r>
            <a:r>
              <a:rPr sz="2700" spc="-10" dirty="0">
                <a:latin typeface="Calibri"/>
                <a:cs typeface="Calibri"/>
              </a:rPr>
              <a:t> codice </a:t>
            </a:r>
            <a:r>
              <a:rPr sz="2700" spc="-20" dirty="0">
                <a:latin typeface="Calibri"/>
                <a:cs typeface="Calibri"/>
              </a:rPr>
              <a:t>sorgente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ho un </a:t>
            </a:r>
            <a:r>
              <a:rPr sz="2700" spc="-20" dirty="0">
                <a:latin typeface="Calibri"/>
                <a:cs typeface="Calibri"/>
              </a:rPr>
              <a:t>testo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compreso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-5" dirty="0">
                <a:latin typeface="Calibri"/>
                <a:cs typeface="Calibri"/>
              </a:rPr>
              <a:t> un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tag.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190"/>
              </a:spcBef>
            </a:pPr>
            <a:r>
              <a:rPr sz="2700" spc="-20" dirty="0">
                <a:latin typeface="Calibri"/>
                <a:cs typeface="Calibri"/>
              </a:rPr>
              <a:t>&lt;p&gt;testo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allineare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destra&lt;/p&gt;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Calibri"/>
              <a:cs typeface="Calibri"/>
            </a:endParaRPr>
          </a:p>
          <a:p>
            <a:pPr marL="12700" marR="6350" algn="just">
              <a:lnSpc>
                <a:spcPct val="80000"/>
              </a:lnSpc>
            </a:pPr>
            <a:r>
              <a:rPr sz="2700" spc="-5" dirty="0">
                <a:latin typeface="Calibri"/>
                <a:cs typeface="Calibri"/>
              </a:rPr>
              <a:t>Sul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browser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testo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paragrafo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viene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visualizzato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partire </a:t>
            </a:r>
            <a:r>
              <a:rPr sz="2700" spc="-5" dirty="0">
                <a:latin typeface="Calibri"/>
                <a:cs typeface="Calibri"/>
              </a:rPr>
              <a:t>da </a:t>
            </a:r>
            <a:r>
              <a:rPr sz="2700" spc="-20" dirty="0">
                <a:latin typeface="Calibri"/>
                <a:cs typeface="Calibri"/>
              </a:rPr>
              <a:t>sinistra, </a:t>
            </a:r>
            <a:r>
              <a:rPr sz="2700" spc="-15" dirty="0">
                <a:latin typeface="Calibri"/>
                <a:cs typeface="Calibri"/>
              </a:rPr>
              <a:t>in </a:t>
            </a:r>
            <a:r>
              <a:rPr sz="2700" spc="-20" dirty="0">
                <a:latin typeface="Calibri"/>
                <a:cs typeface="Calibri"/>
              </a:rPr>
              <a:t>quanto </a:t>
            </a:r>
            <a:r>
              <a:rPr sz="2700" spc="-15" dirty="0">
                <a:latin typeface="Calibri"/>
                <a:cs typeface="Calibri"/>
              </a:rPr>
              <a:t>tutti </a:t>
            </a: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spc="-15" dirty="0">
                <a:latin typeface="Calibri"/>
                <a:cs typeface="Calibri"/>
              </a:rPr>
              <a:t>browser in </a:t>
            </a:r>
            <a:r>
              <a:rPr sz="2700" spc="-20" dirty="0">
                <a:latin typeface="Calibri"/>
                <a:cs typeface="Calibri"/>
              </a:rPr>
              <a:t>occidente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hanno </a:t>
            </a:r>
            <a:r>
              <a:rPr sz="2700" spc="-15" dirty="0">
                <a:latin typeface="Calibri"/>
                <a:cs typeface="Calibri"/>
              </a:rPr>
              <a:t>la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visualizzazione</a:t>
            </a:r>
            <a:r>
              <a:rPr sz="2700" spc="1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default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sinistra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08328"/>
            <a:ext cx="8075295" cy="461962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0"/>
              </a:spcBef>
            </a:pPr>
            <a:r>
              <a:rPr sz="2700" spc="-30" dirty="0">
                <a:latin typeface="Calibri"/>
                <a:cs typeface="Calibri"/>
              </a:rPr>
              <a:t>Ora </a:t>
            </a:r>
            <a:r>
              <a:rPr sz="2700" spc="-15" dirty="0">
                <a:latin typeface="Calibri"/>
                <a:cs typeface="Calibri"/>
              </a:rPr>
              <a:t>voglio </a:t>
            </a:r>
            <a:r>
              <a:rPr sz="2700" spc="-10" dirty="0">
                <a:latin typeface="Calibri"/>
                <a:cs typeface="Calibri"/>
              </a:rPr>
              <a:t>allineare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spc="-20" dirty="0">
                <a:latin typeface="Calibri"/>
                <a:cs typeface="Calibri"/>
              </a:rPr>
              <a:t>destra </a:t>
            </a:r>
            <a:r>
              <a:rPr sz="2700" spc="5" dirty="0">
                <a:latin typeface="Calibri"/>
                <a:cs typeface="Calibri"/>
              </a:rPr>
              <a:t>il </a:t>
            </a:r>
            <a:r>
              <a:rPr sz="2700" spc="-25" dirty="0">
                <a:latin typeface="Calibri"/>
                <a:cs typeface="Calibri"/>
              </a:rPr>
              <a:t>testo </a:t>
            </a:r>
            <a:r>
              <a:rPr sz="2700" spc="-10" dirty="0">
                <a:latin typeface="Calibri"/>
                <a:cs typeface="Calibri"/>
              </a:rPr>
              <a:t>compreso </a:t>
            </a:r>
            <a:r>
              <a:rPr sz="2700" spc="-15" dirty="0">
                <a:latin typeface="Calibri"/>
                <a:cs typeface="Calibri"/>
              </a:rPr>
              <a:t>in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0" dirty="0">
                <a:latin typeface="Calibri"/>
                <a:cs typeface="Calibri"/>
              </a:rPr>
              <a:t>tag.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Per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farlo</a:t>
            </a:r>
            <a:r>
              <a:rPr sz="2700" spc="-15" dirty="0">
                <a:latin typeface="Calibri"/>
                <a:cs typeface="Calibri"/>
              </a:rPr>
              <a:t> devo</a:t>
            </a:r>
            <a:r>
              <a:rPr sz="2700" spc="-10" dirty="0">
                <a:latin typeface="Calibri"/>
                <a:cs typeface="Calibri"/>
              </a:rPr>
              <a:t> soltanto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inserire</a:t>
            </a:r>
            <a:r>
              <a:rPr sz="2700" spc="-5" dirty="0">
                <a:latin typeface="Calibri"/>
                <a:cs typeface="Calibri"/>
              </a:rPr>
              <a:t> nel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tag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&lt;p&gt;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l'attributo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ALIGN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valore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5" dirty="0">
                <a:latin typeface="Calibri"/>
                <a:cs typeface="Calibri"/>
              </a:rPr>
              <a:t>RIGHT.</a:t>
            </a:r>
            <a:endParaRPr sz="2700">
              <a:latin typeface="Calibri"/>
              <a:cs typeface="Calibri"/>
            </a:endParaRPr>
          </a:p>
          <a:p>
            <a:pPr marL="611505">
              <a:lnSpc>
                <a:spcPct val="100000"/>
              </a:lnSpc>
              <a:spcBef>
                <a:spcPts val="2405"/>
              </a:spcBef>
            </a:pPr>
            <a:r>
              <a:rPr sz="2700" b="1" spc="-5" dirty="0">
                <a:latin typeface="Calibri"/>
                <a:cs typeface="Calibri"/>
              </a:rPr>
              <a:t>&lt;p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align=‘’right’’&gt;testo</a:t>
            </a:r>
            <a:r>
              <a:rPr sz="2700" b="1" spc="35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da</a:t>
            </a:r>
            <a:r>
              <a:rPr sz="2700" b="1" spc="-20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allineare a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destra&lt;/p&gt;</a:t>
            </a:r>
            <a:endParaRPr sz="27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405"/>
              </a:spcBef>
            </a:pPr>
            <a:r>
              <a:rPr sz="2700" spc="-35" dirty="0">
                <a:latin typeface="Calibri"/>
                <a:cs typeface="Calibri"/>
              </a:rPr>
              <a:t>L'effetto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sullo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schermo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spc="-15" dirty="0">
                <a:latin typeface="Calibri"/>
                <a:cs typeface="Calibri"/>
              </a:rPr>
              <a:t> browser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seguente:</a:t>
            </a:r>
            <a:endParaRPr sz="2700">
              <a:latin typeface="Calibri"/>
              <a:cs typeface="Calibri"/>
            </a:endParaRPr>
          </a:p>
          <a:p>
            <a:pPr marL="12700" indent="4361815">
              <a:lnSpc>
                <a:spcPct val="100000"/>
              </a:lnSpc>
              <a:spcBef>
                <a:spcPts val="2400"/>
              </a:spcBef>
            </a:pPr>
            <a:r>
              <a:rPr sz="2700" b="1" spc="-35" dirty="0">
                <a:latin typeface="Calibri"/>
                <a:cs typeface="Calibri"/>
              </a:rPr>
              <a:t>testo</a:t>
            </a:r>
            <a:r>
              <a:rPr sz="2700" b="1" spc="55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da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allineare</a:t>
            </a:r>
            <a:r>
              <a:rPr sz="2700" b="1" spc="-20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a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30" dirty="0">
                <a:latin typeface="Calibri"/>
                <a:cs typeface="Calibri"/>
              </a:rPr>
              <a:t>destra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00">
              <a:latin typeface="Calibri"/>
              <a:cs typeface="Calibri"/>
            </a:endParaRPr>
          </a:p>
          <a:p>
            <a:pPr marL="12700" marR="5715" algn="just">
              <a:lnSpc>
                <a:spcPct val="80000"/>
              </a:lnSpc>
            </a:pPr>
            <a:r>
              <a:rPr sz="2700" spc="-45" dirty="0">
                <a:latin typeface="Calibri"/>
                <a:cs typeface="Calibri"/>
              </a:rPr>
              <a:t>Tramite </a:t>
            </a:r>
            <a:r>
              <a:rPr sz="2700" spc="-5" dirty="0">
                <a:latin typeface="Calibri"/>
                <a:cs typeface="Calibri"/>
              </a:rPr>
              <a:t>l'uso </a:t>
            </a:r>
            <a:r>
              <a:rPr sz="2700" spc="-15" dirty="0">
                <a:latin typeface="Calibri"/>
                <a:cs typeface="Calibri"/>
              </a:rPr>
              <a:t>dell'attributo </a:t>
            </a:r>
            <a:r>
              <a:rPr sz="2700" spc="-5" dirty="0">
                <a:latin typeface="Calibri"/>
                <a:cs typeface="Calibri"/>
              </a:rPr>
              <a:t>ho </a:t>
            </a:r>
            <a:r>
              <a:rPr sz="2700" spc="-10" dirty="0">
                <a:latin typeface="Calibri"/>
                <a:cs typeface="Calibri"/>
              </a:rPr>
              <a:t>modificato </a:t>
            </a:r>
            <a:r>
              <a:rPr sz="2700" spc="5" dirty="0">
                <a:latin typeface="Calibri"/>
                <a:cs typeface="Calibri"/>
              </a:rPr>
              <a:t>la </a:t>
            </a:r>
            <a:r>
              <a:rPr sz="2700" spc="-20" dirty="0">
                <a:latin typeface="Calibri"/>
                <a:cs typeface="Calibri"/>
              </a:rPr>
              <a:t>formattazione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 </a:t>
            </a:r>
            <a:r>
              <a:rPr sz="2700" spc="-30" dirty="0">
                <a:latin typeface="Calibri"/>
                <a:cs typeface="Calibri"/>
              </a:rPr>
              <a:t>paragrafo </a:t>
            </a:r>
            <a:r>
              <a:rPr sz="2700" spc="-5" dirty="0">
                <a:latin typeface="Calibri"/>
                <a:cs typeface="Calibri"/>
              </a:rPr>
              <a:t>e ho </a:t>
            </a:r>
            <a:r>
              <a:rPr sz="2700" spc="-30" dirty="0">
                <a:latin typeface="Calibri"/>
                <a:cs typeface="Calibri"/>
              </a:rPr>
              <a:t>forzato </a:t>
            </a:r>
            <a:r>
              <a:rPr sz="2700" spc="-15" dirty="0">
                <a:latin typeface="Calibri"/>
                <a:cs typeface="Calibri"/>
              </a:rPr>
              <a:t>la </a:t>
            </a:r>
            <a:r>
              <a:rPr sz="2700" spc="-10" dirty="0">
                <a:latin typeface="Calibri"/>
                <a:cs typeface="Calibri"/>
              </a:rPr>
              <a:t>visualizzazione </a:t>
            </a:r>
            <a:r>
              <a:rPr sz="2700" spc="-5" dirty="0">
                <a:latin typeface="Calibri"/>
                <a:cs typeface="Calibri"/>
              </a:rPr>
              <a:t>del </a:t>
            </a:r>
            <a:r>
              <a:rPr sz="2700" spc="-30" dirty="0">
                <a:latin typeface="Calibri"/>
                <a:cs typeface="Calibri"/>
              </a:rPr>
              <a:t>testo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partire</a:t>
            </a:r>
            <a:r>
              <a:rPr sz="2700" spc="-5" dirty="0">
                <a:latin typeface="Calibri"/>
                <a:cs typeface="Calibri"/>
              </a:rPr>
              <a:t> da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destra.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8444" y="962100"/>
            <a:ext cx="60883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Elenchi</a:t>
            </a:r>
            <a:r>
              <a:rPr spc="-15" dirty="0"/>
              <a:t> </a:t>
            </a:r>
            <a:r>
              <a:rPr spc="-20" dirty="0"/>
              <a:t>Puntati</a:t>
            </a:r>
            <a:r>
              <a:rPr spc="20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spc="-25" dirty="0"/>
              <a:t>Numerati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87867"/>
            <a:ext cx="8075295" cy="403415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12700" algn="just">
              <a:lnSpc>
                <a:spcPts val="2910"/>
              </a:lnSpc>
              <a:spcBef>
                <a:spcPts val="470"/>
              </a:spcBef>
            </a:pPr>
            <a:r>
              <a:rPr sz="2700" spc="-30" dirty="0">
                <a:latin typeface="Calibri"/>
                <a:cs typeface="Calibri"/>
              </a:rPr>
              <a:t>Vediamo </a:t>
            </a:r>
            <a:r>
              <a:rPr sz="2700" spc="-5" dirty="0">
                <a:latin typeface="Calibri"/>
                <a:cs typeface="Calibri"/>
              </a:rPr>
              <a:t>quali sono </a:t>
            </a:r>
            <a:r>
              <a:rPr sz="2700" spc="-15" dirty="0">
                <a:latin typeface="Calibri"/>
                <a:cs typeface="Calibri"/>
              </a:rPr>
              <a:t>le tre </a:t>
            </a:r>
            <a:r>
              <a:rPr sz="2700" spc="-5" dirty="0">
                <a:latin typeface="Calibri"/>
                <a:cs typeface="Calibri"/>
              </a:rPr>
              <a:t>tipologie di </a:t>
            </a:r>
            <a:r>
              <a:rPr sz="2700" spc="-10" dirty="0">
                <a:latin typeface="Calibri"/>
                <a:cs typeface="Calibri"/>
              </a:rPr>
              <a:t>elenco </a:t>
            </a:r>
            <a:r>
              <a:rPr sz="2700" spc="-5" dirty="0">
                <a:latin typeface="Calibri"/>
                <a:cs typeface="Calibri"/>
              </a:rPr>
              <a:t>disponibili </a:t>
            </a:r>
            <a:r>
              <a:rPr sz="2700" spc="-25" dirty="0">
                <a:latin typeface="Calibri"/>
                <a:cs typeface="Calibri"/>
              </a:rPr>
              <a:t>in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HTML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Elenchi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ordinati</a:t>
            </a:r>
            <a:endParaRPr sz="27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Elenchi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non</a:t>
            </a:r>
            <a:r>
              <a:rPr sz="2700" b="1" spc="-2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ordinati</a:t>
            </a:r>
            <a:endParaRPr sz="27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3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Elenchi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definizioni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Calibri"/>
              <a:cs typeface="Calibri"/>
            </a:endParaRPr>
          </a:p>
          <a:p>
            <a:pPr marL="12700" marR="5080" algn="just">
              <a:lnSpc>
                <a:spcPct val="90400"/>
              </a:lnSpc>
            </a:pPr>
            <a:r>
              <a:rPr sz="2700" spc="-55" dirty="0">
                <a:latin typeface="Calibri"/>
                <a:cs typeface="Calibri"/>
              </a:rPr>
              <a:t>Tutti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tre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tipi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elenchi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funzionano</a:t>
            </a:r>
            <a:r>
              <a:rPr sz="2700" spc="-5" dirty="0">
                <a:latin typeface="Calibri"/>
                <a:cs typeface="Calibri"/>
              </a:rPr>
              <a:t> nel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medesimo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modo: </a:t>
            </a:r>
            <a:r>
              <a:rPr sz="2700" spc="20" dirty="0">
                <a:latin typeface="Calibri"/>
                <a:cs typeface="Calibri"/>
              </a:rPr>
              <a:t>si </a:t>
            </a:r>
            <a:r>
              <a:rPr sz="2700" spc="-15" dirty="0">
                <a:latin typeface="Calibri"/>
                <a:cs typeface="Calibri"/>
              </a:rPr>
              <a:t>apre </a:t>
            </a:r>
            <a:r>
              <a:rPr sz="2700" spc="5" dirty="0">
                <a:latin typeface="Calibri"/>
                <a:cs typeface="Calibri"/>
              </a:rPr>
              <a:t>il </a:t>
            </a:r>
            <a:r>
              <a:rPr sz="2700" spc="-15" dirty="0">
                <a:latin typeface="Calibri"/>
                <a:cs typeface="Calibri"/>
              </a:rPr>
              <a:t>tag, </a:t>
            </a:r>
            <a:r>
              <a:rPr sz="2700" dirty="0">
                <a:latin typeface="Calibri"/>
                <a:cs typeface="Calibri"/>
              </a:rPr>
              <a:t>si </a:t>
            </a:r>
            <a:r>
              <a:rPr sz="2700" spc="-15" dirty="0">
                <a:latin typeface="Calibri"/>
                <a:cs typeface="Calibri"/>
              </a:rPr>
              <a:t>elencano </a:t>
            </a: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spc="-15" dirty="0">
                <a:latin typeface="Calibri"/>
                <a:cs typeface="Calibri"/>
              </a:rPr>
              <a:t>vari </a:t>
            </a:r>
            <a:r>
              <a:rPr sz="2700" spc="-5" dirty="0">
                <a:latin typeface="Calibri"/>
                <a:cs typeface="Calibri"/>
              </a:rPr>
              <a:t>elementi </a:t>
            </a:r>
            <a:r>
              <a:rPr sz="2700" dirty="0">
                <a:latin typeface="Calibri"/>
                <a:cs typeface="Calibri"/>
              </a:rPr>
              <a:t>della </a:t>
            </a:r>
            <a:r>
              <a:rPr sz="2700" spc="-20" dirty="0">
                <a:latin typeface="Calibri"/>
                <a:cs typeface="Calibri"/>
              </a:rPr>
              <a:t>lista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(ciascuno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proprio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tag),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chiude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tag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dell’elenco.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5372" y="889965"/>
            <a:ext cx="64947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&lt;UL&gt;</a:t>
            </a:r>
            <a:r>
              <a:rPr spc="-45" dirty="0"/>
              <a:t> </a:t>
            </a:r>
            <a:r>
              <a:rPr spc="-10" dirty="0"/>
              <a:t>gli</a:t>
            </a:r>
            <a:r>
              <a:rPr spc="40" dirty="0"/>
              <a:t> </a:t>
            </a:r>
            <a:r>
              <a:rPr spc="-5" dirty="0"/>
              <a:t>elenchi</a:t>
            </a:r>
            <a:r>
              <a:rPr spc="35" dirty="0"/>
              <a:t> </a:t>
            </a:r>
            <a:r>
              <a:rPr spc="-10" dirty="0"/>
              <a:t>non</a:t>
            </a:r>
            <a:r>
              <a:rPr spc="15" dirty="0"/>
              <a:t> </a:t>
            </a:r>
            <a:r>
              <a:rPr spc="-25" dirty="0"/>
              <a:t>ordinati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14309"/>
            <a:ext cx="8077200" cy="4177029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 algn="just">
              <a:lnSpc>
                <a:spcPct val="80200"/>
              </a:lnSpc>
              <a:spcBef>
                <a:spcPts val="830"/>
              </a:spcBef>
            </a:pPr>
            <a:r>
              <a:rPr sz="3000" spc="-60" dirty="0">
                <a:latin typeface="Calibri"/>
                <a:cs typeface="Calibri"/>
              </a:rPr>
              <a:t>L’elenco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non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ordinato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forse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più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usato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si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descrive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utilizzando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il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tag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&lt;ul&gt;</a:t>
            </a:r>
            <a:r>
              <a:rPr sz="3000" dirty="0">
                <a:latin typeface="Calibri"/>
                <a:cs typeface="Calibri"/>
              </a:rPr>
              <a:t>.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</a:t>
            </a:r>
            <a:r>
              <a:rPr sz="3000" spc="5" dirty="0">
                <a:latin typeface="Calibri"/>
                <a:cs typeface="Calibri"/>
              </a:rPr>
              <a:t> suo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interno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possiamo </a:t>
            </a:r>
            <a:r>
              <a:rPr sz="3000" spc="-5" dirty="0">
                <a:latin typeface="Calibri"/>
                <a:cs typeface="Calibri"/>
              </a:rPr>
              <a:t>inserire gli </a:t>
            </a:r>
            <a:r>
              <a:rPr sz="3000" spc="-15" dirty="0">
                <a:latin typeface="Calibri"/>
                <a:cs typeface="Calibri"/>
              </a:rPr>
              <a:t>elementi </a:t>
            </a:r>
            <a:r>
              <a:rPr sz="3000" spc="-5" dirty="0">
                <a:latin typeface="Calibri"/>
                <a:cs typeface="Calibri"/>
              </a:rPr>
              <a:t>della </a:t>
            </a:r>
            <a:r>
              <a:rPr sz="3000" spc="-20" dirty="0">
                <a:latin typeface="Calibri"/>
                <a:cs typeface="Calibri"/>
              </a:rPr>
              <a:t>lista </a:t>
            </a:r>
            <a:r>
              <a:rPr sz="3000" spc="-10" dirty="0">
                <a:latin typeface="Calibri"/>
                <a:cs typeface="Calibri"/>
              </a:rPr>
              <a:t>utilizzando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il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tag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&lt;li&gt;</a:t>
            </a:r>
            <a:r>
              <a:rPr sz="3000" dirty="0">
                <a:latin typeface="Calibri"/>
                <a:cs typeface="Calibri"/>
              </a:rPr>
              <a:t>.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Ecco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un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esempio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ts val="3595"/>
              </a:lnSpc>
              <a:spcBef>
                <a:spcPts val="2395"/>
              </a:spcBef>
            </a:pPr>
            <a:r>
              <a:rPr sz="3000" i="1" spc="5" dirty="0">
                <a:latin typeface="Calibri"/>
                <a:cs typeface="Calibri"/>
              </a:rPr>
              <a:t>&lt;ul&gt;</a:t>
            </a:r>
            <a:endParaRPr sz="3000">
              <a:latin typeface="Calibri"/>
              <a:cs typeface="Calibri"/>
            </a:endParaRPr>
          </a:p>
          <a:p>
            <a:pPr marL="927100">
              <a:lnSpc>
                <a:spcPts val="3595"/>
              </a:lnSpc>
            </a:pPr>
            <a:r>
              <a:rPr sz="3000" i="1" spc="5" dirty="0">
                <a:latin typeface="Calibri"/>
                <a:cs typeface="Calibri"/>
              </a:rPr>
              <a:t>&lt;li&gt;primo</a:t>
            </a:r>
            <a:r>
              <a:rPr sz="3000" i="1" spc="-12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elemento&lt;/li&gt;</a:t>
            </a:r>
            <a:endParaRPr sz="3000">
              <a:latin typeface="Calibri"/>
              <a:cs typeface="Calibri"/>
            </a:endParaRPr>
          </a:p>
          <a:p>
            <a:pPr marL="927100">
              <a:lnSpc>
                <a:spcPts val="3590"/>
              </a:lnSpc>
              <a:spcBef>
                <a:spcPts val="20"/>
              </a:spcBef>
            </a:pPr>
            <a:r>
              <a:rPr sz="3000" i="1" dirty="0">
                <a:latin typeface="Calibri"/>
                <a:cs typeface="Calibri"/>
              </a:rPr>
              <a:t>&lt;li&gt;secondo</a:t>
            </a:r>
            <a:r>
              <a:rPr sz="3000" i="1" spc="-10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elemento&lt;/li&gt;</a:t>
            </a:r>
            <a:endParaRPr sz="3000">
              <a:latin typeface="Calibri"/>
              <a:cs typeface="Calibri"/>
            </a:endParaRPr>
          </a:p>
          <a:p>
            <a:pPr marL="927100">
              <a:lnSpc>
                <a:spcPts val="3590"/>
              </a:lnSpc>
            </a:pPr>
            <a:r>
              <a:rPr sz="3000" i="1" spc="-5" dirty="0">
                <a:latin typeface="Calibri"/>
                <a:cs typeface="Calibri"/>
              </a:rPr>
              <a:t>&lt;li&gt;terzo</a:t>
            </a:r>
            <a:r>
              <a:rPr sz="3000" i="1" spc="-70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elemento&lt;/li&gt;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3000" i="1" spc="5" dirty="0">
                <a:latin typeface="Calibri"/>
                <a:cs typeface="Calibri"/>
              </a:rPr>
              <a:t>&lt;/ul&gt;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5154" y="817956"/>
            <a:ext cx="70313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Annidare</a:t>
            </a:r>
            <a:r>
              <a:rPr spc="60" dirty="0"/>
              <a:t> </a:t>
            </a:r>
            <a:r>
              <a:rPr spc="-10" dirty="0"/>
              <a:t>le</a:t>
            </a:r>
            <a:r>
              <a:rPr spc="25" dirty="0"/>
              <a:t> </a:t>
            </a:r>
            <a:r>
              <a:rPr spc="-20" dirty="0"/>
              <a:t>liste</a:t>
            </a:r>
            <a:r>
              <a:rPr spc="-40" dirty="0"/>
              <a:t> </a:t>
            </a:r>
            <a:r>
              <a:rPr spc="-10" dirty="0"/>
              <a:t>non</a:t>
            </a:r>
            <a:r>
              <a:rPr spc="10" dirty="0"/>
              <a:t> </a:t>
            </a:r>
            <a:r>
              <a:rPr spc="-30" dirty="0"/>
              <a:t>numerate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67179"/>
            <a:ext cx="8068309" cy="49625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35"/>
              </a:spcBef>
            </a:pPr>
            <a:r>
              <a:rPr sz="1950" spc="15" dirty="0">
                <a:latin typeface="Calibri"/>
                <a:cs typeface="Calibri"/>
              </a:rPr>
              <a:t>possiamo</a:t>
            </a:r>
            <a:r>
              <a:rPr sz="1950" spc="26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inserire</a:t>
            </a:r>
            <a:r>
              <a:rPr sz="1950" spc="23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diversi</a:t>
            </a:r>
            <a:r>
              <a:rPr sz="1950" spc="24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livelli</a:t>
            </a:r>
            <a:r>
              <a:rPr sz="1950" spc="24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all’interno</a:t>
            </a:r>
            <a:r>
              <a:rPr sz="1950" spc="26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delle</a:t>
            </a:r>
            <a:r>
              <a:rPr sz="1950" spc="2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liste,</a:t>
            </a:r>
            <a:r>
              <a:rPr sz="1950" spc="235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creando</a:t>
            </a:r>
            <a:r>
              <a:rPr sz="1950" spc="2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delle</a:t>
            </a:r>
            <a:r>
              <a:rPr sz="1950" spc="24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strutture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950" spc="-5" dirty="0">
                <a:latin typeface="Calibri"/>
                <a:cs typeface="Calibri"/>
              </a:rPr>
              <a:t>“ad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-15" dirty="0">
                <a:latin typeface="Calibri"/>
                <a:cs typeface="Calibri"/>
              </a:rPr>
              <a:t>albero”.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E’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sufficiente</a:t>
            </a:r>
            <a:r>
              <a:rPr sz="1950" spc="18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inserire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un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nuovo</a:t>
            </a:r>
            <a:r>
              <a:rPr sz="1950" spc="7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elenco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all’interno</a:t>
            </a:r>
            <a:r>
              <a:rPr sz="1950" spc="114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di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un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elemento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950" i="1" spc="15" dirty="0">
                <a:latin typeface="Calibri"/>
                <a:cs typeface="Calibri"/>
              </a:rPr>
              <a:t>&lt;ul&gt;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0"/>
              </a:spcBef>
            </a:pPr>
            <a:r>
              <a:rPr sz="1950" i="1" spc="15" dirty="0">
                <a:latin typeface="Calibri"/>
                <a:cs typeface="Calibri"/>
              </a:rPr>
              <a:t>&lt;li&gt;primo</a:t>
            </a:r>
            <a:r>
              <a:rPr sz="1950" i="1" spc="55" dirty="0">
                <a:latin typeface="Calibri"/>
                <a:cs typeface="Calibri"/>
              </a:rPr>
              <a:t> </a:t>
            </a:r>
            <a:r>
              <a:rPr sz="1950" i="1" spc="15" dirty="0">
                <a:latin typeface="Calibri"/>
                <a:cs typeface="Calibri"/>
              </a:rPr>
              <a:t>della</a:t>
            </a:r>
            <a:r>
              <a:rPr sz="1950" i="1" spc="-10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1a</a:t>
            </a:r>
            <a:r>
              <a:rPr sz="1950" i="1" spc="50" dirty="0">
                <a:latin typeface="Calibri"/>
                <a:cs typeface="Calibri"/>
              </a:rPr>
              <a:t> </a:t>
            </a:r>
            <a:r>
              <a:rPr sz="1950" i="1" spc="5" dirty="0">
                <a:latin typeface="Calibri"/>
                <a:cs typeface="Calibri"/>
              </a:rPr>
              <a:t>lista&lt;/li&gt;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&lt;li&gt;secondo</a:t>
            </a:r>
            <a:r>
              <a:rPr sz="1950" i="1" spc="25" dirty="0">
                <a:latin typeface="Calibri"/>
                <a:cs typeface="Calibri"/>
              </a:rPr>
              <a:t> </a:t>
            </a:r>
            <a:r>
              <a:rPr sz="1950" i="1" spc="15" dirty="0">
                <a:latin typeface="Calibri"/>
                <a:cs typeface="Calibri"/>
              </a:rPr>
              <a:t>della</a:t>
            </a:r>
            <a:r>
              <a:rPr sz="1950" i="1" spc="-20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1a</a:t>
            </a:r>
            <a:r>
              <a:rPr sz="1950" i="1" spc="15" dirty="0">
                <a:latin typeface="Calibri"/>
                <a:cs typeface="Calibri"/>
              </a:rPr>
              <a:t> </a:t>
            </a:r>
            <a:r>
              <a:rPr sz="1950" i="1" dirty="0">
                <a:latin typeface="Calibri"/>
                <a:cs typeface="Calibri"/>
              </a:rPr>
              <a:t>lista</a:t>
            </a:r>
            <a:endParaRPr sz="195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40"/>
              </a:spcBef>
            </a:pPr>
            <a:r>
              <a:rPr sz="1950" i="1" spc="15" dirty="0">
                <a:latin typeface="Calibri"/>
                <a:cs typeface="Calibri"/>
              </a:rPr>
              <a:t>&lt;ul&gt;</a:t>
            </a:r>
            <a:endParaRPr sz="1950">
              <a:latin typeface="Calibri"/>
              <a:cs typeface="Calibri"/>
            </a:endParaRPr>
          </a:p>
          <a:p>
            <a:pPr marL="2756535">
              <a:lnSpc>
                <a:spcPct val="100000"/>
              </a:lnSpc>
              <a:spcBef>
                <a:spcPts val="70"/>
              </a:spcBef>
            </a:pPr>
            <a:r>
              <a:rPr sz="1950" i="1" spc="10" dirty="0">
                <a:latin typeface="Calibri"/>
                <a:cs typeface="Calibri"/>
              </a:rPr>
              <a:t>&lt;li&gt;primo</a:t>
            </a:r>
            <a:r>
              <a:rPr sz="1950" i="1" spc="65" dirty="0">
                <a:latin typeface="Calibri"/>
                <a:cs typeface="Calibri"/>
              </a:rPr>
              <a:t> </a:t>
            </a:r>
            <a:r>
              <a:rPr sz="1950" i="1" spc="15" dirty="0">
                <a:latin typeface="Calibri"/>
                <a:cs typeface="Calibri"/>
              </a:rPr>
              <a:t>della</a:t>
            </a:r>
            <a:r>
              <a:rPr sz="1950" i="1" spc="-5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2a</a:t>
            </a:r>
            <a:r>
              <a:rPr sz="1950" i="1" spc="55" dirty="0">
                <a:latin typeface="Calibri"/>
                <a:cs typeface="Calibri"/>
              </a:rPr>
              <a:t> </a:t>
            </a:r>
            <a:r>
              <a:rPr sz="1950" i="1" spc="5" dirty="0">
                <a:latin typeface="Calibri"/>
                <a:cs typeface="Calibri"/>
              </a:rPr>
              <a:t>lista&lt;/li&gt;</a:t>
            </a:r>
            <a:endParaRPr sz="1950">
              <a:latin typeface="Calibri"/>
              <a:cs typeface="Calibri"/>
            </a:endParaRPr>
          </a:p>
          <a:p>
            <a:pPr marL="2756535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&lt;li&gt;secondo</a:t>
            </a:r>
            <a:r>
              <a:rPr sz="1950" i="1" spc="30" dirty="0">
                <a:latin typeface="Calibri"/>
                <a:cs typeface="Calibri"/>
              </a:rPr>
              <a:t> </a:t>
            </a:r>
            <a:r>
              <a:rPr sz="1950" i="1" spc="15" dirty="0">
                <a:latin typeface="Calibri"/>
                <a:cs typeface="Calibri"/>
              </a:rPr>
              <a:t>della</a:t>
            </a:r>
            <a:r>
              <a:rPr sz="1950" i="1" spc="-20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2a </a:t>
            </a:r>
            <a:r>
              <a:rPr sz="1950" i="1" dirty="0">
                <a:latin typeface="Calibri"/>
                <a:cs typeface="Calibri"/>
              </a:rPr>
              <a:t>lista</a:t>
            </a:r>
            <a:endParaRPr sz="1950">
              <a:latin typeface="Calibri"/>
              <a:cs typeface="Calibri"/>
            </a:endParaRPr>
          </a:p>
          <a:p>
            <a:pPr marL="3671570">
              <a:lnSpc>
                <a:spcPct val="100000"/>
              </a:lnSpc>
              <a:spcBef>
                <a:spcPts val="35"/>
              </a:spcBef>
            </a:pPr>
            <a:r>
              <a:rPr sz="1950" i="1" spc="15" dirty="0">
                <a:latin typeface="Calibri"/>
                <a:cs typeface="Calibri"/>
              </a:rPr>
              <a:t>&lt;ul&gt;</a:t>
            </a:r>
            <a:endParaRPr sz="1950">
              <a:latin typeface="Calibri"/>
              <a:cs typeface="Calibri"/>
            </a:endParaRPr>
          </a:p>
          <a:p>
            <a:pPr marL="4586605">
              <a:lnSpc>
                <a:spcPct val="100000"/>
              </a:lnSpc>
              <a:spcBef>
                <a:spcPts val="75"/>
              </a:spcBef>
            </a:pPr>
            <a:r>
              <a:rPr sz="1950" i="1" spc="10" dirty="0">
                <a:latin typeface="Calibri"/>
                <a:cs typeface="Calibri"/>
              </a:rPr>
              <a:t>&lt;li&gt;primo</a:t>
            </a:r>
            <a:r>
              <a:rPr sz="1950" i="1" spc="65" dirty="0">
                <a:latin typeface="Calibri"/>
                <a:cs typeface="Calibri"/>
              </a:rPr>
              <a:t> </a:t>
            </a:r>
            <a:r>
              <a:rPr sz="1950" i="1" spc="15" dirty="0">
                <a:latin typeface="Calibri"/>
                <a:cs typeface="Calibri"/>
              </a:rPr>
              <a:t>della</a:t>
            </a:r>
            <a:r>
              <a:rPr sz="1950" i="1" spc="-5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3a</a:t>
            </a:r>
            <a:r>
              <a:rPr sz="1950" i="1" spc="55" dirty="0">
                <a:latin typeface="Calibri"/>
                <a:cs typeface="Calibri"/>
              </a:rPr>
              <a:t> </a:t>
            </a:r>
            <a:r>
              <a:rPr sz="1950" i="1" spc="5" dirty="0">
                <a:latin typeface="Calibri"/>
                <a:cs typeface="Calibri"/>
              </a:rPr>
              <a:t>lista&lt;/li&gt;</a:t>
            </a:r>
            <a:endParaRPr sz="1950">
              <a:latin typeface="Calibri"/>
              <a:cs typeface="Calibri"/>
            </a:endParaRPr>
          </a:p>
          <a:p>
            <a:pPr marL="3671570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&lt;/ul&gt;</a:t>
            </a:r>
            <a:endParaRPr sz="1950">
              <a:latin typeface="Calibri"/>
              <a:cs typeface="Calibri"/>
            </a:endParaRPr>
          </a:p>
          <a:p>
            <a:pPr marL="2756535">
              <a:lnSpc>
                <a:spcPct val="100000"/>
              </a:lnSpc>
              <a:spcBef>
                <a:spcPts val="35"/>
              </a:spcBef>
            </a:pPr>
            <a:r>
              <a:rPr sz="1950" i="1" spc="15" dirty="0">
                <a:latin typeface="Calibri"/>
                <a:cs typeface="Calibri"/>
              </a:rPr>
              <a:t>&lt;/li&gt;</a:t>
            </a:r>
            <a:endParaRPr sz="1950">
              <a:latin typeface="Calibri"/>
              <a:cs typeface="Calibri"/>
            </a:endParaRPr>
          </a:p>
          <a:p>
            <a:pPr marL="2756535">
              <a:lnSpc>
                <a:spcPct val="100000"/>
              </a:lnSpc>
              <a:spcBef>
                <a:spcPts val="75"/>
              </a:spcBef>
            </a:pPr>
            <a:r>
              <a:rPr sz="1950" i="1" spc="5" dirty="0">
                <a:latin typeface="Calibri"/>
                <a:cs typeface="Calibri"/>
              </a:rPr>
              <a:t>&lt;li&gt;terzo</a:t>
            </a:r>
            <a:r>
              <a:rPr sz="1950" i="1" spc="60" dirty="0">
                <a:latin typeface="Calibri"/>
                <a:cs typeface="Calibri"/>
              </a:rPr>
              <a:t> </a:t>
            </a:r>
            <a:r>
              <a:rPr sz="1950" i="1" spc="15" dirty="0">
                <a:latin typeface="Calibri"/>
                <a:cs typeface="Calibri"/>
              </a:rPr>
              <a:t>della</a:t>
            </a:r>
            <a:r>
              <a:rPr sz="1950" i="1" spc="-10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2a</a:t>
            </a:r>
            <a:r>
              <a:rPr sz="1950" i="1" spc="15" dirty="0">
                <a:latin typeface="Calibri"/>
                <a:cs typeface="Calibri"/>
              </a:rPr>
              <a:t> </a:t>
            </a:r>
            <a:r>
              <a:rPr sz="1950" i="1" spc="5" dirty="0">
                <a:latin typeface="Calibri"/>
                <a:cs typeface="Calibri"/>
              </a:rPr>
              <a:t>lista&lt;/li&gt;</a:t>
            </a:r>
            <a:endParaRPr sz="195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&lt;/ul&gt;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5"/>
              </a:spcBef>
            </a:pPr>
            <a:r>
              <a:rPr sz="1950" i="1" spc="15" dirty="0">
                <a:latin typeface="Calibri"/>
                <a:cs typeface="Calibri"/>
              </a:rPr>
              <a:t>&lt;/li&gt;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&lt;/ul&gt;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751" y="817956"/>
            <a:ext cx="54921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&lt;OL&gt;</a:t>
            </a:r>
            <a:r>
              <a:rPr spc="-20" dirty="0"/>
              <a:t> </a:t>
            </a:r>
            <a:r>
              <a:rPr spc="-15" dirty="0"/>
              <a:t>gli</a:t>
            </a:r>
            <a:r>
              <a:rPr spc="35" dirty="0"/>
              <a:t> </a:t>
            </a:r>
            <a:r>
              <a:rPr spc="-5" dirty="0"/>
              <a:t>elenchi</a:t>
            </a:r>
            <a:r>
              <a:rPr spc="-15" dirty="0"/>
              <a:t> </a:t>
            </a:r>
            <a:r>
              <a:rPr spc="-25" dirty="0"/>
              <a:t>ordinati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55787"/>
            <a:ext cx="8075295" cy="4222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5"/>
              </a:spcBef>
            </a:pPr>
            <a:r>
              <a:rPr sz="2700" spc="-10" dirty="0">
                <a:latin typeface="Calibri"/>
                <a:cs typeface="Calibri"/>
              </a:rPr>
              <a:t>Gli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elenchi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ordinati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sono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contraddistinti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dall’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enumerazione </a:t>
            </a:r>
            <a:r>
              <a:rPr sz="2700" spc="-5" dirty="0">
                <a:latin typeface="Calibri"/>
                <a:cs typeface="Calibri"/>
              </a:rPr>
              <a:t>degli </a:t>
            </a:r>
            <a:r>
              <a:rPr sz="2700" spc="-10" dirty="0">
                <a:latin typeface="Calibri"/>
                <a:cs typeface="Calibri"/>
              </a:rPr>
              <a:t>elementi </a:t>
            </a:r>
            <a:r>
              <a:rPr sz="2700" spc="5" dirty="0">
                <a:latin typeface="Calibri"/>
                <a:cs typeface="Calibri"/>
              </a:rPr>
              <a:t>che </a:t>
            </a:r>
            <a:r>
              <a:rPr sz="2700" spc="-15" dirty="0">
                <a:latin typeface="Calibri"/>
                <a:cs typeface="Calibri"/>
              </a:rPr>
              <a:t>compongono la </a:t>
            </a:r>
            <a:r>
              <a:rPr sz="2700" spc="-20" dirty="0">
                <a:latin typeface="Calibri"/>
                <a:cs typeface="Calibri"/>
              </a:rPr>
              <a:t>lista. </a:t>
            </a:r>
            <a:r>
              <a:rPr sz="2700" spc="25" dirty="0">
                <a:latin typeface="Calibri"/>
                <a:cs typeface="Calibri"/>
              </a:rPr>
              <a:t>Il 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tag </a:t>
            </a:r>
            <a:r>
              <a:rPr sz="2700" spc="-5" dirty="0">
                <a:latin typeface="Calibri"/>
                <a:cs typeface="Calibri"/>
              </a:rPr>
              <a:t>da </a:t>
            </a:r>
            <a:r>
              <a:rPr sz="2700" spc="-15" dirty="0">
                <a:latin typeface="Calibri"/>
                <a:cs typeface="Calibri"/>
              </a:rPr>
              <a:t>utilizzare </a:t>
            </a:r>
            <a:r>
              <a:rPr sz="2700" spc="-5" dirty="0">
                <a:latin typeface="Calibri"/>
                <a:cs typeface="Calibri"/>
              </a:rPr>
              <a:t>per </a:t>
            </a:r>
            <a:r>
              <a:rPr sz="2700" spc="-10" dirty="0">
                <a:latin typeface="Calibri"/>
                <a:cs typeface="Calibri"/>
              </a:rPr>
              <a:t>aprire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0" dirty="0">
                <a:latin typeface="Calibri"/>
                <a:cs typeface="Calibri"/>
              </a:rPr>
              <a:t>elenco </a:t>
            </a:r>
            <a:r>
              <a:rPr sz="2700" spc="-20" dirty="0">
                <a:latin typeface="Calibri"/>
                <a:cs typeface="Calibri"/>
              </a:rPr>
              <a:t>ordinato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b="1" dirty="0">
                <a:latin typeface="Calibri"/>
                <a:cs typeface="Calibri"/>
              </a:rPr>
              <a:t>&lt;ol&gt;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anche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questo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caso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gli  </a:t>
            </a:r>
            <a:r>
              <a:rPr sz="2700" spc="-5" dirty="0">
                <a:latin typeface="Calibri"/>
                <a:cs typeface="Calibri"/>
              </a:rPr>
              <a:t>elementi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sono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individuati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dal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tag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&lt;li&gt;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i="1" spc="-10" dirty="0">
                <a:latin typeface="Calibri"/>
                <a:cs typeface="Calibri"/>
              </a:rPr>
              <a:t>&lt;ol&gt;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i="1" spc="-10" dirty="0">
                <a:latin typeface="Calibri"/>
                <a:cs typeface="Calibri"/>
              </a:rPr>
              <a:t>&lt;li&gt;primo</a:t>
            </a:r>
            <a:r>
              <a:rPr sz="2700" i="1" spc="65" dirty="0">
                <a:latin typeface="Calibri"/>
                <a:cs typeface="Calibri"/>
              </a:rPr>
              <a:t> </a:t>
            </a:r>
            <a:r>
              <a:rPr sz="2700" i="1" spc="-20" dirty="0">
                <a:latin typeface="Calibri"/>
                <a:cs typeface="Calibri"/>
              </a:rPr>
              <a:t>elemento&lt;/li&gt;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  <a:spcBef>
                <a:spcPts val="25"/>
              </a:spcBef>
            </a:pPr>
            <a:r>
              <a:rPr sz="2700" i="1" spc="-10" dirty="0">
                <a:latin typeface="Calibri"/>
                <a:cs typeface="Calibri"/>
              </a:rPr>
              <a:t>&lt;li&gt;secondo</a:t>
            </a:r>
            <a:r>
              <a:rPr sz="2700" i="1" spc="35" dirty="0">
                <a:latin typeface="Calibri"/>
                <a:cs typeface="Calibri"/>
              </a:rPr>
              <a:t> </a:t>
            </a:r>
            <a:r>
              <a:rPr sz="2700" i="1" spc="-20" dirty="0">
                <a:latin typeface="Calibri"/>
                <a:cs typeface="Calibri"/>
              </a:rPr>
              <a:t>elemento&lt;/li&gt;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29"/>
              </a:lnSpc>
            </a:pPr>
            <a:r>
              <a:rPr sz="2700" i="1" spc="-20" dirty="0">
                <a:latin typeface="Calibri"/>
                <a:cs typeface="Calibri"/>
              </a:rPr>
              <a:t>&lt;li&gt;terzo</a:t>
            </a:r>
            <a:r>
              <a:rPr sz="2700" i="1" spc="35" dirty="0">
                <a:latin typeface="Calibri"/>
                <a:cs typeface="Calibri"/>
              </a:rPr>
              <a:t> </a:t>
            </a:r>
            <a:r>
              <a:rPr sz="2700" i="1" spc="-20" dirty="0">
                <a:latin typeface="Calibri"/>
                <a:cs typeface="Calibri"/>
              </a:rPr>
              <a:t>elemento&lt;/li&gt;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i="1" spc="-20" dirty="0">
                <a:latin typeface="Calibri"/>
                <a:cs typeface="Calibri"/>
              </a:rPr>
              <a:t>&lt;/ol&gt;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3517" y="817956"/>
            <a:ext cx="16186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5" dirty="0"/>
              <a:t>T</a:t>
            </a:r>
            <a:r>
              <a:rPr spc="-15" dirty="0"/>
              <a:t>a</a:t>
            </a:r>
            <a:r>
              <a:rPr spc="-5" dirty="0"/>
              <a:t>bel</a:t>
            </a:r>
            <a:r>
              <a:rPr spc="-35" dirty="0"/>
              <a:t>l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12188"/>
            <a:ext cx="7898765" cy="4597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5" dirty="0">
                <a:latin typeface="Calibri"/>
                <a:cs typeface="Calibri"/>
              </a:rPr>
              <a:t>Per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definire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una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tabella</a:t>
            </a:r>
            <a:r>
              <a:rPr sz="1950" spc="7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possiamo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riprodurre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un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esempio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simile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al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seguente</a:t>
            </a:r>
            <a:r>
              <a:rPr sz="1950" spc="13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: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950" i="1" spc="15" dirty="0">
                <a:latin typeface="Calibri"/>
                <a:cs typeface="Calibri"/>
              </a:rPr>
              <a:t>&lt;table&gt;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&lt;tr&gt;</a:t>
            </a:r>
            <a:endParaRPr sz="195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70"/>
              </a:spcBef>
            </a:pPr>
            <a:r>
              <a:rPr sz="1950" i="1" spc="15" dirty="0">
                <a:latin typeface="Calibri"/>
                <a:cs typeface="Calibri"/>
              </a:rPr>
              <a:t>&lt;td&gt;Colonna</a:t>
            </a:r>
            <a:r>
              <a:rPr sz="1950" i="1" spc="35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1&lt;/td&gt;&lt;td&gt;Colonna</a:t>
            </a:r>
            <a:r>
              <a:rPr sz="1950" i="1" spc="105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2&lt;/td&gt;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0"/>
              </a:spcBef>
            </a:pPr>
            <a:r>
              <a:rPr sz="1950" i="1" spc="15" dirty="0">
                <a:latin typeface="Calibri"/>
                <a:cs typeface="Calibri"/>
              </a:rPr>
              <a:t>&lt;/tr&gt;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&lt;tr&gt;</a:t>
            </a:r>
            <a:endParaRPr sz="195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70"/>
              </a:spcBef>
            </a:pPr>
            <a:r>
              <a:rPr sz="1950" i="1" spc="5" dirty="0">
                <a:latin typeface="Calibri"/>
                <a:cs typeface="Calibri"/>
              </a:rPr>
              <a:t>&lt;td&gt;Dato</a:t>
            </a:r>
            <a:r>
              <a:rPr sz="1950" i="1" spc="50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1&lt;/td&gt;&lt;td&gt;Dato</a:t>
            </a:r>
            <a:r>
              <a:rPr sz="1950" i="1" spc="85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1&lt;/td&gt;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0"/>
              </a:spcBef>
            </a:pPr>
            <a:r>
              <a:rPr sz="1950" i="1" spc="15" dirty="0">
                <a:latin typeface="Calibri"/>
                <a:cs typeface="Calibri"/>
              </a:rPr>
              <a:t>&lt;/tr&gt;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&lt;tr&gt;</a:t>
            </a:r>
            <a:endParaRPr sz="195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70"/>
              </a:spcBef>
            </a:pPr>
            <a:r>
              <a:rPr sz="1950" i="1" spc="5" dirty="0">
                <a:latin typeface="Calibri"/>
                <a:cs typeface="Calibri"/>
              </a:rPr>
              <a:t>&lt;td&gt;Dato</a:t>
            </a:r>
            <a:r>
              <a:rPr sz="1950" i="1" spc="50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2&lt;/td&gt;&lt;td&gt;Dato</a:t>
            </a:r>
            <a:r>
              <a:rPr sz="1950" i="1" spc="85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2&lt;/td&gt;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0"/>
              </a:spcBef>
            </a:pPr>
            <a:r>
              <a:rPr sz="1950" i="1" spc="15" dirty="0">
                <a:latin typeface="Calibri"/>
                <a:cs typeface="Calibri"/>
              </a:rPr>
              <a:t>&lt;/tr&gt;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&lt;tr&gt;</a:t>
            </a:r>
            <a:endParaRPr sz="195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70"/>
              </a:spcBef>
            </a:pPr>
            <a:r>
              <a:rPr sz="1950" i="1" spc="5" dirty="0">
                <a:latin typeface="Calibri"/>
                <a:cs typeface="Calibri"/>
              </a:rPr>
              <a:t>&lt;td&gt;Dato</a:t>
            </a:r>
            <a:r>
              <a:rPr sz="1950" i="1" spc="50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3&lt;/td&gt;&lt;td&gt;Dato</a:t>
            </a:r>
            <a:r>
              <a:rPr sz="1950" i="1" spc="85" dirty="0">
                <a:latin typeface="Calibri"/>
                <a:cs typeface="Calibri"/>
              </a:rPr>
              <a:t> </a:t>
            </a:r>
            <a:r>
              <a:rPr sz="1950" i="1" spc="10" dirty="0">
                <a:latin typeface="Calibri"/>
                <a:cs typeface="Calibri"/>
              </a:rPr>
              <a:t>3&lt;/td&gt;</a:t>
            </a:r>
            <a:endParaRPr sz="19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0"/>
              </a:spcBef>
            </a:pPr>
            <a:r>
              <a:rPr sz="1950" i="1" spc="15" dirty="0">
                <a:latin typeface="Calibri"/>
                <a:cs typeface="Calibri"/>
              </a:rPr>
              <a:t>&lt;/tr&gt;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950" i="1" spc="15" dirty="0">
                <a:latin typeface="Calibri"/>
                <a:cs typeface="Calibri"/>
              </a:rPr>
              <a:t>&lt;/table&gt;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03515"/>
            <a:ext cx="400557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87600" algn="l"/>
              </a:tabLst>
            </a:pPr>
            <a:r>
              <a:rPr sz="3200" spc="-5" dirty="0">
                <a:latin typeface="Calibri"/>
                <a:cs typeface="Calibri"/>
              </a:rPr>
              <a:t>Nel</a:t>
            </a:r>
            <a:r>
              <a:rPr sz="3200" spc="10" dirty="0">
                <a:latin typeface="Calibri"/>
                <a:cs typeface="Calibri"/>
              </a:rPr>
              <a:t>l</a:t>
            </a:r>
            <a:r>
              <a:rPr sz="3200" spc="-235" dirty="0">
                <a:latin typeface="Calibri"/>
                <a:cs typeface="Calibri"/>
              </a:rPr>
              <a:t>’</a:t>
            </a:r>
            <a:r>
              <a:rPr sz="3200" spc="-5" dirty="0">
                <a:latin typeface="Calibri"/>
                <a:cs typeface="Calibri"/>
              </a:rPr>
              <a:t>esempio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-20" dirty="0">
                <a:latin typeface="Calibri"/>
                <a:cs typeface="Calibri"/>
              </a:rPr>
              <a:t>u</a:t>
            </a:r>
            <a:r>
              <a:rPr sz="3200" spc="-10" dirty="0">
                <a:latin typeface="Calibri"/>
                <a:cs typeface="Calibri"/>
              </a:rPr>
              <a:t>s</a:t>
            </a:r>
            <a:r>
              <a:rPr sz="3200" spc="-15" dirty="0">
                <a:latin typeface="Calibri"/>
                <a:cs typeface="Calibri"/>
              </a:rPr>
              <a:t>c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2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mo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8944" y="1203515"/>
            <a:ext cx="38449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9580" algn="l"/>
                <a:tab pos="1968500" algn="l"/>
                <a:tab pos="2833370" algn="l"/>
              </a:tabLst>
            </a:pPr>
            <a:r>
              <a:rPr sz="3200" spc="-5" dirty="0">
                <a:latin typeface="Calibri"/>
                <a:cs typeface="Calibri"/>
              </a:rPr>
              <a:t>a	</a:t>
            </a:r>
            <a:r>
              <a:rPr sz="3200" spc="-10" dirty="0">
                <a:latin typeface="Calibri"/>
                <a:cs typeface="Calibri"/>
              </a:rPr>
              <a:t>de</a:t>
            </a:r>
            <a:r>
              <a:rPr sz="3200" spc="-25" dirty="0">
                <a:latin typeface="Calibri"/>
                <a:cs typeface="Calibri"/>
              </a:rPr>
              <a:t>f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-10" dirty="0">
                <a:latin typeface="Calibri"/>
                <a:cs typeface="Calibri"/>
              </a:rPr>
              <a:t>ni</a:t>
            </a:r>
            <a:r>
              <a:rPr sz="3200" spc="-55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5" dirty="0">
                <a:latin typeface="Calibri"/>
                <a:cs typeface="Calibri"/>
              </a:rPr>
              <a:t>u</a:t>
            </a:r>
            <a:r>
              <a:rPr sz="3200" spc="-20" dirty="0">
                <a:latin typeface="Calibri"/>
                <a:cs typeface="Calibri"/>
              </a:rPr>
              <a:t>n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0" dirty="0">
                <a:latin typeface="Calibri"/>
                <a:cs typeface="Calibri"/>
              </a:rPr>
              <a:t>g</a:t>
            </a:r>
            <a:r>
              <a:rPr sz="3200" spc="-2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-20" dirty="0">
                <a:latin typeface="Calibri"/>
                <a:cs typeface="Calibri"/>
              </a:rPr>
              <a:t>g</a:t>
            </a:r>
            <a:r>
              <a:rPr sz="3200" dirty="0">
                <a:latin typeface="Calibri"/>
                <a:cs typeface="Calibri"/>
              </a:rPr>
              <a:t>li</a:t>
            </a:r>
            <a:r>
              <a:rPr sz="3200" spc="-5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44" y="1694751"/>
            <a:ext cx="8068945" cy="148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latin typeface="Calibri"/>
                <a:cs typeface="Calibri"/>
              </a:rPr>
              <a:t>formata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</a:t>
            </a:r>
            <a:r>
              <a:rPr sz="3200" spc="-5" dirty="0">
                <a:latin typeface="Calibri"/>
                <a:cs typeface="Calibri"/>
              </a:rPr>
              <a:t> righe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colonne,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risultato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piuttosto </a:t>
            </a:r>
            <a:r>
              <a:rPr sz="3200" spc="-15" dirty="0">
                <a:latin typeface="Calibri"/>
                <a:cs typeface="Calibri"/>
              </a:rPr>
              <a:t>povero </a:t>
            </a:r>
            <a:r>
              <a:rPr sz="3200" spc="10" dirty="0">
                <a:latin typeface="Calibri"/>
                <a:cs typeface="Calibri"/>
              </a:rPr>
              <a:t>ma </a:t>
            </a:r>
            <a:r>
              <a:rPr sz="3200" spc="-5" dirty="0">
                <a:latin typeface="Calibri"/>
                <a:cs typeface="Calibri"/>
              </a:rPr>
              <a:t>ci aiuta a </a:t>
            </a:r>
            <a:r>
              <a:rPr sz="3200" spc="-20" dirty="0">
                <a:latin typeface="Calibri"/>
                <a:cs typeface="Calibri"/>
              </a:rPr>
              <a:t>presentare </a:t>
            </a:r>
            <a:r>
              <a:rPr sz="3200" spc="-5" dirty="0">
                <a:latin typeface="Calibri"/>
                <a:cs typeface="Calibri"/>
              </a:rPr>
              <a:t>i </a:t>
            </a:r>
            <a:r>
              <a:rPr sz="3200" spc="-10" dirty="0">
                <a:latin typeface="Calibri"/>
                <a:cs typeface="Calibri"/>
              </a:rPr>
              <a:t>tag </a:t>
            </a:r>
            <a:r>
              <a:rPr sz="3200" spc="-20" dirty="0">
                <a:latin typeface="Calibri"/>
                <a:cs typeface="Calibri"/>
              </a:rPr>
              <a:t>di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base: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6793" y="3568255"/>
          <a:ext cx="8089900" cy="2423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66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Tag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Descrizione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534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&lt;table&gt;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795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È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il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contenitore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tutta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tabella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definisce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795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40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&lt;tr&gt;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795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800" i="1" spc="-10" dirty="0">
                          <a:latin typeface="Calibri"/>
                          <a:cs typeface="Calibri"/>
                        </a:rPr>
                        <a:t>“table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row”</a:t>
                      </a:r>
                      <a:r>
                        <a:rPr sz="1800" i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Contiene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riga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della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tabella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795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5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&lt;td&gt;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i="1" spc="-10" dirty="0">
                          <a:latin typeface="Calibri"/>
                          <a:cs typeface="Calibri"/>
                        </a:rPr>
                        <a:t>“table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data”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cella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che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contiene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valori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all’interno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riga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31506"/>
            <a:ext cx="8076565" cy="46145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9525" algn="just">
              <a:lnSpc>
                <a:spcPct val="100299"/>
              </a:lnSpc>
              <a:spcBef>
                <a:spcPts val="80"/>
              </a:spcBef>
            </a:pPr>
            <a:r>
              <a:rPr sz="3200" spc="-20" dirty="0">
                <a:latin typeface="Calibri"/>
                <a:cs typeface="Calibri"/>
              </a:rPr>
              <a:t>Questo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tipo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tabella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era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un</a:t>
            </a:r>
            <a:r>
              <a:rPr sz="3200" spc="-10" dirty="0">
                <a:latin typeface="Calibri"/>
                <a:cs typeface="Calibri"/>
              </a:rPr>
              <a:t> elemento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predominante </a:t>
            </a:r>
            <a:r>
              <a:rPr sz="3200" spc="-10" dirty="0">
                <a:latin typeface="Calibri"/>
                <a:cs typeface="Calibri"/>
              </a:rPr>
              <a:t>nel </a:t>
            </a:r>
            <a:r>
              <a:rPr sz="3200" spc="-5" dirty="0">
                <a:latin typeface="Calibri"/>
                <a:cs typeface="Calibri"/>
              </a:rPr>
              <a:t>“vecchio </a:t>
            </a:r>
            <a:r>
              <a:rPr sz="3200" spc="-35" dirty="0">
                <a:latin typeface="Calibri"/>
                <a:cs typeface="Calibri"/>
              </a:rPr>
              <a:t>Web” </a:t>
            </a:r>
            <a:r>
              <a:rPr sz="3200" dirty="0">
                <a:latin typeface="Calibri"/>
                <a:cs typeface="Calibri"/>
              </a:rPr>
              <a:t>(ed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-25" dirty="0">
                <a:latin typeface="Calibri"/>
                <a:cs typeface="Calibri"/>
              </a:rPr>
              <a:t>ancora </a:t>
            </a:r>
            <a:r>
              <a:rPr sz="3200" spc="-20" dirty="0">
                <a:latin typeface="Calibri"/>
                <a:cs typeface="Calibri"/>
              </a:rPr>
              <a:t> presente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quello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attuale),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perché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funzionale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anche </a:t>
            </a:r>
            <a:r>
              <a:rPr sz="3200" dirty="0">
                <a:latin typeface="Calibri"/>
                <a:cs typeface="Calibri"/>
              </a:rPr>
              <a:t>alla </a:t>
            </a:r>
            <a:r>
              <a:rPr sz="3200" spc="-5" dirty="0">
                <a:latin typeface="Calibri"/>
                <a:cs typeface="Calibri"/>
              </a:rPr>
              <a:t>suddivisione degli spazi, </a:t>
            </a:r>
            <a:r>
              <a:rPr sz="3200" spc="-20" dirty="0">
                <a:latin typeface="Calibri"/>
                <a:cs typeface="Calibri"/>
              </a:rPr>
              <a:t>oltre </a:t>
            </a:r>
            <a:r>
              <a:rPr sz="3200" spc="-10" dirty="0">
                <a:latin typeface="Calibri"/>
                <a:cs typeface="Calibri"/>
              </a:rPr>
              <a:t>che </a:t>
            </a:r>
            <a:r>
              <a:rPr sz="3200" dirty="0">
                <a:latin typeface="Calibri"/>
                <a:cs typeface="Calibri"/>
              </a:rPr>
              <a:t>alla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rappresentazione</a:t>
            </a:r>
            <a:r>
              <a:rPr sz="3200" spc="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dei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dati.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350">
              <a:latin typeface="Calibri"/>
              <a:cs typeface="Calibri"/>
            </a:endParaRPr>
          </a:p>
          <a:p>
            <a:pPr marL="12700" marR="5080" algn="just">
              <a:lnSpc>
                <a:spcPct val="100299"/>
              </a:lnSpc>
              <a:spcBef>
                <a:spcPts val="5"/>
              </a:spcBef>
            </a:pPr>
            <a:r>
              <a:rPr sz="3200" spc="-15" dirty="0">
                <a:latin typeface="Calibri"/>
                <a:cs typeface="Calibri"/>
              </a:rPr>
              <a:t>Con</a:t>
            </a:r>
            <a:r>
              <a:rPr sz="3200" spc="2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28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consolidarsi</a:t>
            </a:r>
            <a:r>
              <a:rPr sz="3200" spc="2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28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pratiche</a:t>
            </a:r>
            <a:r>
              <a:rPr sz="3200" spc="2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più</a:t>
            </a:r>
            <a:r>
              <a:rPr sz="3200" spc="2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specifiche</a:t>
            </a:r>
            <a:r>
              <a:rPr sz="3200" spc="2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15" dirty="0">
                <a:latin typeface="Calibri"/>
                <a:cs typeface="Calibri"/>
              </a:rPr>
              <a:t>markup </a:t>
            </a:r>
            <a:r>
              <a:rPr sz="3200" spc="-10" dirty="0">
                <a:latin typeface="Calibri"/>
                <a:cs typeface="Calibri"/>
              </a:rPr>
              <a:t>dei </a:t>
            </a:r>
            <a:r>
              <a:rPr sz="3200" spc="-15" dirty="0">
                <a:latin typeface="Calibri"/>
                <a:cs typeface="Calibri"/>
              </a:rPr>
              <a:t>layout, </a:t>
            </a:r>
            <a:r>
              <a:rPr sz="3200" spc="-10" dirty="0">
                <a:latin typeface="Calibri"/>
                <a:cs typeface="Calibri"/>
              </a:rPr>
              <a:t>questo utilizzo </a:t>
            </a:r>
            <a:r>
              <a:rPr sz="3200" spc="-5" dirty="0">
                <a:latin typeface="Calibri"/>
                <a:cs typeface="Calibri"/>
              </a:rPr>
              <a:t>delle </a:t>
            </a:r>
            <a:r>
              <a:rPr sz="3200" spc="-10" dirty="0">
                <a:latin typeface="Calibri"/>
                <a:cs typeface="Calibri"/>
              </a:rPr>
              <a:t>tabelle </a:t>
            </a:r>
            <a:r>
              <a:rPr sz="3200" spc="-5" dirty="0">
                <a:latin typeface="Calibri"/>
                <a:cs typeface="Calibri"/>
              </a:rPr>
              <a:t> è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caduto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disuso.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67523"/>
            <a:ext cx="8072120" cy="47999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algn="just">
              <a:lnSpc>
                <a:spcPct val="90300"/>
              </a:lnSpc>
              <a:spcBef>
                <a:spcPts val="409"/>
              </a:spcBef>
            </a:pPr>
            <a:r>
              <a:rPr sz="2700" spc="-30" dirty="0">
                <a:latin typeface="Calibri"/>
                <a:cs typeface="Calibri"/>
              </a:rPr>
              <a:t>Per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scrivere</a:t>
            </a:r>
            <a:r>
              <a:rPr sz="2700" spc="-5" dirty="0">
                <a:latin typeface="Calibri"/>
                <a:cs typeface="Calibri"/>
              </a:rPr>
              <a:t> una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tabella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fornisca</a:t>
            </a:r>
            <a:r>
              <a:rPr sz="2700" spc="57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una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rappresentazione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più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chiara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dati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introduciamo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template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leggermente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più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ricco: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700" spc="-20" dirty="0">
                <a:latin typeface="Calibri"/>
                <a:cs typeface="Calibri"/>
              </a:rPr>
              <a:t>&lt;table&gt;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9"/>
              </a:spcBef>
            </a:pPr>
            <a:r>
              <a:rPr sz="2700" spc="-5" dirty="0">
                <a:latin typeface="Calibri"/>
                <a:cs typeface="Calibri"/>
              </a:rPr>
              <a:t>&lt;tr&gt;&lt;th&gt;Colonna 1&lt;/th&gt;&lt;th&gt;Colonna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2&lt;/th&gt;&lt;/tr&gt;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9"/>
              </a:spcBef>
            </a:pPr>
            <a:r>
              <a:rPr sz="2700" spc="-35" dirty="0">
                <a:latin typeface="Calibri"/>
                <a:cs typeface="Calibri"/>
              </a:rPr>
              <a:t>&lt;tr&gt;&lt;td&gt;Totale</a:t>
            </a:r>
            <a:r>
              <a:rPr sz="2700" spc="9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1&lt;/td&gt;&lt;td&gt;Totale</a:t>
            </a:r>
            <a:r>
              <a:rPr sz="2700" spc="1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2&lt;/td&gt;&lt;/tr&gt;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2700" spc="-15" dirty="0">
                <a:latin typeface="Calibri"/>
                <a:cs typeface="Calibri"/>
              </a:rPr>
              <a:t>&lt;tr&gt;&lt;td&gt;Dato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1,1&lt;/td&gt;&lt;td&gt;Dato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1,2&lt;/td&gt;&lt;/tr&gt;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10"/>
              </a:spcBef>
            </a:pPr>
            <a:r>
              <a:rPr sz="2700" spc="-15" dirty="0">
                <a:latin typeface="Calibri"/>
                <a:cs typeface="Calibri"/>
              </a:rPr>
              <a:t>&lt;tr&gt;&lt;td&gt;Dato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2,1&lt;/td&gt;&lt;td&gt;Dato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2,2&lt;/td&gt;&lt;/tr&gt;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45"/>
              </a:spcBef>
            </a:pPr>
            <a:r>
              <a:rPr sz="2700" spc="-15" dirty="0">
                <a:latin typeface="Calibri"/>
                <a:cs typeface="Calibri"/>
              </a:rPr>
              <a:t>&lt;tr&gt;&lt;td&gt;Dato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3,1&lt;/td&gt;&lt;td&gt;Dato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3,2&lt;/td&gt;&lt;/tr&gt;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700" spc="-20" dirty="0">
                <a:latin typeface="Calibri"/>
                <a:cs typeface="Calibri"/>
              </a:rPr>
              <a:t>&lt;/table&gt;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654662"/>
            <a:ext cx="8074025" cy="293052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85"/>
              </a:spcBef>
            </a:pPr>
            <a:r>
              <a:rPr dirty="0"/>
              <a:t>&lt;th&gt;</a:t>
            </a:r>
          </a:p>
          <a:p>
            <a:pPr marL="12700" marR="5080" algn="just">
              <a:lnSpc>
                <a:spcPct val="100099"/>
              </a:lnSpc>
              <a:spcBef>
                <a:spcPts val="925"/>
              </a:spcBef>
            </a:pPr>
            <a:r>
              <a:rPr sz="3200" i="1" spc="-15" dirty="0">
                <a:latin typeface="Calibri"/>
                <a:cs typeface="Calibri"/>
              </a:rPr>
              <a:t>“table </a:t>
            </a:r>
            <a:r>
              <a:rPr sz="3200" i="1" spc="15" dirty="0">
                <a:latin typeface="Calibri"/>
                <a:cs typeface="Calibri"/>
              </a:rPr>
              <a:t>header” </a:t>
            </a:r>
            <a:r>
              <a:rPr sz="3200" dirty="0"/>
              <a:t>Indica </a:t>
            </a:r>
            <a:r>
              <a:rPr sz="3200" spc="-5" dirty="0"/>
              <a:t>una </a:t>
            </a:r>
            <a:r>
              <a:rPr sz="3200" dirty="0"/>
              <a:t>cella </a:t>
            </a:r>
            <a:r>
              <a:rPr sz="3200" spc="-5" dirty="0"/>
              <a:t>che </a:t>
            </a:r>
            <a:r>
              <a:rPr sz="3200" spc="-15" dirty="0"/>
              <a:t>contiene </a:t>
            </a:r>
            <a:r>
              <a:rPr sz="3200" spc="15" dirty="0"/>
              <a:t>un </a:t>
            </a:r>
            <a:r>
              <a:rPr sz="3200" spc="20" dirty="0"/>
              <a:t> </a:t>
            </a:r>
            <a:r>
              <a:rPr sz="3200" spc="-20" dirty="0"/>
              <a:t>intestazione </a:t>
            </a:r>
            <a:r>
              <a:rPr sz="3200" spc="-5" dirty="0"/>
              <a:t>(ad </a:t>
            </a:r>
            <a:r>
              <a:rPr sz="3200" dirty="0"/>
              <a:t>esempio il </a:t>
            </a:r>
            <a:r>
              <a:rPr sz="3200" spc="-15" dirty="0"/>
              <a:t>titolo di </a:t>
            </a:r>
            <a:r>
              <a:rPr sz="3200" dirty="0"/>
              <a:t>una </a:t>
            </a:r>
            <a:r>
              <a:rPr sz="3200" spc="-10" dirty="0"/>
              <a:t>colonna </a:t>
            </a:r>
            <a:r>
              <a:rPr sz="3200" spc="-5" dirty="0"/>
              <a:t> o </a:t>
            </a:r>
            <a:r>
              <a:rPr sz="3200" spc="-10" dirty="0"/>
              <a:t>di </a:t>
            </a:r>
            <a:r>
              <a:rPr sz="3200" spc="-5" dirty="0"/>
              <a:t>una </a:t>
            </a:r>
            <a:r>
              <a:rPr sz="3200" spc="-10" dirty="0"/>
              <a:t>riga) </a:t>
            </a:r>
            <a:r>
              <a:rPr sz="3200" spc="-5" dirty="0"/>
              <a:t>e </a:t>
            </a:r>
            <a:r>
              <a:rPr sz="3200" spc="-10" dirty="0"/>
              <a:t>serve </a:t>
            </a:r>
            <a:r>
              <a:rPr sz="3200" spc="-5" dirty="0"/>
              <a:t>a dare </a:t>
            </a:r>
            <a:r>
              <a:rPr sz="3200" spc="-15" dirty="0"/>
              <a:t>una </a:t>
            </a:r>
            <a:r>
              <a:rPr sz="3200" spc="-10" dirty="0"/>
              <a:t>definizione dei </a:t>
            </a:r>
            <a:r>
              <a:rPr sz="3200" spc="-5" dirty="0"/>
              <a:t> </a:t>
            </a:r>
            <a:r>
              <a:rPr sz="3200" spc="-20" dirty="0"/>
              <a:t>dati</a:t>
            </a:r>
            <a:r>
              <a:rPr sz="3200" spc="60" dirty="0"/>
              <a:t> </a:t>
            </a:r>
            <a:r>
              <a:rPr sz="3200" spc="-10" dirty="0"/>
              <a:t>cui</a:t>
            </a:r>
            <a:r>
              <a:rPr sz="3200" spc="30" dirty="0"/>
              <a:t> </a:t>
            </a:r>
            <a:r>
              <a:rPr sz="3200" spc="-10" dirty="0"/>
              <a:t>si</a:t>
            </a:r>
            <a:r>
              <a:rPr sz="3200" spc="-5" dirty="0"/>
              <a:t> </a:t>
            </a:r>
            <a:r>
              <a:rPr sz="3200" spc="-15" dirty="0"/>
              <a:t>riferisce.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6993" y="3528448"/>
            <a:ext cx="4627128" cy="28501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Annidare</a:t>
            </a:r>
            <a:r>
              <a:rPr spc="55" dirty="0"/>
              <a:t> </a:t>
            </a:r>
            <a:r>
              <a:rPr spc="-15" dirty="0"/>
              <a:t>tabelle</a:t>
            </a:r>
            <a:r>
              <a:rPr spc="50" dirty="0"/>
              <a:t> </a:t>
            </a:r>
            <a:r>
              <a:rPr spc="-10" dirty="0"/>
              <a:t>in</a:t>
            </a:r>
            <a:r>
              <a:rPr dirty="0"/>
              <a:t> </a:t>
            </a:r>
            <a:r>
              <a:rPr spc="-10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51266"/>
            <a:ext cx="8073390" cy="14909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80"/>
              </a:spcBef>
            </a:pPr>
            <a:r>
              <a:rPr sz="3200" spc="-5" dirty="0">
                <a:latin typeface="Calibri"/>
                <a:cs typeface="Calibri"/>
              </a:rPr>
              <a:t>Chiudiamo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mostrando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come</a:t>
            </a:r>
            <a:r>
              <a:rPr sz="3200" spc="68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spc="7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possibile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annidare </a:t>
            </a:r>
            <a:r>
              <a:rPr sz="3200" dirty="0">
                <a:latin typeface="Calibri"/>
                <a:cs typeface="Calibri"/>
              </a:rPr>
              <a:t>le </a:t>
            </a:r>
            <a:r>
              <a:rPr sz="3200" spc="-5" dirty="0">
                <a:latin typeface="Calibri"/>
                <a:cs typeface="Calibri"/>
              </a:rPr>
              <a:t>tabelle </a:t>
            </a:r>
            <a:r>
              <a:rPr sz="3200" dirty="0">
                <a:latin typeface="Calibri"/>
                <a:cs typeface="Calibri"/>
              </a:rPr>
              <a:t>le </a:t>
            </a:r>
            <a:r>
              <a:rPr sz="3200" spc="-15" dirty="0">
                <a:latin typeface="Calibri"/>
                <a:cs typeface="Calibri"/>
              </a:rPr>
              <a:t>une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dentro </a:t>
            </a:r>
            <a:r>
              <a:rPr sz="3200" dirty="0">
                <a:latin typeface="Calibri"/>
                <a:cs typeface="Calibri"/>
              </a:rPr>
              <a:t>le </a:t>
            </a:r>
            <a:r>
              <a:rPr sz="3200" spc="-10" dirty="0">
                <a:latin typeface="Calibri"/>
                <a:cs typeface="Calibri"/>
              </a:rPr>
              <a:t>altre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spc="5" dirty="0">
                <a:latin typeface="Calibri"/>
                <a:cs typeface="Calibri"/>
              </a:rPr>
              <a:t>lo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facciamo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esaminando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un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semplice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esempio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9254" y="3754658"/>
            <a:ext cx="5085621" cy="240831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82166"/>
            <a:ext cx="7581265" cy="471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0"/>
              </a:lnSpc>
              <a:spcBef>
                <a:spcPts val="100"/>
              </a:spcBef>
            </a:pPr>
            <a:r>
              <a:rPr sz="2200" spc="-5" dirty="0">
                <a:latin typeface="Calibri"/>
                <a:cs typeface="Calibri"/>
              </a:rPr>
              <a:t>&lt;table&gt;</a:t>
            </a:r>
            <a:endParaRPr sz="2200">
              <a:latin typeface="Calibri"/>
              <a:cs typeface="Calibri"/>
            </a:endParaRPr>
          </a:p>
          <a:p>
            <a:pPr marL="264795">
              <a:lnSpc>
                <a:spcPts val="2630"/>
              </a:lnSpc>
            </a:pPr>
            <a:r>
              <a:rPr sz="2200" dirty="0">
                <a:latin typeface="Calibri"/>
                <a:cs typeface="Calibri"/>
              </a:rPr>
              <a:t>&lt;tr&gt;</a:t>
            </a:r>
            <a:endParaRPr sz="220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  <a:spcBef>
                <a:spcPts val="20"/>
              </a:spcBef>
            </a:pPr>
            <a:r>
              <a:rPr sz="2200" spc="-5" dirty="0">
                <a:latin typeface="Calibri"/>
                <a:cs typeface="Calibri"/>
              </a:rPr>
              <a:t>&lt;th&gt;Campo&lt;/th&gt;&lt;th&gt;Tabella&lt;/th&gt;</a:t>
            </a:r>
            <a:endParaRPr sz="2200">
              <a:latin typeface="Calibri"/>
              <a:cs typeface="Calibri"/>
            </a:endParaRPr>
          </a:p>
          <a:p>
            <a:pPr marL="264795">
              <a:lnSpc>
                <a:spcPts val="2625"/>
              </a:lnSpc>
            </a:pPr>
            <a:r>
              <a:rPr sz="2200" dirty="0">
                <a:latin typeface="Calibri"/>
                <a:cs typeface="Calibri"/>
              </a:rPr>
              <a:t>&lt;/tr&gt;</a:t>
            </a:r>
            <a:endParaRPr sz="2200">
              <a:latin typeface="Calibri"/>
              <a:cs typeface="Calibri"/>
            </a:endParaRPr>
          </a:p>
          <a:p>
            <a:pPr marL="264795">
              <a:lnSpc>
                <a:spcPts val="2635"/>
              </a:lnSpc>
            </a:pPr>
            <a:r>
              <a:rPr sz="2200" dirty="0">
                <a:latin typeface="Calibri"/>
                <a:cs typeface="Calibri"/>
              </a:rPr>
              <a:t>&lt;tr&gt;</a:t>
            </a:r>
            <a:endParaRPr sz="220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  <a:spcBef>
                <a:spcPts val="20"/>
              </a:spcBef>
            </a:pPr>
            <a:r>
              <a:rPr sz="2200" spc="-5" dirty="0">
                <a:latin typeface="Calibri"/>
                <a:cs typeface="Calibri"/>
              </a:rPr>
              <a:t>&lt;td&gt;Campo1&lt;/td&gt;</a:t>
            </a:r>
            <a:endParaRPr sz="220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&lt;td&gt;</a:t>
            </a:r>
            <a:endParaRPr sz="2200">
              <a:latin typeface="Calibri"/>
              <a:cs typeface="Calibri"/>
            </a:endParaRPr>
          </a:p>
          <a:p>
            <a:pPr marL="1179830">
              <a:lnSpc>
                <a:spcPts val="2635"/>
              </a:lnSpc>
              <a:spcBef>
                <a:spcPts val="25"/>
              </a:spcBef>
            </a:pPr>
            <a:r>
              <a:rPr sz="2200" spc="-5" dirty="0">
                <a:latin typeface="Calibri"/>
                <a:cs typeface="Calibri"/>
              </a:rPr>
              <a:t>&lt;table&gt;</a:t>
            </a:r>
            <a:endParaRPr sz="2200">
              <a:latin typeface="Calibri"/>
              <a:cs typeface="Calibri"/>
            </a:endParaRPr>
          </a:p>
          <a:p>
            <a:pPr marL="1842135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&lt;tr&gt;&lt;th&gt;Campo&lt;/th&gt;&lt;th&gt;Descrizione&lt;/th&gt;&lt;/tr&gt;</a:t>
            </a:r>
            <a:endParaRPr sz="2200">
              <a:latin typeface="Calibri"/>
              <a:cs typeface="Calibri"/>
            </a:endParaRPr>
          </a:p>
          <a:p>
            <a:pPr marL="1842135">
              <a:lnSpc>
                <a:spcPts val="2635"/>
              </a:lnSpc>
              <a:spcBef>
                <a:spcPts val="20"/>
              </a:spcBef>
            </a:pPr>
            <a:r>
              <a:rPr sz="2200" spc="-5" dirty="0">
                <a:latin typeface="Calibri"/>
                <a:cs typeface="Calibri"/>
              </a:rPr>
              <a:t>&lt;tr&gt;&lt;td&gt;Campo1&lt;/td&gt;&lt;td&gt;Descrizione1&lt;/td&gt;&lt;/tr&gt;</a:t>
            </a:r>
            <a:endParaRPr sz="2200">
              <a:latin typeface="Calibri"/>
              <a:cs typeface="Calibri"/>
            </a:endParaRPr>
          </a:p>
          <a:p>
            <a:pPr marL="1179830">
              <a:lnSpc>
                <a:spcPts val="2625"/>
              </a:lnSpc>
            </a:pPr>
            <a:r>
              <a:rPr sz="2200" spc="-5" dirty="0">
                <a:latin typeface="Calibri"/>
                <a:cs typeface="Calibri"/>
              </a:rPr>
              <a:t>&lt;/table&gt;</a:t>
            </a:r>
            <a:endParaRPr sz="220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&lt;/td&gt;</a:t>
            </a:r>
            <a:endParaRPr sz="2200">
              <a:latin typeface="Calibri"/>
              <a:cs typeface="Calibri"/>
            </a:endParaRPr>
          </a:p>
          <a:p>
            <a:pPr marL="264795">
              <a:lnSpc>
                <a:spcPts val="2630"/>
              </a:lnSpc>
              <a:spcBef>
                <a:spcPts val="20"/>
              </a:spcBef>
            </a:pPr>
            <a:r>
              <a:rPr sz="2200" dirty="0">
                <a:latin typeface="Calibri"/>
                <a:cs typeface="Calibri"/>
              </a:rPr>
              <a:t>&lt;/tr&gt;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630"/>
              </a:lnSpc>
            </a:pPr>
            <a:r>
              <a:rPr sz="2200" spc="-5" dirty="0">
                <a:latin typeface="Calibri"/>
                <a:cs typeface="Calibri"/>
              </a:rPr>
              <a:t>&lt;/table&gt;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527" y="889965"/>
            <a:ext cx="14770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</a:t>
            </a:r>
            <a:r>
              <a:rPr spc="-70" dirty="0"/>
              <a:t> </a:t>
            </a:r>
            <a:r>
              <a:rPr spc="-25" dirty="0"/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87283"/>
            <a:ext cx="8077834" cy="41916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8890" algn="just">
              <a:lnSpc>
                <a:spcPct val="90400"/>
              </a:lnSpc>
              <a:spcBef>
                <a:spcPts val="405"/>
              </a:spcBef>
            </a:pPr>
            <a:r>
              <a:rPr sz="2700" spc="-5" dirty="0">
                <a:latin typeface="Calibri"/>
                <a:cs typeface="Calibri"/>
              </a:rPr>
              <a:t>L'</a:t>
            </a:r>
            <a:r>
              <a:rPr sz="2700" b="1" spc="-5" dirty="0">
                <a:latin typeface="Calibri"/>
                <a:cs typeface="Calibri"/>
              </a:rPr>
              <a:t>HTML </a:t>
            </a:r>
            <a:r>
              <a:rPr sz="2700" spc="-25" dirty="0">
                <a:latin typeface="Calibri"/>
                <a:cs typeface="Calibri"/>
              </a:rPr>
              <a:t>mette</a:t>
            </a:r>
            <a:r>
              <a:rPr sz="2700" spc="56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spc="-10" dirty="0">
                <a:latin typeface="Calibri"/>
                <a:cs typeface="Calibri"/>
              </a:rPr>
              <a:t>disposizione </a:t>
            </a:r>
            <a:r>
              <a:rPr sz="2700" spc="-5" dirty="0">
                <a:latin typeface="Calibri"/>
                <a:cs typeface="Calibri"/>
              </a:rPr>
              <a:t>una </a:t>
            </a:r>
            <a:r>
              <a:rPr sz="2700" dirty="0">
                <a:latin typeface="Calibri"/>
                <a:cs typeface="Calibri"/>
              </a:rPr>
              <a:t>serie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15" dirty="0">
                <a:latin typeface="Calibri"/>
                <a:cs typeface="Calibri"/>
              </a:rPr>
              <a:t>tag</a:t>
            </a:r>
            <a:r>
              <a:rPr sz="2700" spc="58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il cui </a:t>
            </a:r>
            <a:r>
              <a:rPr sz="2700" dirty="0">
                <a:latin typeface="Calibri"/>
                <a:cs typeface="Calibri"/>
              </a:rPr>
              <a:t>scopo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10" dirty="0">
                <a:latin typeface="Calibri"/>
                <a:cs typeface="Calibri"/>
              </a:rPr>
              <a:t>quello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15" dirty="0">
                <a:latin typeface="Calibri"/>
                <a:cs typeface="Calibri"/>
              </a:rPr>
              <a:t>creare </a:t>
            </a:r>
            <a:r>
              <a:rPr sz="2700" b="1" spc="-5" dirty="0">
                <a:latin typeface="Calibri"/>
                <a:cs typeface="Calibri"/>
              </a:rPr>
              <a:t>moduli </a:t>
            </a:r>
            <a:r>
              <a:rPr sz="2700" spc="-20" dirty="0">
                <a:latin typeface="Calibri"/>
                <a:cs typeface="Calibri"/>
              </a:rPr>
              <a:t>con </a:t>
            </a:r>
            <a:r>
              <a:rPr sz="2700" b="1" spc="-5" dirty="0">
                <a:latin typeface="Calibri"/>
                <a:cs typeface="Calibri"/>
              </a:rPr>
              <a:t>caselle </a:t>
            </a:r>
            <a:r>
              <a:rPr sz="2700" b="1" dirty="0">
                <a:latin typeface="Calibri"/>
                <a:cs typeface="Calibri"/>
              </a:rPr>
              <a:t>di </a:t>
            </a:r>
            <a:r>
              <a:rPr sz="2700" b="1" spc="-30" dirty="0">
                <a:latin typeface="Calibri"/>
                <a:cs typeface="Calibri"/>
              </a:rPr>
              <a:t>testo</a:t>
            </a:r>
            <a:r>
              <a:rPr sz="2700" spc="-30" dirty="0">
                <a:latin typeface="Calibri"/>
                <a:cs typeface="Calibri"/>
              </a:rPr>
              <a:t>, </a:t>
            </a:r>
            <a:r>
              <a:rPr sz="2700" b="1" spc="-5" dirty="0">
                <a:latin typeface="Calibri"/>
                <a:cs typeface="Calibri"/>
              </a:rPr>
              <a:t>opzioni</a:t>
            </a:r>
            <a:r>
              <a:rPr sz="2700" spc="-5" dirty="0">
                <a:latin typeface="Calibri"/>
                <a:cs typeface="Calibri"/>
              </a:rPr>
              <a:t>,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bottoni</a:t>
            </a:r>
            <a:r>
              <a:rPr sz="2700" b="1" spc="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di </a:t>
            </a:r>
            <a:r>
              <a:rPr sz="2700" b="1" spc="-10" dirty="0">
                <a:latin typeface="Calibri"/>
                <a:cs typeface="Calibri"/>
              </a:rPr>
              <a:t>invio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altro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ancora.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Calibri"/>
              <a:cs typeface="Calibri"/>
            </a:endParaRPr>
          </a:p>
          <a:p>
            <a:pPr marL="12700" marR="5080" algn="just">
              <a:lnSpc>
                <a:spcPct val="90200"/>
              </a:lnSpc>
            </a:pPr>
            <a:r>
              <a:rPr sz="2700" spc="-10" dirty="0">
                <a:latin typeface="Calibri"/>
                <a:cs typeface="Calibri"/>
              </a:rPr>
              <a:t>Il</a:t>
            </a:r>
            <a:r>
              <a:rPr sz="2700" spc="5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termine</a:t>
            </a:r>
            <a:r>
              <a:rPr sz="2700" spc="59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tecnico</a:t>
            </a:r>
            <a:r>
              <a:rPr sz="2700" spc="117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riassume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tutti</a:t>
            </a:r>
            <a:r>
              <a:rPr sz="2700" spc="58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questi</a:t>
            </a:r>
            <a:r>
              <a:rPr sz="2700" spc="117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elementi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b="1" spc="-15" dirty="0">
                <a:latin typeface="Calibri"/>
                <a:cs typeface="Calibri"/>
              </a:rPr>
              <a:t>form </a:t>
            </a:r>
            <a:r>
              <a:rPr sz="2700" dirty="0">
                <a:latin typeface="Calibri"/>
                <a:cs typeface="Calibri"/>
              </a:rPr>
              <a:t>ed </a:t>
            </a:r>
            <a:r>
              <a:rPr sz="2700" spc="5" dirty="0">
                <a:latin typeface="Calibri"/>
                <a:cs typeface="Calibri"/>
              </a:rPr>
              <a:t>il </a:t>
            </a:r>
            <a:r>
              <a:rPr sz="2700" spc="-15" dirty="0">
                <a:latin typeface="Calibri"/>
                <a:cs typeface="Calibri"/>
              </a:rPr>
              <a:t>loro scopo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dirty="0">
                <a:latin typeface="Calibri"/>
                <a:cs typeface="Calibri"/>
              </a:rPr>
              <a:t>quello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15" dirty="0">
                <a:latin typeface="Calibri"/>
                <a:cs typeface="Calibri"/>
              </a:rPr>
              <a:t>creare </a:t>
            </a:r>
            <a:r>
              <a:rPr sz="2700" spc="-25" dirty="0">
                <a:latin typeface="Calibri"/>
                <a:cs typeface="Calibri"/>
              </a:rPr>
              <a:t>interazione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scambio </a:t>
            </a:r>
            <a:r>
              <a:rPr sz="2700" spc="-5" dirty="0">
                <a:latin typeface="Calibri"/>
                <a:cs typeface="Calibri"/>
              </a:rPr>
              <a:t>dati </a:t>
            </a:r>
            <a:r>
              <a:rPr sz="2700" spc="-15" dirty="0">
                <a:latin typeface="Calibri"/>
                <a:cs typeface="Calibri"/>
              </a:rPr>
              <a:t>tra </a:t>
            </a:r>
            <a:r>
              <a:rPr sz="2700" spc="5" dirty="0">
                <a:latin typeface="Calibri"/>
                <a:cs typeface="Calibri"/>
              </a:rPr>
              <a:t>gli </a:t>
            </a:r>
            <a:r>
              <a:rPr sz="2700" spc="-10" dirty="0">
                <a:latin typeface="Calibri"/>
                <a:cs typeface="Calibri"/>
              </a:rPr>
              <a:t>utenti </a:t>
            </a:r>
            <a:r>
              <a:rPr sz="2700" dirty="0">
                <a:latin typeface="Calibri"/>
                <a:cs typeface="Calibri"/>
              </a:rPr>
              <a:t>ed </a:t>
            </a:r>
            <a:r>
              <a:rPr sz="2700" spc="5" dirty="0">
                <a:latin typeface="Calibri"/>
                <a:cs typeface="Calibri"/>
              </a:rPr>
              <a:t>il </a:t>
            </a:r>
            <a:r>
              <a:rPr sz="2700" spc="-10" dirty="0">
                <a:latin typeface="Calibri"/>
                <a:cs typeface="Calibri"/>
              </a:rPr>
              <a:t>sito.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Più precisamente,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attraverso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form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HTML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possibile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"raccogliere"</a:t>
            </a:r>
            <a:r>
              <a:rPr sz="2700" spc="58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gli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input </a:t>
            </a:r>
            <a:r>
              <a:rPr sz="2700" spc="-5" dirty="0">
                <a:latin typeface="Calibri"/>
                <a:cs typeface="Calibri"/>
              </a:rPr>
              <a:t>degli </a:t>
            </a:r>
            <a:r>
              <a:rPr sz="2700" spc="-10" dirty="0">
                <a:latin typeface="Calibri"/>
                <a:cs typeface="Calibri"/>
              </a:rPr>
              <a:t>utenti </a:t>
            </a:r>
            <a:r>
              <a:rPr sz="2700" spc="-5" dirty="0">
                <a:latin typeface="Calibri"/>
                <a:cs typeface="Calibri"/>
              </a:rPr>
              <a:t>per </a:t>
            </a:r>
            <a:r>
              <a:rPr sz="2700" spc="-10" dirty="0">
                <a:latin typeface="Calibri"/>
                <a:cs typeface="Calibri"/>
              </a:rPr>
              <a:t>poi inviarli ad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spc="-10" dirty="0">
                <a:latin typeface="Calibri"/>
                <a:cs typeface="Calibri"/>
              </a:rPr>
              <a:t>qualche </a:t>
            </a:r>
            <a:r>
              <a:rPr sz="2700" spc="-15" dirty="0">
                <a:latin typeface="Calibri"/>
                <a:cs typeface="Calibri"/>
              </a:rPr>
              <a:t>sistema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elaborazione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(normalmente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script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lato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server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che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vedremo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più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avanti).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80" y="1130617"/>
            <a:ext cx="8981820" cy="45990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9120" y="881075"/>
            <a:ext cx="2907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Il</a:t>
            </a:r>
            <a:r>
              <a:rPr spc="-40" dirty="0"/>
              <a:t> </a:t>
            </a:r>
            <a:r>
              <a:rPr spc="-25" dirty="0"/>
              <a:t>tag</a:t>
            </a:r>
            <a:r>
              <a:rPr spc="-30" dirty="0"/>
              <a:t> </a:t>
            </a:r>
            <a:r>
              <a:rPr spc="-25" dirty="0"/>
              <a:t>&lt;form&gt;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42300"/>
            <a:ext cx="8077200" cy="400557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 algn="just">
              <a:lnSpc>
                <a:spcPct val="79900"/>
              </a:lnSpc>
              <a:spcBef>
                <a:spcPts val="840"/>
              </a:spcBef>
            </a:pPr>
            <a:r>
              <a:rPr sz="3000" spc="-25" dirty="0">
                <a:latin typeface="Calibri"/>
                <a:cs typeface="Calibri"/>
              </a:rPr>
              <a:t>Per </a:t>
            </a:r>
            <a:r>
              <a:rPr sz="3000" spc="-5" dirty="0">
                <a:latin typeface="Calibri"/>
                <a:cs typeface="Calibri"/>
              </a:rPr>
              <a:t>la creazione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5" dirty="0">
                <a:latin typeface="Calibri"/>
                <a:cs typeface="Calibri"/>
              </a:rPr>
              <a:t>un </a:t>
            </a:r>
            <a:r>
              <a:rPr sz="3000" spc="-20" dirty="0">
                <a:latin typeface="Calibri"/>
                <a:cs typeface="Calibri"/>
              </a:rPr>
              <a:t>form </a:t>
            </a:r>
            <a:r>
              <a:rPr sz="3000" spc="-5" dirty="0">
                <a:latin typeface="Calibri"/>
                <a:cs typeface="Calibri"/>
              </a:rPr>
              <a:t>utilizziamo </a:t>
            </a:r>
            <a:r>
              <a:rPr sz="3000" dirty="0">
                <a:latin typeface="Calibri"/>
                <a:cs typeface="Calibri"/>
              </a:rPr>
              <a:t>l'omonimo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tag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form</a:t>
            </a:r>
            <a:r>
              <a:rPr sz="3000" spc="-5" dirty="0">
                <a:latin typeface="Calibri"/>
                <a:cs typeface="Calibri"/>
              </a:rPr>
              <a:t>,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nell'esempio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che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segue: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ts val="3590"/>
              </a:lnSpc>
              <a:spcBef>
                <a:spcPts val="2290"/>
              </a:spcBef>
            </a:pPr>
            <a:r>
              <a:rPr sz="3000" i="1" spc="-5" dirty="0">
                <a:latin typeface="Calibri"/>
                <a:cs typeface="Calibri"/>
              </a:rPr>
              <a:t>&lt;form</a:t>
            </a:r>
            <a:r>
              <a:rPr sz="3000" i="1" spc="-50" dirty="0">
                <a:latin typeface="Calibri"/>
                <a:cs typeface="Calibri"/>
              </a:rPr>
              <a:t> </a:t>
            </a:r>
            <a:r>
              <a:rPr sz="3000" i="1" spc="5" dirty="0">
                <a:latin typeface="Calibri"/>
                <a:cs typeface="Calibri"/>
              </a:rPr>
              <a:t>method=""</a:t>
            </a:r>
            <a:r>
              <a:rPr sz="3000" i="1" spc="-7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action=""</a:t>
            </a:r>
            <a:r>
              <a:rPr sz="3000" i="1" spc="-105" dirty="0">
                <a:latin typeface="Calibri"/>
                <a:cs typeface="Calibri"/>
              </a:rPr>
              <a:t> </a:t>
            </a:r>
            <a:r>
              <a:rPr sz="3000" i="1" spc="5" dirty="0">
                <a:latin typeface="Calibri"/>
                <a:cs typeface="Calibri"/>
              </a:rPr>
              <a:t>name=""&gt;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ts val="3590"/>
              </a:lnSpc>
            </a:pPr>
            <a:r>
              <a:rPr sz="3000" i="1" spc="-20" dirty="0">
                <a:latin typeface="Calibri"/>
                <a:cs typeface="Calibri"/>
              </a:rPr>
              <a:t>...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3000" i="1" spc="-5" dirty="0">
                <a:latin typeface="Calibri"/>
                <a:cs typeface="Calibri"/>
              </a:rPr>
              <a:t>&lt;/form&gt;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Calibri"/>
              <a:cs typeface="Calibri"/>
            </a:endParaRPr>
          </a:p>
          <a:p>
            <a:pPr marL="12700" marR="5080" algn="just">
              <a:lnSpc>
                <a:spcPct val="79900"/>
              </a:lnSpc>
            </a:pPr>
            <a:r>
              <a:rPr sz="3000" dirty="0">
                <a:latin typeface="Calibri"/>
                <a:cs typeface="Calibri"/>
              </a:rPr>
              <a:t>Scopo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questo tag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20" dirty="0">
                <a:latin typeface="Calibri"/>
                <a:cs typeface="Calibri"/>
              </a:rPr>
              <a:t>fare </a:t>
            </a:r>
            <a:r>
              <a:rPr sz="3000" spc="10" dirty="0">
                <a:latin typeface="Calibri"/>
                <a:cs typeface="Calibri"/>
              </a:rPr>
              <a:t>da </a:t>
            </a:r>
            <a:r>
              <a:rPr sz="3000" spc="-20" dirty="0">
                <a:latin typeface="Calibri"/>
                <a:cs typeface="Calibri"/>
              </a:rPr>
              <a:t>contenitore </a:t>
            </a:r>
            <a:r>
              <a:rPr sz="3000" spc="-10" dirty="0">
                <a:latin typeface="Calibri"/>
                <a:cs typeface="Calibri"/>
              </a:rPr>
              <a:t>ad </a:t>
            </a:r>
            <a:r>
              <a:rPr sz="3000" dirty="0">
                <a:latin typeface="Calibri"/>
                <a:cs typeface="Calibri"/>
              </a:rPr>
              <a:t>una </a:t>
            </a:r>
            <a:r>
              <a:rPr sz="3000" spc="5" dirty="0">
                <a:latin typeface="Calibri"/>
                <a:cs typeface="Calibri"/>
              </a:rPr>
              <a:t> serie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spc="-25" dirty="0">
                <a:latin typeface="Calibri"/>
                <a:cs typeface="Calibri"/>
              </a:rPr>
              <a:t>tag </a:t>
            </a:r>
            <a:r>
              <a:rPr sz="3000" spc="-5" dirty="0">
                <a:latin typeface="Calibri"/>
                <a:cs typeface="Calibri"/>
              </a:rPr>
              <a:t>che </a:t>
            </a:r>
            <a:r>
              <a:rPr sz="3000" spc="-20" dirty="0">
                <a:latin typeface="Calibri"/>
                <a:cs typeface="Calibri"/>
              </a:rPr>
              <a:t>costituiranno</a:t>
            </a:r>
            <a:r>
              <a:rPr sz="3000" spc="6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gli specifici </a:t>
            </a:r>
            <a:r>
              <a:rPr sz="3000" spc="-20" dirty="0">
                <a:latin typeface="Calibri"/>
                <a:cs typeface="Calibri"/>
              </a:rPr>
              <a:t>controlli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modulo.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302626"/>
            <a:ext cx="8081645" cy="45554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7620">
              <a:lnSpc>
                <a:spcPts val="3229"/>
              </a:lnSpc>
              <a:spcBef>
                <a:spcPts val="530"/>
              </a:spcBef>
              <a:tabLst>
                <a:tab pos="372745" algn="l"/>
                <a:tab pos="2067560" algn="l"/>
                <a:tab pos="3590925" algn="l"/>
                <a:tab pos="4334510" algn="l"/>
                <a:tab pos="5095875" algn="l"/>
                <a:tab pos="6222365" algn="l"/>
                <a:tab pos="7339965" algn="l"/>
              </a:tabLst>
            </a:pPr>
            <a:r>
              <a:rPr sz="3000" dirty="0">
                <a:latin typeface="Calibri"/>
                <a:cs typeface="Calibri"/>
              </a:rPr>
              <a:t>I	</a:t>
            </a:r>
            <a:r>
              <a:rPr sz="3000" spc="15" dirty="0">
                <a:latin typeface="Calibri"/>
                <a:cs typeface="Calibri"/>
              </a:rPr>
              <a:t>p</a:t>
            </a:r>
            <a:r>
              <a:rPr sz="3000" spc="-15" dirty="0">
                <a:latin typeface="Calibri"/>
                <a:cs typeface="Calibri"/>
              </a:rPr>
              <a:t>r</a:t>
            </a:r>
            <a:r>
              <a:rPr sz="3000" spc="15" dirty="0">
                <a:latin typeface="Calibri"/>
                <a:cs typeface="Calibri"/>
              </a:rPr>
              <a:t>i</a:t>
            </a:r>
            <a:r>
              <a:rPr sz="3000" spc="-20" dirty="0">
                <a:latin typeface="Calibri"/>
                <a:cs typeface="Calibri"/>
              </a:rPr>
              <a:t>n</a:t>
            </a:r>
            <a:r>
              <a:rPr sz="3000" spc="5" dirty="0">
                <a:latin typeface="Calibri"/>
                <a:cs typeface="Calibri"/>
              </a:rPr>
              <a:t>c</a:t>
            </a:r>
            <a:r>
              <a:rPr sz="3000" spc="-15" dirty="0">
                <a:latin typeface="Calibri"/>
                <a:cs typeface="Calibri"/>
              </a:rPr>
              <a:t>i</a:t>
            </a:r>
            <a:r>
              <a:rPr sz="3000" spc="15" dirty="0">
                <a:latin typeface="Calibri"/>
                <a:cs typeface="Calibri"/>
              </a:rPr>
              <a:t>p</a:t>
            </a:r>
            <a:r>
              <a:rPr sz="3000" spc="-20" dirty="0">
                <a:latin typeface="Calibri"/>
                <a:cs typeface="Calibri"/>
              </a:rPr>
              <a:t>al</a:t>
            </a:r>
            <a:r>
              <a:rPr sz="3000" dirty="0">
                <a:latin typeface="Calibri"/>
                <a:cs typeface="Calibri"/>
              </a:rPr>
              <a:t>i	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-50" dirty="0">
                <a:latin typeface="Calibri"/>
                <a:cs typeface="Calibri"/>
              </a:rPr>
              <a:t>tt</a:t>
            </a:r>
            <a:r>
              <a:rPr sz="3000" spc="15" dirty="0">
                <a:latin typeface="Calibri"/>
                <a:cs typeface="Calibri"/>
              </a:rPr>
              <a:t>r</a:t>
            </a:r>
            <a:r>
              <a:rPr sz="3000" spc="-20" dirty="0">
                <a:latin typeface="Calibri"/>
                <a:cs typeface="Calibri"/>
              </a:rPr>
              <a:t>i</a:t>
            </a:r>
            <a:r>
              <a:rPr sz="3000" spc="10" dirty="0">
                <a:latin typeface="Calibri"/>
                <a:cs typeface="Calibri"/>
              </a:rPr>
              <a:t>bu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i	</a:t>
            </a:r>
            <a:r>
              <a:rPr sz="3000" spc="10" dirty="0">
                <a:latin typeface="Calibri"/>
                <a:cs typeface="Calibri"/>
              </a:rPr>
              <a:t>d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l	</a:t>
            </a:r>
            <a:r>
              <a:rPr sz="3000" b="1" spc="-50" dirty="0">
                <a:latin typeface="Calibri"/>
                <a:cs typeface="Calibri"/>
              </a:rPr>
              <a:t>t</a:t>
            </a:r>
            <a:r>
              <a:rPr sz="3000" b="1" spc="5" dirty="0">
                <a:latin typeface="Calibri"/>
                <a:cs typeface="Calibri"/>
              </a:rPr>
              <a:t>ag</a:t>
            </a:r>
            <a:r>
              <a:rPr sz="3000" b="1" dirty="0">
                <a:latin typeface="Calibri"/>
                <a:cs typeface="Calibri"/>
              </a:rPr>
              <a:t>	</a:t>
            </a:r>
            <a:r>
              <a:rPr sz="3000" b="1" spc="-65" dirty="0">
                <a:latin typeface="Calibri"/>
                <a:cs typeface="Calibri"/>
              </a:rPr>
              <a:t>f</a:t>
            </a:r>
            <a:r>
              <a:rPr sz="3000" b="1" spc="5" dirty="0">
                <a:latin typeface="Calibri"/>
                <a:cs typeface="Calibri"/>
              </a:rPr>
              <a:t>or</a:t>
            </a:r>
            <a:r>
              <a:rPr sz="3000" b="1" dirty="0">
                <a:latin typeface="Calibri"/>
                <a:cs typeface="Calibri"/>
              </a:rPr>
              <a:t>m</a:t>
            </a:r>
            <a:r>
              <a:rPr sz="3000" dirty="0">
                <a:latin typeface="Calibri"/>
                <a:cs typeface="Calibri"/>
              </a:rPr>
              <a:t>,	</a:t>
            </a:r>
            <a:r>
              <a:rPr sz="3000" spc="-65" dirty="0">
                <a:latin typeface="Calibri"/>
                <a:cs typeface="Calibri"/>
              </a:rPr>
              <a:t>c</a:t>
            </a:r>
            <a:r>
              <a:rPr sz="3000" spc="5" dirty="0">
                <a:latin typeface="Calibri"/>
                <a:cs typeface="Calibri"/>
              </a:rPr>
              <a:t>ome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45" dirty="0">
                <a:latin typeface="Calibri"/>
                <a:cs typeface="Calibri"/>
              </a:rPr>
              <a:t>v</a:t>
            </a:r>
            <a:r>
              <a:rPr sz="3000" spc="15" dirty="0">
                <a:latin typeface="Calibri"/>
                <a:cs typeface="Calibri"/>
              </a:rPr>
              <a:t>i</a:t>
            </a:r>
            <a:r>
              <a:rPr sz="3000" spc="-40" dirty="0">
                <a:latin typeface="Calibri"/>
                <a:cs typeface="Calibri"/>
              </a:rPr>
              <a:t>s</a:t>
            </a:r>
            <a:r>
              <a:rPr sz="3000" spc="-50" dirty="0">
                <a:latin typeface="Calibri"/>
                <a:cs typeface="Calibri"/>
              </a:rPr>
              <a:t>t</a:t>
            </a:r>
            <a:r>
              <a:rPr sz="3000" spc="5" dirty="0">
                <a:latin typeface="Calibri"/>
                <a:cs typeface="Calibri"/>
              </a:rPr>
              <a:t>o  </a:t>
            </a:r>
            <a:r>
              <a:rPr sz="3000" spc="-5" dirty="0">
                <a:latin typeface="Calibri"/>
                <a:cs typeface="Calibri"/>
              </a:rPr>
              <a:t>nell'esempio,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sono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seguenti: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marL="354965" marR="10160" indent="-342900" algn="just">
              <a:lnSpc>
                <a:spcPts val="3229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b="1" spc="-5" dirty="0">
                <a:latin typeface="Calibri"/>
                <a:cs typeface="Calibri"/>
              </a:rPr>
              <a:t>method </a:t>
            </a:r>
            <a:r>
              <a:rPr sz="3000" spc="5" dirty="0">
                <a:latin typeface="Calibri"/>
                <a:cs typeface="Calibri"/>
              </a:rPr>
              <a:t>- </a:t>
            </a:r>
            <a:r>
              <a:rPr sz="3000" spc="-10" dirty="0">
                <a:latin typeface="Calibri"/>
                <a:cs typeface="Calibri"/>
              </a:rPr>
              <a:t>specifica </a:t>
            </a:r>
            <a:r>
              <a:rPr sz="3000" spc="10" dirty="0">
                <a:latin typeface="Calibri"/>
                <a:cs typeface="Calibri"/>
              </a:rPr>
              <a:t>il </a:t>
            </a:r>
            <a:r>
              <a:rPr sz="3000" spc="-10" dirty="0">
                <a:latin typeface="Calibri"/>
                <a:cs typeface="Calibri"/>
              </a:rPr>
              <a:t>metodo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invio </a:t>
            </a:r>
            <a:r>
              <a:rPr sz="3000" spc="-10" dirty="0">
                <a:latin typeface="Calibri"/>
                <a:cs typeface="Calibri"/>
              </a:rPr>
              <a:t>dei </a:t>
            </a:r>
            <a:r>
              <a:rPr sz="3000" spc="-5" dirty="0">
                <a:latin typeface="Calibri"/>
                <a:cs typeface="Calibri"/>
              </a:rPr>
              <a:t>dati </a:t>
            </a:r>
            <a:r>
              <a:rPr sz="3000" spc="-10" dirty="0">
                <a:latin typeface="Calibri"/>
                <a:cs typeface="Calibri"/>
              </a:rPr>
              <a:t>ed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accetta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valori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get </a:t>
            </a:r>
            <a:r>
              <a:rPr sz="3000" spc="5" dirty="0">
                <a:latin typeface="Calibri"/>
                <a:cs typeface="Calibri"/>
              </a:rPr>
              <a:t>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post</a:t>
            </a:r>
            <a:r>
              <a:rPr sz="3000" dirty="0">
                <a:latin typeface="Calibri"/>
                <a:cs typeface="Calibri"/>
              </a:rPr>
              <a:t>;</a:t>
            </a:r>
            <a:endParaRPr sz="3000">
              <a:latin typeface="Calibri"/>
              <a:cs typeface="Calibri"/>
            </a:endParaRPr>
          </a:p>
          <a:p>
            <a:pPr marL="354965" marR="5080" indent="-342900" algn="just">
              <a:lnSpc>
                <a:spcPts val="3229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action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-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specifica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lo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script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che</a:t>
            </a:r>
            <a:r>
              <a:rPr sz="3000" spc="69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riceverà,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controllerà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elaborerà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dati.</a:t>
            </a:r>
            <a:endParaRPr sz="3000">
              <a:latin typeface="Calibri"/>
              <a:cs typeface="Calibri"/>
            </a:endParaRPr>
          </a:p>
          <a:p>
            <a:pPr marL="354965" marR="6350" indent="-342900" algn="just">
              <a:lnSpc>
                <a:spcPts val="3229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name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-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specifica</a:t>
            </a:r>
            <a:r>
              <a:rPr sz="3000" spc="-10" dirty="0">
                <a:latin typeface="Calibri"/>
                <a:cs typeface="Calibri"/>
              </a:rPr>
              <a:t> 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nome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attribuito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form,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20" dirty="0">
                <a:latin typeface="Calibri"/>
                <a:cs typeface="Calibri"/>
              </a:rPr>
              <a:t>in 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quanto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-5" dirty="0">
                <a:latin typeface="Calibri"/>
                <a:cs typeface="Calibri"/>
              </a:rPr>
              <a:t>possibile inserire in </a:t>
            </a:r>
            <a:r>
              <a:rPr sz="3000" dirty="0">
                <a:latin typeface="Calibri"/>
                <a:cs typeface="Calibri"/>
              </a:rPr>
              <a:t>una </a:t>
            </a:r>
            <a:r>
              <a:rPr sz="3000" spc="-5" dirty="0">
                <a:latin typeface="Calibri"/>
                <a:cs typeface="Calibri"/>
              </a:rPr>
              <a:t>pagina </a:t>
            </a:r>
            <a:r>
              <a:rPr sz="3000" dirty="0">
                <a:latin typeface="Calibri"/>
                <a:cs typeface="Calibri"/>
              </a:rPr>
              <a:t>più </a:t>
            </a:r>
            <a:r>
              <a:rPr sz="3000" spc="-20" dirty="0">
                <a:latin typeface="Calibri"/>
                <a:cs typeface="Calibri"/>
              </a:rPr>
              <a:t>form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-15" dirty="0">
                <a:latin typeface="Calibri"/>
                <a:cs typeface="Calibri"/>
              </a:rPr>
              <a:t> questo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tag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serve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ad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identificarlo.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452" y="924610"/>
            <a:ext cx="7845425" cy="637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I</a:t>
            </a:r>
            <a:r>
              <a:rPr sz="4000" spc="-20" dirty="0"/>
              <a:t> </a:t>
            </a:r>
            <a:r>
              <a:rPr sz="4000" spc="-10" dirty="0"/>
              <a:t>tag</a:t>
            </a:r>
            <a:r>
              <a:rPr sz="4000" spc="-35" dirty="0"/>
              <a:t> </a:t>
            </a:r>
            <a:r>
              <a:rPr sz="4000" spc="-10" dirty="0"/>
              <a:t>utilizzati</a:t>
            </a:r>
            <a:r>
              <a:rPr sz="4000" spc="-130" dirty="0"/>
              <a:t> </a:t>
            </a:r>
            <a:r>
              <a:rPr sz="4000" spc="-5" dirty="0"/>
              <a:t>per</a:t>
            </a:r>
            <a:r>
              <a:rPr sz="4000" spc="30" dirty="0"/>
              <a:t> </a:t>
            </a:r>
            <a:r>
              <a:rPr sz="4000" spc="-15" dirty="0"/>
              <a:t>creare</a:t>
            </a:r>
            <a:r>
              <a:rPr sz="4000" spc="-30" dirty="0"/>
              <a:t> </a:t>
            </a:r>
            <a:r>
              <a:rPr sz="4000" dirty="0"/>
              <a:t>moduli</a:t>
            </a:r>
            <a:r>
              <a:rPr sz="4000" spc="-25" dirty="0"/>
              <a:t> </a:t>
            </a:r>
            <a:r>
              <a:rPr sz="4000" spc="-5" dirty="0"/>
              <a:t>HTML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6244" y="1914893"/>
            <a:ext cx="8079740" cy="383921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715" algn="just">
              <a:lnSpc>
                <a:spcPct val="79900"/>
              </a:lnSpc>
              <a:spcBef>
                <a:spcPts val="840"/>
              </a:spcBef>
            </a:pPr>
            <a:r>
              <a:rPr sz="3000" dirty="0">
                <a:latin typeface="Calibri"/>
                <a:cs typeface="Calibri"/>
              </a:rPr>
              <a:t>Una </a:t>
            </a:r>
            <a:r>
              <a:rPr sz="3000" spc="-15" dirty="0">
                <a:latin typeface="Calibri"/>
                <a:cs typeface="Calibri"/>
              </a:rPr>
              <a:t>volta </a:t>
            </a:r>
            <a:r>
              <a:rPr sz="3000" spc="-10" dirty="0">
                <a:latin typeface="Calibri"/>
                <a:cs typeface="Calibri"/>
              </a:rPr>
              <a:t>definito </a:t>
            </a:r>
            <a:r>
              <a:rPr sz="3000" spc="-5" dirty="0">
                <a:latin typeface="Calibri"/>
                <a:cs typeface="Calibri"/>
              </a:rPr>
              <a:t>un </a:t>
            </a:r>
            <a:r>
              <a:rPr sz="3000" spc="-10" dirty="0">
                <a:latin typeface="Calibri"/>
                <a:cs typeface="Calibri"/>
              </a:rPr>
              <a:t>form mediante </a:t>
            </a:r>
            <a:r>
              <a:rPr sz="3000" dirty="0">
                <a:latin typeface="Calibri"/>
                <a:cs typeface="Calibri"/>
              </a:rPr>
              <a:t>l'omonimo </a:t>
            </a:r>
            <a:r>
              <a:rPr sz="3000" spc="-15" dirty="0">
                <a:latin typeface="Calibri"/>
                <a:cs typeface="Calibri"/>
              </a:rPr>
              <a:t>tag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sarà</a:t>
            </a:r>
            <a:r>
              <a:rPr sz="3000" spc="-5" dirty="0">
                <a:latin typeface="Calibri"/>
                <a:cs typeface="Calibri"/>
              </a:rPr>
              <a:t> necessario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"popolarlo"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serie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tag 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annidati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suo </a:t>
            </a:r>
            <a:r>
              <a:rPr sz="3000" spc="-5" dirty="0">
                <a:latin typeface="Calibri"/>
                <a:cs typeface="Calibri"/>
              </a:rPr>
              <a:t>interno.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Calibri"/>
              <a:cs typeface="Calibri"/>
            </a:endParaRPr>
          </a:p>
          <a:p>
            <a:pPr marL="12700" marR="5080" algn="just">
              <a:lnSpc>
                <a:spcPct val="80300"/>
              </a:lnSpc>
            </a:pPr>
            <a:r>
              <a:rPr sz="3000" spc="-35" dirty="0">
                <a:latin typeface="Calibri"/>
                <a:cs typeface="Calibri"/>
              </a:rPr>
              <a:t>Attraverso </a:t>
            </a:r>
            <a:r>
              <a:rPr sz="3000" dirty="0">
                <a:latin typeface="Calibri"/>
                <a:cs typeface="Calibri"/>
              </a:rPr>
              <a:t>i </a:t>
            </a:r>
            <a:r>
              <a:rPr sz="3000" spc="-10" dirty="0">
                <a:latin typeface="Calibri"/>
                <a:cs typeface="Calibri"/>
              </a:rPr>
              <a:t>singoli </a:t>
            </a:r>
            <a:r>
              <a:rPr sz="3000" dirty="0">
                <a:latin typeface="Calibri"/>
                <a:cs typeface="Calibri"/>
              </a:rPr>
              <a:t>tag, </a:t>
            </a:r>
            <a:r>
              <a:rPr sz="3000" spc="-25" dirty="0">
                <a:latin typeface="Calibri"/>
                <a:cs typeface="Calibri"/>
              </a:rPr>
              <a:t>infatti, </a:t>
            </a:r>
            <a:r>
              <a:rPr sz="3000" spc="-10" dirty="0">
                <a:latin typeface="Calibri"/>
                <a:cs typeface="Calibri"/>
              </a:rPr>
              <a:t>sarà </a:t>
            </a:r>
            <a:r>
              <a:rPr sz="3000" dirty="0">
                <a:latin typeface="Calibri"/>
                <a:cs typeface="Calibri"/>
              </a:rPr>
              <a:t>possibile </a:t>
            </a:r>
            <a:r>
              <a:rPr sz="3000" spc="-10" dirty="0">
                <a:latin typeface="Calibri"/>
                <a:cs typeface="Calibri"/>
              </a:rPr>
              <a:t>creare </a:t>
            </a:r>
            <a:r>
              <a:rPr sz="3000" dirty="0">
                <a:latin typeface="Calibri"/>
                <a:cs typeface="Calibri"/>
              </a:rPr>
              <a:t>i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vari</a:t>
            </a:r>
            <a:r>
              <a:rPr sz="3000" spc="-10" dirty="0">
                <a:latin typeface="Calibri"/>
                <a:cs typeface="Calibri"/>
              </a:rPr>
              <a:t> elementi </a:t>
            </a:r>
            <a:r>
              <a:rPr sz="3000" spc="5" dirty="0">
                <a:latin typeface="Calibri"/>
                <a:cs typeface="Calibri"/>
              </a:rPr>
              <a:t>per </a:t>
            </a:r>
            <a:r>
              <a:rPr sz="3000" spc="-15" dirty="0">
                <a:latin typeface="Calibri"/>
                <a:cs typeface="Calibri"/>
              </a:rPr>
              <a:t>l'interazione</a:t>
            </a:r>
            <a:r>
              <a:rPr sz="3000" spc="6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 </a:t>
            </a:r>
            <a:r>
              <a:rPr sz="3000" spc="-15" dirty="0">
                <a:latin typeface="Calibri"/>
                <a:cs typeface="Calibri"/>
              </a:rPr>
              <a:t>l'utente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come,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ad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esempio,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caselle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testo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menu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selezione.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Calibri"/>
              <a:cs typeface="Calibri"/>
            </a:endParaRPr>
          </a:p>
          <a:p>
            <a:pPr marL="12700" marR="5080" algn="just">
              <a:lnSpc>
                <a:spcPct val="79900"/>
              </a:lnSpc>
            </a:pPr>
            <a:r>
              <a:rPr sz="3000" spc="-5" dirty="0">
                <a:latin typeface="Calibri"/>
                <a:cs typeface="Calibri"/>
              </a:rPr>
              <a:t>Passiamo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adesso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rassegna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singoli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tag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che </a:t>
            </a:r>
            <a:r>
              <a:rPr sz="3000" spc="-6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generano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gli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elementi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dei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form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HTML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491" y="808938"/>
            <a:ext cx="1775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&lt;input&gt;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39506"/>
            <a:ext cx="8073390" cy="44710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5"/>
              </a:spcBef>
            </a:pPr>
            <a:r>
              <a:rPr sz="2700" b="1" dirty="0">
                <a:latin typeface="Calibri"/>
                <a:cs typeface="Calibri"/>
              </a:rPr>
              <a:t>input </a:t>
            </a:r>
            <a:r>
              <a:rPr sz="2700" spc="-5" dirty="0">
                <a:latin typeface="Calibri"/>
                <a:cs typeface="Calibri"/>
              </a:rPr>
              <a:t>- </a:t>
            </a:r>
            <a:r>
              <a:rPr sz="2700" spc="-15" dirty="0">
                <a:latin typeface="Calibri"/>
                <a:cs typeface="Calibri"/>
              </a:rPr>
              <a:t>genera la </a:t>
            </a:r>
            <a:r>
              <a:rPr sz="2700" spc="5" dirty="0">
                <a:latin typeface="Calibri"/>
                <a:cs typeface="Calibri"/>
              </a:rPr>
              <a:t>maggior </a:t>
            </a:r>
            <a:r>
              <a:rPr sz="2700" spc="-15" dirty="0">
                <a:latin typeface="Calibri"/>
                <a:cs typeface="Calibri"/>
              </a:rPr>
              <a:t>parte </a:t>
            </a:r>
            <a:r>
              <a:rPr sz="2700" spc="-5" dirty="0">
                <a:latin typeface="Calibri"/>
                <a:cs typeface="Calibri"/>
              </a:rPr>
              <a:t>degli elementi dei </a:t>
            </a:r>
            <a:r>
              <a:rPr sz="2700" spc="-25" dirty="0">
                <a:latin typeface="Calibri"/>
                <a:cs typeface="Calibri"/>
              </a:rPr>
              <a:t>form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HTML,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seconda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del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type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specificato.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Gli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input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più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utilizzati</a:t>
            </a:r>
            <a:r>
              <a:rPr sz="2700" spc="114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sono:</a:t>
            </a:r>
            <a:endParaRPr sz="2700">
              <a:latin typeface="Calibri"/>
              <a:cs typeface="Calibri"/>
            </a:endParaRPr>
          </a:p>
          <a:p>
            <a:pPr marL="354965" marR="5715" indent="-342900" algn="just">
              <a:lnSpc>
                <a:spcPct val="7990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b="1" spc="-30" dirty="0">
                <a:latin typeface="Calibri"/>
                <a:cs typeface="Calibri"/>
              </a:rPr>
              <a:t>text</a:t>
            </a:r>
            <a:r>
              <a:rPr sz="2700" b="1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-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utilizzato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per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creare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caselle</a:t>
            </a:r>
            <a:r>
              <a:rPr sz="2700" i="1" dirty="0">
                <a:latin typeface="Calibri"/>
                <a:cs typeface="Calibri"/>
              </a:rPr>
              <a:t> </a:t>
            </a:r>
            <a:r>
              <a:rPr sz="2700" i="1" spc="10" dirty="0">
                <a:latin typeface="Calibri"/>
                <a:cs typeface="Calibri"/>
              </a:rPr>
              <a:t>di</a:t>
            </a:r>
            <a:r>
              <a:rPr sz="2700" i="1" spc="15" dirty="0">
                <a:latin typeface="Calibri"/>
                <a:cs typeface="Calibri"/>
              </a:rPr>
              <a:t> </a:t>
            </a:r>
            <a:r>
              <a:rPr sz="2700" i="1" spc="-30" dirty="0">
                <a:latin typeface="Calibri"/>
                <a:cs typeface="Calibri"/>
              </a:rPr>
              <a:t>testo</a:t>
            </a:r>
            <a:r>
              <a:rPr sz="2700" i="1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cui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l'utente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può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scrivere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contenuto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su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"singola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linea";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3150">
              <a:latin typeface="Calibri"/>
              <a:cs typeface="Calibri"/>
            </a:endParaRPr>
          </a:p>
          <a:p>
            <a:pPr marL="354965" marR="9525" indent="-342900" algn="just">
              <a:lnSpc>
                <a:spcPct val="80000"/>
              </a:lnSpc>
              <a:buFont typeface="Arial MT"/>
              <a:buChar char="•"/>
              <a:tabLst>
                <a:tab pos="355600" algn="l"/>
              </a:tabLst>
            </a:pPr>
            <a:r>
              <a:rPr sz="2700" b="1" dirty="0">
                <a:latin typeface="Calibri"/>
                <a:cs typeface="Calibri"/>
              </a:rPr>
              <a:t>file </a:t>
            </a:r>
            <a:r>
              <a:rPr sz="2700" spc="-5" dirty="0">
                <a:latin typeface="Calibri"/>
                <a:cs typeface="Calibri"/>
              </a:rPr>
              <a:t>- è </a:t>
            </a:r>
            <a:r>
              <a:rPr sz="2700" spc="-20" dirty="0">
                <a:latin typeface="Calibri"/>
                <a:cs typeface="Calibri"/>
              </a:rPr>
              <a:t>utilizzato </a:t>
            </a:r>
            <a:r>
              <a:rPr sz="2700" spc="-5" dirty="0">
                <a:latin typeface="Calibri"/>
                <a:cs typeface="Calibri"/>
              </a:rPr>
              <a:t>per </a:t>
            </a:r>
            <a:r>
              <a:rPr sz="2700" spc="-20" dirty="0">
                <a:latin typeface="Calibri"/>
                <a:cs typeface="Calibri"/>
              </a:rPr>
              <a:t>creare </a:t>
            </a:r>
            <a:r>
              <a:rPr sz="2700" i="1" spc="-10" dirty="0">
                <a:latin typeface="Calibri"/>
                <a:cs typeface="Calibri"/>
              </a:rPr>
              <a:t>caselle </a:t>
            </a:r>
            <a:r>
              <a:rPr sz="2700" i="1" spc="10" dirty="0">
                <a:latin typeface="Calibri"/>
                <a:cs typeface="Calibri"/>
              </a:rPr>
              <a:t>di </a:t>
            </a:r>
            <a:r>
              <a:rPr sz="2700" i="1" spc="-10" dirty="0">
                <a:latin typeface="Calibri"/>
                <a:cs typeface="Calibri"/>
              </a:rPr>
              <a:t>selezione </a:t>
            </a:r>
            <a:r>
              <a:rPr sz="2700" i="1" spc="-5" dirty="0">
                <a:latin typeface="Calibri"/>
                <a:cs typeface="Calibri"/>
              </a:rPr>
              <a:t>di </a:t>
            </a:r>
            <a:r>
              <a:rPr sz="2700" i="1" spc="-10" dirty="0">
                <a:latin typeface="Calibri"/>
                <a:cs typeface="Calibri"/>
              </a:rPr>
              <a:t>file </a:t>
            </a:r>
            <a:r>
              <a:rPr sz="2700" i="1" spc="-25" dirty="0">
                <a:latin typeface="Calibri"/>
                <a:cs typeface="Calibri"/>
              </a:rPr>
              <a:t>in </a:t>
            </a:r>
            <a:r>
              <a:rPr sz="2700" i="1" spc="-20" dirty="0">
                <a:latin typeface="Calibri"/>
                <a:cs typeface="Calibri"/>
              </a:rPr>
              <a:t> </a:t>
            </a:r>
            <a:r>
              <a:rPr sz="2700" i="1" spc="-10" dirty="0">
                <a:latin typeface="Calibri"/>
                <a:cs typeface="Calibri"/>
              </a:rPr>
              <a:t>locale</a:t>
            </a:r>
            <a:r>
              <a:rPr sz="2700" i="1" spc="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fine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poterli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trasmettere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al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server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remoto;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79900"/>
              </a:lnSpc>
              <a:buFont typeface="Arial MT"/>
              <a:buChar char="•"/>
              <a:tabLst>
                <a:tab pos="355600" algn="l"/>
              </a:tabLst>
            </a:pPr>
            <a:r>
              <a:rPr sz="2700" b="1" spc="-10" dirty="0">
                <a:latin typeface="Calibri"/>
                <a:cs typeface="Calibri"/>
              </a:rPr>
              <a:t>radio </a:t>
            </a:r>
            <a:r>
              <a:rPr sz="2700" spc="-5" dirty="0">
                <a:latin typeface="Calibri"/>
                <a:cs typeface="Calibri"/>
              </a:rPr>
              <a:t>- </a:t>
            </a:r>
            <a:r>
              <a:rPr sz="2700" spc="-15" dirty="0">
                <a:latin typeface="Calibri"/>
                <a:cs typeface="Calibri"/>
              </a:rPr>
              <a:t>permette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15" dirty="0">
                <a:latin typeface="Calibri"/>
                <a:cs typeface="Calibri"/>
              </a:rPr>
              <a:t>creare </a:t>
            </a:r>
            <a:r>
              <a:rPr sz="2700" spc="-5" dirty="0">
                <a:latin typeface="Calibri"/>
                <a:cs typeface="Calibri"/>
              </a:rPr>
              <a:t>un </a:t>
            </a:r>
            <a:r>
              <a:rPr sz="2700" dirty="0">
                <a:latin typeface="Calibri"/>
                <a:cs typeface="Calibri"/>
              </a:rPr>
              <a:t>gruppo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10" dirty="0">
                <a:latin typeface="Calibri"/>
                <a:cs typeface="Calibri"/>
              </a:rPr>
              <a:t>opzioni </a:t>
            </a:r>
            <a:r>
              <a:rPr sz="2700" spc="5" dirty="0">
                <a:latin typeface="Calibri"/>
                <a:cs typeface="Calibri"/>
              </a:rPr>
              <a:t>al cui 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interno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deve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essere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fatta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scelta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(non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ammette </a:t>
            </a:r>
            <a:r>
              <a:rPr sz="2700" spc="-15" dirty="0">
                <a:latin typeface="Calibri"/>
                <a:cs typeface="Calibri"/>
              </a:rPr>
              <a:t> scelte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multiple);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8447" y="3533486"/>
            <a:ext cx="1934169" cy="1824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48153" y="4618184"/>
            <a:ext cx="2367049" cy="3513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4435" y="5851411"/>
            <a:ext cx="599445" cy="46666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45311"/>
            <a:ext cx="8071484" cy="42938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6350" indent="-342900" algn="just">
              <a:lnSpc>
                <a:spcPct val="815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450" b="1" spc="15" dirty="0">
                <a:latin typeface="Calibri"/>
                <a:cs typeface="Calibri"/>
              </a:rPr>
              <a:t>checkbox </a:t>
            </a:r>
            <a:r>
              <a:rPr sz="2450" spc="10" dirty="0">
                <a:latin typeface="Calibri"/>
                <a:cs typeface="Calibri"/>
              </a:rPr>
              <a:t>- permette di </a:t>
            </a:r>
            <a:r>
              <a:rPr sz="2450" spc="15" dirty="0">
                <a:latin typeface="Calibri"/>
                <a:cs typeface="Calibri"/>
              </a:rPr>
              <a:t>creare un gruppo di </a:t>
            </a:r>
            <a:r>
              <a:rPr sz="2450" spc="10" dirty="0">
                <a:latin typeface="Calibri"/>
                <a:cs typeface="Calibri"/>
              </a:rPr>
              <a:t>opzioni </a:t>
            </a:r>
            <a:r>
              <a:rPr sz="2450" spc="15" dirty="0">
                <a:latin typeface="Calibri"/>
                <a:cs typeface="Calibri"/>
              </a:rPr>
              <a:t>al cui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interno</a:t>
            </a:r>
            <a:r>
              <a:rPr sz="2450" spc="10" dirty="0">
                <a:latin typeface="Calibri"/>
                <a:cs typeface="Calibri"/>
              </a:rPr>
              <a:t> devono essere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fatta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delle </a:t>
            </a:r>
            <a:r>
              <a:rPr sz="2450" spc="5" dirty="0">
                <a:latin typeface="Calibri"/>
                <a:cs typeface="Calibri"/>
              </a:rPr>
              <a:t>scelte</a:t>
            </a:r>
            <a:r>
              <a:rPr sz="2450" spc="10" dirty="0">
                <a:latin typeface="Calibri"/>
                <a:cs typeface="Calibri"/>
              </a:rPr>
              <a:t> (ammette</a:t>
            </a:r>
            <a:r>
              <a:rPr sz="2450" spc="15" dirty="0">
                <a:latin typeface="Calibri"/>
                <a:cs typeface="Calibri"/>
              </a:rPr>
              <a:t> scelte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multiple);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54965" marR="5080" indent="-342900" algn="just">
              <a:lnSpc>
                <a:spcPts val="2410"/>
              </a:lnSpc>
              <a:buFont typeface="Arial MT"/>
              <a:buChar char="•"/>
              <a:tabLst>
                <a:tab pos="355600" algn="l"/>
              </a:tabLst>
            </a:pPr>
            <a:r>
              <a:rPr sz="2450" b="1" spc="5" dirty="0">
                <a:latin typeface="Calibri"/>
                <a:cs typeface="Calibri"/>
              </a:rPr>
              <a:t>button </a:t>
            </a:r>
            <a:r>
              <a:rPr sz="2450" spc="10" dirty="0">
                <a:latin typeface="Calibri"/>
                <a:cs typeface="Calibri"/>
              </a:rPr>
              <a:t>- permette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5" dirty="0">
                <a:latin typeface="Calibri"/>
                <a:cs typeface="Calibri"/>
              </a:rPr>
              <a:t>creare bottoni </a:t>
            </a:r>
            <a:r>
              <a:rPr sz="2450" spc="15" dirty="0">
                <a:latin typeface="Calibri"/>
                <a:cs typeface="Calibri"/>
              </a:rPr>
              <a:t>"neutri" ai quali, </a:t>
            </a:r>
            <a:r>
              <a:rPr sz="2450" spc="10" dirty="0">
                <a:latin typeface="Calibri"/>
                <a:cs typeface="Calibri"/>
              </a:rPr>
              <a:t>cioè,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può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essere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associata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un'azione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mediante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Javascript;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54965" marR="6350" indent="-342900" algn="just">
              <a:lnSpc>
                <a:spcPts val="2410"/>
              </a:lnSpc>
              <a:buFont typeface="Arial MT"/>
              <a:buChar char="•"/>
              <a:tabLst>
                <a:tab pos="355600" algn="l"/>
              </a:tabLst>
            </a:pPr>
            <a:r>
              <a:rPr sz="2450" b="1" spc="15" dirty="0">
                <a:latin typeface="Calibri"/>
                <a:cs typeface="Calibri"/>
              </a:rPr>
              <a:t>submit </a:t>
            </a:r>
            <a:r>
              <a:rPr sz="2450" spc="10" dirty="0">
                <a:latin typeface="Calibri"/>
                <a:cs typeface="Calibri"/>
              </a:rPr>
              <a:t>-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permette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di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creare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bottoni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invio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attraverso</a:t>
            </a:r>
            <a:r>
              <a:rPr sz="2450" spc="53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quali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viene,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appunto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inviato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processato</a:t>
            </a:r>
            <a:r>
              <a:rPr sz="2450" spc="12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form;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450">
              <a:latin typeface="Calibri"/>
              <a:cs typeface="Calibri"/>
            </a:endParaRPr>
          </a:p>
          <a:p>
            <a:pPr marL="354965" marR="6350" indent="-342900" algn="just">
              <a:lnSpc>
                <a:spcPct val="82100"/>
              </a:lnSpc>
              <a:buFont typeface="Arial MT"/>
              <a:buChar char="•"/>
              <a:tabLst>
                <a:tab pos="355600" algn="l"/>
              </a:tabLst>
            </a:pPr>
            <a:r>
              <a:rPr sz="2450" b="1" dirty="0">
                <a:latin typeface="Calibri"/>
                <a:cs typeface="Calibri"/>
              </a:rPr>
              <a:t>reset </a:t>
            </a:r>
            <a:r>
              <a:rPr sz="2450" spc="10" dirty="0">
                <a:latin typeface="Calibri"/>
                <a:cs typeface="Calibri"/>
              </a:rPr>
              <a:t>- permette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5" dirty="0">
                <a:latin typeface="Calibri"/>
                <a:cs typeface="Calibri"/>
              </a:rPr>
              <a:t>creare bottoni </a:t>
            </a:r>
            <a:r>
              <a:rPr sz="2450" spc="15" dirty="0">
                <a:latin typeface="Calibri"/>
                <a:cs typeface="Calibri"/>
              </a:rPr>
              <a:t>per </a:t>
            </a:r>
            <a:r>
              <a:rPr sz="2450" spc="5" dirty="0">
                <a:latin typeface="Calibri"/>
                <a:cs typeface="Calibri"/>
              </a:rPr>
              <a:t>il reset </a:t>
            </a:r>
            <a:r>
              <a:rPr sz="2450" spc="10" dirty="0">
                <a:latin typeface="Calibri"/>
                <a:cs typeface="Calibri"/>
              </a:rPr>
              <a:t>del </a:t>
            </a:r>
            <a:r>
              <a:rPr sz="2450" spc="5" dirty="0">
                <a:latin typeface="Calibri"/>
                <a:cs typeface="Calibri"/>
              </a:rPr>
              <a:t>form (in 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sostanza </a:t>
            </a:r>
            <a:r>
              <a:rPr sz="2450" spc="15" dirty="0">
                <a:latin typeface="Calibri"/>
                <a:cs typeface="Calibri"/>
              </a:rPr>
              <a:t>vengono </a:t>
            </a:r>
            <a:r>
              <a:rPr sz="2450" spc="5" dirty="0">
                <a:latin typeface="Calibri"/>
                <a:cs typeface="Calibri"/>
              </a:rPr>
              <a:t>cancellate le </a:t>
            </a:r>
            <a:r>
              <a:rPr sz="2450" spc="10" dirty="0">
                <a:latin typeface="Calibri"/>
                <a:cs typeface="Calibri"/>
              </a:rPr>
              <a:t>scelte </a:t>
            </a:r>
            <a:r>
              <a:rPr sz="2450" spc="-5" dirty="0">
                <a:latin typeface="Calibri"/>
                <a:cs typeface="Calibri"/>
              </a:rPr>
              <a:t>effettuate </a:t>
            </a:r>
            <a:r>
              <a:rPr sz="2450" spc="10" dirty="0">
                <a:latin typeface="Calibri"/>
                <a:cs typeface="Calibri"/>
              </a:rPr>
              <a:t>dall'utente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ed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modulo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torna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al</a:t>
            </a:r>
            <a:r>
              <a:rPr sz="2450" spc="10" dirty="0">
                <a:latin typeface="Calibri"/>
                <a:cs typeface="Calibri"/>
              </a:rPr>
              <a:t> suo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stato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iniziale).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1960" y="1846846"/>
            <a:ext cx="1666620" cy="6441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38618" y="2842298"/>
            <a:ext cx="657644" cy="4594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22464" y="3932339"/>
            <a:ext cx="698182" cy="400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05439" y="5366210"/>
            <a:ext cx="483454" cy="20044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654662"/>
            <a:ext cx="5257800" cy="195643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091180">
              <a:lnSpc>
                <a:spcPct val="100000"/>
              </a:lnSpc>
              <a:spcBef>
                <a:spcPts val="1385"/>
              </a:spcBef>
            </a:pPr>
            <a:r>
              <a:rPr dirty="0"/>
              <a:t>&lt;select&gt;</a:t>
            </a:r>
          </a:p>
          <a:p>
            <a:pPr marL="12700" marR="5080">
              <a:lnSpc>
                <a:spcPct val="100800"/>
              </a:lnSpc>
              <a:spcBef>
                <a:spcPts val="894"/>
              </a:spcBef>
              <a:tabLst>
                <a:tab pos="972185" algn="l"/>
                <a:tab pos="1855470" algn="l"/>
                <a:tab pos="3225800" algn="l"/>
                <a:tab pos="3789045" algn="l"/>
              </a:tabLst>
            </a:pPr>
            <a:r>
              <a:rPr sz="3200" spc="-5" dirty="0"/>
              <a:t>c</a:t>
            </a:r>
            <a:r>
              <a:rPr sz="3200" spc="-60" dirty="0"/>
              <a:t>r</a:t>
            </a:r>
            <a:r>
              <a:rPr sz="3200" spc="-5" dirty="0"/>
              <a:t>ea</a:t>
            </a:r>
            <a:r>
              <a:rPr sz="3200" dirty="0"/>
              <a:t>	</a:t>
            </a:r>
            <a:r>
              <a:rPr sz="3200" spc="15" dirty="0"/>
              <a:t>u</a:t>
            </a:r>
            <a:r>
              <a:rPr sz="3200" spc="-10" dirty="0"/>
              <a:t>n</a:t>
            </a:r>
            <a:r>
              <a:rPr sz="3200" spc="-5" dirty="0"/>
              <a:t>a</a:t>
            </a:r>
            <a:r>
              <a:rPr sz="3200" dirty="0"/>
              <a:t>	</a:t>
            </a:r>
            <a:r>
              <a:rPr sz="3200" spc="-5" dirty="0"/>
              <a:t>ca</a:t>
            </a:r>
            <a:r>
              <a:rPr sz="3200" spc="-25" dirty="0"/>
              <a:t>s</a:t>
            </a:r>
            <a:r>
              <a:rPr sz="3200" spc="-5" dirty="0"/>
              <a:t>e</a:t>
            </a:r>
            <a:r>
              <a:rPr sz="3200" spc="5" dirty="0"/>
              <a:t>l</a:t>
            </a:r>
            <a:r>
              <a:rPr sz="3200" dirty="0"/>
              <a:t>l</a:t>
            </a:r>
            <a:r>
              <a:rPr sz="3200" spc="-5" dirty="0"/>
              <a:t>a</a:t>
            </a:r>
            <a:r>
              <a:rPr sz="3200" dirty="0"/>
              <a:t>	</a:t>
            </a:r>
            <a:r>
              <a:rPr sz="3200" spc="-20" dirty="0"/>
              <a:t>d</a:t>
            </a:r>
            <a:r>
              <a:rPr sz="3200" spc="-5" dirty="0"/>
              <a:t>i</a:t>
            </a:r>
            <a:r>
              <a:rPr sz="3200" dirty="0"/>
              <a:t>	</a:t>
            </a:r>
            <a:r>
              <a:rPr sz="3200" spc="-20" dirty="0"/>
              <a:t>r</a:t>
            </a:r>
            <a:r>
              <a:rPr sz="3200" dirty="0"/>
              <a:t>i</a:t>
            </a:r>
            <a:r>
              <a:rPr sz="3200" spc="30" dirty="0"/>
              <a:t>e</a:t>
            </a:r>
            <a:r>
              <a:rPr sz="3200" spc="-20" dirty="0"/>
              <a:t>p</a:t>
            </a:r>
            <a:r>
              <a:rPr sz="3200" dirty="0"/>
              <a:t>il</a:t>
            </a:r>
            <a:r>
              <a:rPr sz="3200" spc="-25" dirty="0"/>
              <a:t>o</a:t>
            </a:r>
            <a:r>
              <a:rPr sz="3200" spc="-20" dirty="0"/>
              <a:t>g</a:t>
            </a:r>
            <a:r>
              <a:rPr sz="3200" spc="-5" dirty="0"/>
              <a:t>o  </a:t>
            </a:r>
            <a:r>
              <a:rPr sz="3200" spc="-20" dirty="0"/>
              <a:t>chiamata</a:t>
            </a:r>
            <a:r>
              <a:rPr sz="3200" spc="95" dirty="0"/>
              <a:t> </a:t>
            </a:r>
            <a:r>
              <a:rPr sz="3200" dirty="0"/>
              <a:t>in</a:t>
            </a:r>
            <a:r>
              <a:rPr sz="3200" spc="-30" dirty="0"/>
              <a:t> </a:t>
            </a:r>
            <a:r>
              <a:rPr sz="3200" spc="-35" dirty="0"/>
              <a:t>gergo</a:t>
            </a:r>
            <a:r>
              <a:rPr sz="3200" spc="75" dirty="0"/>
              <a:t> </a:t>
            </a:r>
            <a:r>
              <a:rPr sz="3200" b="1" spc="-20" dirty="0">
                <a:latin typeface="Calibri"/>
                <a:cs typeface="Calibri"/>
              </a:rPr>
              <a:t>selectbox</a:t>
            </a:r>
            <a:r>
              <a:rPr sz="3200" spc="-20" dirty="0"/>
              <a:t>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29833" y="1607121"/>
            <a:ext cx="25781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7359" algn="l"/>
              </a:tabLst>
            </a:pPr>
            <a:r>
              <a:rPr sz="3200" spc="-5" dirty="0">
                <a:latin typeface="Calibri"/>
                <a:cs typeface="Calibri"/>
              </a:rPr>
              <a:t>a	</a:t>
            </a:r>
            <a:r>
              <a:rPr sz="3200" spc="-15" dirty="0">
                <a:latin typeface="Calibri"/>
                <a:cs typeface="Calibri"/>
              </a:rPr>
              <a:t>scorrimento,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44" y="3143314"/>
            <a:ext cx="8070215" cy="290703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280"/>
              </a:spcBef>
            </a:pPr>
            <a:r>
              <a:rPr sz="4400" spc="-25" dirty="0">
                <a:latin typeface="Calibri"/>
                <a:cs typeface="Calibri"/>
              </a:rPr>
              <a:t>&lt;textarea&gt;</a:t>
            </a:r>
            <a:endParaRPr sz="4400">
              <a:latin typeface="Calibri"/>
              <a:cs typeface="Calibri"/>
            </a:endParaRPr>
          </a:p>
          <a:p>
            <a:pPr marL="12700" marR="5080" algn="just">
              <a:lnSpc>
                <a:spcPct val="100099"/>
              </a:lnSpc>
              <a:spcBef>
                <a:spcPts val="850"/>
              </a:spcBef>
            </a:pPr>
            <a:r>
              <a:rPr sz="3200" spc="-25" dirty="0">
                <a:latin typeface="Calibri"/>
                <a:cs typeface="Calibri"/>
              </a:rPr>
              <a:t>genera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un'area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testo </a:t>
            </a:r>
            <a:r>
              <a:rPr sz="3200" dirty="0">
                <a:latin typeface="Calibri"/>
                <a:cs typeface="Calibri"/>
              </a:rPr>
              <a:t>in cui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dirty="0">
                <a:latin typeface="Calibri"/>
                <a:cs typeface="Calibri"/>
              </a:rPr>
              <a:t>possibile </a:t>
            </a:r>
            <a:r>
              <a:rPr sz="3200" spc="-10" dirty="0">
                <a:latin typeface="Calibri"/>
                <a:cs typeface="Calibri"/>
              </a:rPr>
              <a:t>andare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capo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viene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utilizzata</a:t>
            </a:r>
            <a:r>
              <a:rPr sz="3200" spc="-10" dirty="0">
                <a:latin typeface="Calibri"/>
                <a:cs typeface="Calibri"/>
              </a:rPr>
              <a:t> per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permettere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 </a:t>
            </a:r>
            <a:r>
              <a:rPr sz="3200" spc="-15" dirty="0">
                <a:latin typeface="Calibri"/>
                <a:cs typeface="Calibri"/>
              </a:rPr>
              <a:t> inserire </a:t>
            </a:r>
            <a:r>
              <a:rPr sz="3200" spc="-5" dirty="0">
                <a:latin typeface="Calibri"/>
                <a:cs typeface="Calibri"/>
              </a:rPr>
              <a:t>descrizioni, </a:t>
            </a:r>
            <a:r>
              <a:rPr sz="3200" spc="-10" dirty="0">
                <a:latin typeface="Calibri"/>
                <a:cs typeface="Calibri"/>
              </a:rPr>
              <a:t>commenti </a:t>
            </a:r>
            <a:r>
              <a:rPr sz="3200" spc="-5" dirty="0">
                <a:latin typeface="Calibri"/>
                <a:cs typeface="Calibri"/>
              </a:rPr>
              <a:t>o </a:t>
            </a:r>
            <a:r>
              <a:rPr sz="3200" dirty="0">
                <a:latin typeface="Calibri"/>
                <a:cs typeface="Calibri"/>
              </a:rPr>
              <a:t>comunque </a:t>
            </a:r>
            <a:r>
              <a:rPr sz="3200" spc="-20" dirty="0">
                <a:latin typeface="Calibri"/>
                <a:cs typeface="Calibri"/>
              </a:rPr>
              <a:t>testi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piuttosto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lunghi.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0052" y="2332169"/>
            <a:ext cx="2027478" cy="8226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185" y="5730822"/>
            <a:ext cx="3732481" cy="88622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965034"/>
            <a:ext cx="5106670" cy="5184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8900" marR="1852930" indent="-76835">
              <a:lnSpc>
                <a:spcPct val="100000"/>
              </a:lnSpc>
              <a:spcBef>
                <a:spcPts val="110"/>
              </a:spcBef>
            </a:pPr>
            <a:r>
              <a:rPr sz="1300" spc="-5" dirty="0">
                <a:latin typeface="Calibri"/>
                <a:cs typeface="Calibri"/>
              </a:rPr>
              <a:t>&lt;form method="post" action="esegui.php"&gt; 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15" dirty="0">
                <a:latin typeface="Calibri"/>
                <a:cs typeface="Calibri"/>
              </a:rPr>
              <a:t>Nome</a:t>
            </a:r>
            <a:r>
              <a:rPr sz="1300" spc="20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&lt;input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type="text"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name="nome"&gt;&lt;br&gt;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300" spc="5" dirty="0">
                <a:latin typeface="Calibri"/>
                <a:cs typeface="Calibri"/>
              </a:rPr>
              <a:t>Cognome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&lt;input</a:t>
            </a:r>
            <a:r>
              <a:rPr sz="1300" spc="8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type="text"</a:t>
            </a:r>
            <a:r>
              <a:rPr sz="1300" spc="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name="cognome"&gt;&lt;br&gt;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Paese&lt;br&gt;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latin typeface="Calibri"/>
                <a:cs typeface="Calibri"/>
              </a:rPr>
              <a:t>&lt;select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name="paese"&gt;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dirty="0">
                <a:latin typeface="Calibri"/>
                <a:cs typeface="Calibri"/>
              </a:rPr>
              <a:t>&lt;option </a:t>
            </a:r>
            <a:r>
              <a:rPr sz="1300" spc="-10" dirty="0">
                <a:latin typeface="Calibri"/>
                <a:cs typeface="Calibri"/>
              </a:rPr>
              <a:t>value="I"&gt;Italia&lt;/option&gt;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&lt;option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value="E"&gt;Estero&lt;/option&gt;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15" dirty="0">
                <a:latin typeface="Calibri"/>
                <a:cs typeface="Calibri"/>
              </a:rPr>
              <a:t>&lt;/select&gt;&lt;br&gt;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Sesso&lt;br&gt;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15" dirty="0">
                <a:latin typeface="Calibri"/>
                <a:cs typeface="Calibri"/>
              </a:rPr>
              <a:t>&lt;input</a:t>
            </a:r>
            <a:r>
              <a:rPr sz="1300" spc="8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type="radio" name="sesso"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value="M"&gt;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M&lt;br&gt;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latin typeface="Calibri"/>
                <a:cs typeface="Calibri"/>
              </a:rPr>
              <a:t>&lt;input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type="radio"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name="sesso"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value="F"&gt;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F&lt;br&gt;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dirty="0">
                <a:latin typeface="Calibri"/>
                <a:cs typeface="Calibri"/>
              </a:rPr>
              <a:t>Hobby&lt;br&gt;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&lt;input</a:t>
            </a:r>
            <a:r>
              <a:rPr sz="1300" spc="7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type="checkbox"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name="hobby"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value="S"&gt;</a:t>
            </a:r>
            <a:r>
              <a:rPr sz="1300" dirty="0">
                <a:latin typeface="Calibri"/>
                <a:cs typeface="Calibri"/>
              </a:rPr>
              <a:t> Sport&lt;br&gt;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latin typeface="Calibri"/>
                <a:cs typeface="Calibri"/>
              </a:rPr>
              <a:t>&lt;input</a:t>
            </a:r>
            <a:r>
              <a:rPr sz="1300" spc="7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type="checkbox"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name="hobby"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value="L"&gt;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Lettura&lt;br&gt;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&lt;input</a:t>
            </a:r>
            <a:r>
              <a:rPr sz="1300" spc="8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type="checkbox" </a:t>
            </a:r>
            <a:r>
              <a:rPr sz="1300" dirty="0">
                <a:latin typeface="Calibri"/>
                <a:cs typeface="Calibri"/>
              </a:rPr>
              <a:t>name="hobby"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value="C"&gt;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Cinema&lt;br&gt;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15" dirty="0">
                <a:latin typeface="Calibri"/>
                <a:cs typeface="Calibri"/>
              </a:rPr>
              <a:t>&lt;input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type="checkbox"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name="hobby"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value="I"&gt;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Internet&lt;br&gt;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300" spc="5" dirty="0">
                <a:latin typeface="Calibri"/>
                <a:cs typeface="Calibri"/>
              </a:rPr>
              <a:t>Commento</a:t>
            </a:r>
            <a:r>
              <a:rPr sz="1300" spc="-8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&lt;textarea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name="commento"</a:t>
            </a:r>
            <a:r>
              <a:rPr sz="1300" spc="-10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rows="5"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cols="30"&gt;&lt;/textarea&gt;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&lt;br&gt;&lt;br&gt;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&lt;!-- </a:t>
            </a:r>
            <a:r>
              <a:rPr sz="1300" spc="5" dirty="0">
                <a:latin typeface="Calibri"/>
                <a:cs typeface="Calibri"/>
              </a:rPr>
              <a:t>SUBMIT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--&gt;</a:t>
            </a:r>
            <a:endParaRPr sz="1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&lt;input</a:t>
            </a:r>
            <a:r>
              <a:rPr sz="1300" spc="8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type="submit"</a:t>
            </a:r>
            <a:r>
              <a:rPr sz="1300" spc="6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name="invia"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value="Invia</a:t>
            </a:r>
            <a:r>
              <a:rPr sz="1300" spc="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dati"&gt;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5" dirty="0">
                <a:latin typeface="Calibri"/>
                <a:cs typeface="Calibri"/>
              </a:rPr>
              <a:t>&lt;/form&gt;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361" y="851382"/>
            <a:ext cx="3338629" cy="566380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0450" y="889965"/>
            <a:ext cx="44894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Alcune</a:t>
            </a:r>
            <a:r>
              <a:rPr spc="-5" dirty="0"/>
              <a:t> </a:t>
            </a:r>
            <a:r>
              <a:rPr spc="-10" dirty="0"/>
              <a:t>osservazioni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55787"/>
            <a:ext cx="8078470" cy="44145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4965" marR="7620" indent="-342900" algn="just">
              <a:lnSpc>
                <a:spcPct val="8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ogni </a:t>
            </a:r>
            <a:r>
              <a:rPr sz="2700" spc="-15" dirty="0">
                <a:latin typeface="Calibri"/>
                <a:cs typeface="Calibri"/>
              </a:rPr>
              <a:t>elemento </a:t>
            </a:r>
            <a:r>
              <a:rPr sz="2700" spc="-5" dirty="0">
                <a:latin typeface="Calibri"/>
                <a:cs typeface="Calibri"/>
              </a:rPr>
              <a:t>dei </a:t>
            </a:r>
            <a:r>
              <a:rPr sz="2700" spc="-25" dirty="0">
                <a:latin typeface="Calibri"/>
                <a:cs typeface="Calibri"/>
              </a:rPr>
              <a:t>form </a:t>
            </a:r>
            <a:r>
              <a:rPr sz="2700" spc="-10" dirty="0">
                <a:latin typeface="Calibri"/>
                <a:cs typeface="Calibri"/>
              </a:rPr>
              <a:t>HTML </a:t>
            </a:r>
            <a:r>
              <a:rPr sz="2700" spc="-5" dirty="0">
                <a:latin typeface="Calibri"/>
                <a:cs typeface="Calibri"/>
              </a:rPr>
              <a:t>ha una </a:t>
            </a:r>
            <a:r>
              <a:rPr sz="2700" spc="-25" dirty="0">
                <a:latin typeface="Calibri"/>
                <a:cs typeface="Calibri"/>
              </a:rPr>
              <a:t>caratteristica in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comune, </a:t>
            </a:r>
            <a:r>
              <a:rPr sz="2700" spc="-15" dirty="0">
                <a:latin typeface="Calibri"/>
                <a:cs typeface="Calibri"/>
              </a:rPr>
              <a:t>ovvero </a:t>
            </a:r>
            <a:r>
              <a:rPr sz="2700" spc="5" dirty="0">
                <a:latin typeface="Calibri"/>
                <a:cs typeface="Calibri"/>
              </a:rPr>
              <a:t>la </a:t>
            </a:r>
            <a:r>
              <a:rPr sz="2700" spc="-5" dirty="0">
                <a:latin typeface="Calibri"/>
                <a:cs typeface="Calibri"/>
              </a:rPr>
              <a:t>specifica del </a:t>
            </a:r>
            <a:r>
              <a:rPr sz="2700" b="1" spc="-5" dirty="0">
                <a:latin typeface="Calibri"/>
                <a:cs typeface="Calibri"/>
              </a:rPr>
              <a:t>name </a:t>
            </a:r>
            <a:r>
              <a:rPr sz="2700" spc="-5" dirty="0">
                <a:latin typeface="Calibri"/>
                <a:cs typeface="Calibri"/>
              </a:rPr>
              <a:t>che dev'essere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diverso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da </a:t>
            </a:r>
            <a:r>
              <a:rPr sz="2700" spc="-15" dirty="0">
                <a:latin typeface="Calibri"/>
                <a:cs typeface="Calibri"/>
              </a:rPr>
              <a:t>elemento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spc="-10" dirty="0">
                <a:latin typeface="Calibri"/>
                <a:cs typeface="Calibri"/>
              </a:rPr>
              <a:t>elemento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ed </a:t>
            </a:r>
            <a:r>
              <a:rPr sz="2700" spc="-10" dirty="0">
                <a:latin typeface="Calibri"/>
                <a:cs typeface="Calibri"/>
              </a:rPr>
              <a:t>uguale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solo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per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gruppi </a:t>
            </a:r>
            <a:r>
              <a:rPr sz="2700" spc="-5" dirty="0">
                <a:latin typeface="Calibri"/>
                <a:cs typeface="Calibri"/>
              </a:rPr>
              <a:t>di elementi </a:t>
            </a:r>
            <a:r>
              <a:rPr sz="2700" spc="-10" dirty="0">
                <a:latin typeface="Calibri"/>
                <a:cs typeface="Calibri"/>
              </a:rPr>
              <a:t>(come </a:t>
            </a:r>
            <a:r>
              <a:rPr sz="2700" spc="-5" dirty="0">
                <a:latin typeface="Calibri"/>
                <a:cs typeface="Calibri"/>
              </a:rPr>
              <a:t>nel </a:t>
            </a:r>
            <a:r>
              <a:rPr sz="2700" spc="-10" dirty="0">
                <a:latin typeface="Calibri"/>
                <a:cs typeface="Calibri"/>
              </a:rPr>
              <a:t>caso </a:t>
            </a:r>
            <a:r>
              <a:rPr sz="2700" spc="-5" dirty="0">
                <a:latin typeface="Calibri"/>
                <a:cs typeface="Calibri"/>
              </a:rPr>
              <a:t>dei </a:t>
            </a:r>
            <a:r>
              <a:rPr sz="2700" spc="-20" dirty="0">
                <a:latin typeface="Calibri"/>
                <a:cs typeface="Calibri"/>
              </a:rPr>
              <a:t>radiobutton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spc="-10" dirty="0">
                <a:latin typeface="Calibri"/>
                <a:cs typeface="Calibri"/>
              </a:rPr>
              <a:t>dei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checkbox);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450">
              <a:latin typeface="Calibri"/>
              <a:cs typeface="Calibri"/>
            </a:endParaRPr>
          </a:p>
          <a:p>
            <a:pPr marL="354965" marR="16510" indent="-342900" algn="just">
              <a:lnSpc>
                <a:spcPct val="8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tag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input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prevedono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(oltre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i="1" spc="-10" dirty="0">
                <a:latin typeface="Calibri"/>
                <a:cs typeface="Calibri"/>
              </a:rPr>
              <a:t>name</a:t>
            </a:r>
            <a:r>
              <a:rPr sz="2700" spc="-10" dirty="0">
                <a:latin typeface="Calibri"/>
                <a:cs typeface="Calibri"/>
              </a:rPr>
              <a:t>)</a:t>
            </a:r>
            <a:r>
              <a:rPr sz="2700" spc="-5" dirty="0">
                <a:latin typeface="Calibri"/>
                <a:cs typeface="Calibri"/>
              </a:rPr>
              <a:t> due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attributi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principali:</a:t>
            </a:r>
            <a:endParaRPr sz="2700">
              <a:latin typeface="Calibri"/>
              <a:cs typeface="Calibri"/>
            </a:endParaRPr>
          </a:p>
          <a:p>
            <a:pPr marL="755650" lvl="1" indent="-283845" algn="just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i="1" spc="-5" dirty="0">
                <a:latin typeface="Calibri"/>
                <a:cs typeface="Calibri"/>
              </a:rPr>
              <a:t>type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che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definisce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il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tipo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di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input;</a:t>
            </a:r>
            <a:endParaRPr sz="2400">
              <a:latin typeface="Calibri"/>
              <a:cs typeface="Calibri"/>
            </a:endParaRPr>
          </a:p>
          <a:p>
            <a:pPr marL="755650" marR="5080" lvl="1" indent="-283845" algn="just">
              <a:lnSpc>
                <a:spcPct val="80100"/>
              </a:lnSpc>
              <a:spcBef>
                <a:spcPts val="60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i="1" dirty="0">
                <a:latin typeface="Calibri"/>
                <a:cs typeface="Calibri"/>
              </a:rPr>
              <a:t>value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definisce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il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valore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dell'input;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nei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campi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"text"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è 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facoltativo </a:t>
            </a:r>
            <a:r>
              <a:rPr sz="2400" spc="5" dirty="0">
                <a:latin typeface="Calibri"/>
                <a:cs typeface="Calibri"/>
              </a:rPr>
              <a:t>e, </a:t>
            </a:r>
            <a:r>
              <a:rPr sz="2400" spc="10" dirty="0">
                <a:latin typeface="Calibri"/>
                <a:cs typeface="Calibri"/>
              </a:rPr>
              <a:t>se </a:t>
            </a:r>
            <a:r>
              <a:rPr sz="2400" spc="-15" dirty="0">
                <a:latin typeface="Calibri"/>
                <a:cs typeface="Calibri"/>
              </a:rPr>
              <a:t>previsto, rappresenta </a:t>
            </a:r>
            <a:r>
              <a:rPr sz="2400" spc="-5" dirty="0">
                <a:latin typeface="Calibri"/>
                <a:cs typeface="Calibri"/>
              </a:rPr>
              <a:t>una sorta </a:t>
            </a:r>
            <a:r>
              <a:rPr sz="2400" spc="5" dirty="0">
                <a:latin typeface="Calibri"/>
                <a:cs typeface="Calibri"/>
              </a:rPr>
              <a:t>di </a:t>
            </a:r>
            <a:r>
              <a:rPr sz="2400" spc="-15" dirty="0">
                <a:latin typeface="Calibri"/>
                <a:cs typeface="Calibri"/>
              </a:rPr>
              <a:t>valore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predefinito che </a:t>
            </a:r>
            <a:r>
              <a:rPr sz="2400" spc="-10" dirty="0">
                <a:latin typeface="Calibri"/>
                <a:cs typeface="Calibri"/>
              </a:rPr>
              <a:t>gli utenti potranno modificare (a </a:t>
            </a:r>
            <a:r>
              <a:rPr sz="2400" spc="5" dirty="0">
                <a:latin typeface="Calibri"/>
                <a:cs typeface="Calibri"/>
              </a:rPr>
              <a:t>meno </a:t>
            </a:r>
            <a:r>
              <a:rPr sz="2400" spc="-5" dirty="0">
                <a:latin typeface="Calibri"/>
                <a:cs typeface="Calibri"/>
              </a:rPr>
              <a:t>che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il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campo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non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sia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impostato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read</a:t>
            </a:r>
            <a:r>
              <a:rPr sz="2400" i="1" spc="25" dirty="0">
                <a:latin typeface="Calibri"/>
                <a:cs typeface="Calibri"/>
              </a:rPr>
              <a:t> </a:t>
            </a:r>
            <a:r>
              <a:rPr sz="2400" i="1" spc="5" dirty="0">
                <a:latin typeface="Calibri"/>
                <a:cs typeface="Calibri"/>
              </a:rPr>
              <a:t>only</a:t>
            </a:r>
            <a:r>
              <a:rPr sz="2400" spc="5" dirty="0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45311"/>
            <a:ext cx="8075295" cy="48393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8255" indent="-342900" algn="just">
              <a:lnSpc>
                <a:spcPct val="815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450" spc="10" dirty="0">
                <a:latin typeface="Calibri"/>
                <a:cs typeface="Calibri"/>
              </a:rPr>
              <a:t>gli </a:t>
            </a:r>
            <a:r>
              <a:rPr sz="2450" spc="15" dirty="0">
                <a:latin typeface="Calibri"/>
                <a:cs typeface="Calibri"/>
              </a:rPr>
              <a:t>input </a:t>
            </a:r>
            <a:r>
              <a:rPr sz="2450" b="1" dirty="0">
                <a:latin typeface="Calibri"/>
                <a:cs typeface="Calibri"/>
              </a:rPr>
              <a:t>radio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b="1" spc="15" dirty="0">
                <a:latin typeface="Calibri"/>
                <a:cs typeface="Calibri"/>
              </a:rPr>
              <a:t>checkbox </a:t>
            </a:r>
            <a:r>
              <a:rPr sz="2450" spc="15" dirty="0">
                <a:latin typeface="Calibri"/>
                <a:cs typeface="Calibri"/>
              </a:rPr>
              <a:t>ammettono </a:t>
            </a:r>
            <a:r>
              <a:rPr sz="2450" spc="5" dirty="0">
                <a:latin typeface="Calibri"/>
                <a:cs typeface="Calibri"/>
              </a:rPr>
              <a:t>l'attributo </a:t>
            </a:r>
            <a:r>
              <a:rPr sz="2450" i="1" spc="5" dirty="0">
                <a:latin typeface="Calibri"/>
                <a:cs typeface="Calibri"/>
              </a:rPr>
              <a:t>checked </a:t>
            </a:r>
            <a:r>
              <a:rPr sz="2450" i="1" spc="1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qualora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campo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debba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comparire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come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selezionato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al 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momento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del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caricamento</a:t>
            </a:r>
            <a:r>
              <a:rPr sz="2450" spc="16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della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pagina;</a:t>
            </a:r>
            <a:endParaRPr sz="245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81800"/>
              </a:lnSpc>
              <a:spcBef>
                <a:spcPts val="2030"/>
              </a:spcBef>
              <a:buFont typeface="Arial MT"/>
              <a:buChar char="•"/>
              <a:tabLst>
                <a:tab pos="355600" algn="l"/>
              </a:tabLst>
            </a:pPr>
            <a:r>
              <a:rPr sz="2450" spc="10" dirty="0">
                <a:latin typeface="Calibri"/>
                <a:cs typeface="Calibri"/>
              </a:rPr>
              <a:t>all'interno del </a:t>
            </a:r>
            <a:r>
              <a:rPr sz="2450" dirty="0">
                <a:latin typeface="Calibri"/>
                <a:cs typeface="Calibri"/>
              </a:rPr>
              <a:t>tag </a:t>
            </a:r>
            <a:r>
              <a:rPr sz="2450" i="1" spc="15" dirty="0">
                <a:latin typeface="Calibri"/>
                <a:cs typeface="Calibri"/>
              </a:rPr>
              <a:t>select </a:t>
            </a:r>
            <a:r>
              <a:rPr sz="2450" spc="15" dirty="0">
                <a:latin typeface="Calibri"/>
                <a:cs typeface="Calibri"/>
              </a:rPr>
              <a:t>vengono </a:t>
            </a:r>
            <a:r>
              <a:rPr sz="2450" spc="10" dirty="0">
                <a:latin typeface="Calibri"/>
                <a:cs typeface="Calibri"/>
              </a:rPr>
              <a:t>annidati </a:t>
            </a:r>
            <a:r>
              <a:rPr sz="2450" spc="15" dirty="0">
                <a:latin typeface="Calibri"/>
                <a:cs typeface="Calibri"/>
              </a:rPr>
              <a:t>delle </a:t>
            </a:r>
            <a:r>
              <a:rPr sz="2450" spc="10" dirty="0">
                <a:latin typeface="Calibri"/>
                <a:cs typeface="Calibri"/>
              </a:rPr>
              <a:t>sequenze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tag </a:t>
            </a:r>
            <a:r>
              <a:rPr sz="2450" b="1" spc="15" dirty="0">
                <a:latin typeface="Calibri"/>
                <a:cs typeface="Calibri"/>
              </a:rPr>
              <a:t>option </a:t>
            </a:r>
            <a:r>
              <a:rPr sz="2450" spc="10" dirty="0">
                <a:latin typeface="Calibri"/>
                <a:cs typeface="Calibri"/>
              </a:rPr>
              <a:t>contenenti </a:t>
            </a:r>
            <a:r>
              <a:rPr sz="2450" spc="25" dirty="0">
                <a:latin typeface="Calibri"/>
                <a:cs typeface="Calibri"/>
              </a:rPr>
              <a:t>le </a:t>
            </a:r>
            <a:r>
              <a:rPr sz="2450" spc="10" dirty="0">
                <a:latin typeface="Calibri"/>
                <a:cs typeface="Calibri"/>
              </a:rPr>
              <a:t>varie opzioni </a:t>
            </a:r>
            <a:r>
              <a:rPr sz="2450" spc="15" dirty="0">
                <a:latin typeface="Calibri"/>
                <a:cs typeface="Calibri"/>
              </a:rPr>
              <a:t>disponibili </a:t>
            </a:r>
            <a:r>
              <a:rPr sz="2450" spc="10" dirty="0">
                <a:latin typeface="Calibri"/>
                <a:cs typeface="Calibri"/>
              </a:rPr>
              <a:t>all'interno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della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selectbox;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questi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tag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hanno,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normalmente,</a:t>
            </a:r>
            <a:r>
              <a:rPr sz="2450" spc="20" dirty="0">
                <a:latin typeface="Calibri"/>
                <a:cs typeface="Calibri"/>
              </a:rPr>
              <a:t> un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attributo </a:t>
            </a:r>
            <a:r>
              <a:rPr sz="2450" i="1" spc="15" dirty="0">
                <a:latin typeface="Calibri"/>
                <a:cs typeface="Calibri"/>
              </a:rPr>
              <a:t>value </a:t>
            </a:r>
            <a:r>
              <a:rPr sz="2450" spc="5" dirty="0">
                <a:latin typeface="Calibri"/>
                <a:cs typeface="Calibri"/>
              </a:rPr>
              <a:t>con il </a:t>
            </a:r>
            <a:r>
              <a:rPr sz="2450" dirty="0">
                <a:latin typeface="Calibri"/>
                <a:cs typeface="Calibri"/>
              </a:rPr>
              <a:t>valore </a:t>
            </a:r>
            <a:r>
              <a:rPr sz="2450" spc="20" dirty="0">
                <a:latin typeface="Calibri"/>
                <a:cs typeface="Calibri"/>
              </a:rPr>
              <a:t>da </a:t>
            </a:r>
            <a:r>
              <a:rPr sz="2450" spc="5" dirty="0">
                <a:latin typeface="Calibri"/>
                <a:cs typeface="Calibri"/>
              </a:rPr>
              <a:t>inviare </a:t>
            </a:r>
            <a:r>
              <a:rPr sz="2450" spc="10" dirty="0">
                <a:latin typeface="Calibri"/>
                <a:cs typeface="Calibri"/>
              </a:rPr>
              <a:t>nel </a:t>
            </a:r>
            <a:r>
              <a:rPr sz="2450" spc="15" dirty="0">
                <a:latin typeface="Calibri"/>
                <a:cs typeface="Calibri"/>
              </a:rPr>
              <a:t>caso </a:t>
            </a:r>
            <a:r>
              <a:rPr sz="2450" spc="10" dirty="0">
                <a:latin typeface="Calibri"/>
                <a:cs typeface="Calibri"/>
              </a:rPr>
              <a:t>l'opzione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venga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selezionata;</a:t>
            </a:r>
            <a:endParaRPr sz="2450">
              <a:latin typeface="Calibri"/>
              <a:cs typeface="Calibri"/>
            </a:endParaRPr>
          </a:p>
          <a:p>
            <a:pPr marL="354965" marR="8255" indent="-342900" algn="just">
              <a:lnSpc>
                <a:spcPct val="81500"/>
              </a:lnSpc>
              <a:spcBef>
                <a:spcPts val="2039"/>
              </a:spcBef>
              <a:buFont typeface="Arial MT"/>
              <a:buChar char="•"/>
              <a:tabLst>
                <a:tab pos="355600" algn="l"/>
              </a:tabLst>
            </a:pP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tag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i="1" spc="15" dirty="0">
                <a:latin typeface="Calibri"/>
                <a:cs typeface="Calibri"/>
              </a:rPr>
              <a:t>option</a:t>
            </a:r>
            <a:r>
              <a:rPr sz="2450" i="1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ammettono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l'attributo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facoltativo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i="1" spc="10" dirty="0">
                <a:latin typeface="Calibri"/>
                <a:cs typeface="Calibri"/>
              </a:rPr>
              <a:t>selected </a:t>
            </a:r>
            <a:r>
              <a:rPr sz="2450" i="1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attraverso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quale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effettuare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selezione</a:t>
            </a:r>
            <a:r>
              <a:rPr sz="2450" spc="15" dirty="0">
                <a:latin typeface="Calibri"/>
                <a:cs typeface="Calibri"/>
              </a:rPr>
              <a:t> di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default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al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momento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del </a:t>
            </a:r>
            <a:r>
              <a:rPr sz="2450" dirty="0">
                <a:latin typeface="Calibri"/>
                <a:cs typeface="Calibri"/>
              </a:rPr>
              <a:t>caricamento</a:t>
            </a:r>
            <a:r>
              <a:rPr sz="2450" spc="16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del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modulo;</a:t>
            </a:r>
            <a:endParaRPr sz="2450">
              <a:latin typeface="Calibri"/>
              <a:cs typeface="Calibri"/>
            </a:endParaRPr>
          </a:p>
          <a:p>
            <a:pPr marL="354965" indent="-342900">
              <a:lnSpc>
                <a:spcPts val="2660"/>
              </a:lnSpc>
              <a:spcBef>
                <a:spcPts val="1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tag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textarea</a:t>
            </a:r>
            <a:r>
              <a:rPr sz="2450" b="1" spc="9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prevede,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oltre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all'attributo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i="1" spc="20" dirty="0">
                <a:latin typeface="Calibri"/>
                <a:cs typeface="Calibri"/>
              </a:rPr>
              <a:t>name</a:t>
            </a:r>
            <a:r>
              <a:rPr sz="2450" spc="20" dirty="0">
                <a:latin typeface="Calibri"/>
                <a:cs typeface="Calibri"/>
              </a:rPr>
              <a:t>,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gli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attributi</a:t>
            </a:r>
            <a:endParaRPr sz="2450">
              <a:latin typeface="Calibri"/>
              <a:cs typeface="Calibri"/>
            </a:endParaRPr>
          </a:p>
          <a:p>
            <a:pPr marL="354965">
              <a:lnSpc>
                <a:spcPts val="2660"/>
              </a:lnSpc>
            </a:pPr>
            <a:r>
              <a:rPr sz="2450" i="1" spc="15" dirty="0">
                <a:latin typeface="Calibri"/>
                <a:cs typeface="Calibri"/>
              </a:rPr>
              <a:t>rows</a:t>
            </a:r>
            <a:r>
              <a:rPr sz="2450" i="1" spc="3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i="1" dirty="0">
                <a:latin typeface="Calibri"/>
                <a:cs typeface="Calibri"/>
              </a:rPr>
              <a:t>cols</a:t>
            </a:r>
            <a:r>
              <a:rPr sz="2450" i="1" spc="7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che ne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definiscono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le linee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spc="10" dirty="0">
                <a:latin typeface="Calibri"/>
                <a:cs typeface="Calibri"/>
              </a:rPr>
              <a:t>colonne.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0189" y="889965"/>
            <a:ext cx="25628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Tag</a:t>
            </a:r>
            <a:r>
              <a:rPr spc="-35" dirty="0"/>
              <a:t> </a:t>
            </a:r>
            <a:r>
              <a:rPr spc="-10" dirty="0"/>
              <a:t>&lt;label&gt;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64779"/>
            <a:ext cx="8078470" cy="444309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 algn="just">
              <a:lnSpc>
                <a:spcPct val="81500"/>
              </a:lnSpc>
              <a:spcBef>
                <a:spcPts val="680"/>
              </a:spcBef>
            </a:pPr>
            <a:r>
              <a:rPr sz="2450" spc="10" dirty="0">
                <a:latin typeface="Calibri"/>
                <a:cs typeface="Calibri"/>
              </a:rPr>
              <a:t>Il </a:t>
            </a:r>
            <a:r>
              <a:rPr sz="2450" dirty="0">
                <a:latin typeface="Calibri"/>
                <a:cs typeface="Calibri"/>
              </a:rPr>
              <a:t>tag </a:t>
            </a:r>
            <a:r>
              <a:rPr sz="2450" b="1" spc="10" dirty="0">
                <a:latin typeface="Calibri"/>
                <a:cs typeface="Calibri"/>
              </a:rPr>
              <a:t>label </a:t>
            </a:r>
            <a:r>
              <a:rPr sz="2450" spc="10" dirty="0">
                <a:latin typeface="Calibri"/>
                <a:cs typeface="Calibri"/>
              </a:rPr>
              <a:t>definisce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-10" dirty="0">
                <a:latin typeface="Calibri"/>
                <a:cs typeface="Calibri"/>
              </a:rPr>
              <a:t>testo </a:t>
            </a:r>
            <a:r>
              <a:rPr sz="2450" spc="20" dirty="0">
                <a:latin typeface="Calibri"/>
                <a:cs typeface="Calibri"/>
              </a:rPr>
              <a:t>da </a:t>
            </a:r>
            <a:r>
              <a:rPr sz="2450" spc="5" dirty="0">
                <a:latin typeface="Calibri"/>
                <a:cs typeface="Calibri"/>
              </a:rPr>
              <a:t>associare </a:t>
            </a:r>
            <a:r>
              <a:rPr sz="2450" spc="25" dirty="0">
                <a:latin typeface="Calibri"/>
                <a:cs typeface="Calibri"/>
              </a:rPr>
              <a:t>ad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15" dirty="0">
                <a:latin typeface="Calibri"/>
                <a:cs typeface="Calibri"/>
              </a:rPr>
              <a:t>campo di </a:t>
            </a:r>
            <a:r>
              <a:rPr sz="2450" spc="20" dirty="0">
                <a:latin typeface="Calibri"/>
                <a:cs typeface="Calibri"/>
              </a:rPr>
              <a:t>un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form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HTML;</a:t>
            </a:r>
            <a:r>
              <a:rPr sz="2450" spc="1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si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usa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in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particolar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spc="30" dirty="0">
                <a:latin typeface="Calibri"/>
                <a:cs typeface="Calibri"/>
              </a:rPr>
              <a:t>modo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con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campi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di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tipo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radio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checkbox.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Consente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30" dirty="0">
                <a:latin typeface="Calibri"/>
                <a:cs typeface="Calibri"/>
              </a:rPr>
              <a:t>di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selezionare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un'opzione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anche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cliccando </a:t>
            </a:r>
            <a:r>
              <a:rPr sz="2450" spc="5" dirty="0">
                <a:latin typeface="Calibri"/>
                <a:cs typeface="Calibri"/>
              </a:rPr>
              <a:t>sul </a:t>
            </a:r>
            <a:r>
              <a:rPr sz="2450" spc="10" dirty="0">
                <a:latin typeface="Calibri"/>
                <a:cs typeface="Calibri"/>
              </a:rPr>
              <a:t>suo </a:t>
            </a:r>
            <a:r>
              <a:rPr sz="2450" spc="-5" dirty="0">
                <a:latin typeface="Calibri"/>
                <a:cs typeface="Calibri"/>
              </a:rPr>
              <a:t>testo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descrittivo, </a:t>
            </a:r>
            <a:r>
              <a:rPr sz="2450" spc="15" dirty="0">
                <a:latin typeface="Calibri"/>
                <a:cs typeface="Calibri"/>
              </a:rPr>
              <a:t>non </a:t>
            </a:r>
            <a:r>
              <a:rPr sz="2450" spc="5" dirty="0">
                <a:latin typeface="Calibri"/>
                <a:cs typeface="Calibri"/>
              </a:rPr>
              <a:t>solo </a:t>
            </a:r>
            <a:r>
              <a:rPr sz="2450" spc="10" dirty="0">
                <a:latin typeface="Calibri"/>
                <a:cs typeface="Calibri"/>
              </a:rPr>
              <a:t>sul pulsante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opzione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vero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spc="5" dirty="0">
                <a:latin typeface="Calibri"/>
                <a:cs typeface="Calibri"/>
              </a:rPr>
              <a:t>proprio.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50" spc="10" dirty="0">
                <a:latin typeface="Calibri"/>
                <a:cs typeface="Calibri"/>
              </a:rPr>
              <a:t>&lt;input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type="radio"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name="sesso"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id="U"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value="U"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/&gt;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450" spc="10" dirty="0">
                <a:latin typeface="Calibri"/>
                <a:cs typeface="Calibri"/>
              </a:rPr>
              <a:t>&lt;label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for="U"&gt;Uomo&lt;/label&gt;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450" spc="10" dirty="0">
                <a:latin typeface="Calibri"/>
                <a:cs typeface="Calibri"/>
              </a:rPr>
              <a:t>&lt;input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type="radio"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name="sesso"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id="D"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value="D"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/&gt;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450" spc="10" dirty="0">
                <a:latin typeface="Calibri"/>
                <a:cs typeface="Calibri"/>
              </a:rPr>
              <a:t>&lt;label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for="D"&gt;Donna&lt;/label&gt;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Calibri"/>
              <a:cs typeface="Calibri"/>
            </a:endParaRPr>
          </a:p>
          <a:p>
            <a:pPr marL="12700" marR="13970">
              <a:lnSpc>
                <a:spcPts val="2380"/>
              </a:lnSpc>
            </a:pPr>
            <a:r>
              <a:rPr sz="2450" spc="10" dirty="0">
                <a:latin typeface="Calibri"/>
                <a:cs typeface="Calibri"/>
              </a:rPr>
              <a:t>Supporta</a:t>
            </a:r>
            <a:r>
              <a:rPr sz="2450" spc="2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l'attributo</a:t>
            </a:r>
            <a:r>
              <a:rPr sz="2450" spc="204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for</a:t>
            </a:r>
            <a:r>
              <a:rPr sz="2450" b="1" spc="20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che</a:t>
            </a:r>
            <a:r>
              <a:rPr sz="2450" spc="24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riporta</a:t>
            </a:r>
            <a:r>
              <a:rPr sz="2450" spc="204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lo</a:t>
            </a:r>
            <a:r>
              <a:rPr sz="2450" spc="20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stesso</a:t>
            </a:r>
            <a:r>
              <a:rPr sz="2450" spc="20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valore</a:t>
            </a:r>
            <a:r>
              <a:rPr sz="2450" spc="204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dell'id</a:t>
            </a:r>
            <a:r>
              <a:rPr sz="2450" spc="200" dirty="0">
                <a:latin typeface="Calibri"/>
                <a:cs typeface="Calibri"/>
              </a:rPr>
              <a:t> </a:t>
            </a:r>
            <a:r>
              <a:rPr sz="2450" spc="25" dirty="0">
                <a:latin typeface="Calibri"/>
                <a:cs typeface="Calibri"/>
              </a:rPr>
              <a:t>del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campo,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che,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allo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scopo,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rende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obbligatorio.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6994" y="889965"/>
            <a:ext cx="6432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L’attributo</a:t>
            </a:r>
            <a:r>
              <a:rPr spc="-5" dirty="0"/>
              <a:t> di</a:t>
            </a:r>
            <a:r>
              <a:rPr spc="-10" dirty="0"/>
              <a:t> </a:t>
            </a:r>
            <a:r>
              <a:rPr spc="-5" dirty="0"/>
              <a:t>Input:</a:t>
            </a:r>
            <a:r>
              <a:rPr spc="15" dirty="0"/>
              <a:t> </a:t>
            </a:r>
            <a:r>
              <a:rPr spc="-25" dirty="0"/>
              <a:t>required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91220"/>
            <a:ext cx="8075930" cy="3149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0"/>
              </a:spcBef>
            </a:pPr>
            <a:r>
              <a:rPr sz="3200" spc="-55" dirty="0">
                <a:latin typeface="Calibri"/>
                <a:cs typeface="Calibri"/>
              </a:rPr>
              <a:t>L’attributo </a:t>
            </a:r>
            <a:r>
              <a:rPr sz="3200" spc="-10" dirty="0">
                <a:latin typeface="Calibri"/>
                <a:cs typeface="Calibri"/>
              </a:rPr>
              <a:t>required, come </a:t>
            </a:r>
            <a:r>
              <a:rPr sz="3200" spc="-5" dirty="0">
                <a:latin typeface="Calibri"/>
                <a:cs typeface="Calibri"/>
              </a:rPr>
              <a:t>ci </a:t>
            </a:r>
            <a:r>
              <a:rPr sz="3200" spc="-10" dirty="0">
                <a:latin typeface="Calibri"/>
                <a:cs typeface="Calibri"/>
              </a:rPr>
              <a:t>suggerisce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-5" dirty="0">
                <a:latin typeface="Calibri"/>
                <a:cs typeface="Calibri"/>
              </a:rPr>
              <a:t>nome,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ci </a:t>
            </a:r>
            <a:r>
              <a:rPr sz="3200" spc="-25" dirty="0">
                <a:latin typeface="Calibri"/>
                <a:cs typeface="Calibri"/>
              </a:rPr>
              <a:t>consente </a:t>
            </a:r>
            <a:r>
              <a:rPr sz="3200" spc="-10" dirty="0">
                <a:latin typeface="Calibri"/>
                <a:cs typeface="Calibri"/>
              </a:rPr>
              <a:t>di impedire </a:t>
            </a:r>
            <a:r>
              <a:rPr sz="3200" dirty="0">
                <a:latin typeface="Calibri"/>
                <a:cs typeface="Calibri"/>
              </a:rPr>
              <a:t>l’invio </a:t>
            </a:r>
            <a:r>
              <a:rPr sz="3200" spc="-10" dirty="0">
                <a:latin typeface="Calibri"/>
                <a:cs typeface="Calibri"/>
              </a:rPr>
              <a:t>del </a:t>
            </a:r>
            <a:r>
              <a:rPr sz="3200" dirty="0">
                <a:latin typeface="Calibri"/>
                <a:cs typeface="Calibri"/>
              </a:rPr>
              <a:t>modulo </a:t>
            </a:r>
            <a:r>
              <a:rPr sz="3200" spc="-10" dirty="0">
                <a:latin typeface="Calibri"/>
                <a:cs typeface="Calibri"/>
              </a:rPr>
              <a:t>se </a:t>
            </a:r>
            <a:r>
              <a:rPr sz="3200" spc="-5" dirty="0">
                <a:latin typeface="Calibri"/>
                <a:cs typeface="Calibri"/>
              </a:rPr>
              <a:t>i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campi </a:t>
            </a:r>
            <a:r>
              <a:rPr sz="3200" spc="-20" dirty="0">
                <a:latin typeface="Calibri"/>
                <a:cs typeface="Calibri"/>
              </a:rPr>
              <a:t>obbligatori </a:t>
            </a:r>
            <a:r>
              <a:rPr sz="3200" spc="-5" dirty="0">
                <a:latin typeface="Calibri"/>
                <a:cs typeface="Calibri"/>
              </a:rPr>
              <a:t>non </a:t>
            </a:r>
            <a:r>
              <a:rPr sz="3200" dirty="0">
                <a:latin typeface="Calibri"/>
                <a:cs typeface="Calibri"/>
              </a:rPr>
              <a:t>sono </a:t>
            </a:r>
            <a:r>
              <a:rPr sz="3200" spc="-25" dirty="0">
                <a:latin typeface="Calibri"/>
                <a:cs typeface="Calibri"/>
              </a:rPr>
              <a:t>stati </a:t>
            </a:r>
            <a:r>
              <a:rPr sz="3200" spc="-5" dirty="0">
                <a:latin typeface="Calibri"/>
                <a:cs typeface="Calibri"/>
              </a:rPr>
              <a:t>compilati. </a:t>
            </a:r>
            <a:r>
              <a:rPr sz="3200" dirty="0">
                <a:latin typeface="Calibri"/>
                <a:cs typeface="Calibri"/>
              </a:rPr>
              <a:t>Il </a:t>
            </a:r>
            <a:r>
              <a:rPr sz="3200" spc="10" dirty="0">
                <a:latin typeface="Calibri"/>
                <a:cs typeface="Calibri"/>
              </a:rPr>
              <a:t>suo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funzionamento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davvero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molto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semplice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>
              <a:latin typeface="Calibri"/>
              <a:cs typeface="Calibri"/>
            </a:endParaRPr>
          </a:p>
          <a:p>
            <a:pPr marL="381635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&lt;input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type="text"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name="user"</a:t>
            </a:r>
            <a:r>
              <a:rPr sz="3200" spc="1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required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/&gt;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Esercizio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82" y="1716239"/>
            <a:ext cx="6990842" cy="47656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H</a:t>
            </a:r>
            <a:r>
              <a:rPr spc="-15" dirty="0"/>
              <a:t>t</a:t>
            </a:r>
            <a:r>
              <a:rPr dirty="0"/>
              <a:t>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3632</Words>
  <Application>Microsoft Office PowerPoint</Application>
  <PresentationFormat>Personalizzato</PresentationFormat>
  <Paragraphs>362</Paragraphs>
  <Slides>53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53</vt:i4>
      </vt:variant>
    </vt:vector>
  </HeadingPairs>
  <TitlesOfParts>
    <vt:vector size="57" baseType="lpstr">
      <vt:lpstr>Arial MT</vt:lpstr>
      <vt:lpstr>Calibri</vt:lpstr>
      <vt:lpstr>Times New Roman</vt:lpstr>
      <vt:lpstr>Office Theme</vt:lpstr>
      <vt:lpstr>Presentazione standard di PowerPoint</vt:lpstr>
      <vt:lpstr>HTML</vt:lpstr>
      <vt:lpstr>Struttura di un tag Html</vt:lpstr>
      <vt:lpstr>Struttura principale di una pagina</vt:lpstr>
      <vt:lpstr>Esempio</vt:lpstr>
      <vt:lpstr>Risorse di Riferimento</vt:lpstr>
      <vt:lpstr>Tag Fondamentali</vt:lpstr>
      <vt:lpstr>&lt;!DOCTYPE html&gt;</vt:lpstr>
      <vt:lpstr>&lt;h1&gt;</vt:lpstr>
      <vt:lpstr>Tag di tipo block</vt:lpstr>
      <vt:lpstr>Presentazione standard di PowerPoint</vt:lpstr>
      <vt:lpstr>Presentazione standard di PowerPoint</vt:lpstr>
      <vt:lpstr>&lt;p&gt;</vt:lpstr>
      <vt:lpstr>Presentazione standard di PowerPoint</vt:lpstr>
      <vt:lpstr>Presentazione standard di PowerPoint</vt:lpstr>
      <vt:lpstr>&lt;div&gt; Un altro tag di tipo block è il tag &lt;div&gt; che sta per  “divisione”. Il div non ha alcun valore semantico, ciò  vuol dire che non fa riferimento a nessun contenuto  in particolare, per questo è stato usato come  termine div… divisore!</vt:lpstr>
      <vt:lpstr>Presentazione standard di PowerPoint</vt:lpstr>
      <vt:lpstr>Presentazione standard di PowerPoint</vt:lpstr>
      <vt:lpstr>&lt;h1&gt;</vt:lpstr>
      <vt:lpstr>&lt;br/&gt;</vt:lpstr>
      <vt:lpstr>Tag di tipo inline</vt:lpstr>
      <vt:lpstr>&lt;a&gt;</vt:lpstr>
      <vt:lpstr>&lt;img&gt;</vt:lpstr>
      <vt:lpstr>&lt;span&gt;</vt:lpstr>
      <vt:lpstr>Attributi dei TAG Html</vt:lpstr>
      <vt:lpstr>Presentazione standard di PowerPoint</vt:lpstr>
      <vt:lpstr>Presentazione standard di PowerPoint</vt:lpstr>
      <vt:lpstr>Elenchi Puntati e Numerati</vt:lpstr>
      <vt:lpstr>&lt;UL&gt; gli elenchi non ordinati</vt:lpstr>
      <vt:lpstr>Annidare le liste non numerate</vt:lpstr>
      <vt:lpstr>&lt;OL&gt; gli elenchi ordinati</vt:lpstr>
      <vt:lpstr>Tabelle</vt:lpstr>
      <vt:lpstr>Presentazione standard di PowerPoint</vt:lpstr>
      <vt:lpstr>Presentazione standard di PowerPoint</vt:lpstr>
      <vt:lpstr>Presentazione standard di PowerPoint</vt:lpstr>
      <vt:lpstr>&lt;th&gt; “table header” Indica una cella che contiene un  intestazione (ad esempio il titolo di una colonna  o di una riga) e serve a dare una definizione dei  dati cui si riferisce.</vt:lpstr>
      <vt:lpstr>Annidare tabelle in HTML</vt:lpstr>
      <vt:lpstr>Presentazione standard di PowerPoint</vt:lpstr>
      <vt:lpstr>I Form</vt:lpstr>
      <vt:lpstr>Presentazione standard di PowerPoint</vt:lpstr>
      <vt:lpstr>Il tag &lt;form&gt;</vt:lpstr>
      <vt:lpstr>Presentazione standard di PowerPoint</vt:lpstr>
      <vt:lpstr>I tag utilizzati per creare moduli HTML</vt:lpstr>
      <vt:lpstr>&lt;input&gt;</vt:lpstr>
      <vt:lpstr>Presentazione standard di PowerPoint</vt:lpstr>
      <vt:lpstr>&lt;select&gt; crea una casella di riepilogo  chiamata in gergo selectbox;</vt:lpstr>
      <vt:lpstr>Presentazione standard di PowerPoint</vt:lpstr>
      <vt:lpstr>Presentazione standard di PowerPoint</vt:lpstr>
      <vt:lpstr>Alcune osservazioni</vt:lpstr>
      <vt:lpstr>Presentazione standard di PowerPoint</vt:lpstr>
      <vt:lpstr>Tag &lt;label&gt;</vt:lpstr>
      <vt:lpstr>L’attributo di Input: required</vt:lpstr>
      <vt:lpstr>Esercizio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5</dc:title>
  <dc:creator>Riccardo</dc:creator>
  <cp:lastModifiedBy>Roberto -</cp:lastModifiedBy>
  <cp:revision>1</cp:revision>
  <dcterms:created xsi:type="dcterms:W3CDTF">2022-06-08T11:44:51Z</dcterms:created>
  <dcterms:modified xsi:type="dcterms:W3CDTF">2022-06-16T07:06:07Z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2022-06-08T00:00:00Z</vt:filetime>
  </property>
</Properties>
</file>